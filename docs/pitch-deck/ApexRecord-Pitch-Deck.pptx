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7"/>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2000" cy="6858000" type="screen16x9"/>
  <p:notesSz cx="6858000" cy="9144000"/>
  <p:defaultTextStyle>
    <a:defPPr>
      <a:defRPr lang="id-ID"/>
    </a:defPPr>
    <a:lvl1pPr marL="0" algn="l" defTabSz="457200" rtl="0" eaLnBrk="1" latinLnBrk="0" hangingPunct="1">
      <a:defRPr sz="1800" kern="1200" lang="id-ID">
        <a:solidFill>
          <a:schemeClr val="tx1"/>
        </a:solidFill>
        <a:latin typeface="+mn-lt"/>
        <a:ea typeface="+mn-ea"/>
        <a:cs typeface="+mn-cs"/>
      </a:defRPr>
    </a:lvl1pPr>
    <a:lvl2pPr marL="457200" algn="l" defTabSz="457200" rtl="0" eaLnBrk="1" latinLnBrk="0" hangingPunct="1">
      <a:defRPr sz="1800" kern="1200" lang="id-ID">
        <a:solidFill>
          <a:schemeClr val="tx1"/>
        </a:solidFill>
        <a:latin typeface="+mn-lt"/>
        <a:ea typeface="+mn-ea"/>
        <a:cs typeface="+mn-cs"/>
      </a:defRPr>
    </a:lvl2pPr>
    <a:lvl3pPr marL="914400" algn="l" defTabSz="457200" rtl="0" eaLnBrk="1" latinLnBrk="0" hangingPunct="1">
      <a:defRPr sz="1800" kern="1200" lang="id-ID">
        <a:solidFill>
          <a:schemeClr val="tx1"/>
        </a:solidFill>
        <a:latin typeface="+mn-lt"/>
        <a:ea typeface="+mn-ea"/>
        <a:cs typeface="+mn-cs"/>
      </a:defRPr>
    </a:lvl3pPr>
    <a:lvl4pPr marL="1371600" algn="l" defTabSz="457200" rtl="0" eaLnBrk="1" latinLnBrk="0" hangingPunct="1">
      <a:defRPr sz="1800" kern="1200" lang="id-ID">
        <a:solidFill>
          <a:schemeClr val="tx1"/>
        </a:solidFill>
        <a:latin typeface="+mn-lt"/>
        <a:ea typeface="+mn-ea"/>
        <a:cs typeface="+mn-cs"/>
      </a:defRPr>
    </a:lvl4pPr>
    <a:lvl5pPr marL="1828800" algn="l" defTabSz="457200" rtl="0" eaLnBrk="1" latinLnBrk="0" hangingPunct="1">
      <a:defRPr sz="1800" kern="1200" lang="id-ID">
        <a:solidFill>
          <a:schemeClr val="tx1"/>
        </a:solidFill>
        <a:latin typeface="+mn-lt"/>
        <a:ea typeface="+mn-ea"/>
        <a:cs typeface="+mn-cs"/>
      </a:defRPr>
    </a:lvl5pPr>
    <a:lvl6pPr marL="2286000" algn="l" defTabSz="457200" rtl="0" eaLnBrk="1" latinLnBrk="0" hangingPunct="1">
      <a:defRPr sz="1800" kern="1200" lang="id-ID">
        <a:solidFill>
          <a:schemeClr val="tx1"/>
        </a:solidFill>
        <a:latin typeface="+mn-lt"/>
        <a:ea typeface="+mn-ea"/>
        <a:cs typeface="+mn-cs"/>
      </a:defRPr>
    </a:lvl6pPr>
    <a:lvl7pPr marL="2743200" algn="l" defTabSz="457200" rtl="0" eaLnBrk="1" latinLnBrk="0" hangingPunct="1">
      <a:defRPr sz="1800" kern="1200" lang="id-ID">
        <a:solidFill>
          <a:schemeClr val="tx1"/>
        </a:solidFill>
        <a:latin typeface="+mn-lt"/>
        <a:ea typeface="+mn-ea"/>
        <a:cs typeface="+mn-cs"/>
      </a:defRPr>
    </a:lvl7pPr>
    <a:lvl8pPr marL="3200400" algn="l" defTabSz="457200" rtl="0" eaLnBrk="1" latinLnBrk="0" hangingPunct="1">
      <a:defRPr sz="1800" kern="1200" lang="id-ID">
        <a:solidFill>
          <a:schemeClr val="tx1"/>
        </a:solidFill>
        <a:latin typeface="+mn-lt"/>
        <a:ea typeface="+mn-ea"/>
        <a:cs typeface="+mn-cs"/>
      </a:defRPr>
    </a:lvl8pPr>
    <a:lvl9pPr marL="3657600" algn="l" defTabSz="457200" rtl="0" eaLnBrk="1" latinLnBrk="0" hangingPunct="1">
      <a:defRPr sz="1800" kern="1200" lang="id-ID">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  <Relationship Id="rId2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id-ID"/>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id-ID"/>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id-ID"/>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id-ID"/>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id-ID"/>
          </a:p>
        </p:txBody>
      </p:sp>
    </p:spTree>
  </p:cSld>
  <p:clrMap bg1="lt1" tx1="dk1" bg2="lt2" tx2="dk2" accent1="accent1" accent2="accent2" accent3="accent3" accent4="accent4" accent5="accent5" accent6="accent6" hlink="hlink" folHlink="folHlink"/>
  <p:hf/>
  <p:notesStyle>
    <a:lvl1pPr marL="0" algn="l">
      <a:defRPr sz="1200" lang="id-ID"/>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Terima kasih atas waktunya. Kami dari PT Zanak Developer Abadi di Payakumbuh, dan hari ini kami memperkenalkan ApexRecord, software manajemen klinik dan praktik mandiri untuk Indonesia. Janji kami sederhana: klinik bisa dikelola tanpa drama administrasi, mulai dari rekam medis, keuangan, sampai integrasi SATUSEHAT, semuanya dalam satu platform.</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Mari mulai dari kenyataan di lapangan. Banyak klinik masih bekerja dengan kertas, Excel, dan WhatsApp. Akibatnya riwayat tindakan, odontogram, dan resep tercecer dan sulit dicari saat pasien kembali. Jadwal dan antrian dicatat manual sehingga sering bentrok dan pasien menunggu lama. Pemilik klinik melihat uang masuk, tetapi tidak tahu margin per tindakan, fee dokter, atau piutangnya. Di atas semua itu, rekam medis elektronik dan pelaporan SATUSEHAT kini wajib, sementara SIMRS enterprise terlalu mahal untuk klinik kecil. Jadi data yang berserakan berarti rugi waktu, rugi uang, dan berisiko tidak patuh regulasi.</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ApexRecord menjawab semua itu dalam satu alur. Pasien melakukan reservasi online, dokter mencatat pemeriksaan dengan SOAP, ICD-10, dan odontogram, kasir membuat tagihan dengan cash, QRIS, BPJS, atau DP, lalu semuanya otomatis menjadi laporan keuangan dan dikirim ke SATUSEHAT dalam format FHIR. Klinik bisa aktif dalam kurang dari sepuluh menit dengan wizard onboarding, harga mulai seratus empat puluh sembilan ribu rupiah per bulan pada harga 2027, jauh di bawah SIMRS yang butuh jutaan rupiah, dan ada uji coba gratis lima belas hari tanpa penagihan otomatis.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Yang penting dicatat, ini bukan rencana. Delapan modul inti ini sudah live hari ini: rekam medis dan SOAP dengan ICD-10 dan SNOMED CT, odontogram digital per gigi, billing dan invoice dengan tarif, QRIS, asuransi, BPJS, sampai DP dan pelunasan, reservasi dan recall dengan cek status lewat WhatsApp, gudang dan farmasi, fee share dokter otomatis per tindakan, informed consent dengan tanda tangan digital, dan dashboard multi-cabang. Kalau berkenan, saya bisa menunjukkan demonya langsung.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Ada empat hal yang membedakan kami dari aplikasi kasir klinik biasa. Pertama, terintegrasi SATUSEHAT, termasuk onboarding, KYC, dan sinkronisasi FHIR, sehingga klinik patuh tanpa tim IT. Kedua, Laporan Keuangan Pro yang menghitung LTV, CAC, retensi pasien, heatmap jam ramai, dan peta asal pasien per kecamatan. Ketiga, dokter bisa mencari diagnosis dari delapan belas ribu lima ratus lebih kode ICD-10 dan empat ratus sembilan puluh sembilan ribu lebih konsep SNOMED CT cukup dengan bahasa sehari-hari seperti gigi berlubang. Keempat, API website yang menampilkan jadwal dokter, slot kosong, dan reservasi di website klinik secara otomatis, dengan API key yang terkunci per domain.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Kenapa sekarang waktunya? Sejak Permenkes 24 tahun 2022, setiap fasyankes wajib menyelenggarakan rekam medis elektronik. Tahun 2023 menjadi batas akhir transisi, dan fasyankes diarahkan terhubung ke SATUSEHAT. Sejak 2024 Kemenkes memonitor keterhubungan itu. Artinya permintaan ini tidak bisa ditunda, dan klinik kecil serta praktik mandiri justru yang paling butuh solusi yang murah, cepat, dan sudah patuh.</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Soal ukuran pasar, angka ini estimasi bottom-up yang masih perlu divalidasi. Total pasarnya kami hitung dari dua ratus delapan puluh tujuh ribu dokter terdaftar di KKI per Oktober 2024, termasuk empat puluh enam ribu dokter gigi, dikali paket Starter tahunan, sekitar empat ratus dua puluh delapan miliar rupiah per tahun. Pasar yang bisa kami layani sekitar delapan belas ribu fasyankes, yaitu tujuh ribu dua puluh dua klinik terakreditasi ditambah sekitar sebelas ribu praktik mandiri, dikali paket Pro, sekitar lima puluh empat miliar per tahun. Target realistis kami dalam tiga tahun adalah seribu fasyankes berbayar, atau sekitar lima setengah persen, yang setara kira-kira dua koma dua miliar ARR, dimulai dari klinik gigi di Sumatera.</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Model bisnisnya SaaS berlangganan dengan paket satu, tiga, dan dua belas bulan, berlaku mulai 1 Januari 2027. Starter untuk praktik mandiri seratus empat puluh sembilan ribu per bulan, Pro untuk klinik dengan banyak dokter dua ratus sembilan puluh sembilan ribu, dan Multi Klinik dua ratus empat puluh sembilan ribu per cabang ditambah dashboard owner. Paket tiga bulan hemat sekitar sepuluh persen, dan paket tahunan cukup bayar sepuluh bulan plus bonus fitur custom. Kas di muka dari paket tahunan juga memperkuat arus kas kami.</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Sampai 31 Desember 2026, kami sengaja mempertahankan harga lama sebagai promo peluncuran: Starter sembilan puluh sembilan ribu, Pro dan Multi Klinik seratus empat puluh sembilan ribu. Ini memberi urgensi nyata karena ada tenggat yang jelas, menarik early adopter yang akan menjadi studi kasus dan sumber referral, dan mulai 2027 pendapatan rata-rata per klinik naik sekitar dua kali lipat tanpa perlu mengubah produk.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Di luar langganan, ada sumber pendapatan tambahan. Yang utama adalah pembuatan landing page klinik dengan harga custom mulai satu juta rupiah. Calon pelanggan wajib chat admin dulu supaya kebutuhannya jelas, dan website ini langsung tersinkron dengan jadwal dokter dan reservasi lewat API ApexRecord. Kami juga menawarkan migrasi data pasien dari Excel atau sistem lama dengan biaya sesuai volume, serta fitur custom yang gratis satu tahun untuk paket tahunan dan berbayar setelahnya.</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Dari sisi biaya, operasional kami sangat ringan. Server seratus lima puluh ribu, domain sekitar delapan ribu tiga ratus per bulan, dan Claude untuk pengembangan empat ratus ribu, totalnya sekitar lima ratus lima puluh delapan ribu per bulan, belum termasuk gaji tim. Biaya ini tertutup hanya oleh empat klinik Starter, atau dua klinik Pro, dan selama promo cukup enam klinik. Dengan asumsi server bertambah kira-kira setiap lima puluh klinik, margin kotor kami di atas delapan puluh lima persen. Biaya Claude kami catat sebagai biaya riset dan pengembangan, bukan biaya per klinik.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Posisi kami di pasar: selengkap SIMRS tetapi seharga aplikasi kasir. SIMRS enterprise punya rekam medis dan SATUSEHAT, tetapi biayanya jutaan per bulan dan setupnya berminggu-minggu. Aplikasi kasir murah dan cepat, tetapi tidak punya rekam medis, odontogram, maupun integrasi SATUSEHAT. Kertas dan Excel memang gratis, tetapi tidak patuh dan tidak memberi analitik. Hanya ApexRecord yang lengkap, patuh, dan terjangkau sekaligus. Perbandingan ini per kategori, bukan merek tertentu.</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Soal traksi, kami jujur. Saat ini ada satu klinik pilot, Zanak Dental Care, yang merupakan klinik milik tim founder. Dalam dua bulan terakhir sudah seratus sepuluh pasien tercatat dan sistem dipakai setiap hari. Di belakangnya ada empat puluh tujuh modul backend dan lebih dari enam puluh halaman aplikasi yang sudah live, termasuk SATUSEHAT, pembayaran langganan otomatis, multi-klinik, dan lapisan keamanan seperti enkripsi NIK dan audit log. Langkah berikutnya adalah mengajak tiga sampai lima klinik eksternal ikut uji coba sebelum akhir 2026.</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Strategi masuk pasar kami bertahap. Pertama, kami fokus ke klinik gigi, karena odontogram dan fee share dokter adalah pembeda yang tajam, dimulai dari Sumatera Barat lalu seluruh Sumatera. Kedua, lewat komunitas profesi seperti PDGI dan IDI cabang, dengan seminar SATUSEHAT, RME, dan akreditasi. Ketiga, program referral antar-klinik yang modulnya sudah ada, ditambah reseller lokal per kota. Keempat, promo harga lama sampai akhir 2026, demo gratis, uji coba lima belas hari, dan konten edukasi untuk pemilik klinik.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Ini proyeksi ilustratif, bukan data aktual. Target kami seratus fasyankes berbayar di tahun pertama, empat ratus di tahun kedua, dan seribu di tahun ketiga. Dengan pendapatan rata-rata sekitar dua koma dua juta per fasyankes per tahun pada harga baru dan churn di bawah lima belas persen, ARR tumbuh dari sekitar nol koma dua dua miliar menjadi nol koma delapan delapan miliar, lalu dua koma dua miliar di tahun ketiga. Angka ini belum termasuk pendapatan website klinik dan layanan custom.</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Roadmap kami terbagi tiga fase. Dari kuartal empat 2026 sampai kuartal satu 2027 kami memperkuat inti: mendapatkan tiga sampai lima klinik pilot eksternal, beralih ke harga baru, serta audit keamanan dan migrasi data. Kuartal dua dan tiga 2027 adalah fase tumbuh dengan integrasi BPJS P-Care, aplikasi mobile dokter, dan ekspansi ke seluruh Sumatera. Setelah itu kami membangun ekosistem: portal dan aplikasi pasien, asisten AI untuk SOAP dan coding diagnosis, serta marketplace bahan medis.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Tim kami terdiri dari dua orang dengan peran yang saling melengkapi. drg. Muhammad Daffa Safra, Founder dan CEO, adalah dokter gigi praktisi yang memimpin arah produk, kemitraan dengan komunitas profesi, dan penjualan ke klinik. Fajrul Ichsan Kamil, CTO, membangun seluruh platform ApexRecord, dari Next.js dan NestJS sampai MySQL dan integrasi SATUSEHAT. Kekuatan utama kami adalah founder-market fit: setiap fitur diuji setiap hari di klinik pilot Zanak Dental Care.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Kami mencari pendanaan minimal satu miliar rupiah untuk delapan belas bulan, atau sekitar lima puluh lima juta per bulan. Dana cair dalam dua tahap: lima ratus juta saat penandatanganan perjanjian, dan lima ratus juta saat target tiga puluh klinik berbayar tercapai. Alokasinya lima ratus juta untuk tim, yaitu gaji founder, satu sales, dan satu customer support, dua ratus lima puluh juta untuk sales dan marketing, seratus juta untuk produk dan infrastruktur, seratus juta cadangan, dan lima puluh juta untuk legal dan kepatuhan seperti registrasi PSE, merek dagang, dan UU PDP.</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Struktur investasinya sederhana: investor mendapat sepuluh persen saham yang diambil dari porsi saham founder, bukan saham baru, untuk satu miliar rupiah, sehingga valuasinya sepuluh miliar. Investor berhak atas dividen proporsional, laporan bulanan dan keuangan kuartalan, satu kursi komisaris atau pengamat, hak didahulukan saat ada penerbitan saham baru, serta hak veto atas keputusan besar dan tag-along. Kewajiban investor adalah menyetor dana sesuai jadwal dua tahap, menjaga kerahasiaan, tidak mengakses data rekam medis pasien sesuai UU PDP, tidak ikut campur operasional harian, dan lock-up dua puluh empat bulan tanpa menjual ke pesaing. Sebagai komitmen kami, seluruh dana disalurkan ke kas PT untuk operasional dan dipakai sesuai alokasi, kode dan merek ApexRecord menjadi milik PT, founder bekerja penuh waktu, dan kami memberi laporan yang transparan serta akses audit. Ini masih draf untuk diskusi dan akan difinalkan lewat akta notaris dan persetujuan RUPS.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id-ID" dirty="0"/>
              <a:t>Kami percaya klinik Indonesia layak dikelola lebih rapi. Silakan coba demonya di app.apexrecord.my.id, dan kami ingin melanjutkan pembahasan term sheet bersama Anda. Kami bisa dihubungi lewat WhatsApp di nol delapan dua tiga delapan tujuh enam sembilan enam empat delapan tujuh atau email zanakdeveloper@gmail.com. Terima kasih.</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apexrecord_pitch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id-ID" smtClean="0"/>
              <a:t>1/27/13</a:t>
            </a:fld>
            <a:endParaRPr lang="id-ID"/>
          </a:p>
        </p:txBody>
      </p:sp>
      <p:sp>
        <p:nvSpPr>
          <p:cNvPr id="3" name="Footer Placeholder 2"/>
          <p:cNvSpPr>
            <a:spLocks noGrp="1"/>
          </p:cNvSpPr>
          <p:nvPr>
            <p:ph type="ftr" sz="quarter" idx="11"/>
          </p:nvPr>
        </p:nvSpPr>
        <p:spPr/>
        <p:txBody>
          <a:bodyPr/>
          <a:lstStyle/>
          <a:p>
            <a:endParaRPr lang="id-ID"/>
          </a:p>
        </p:txBody>
      </p:sp>
      <p:sp>
        <p:nvSpPr>
          <p:cNvPr id="4" name="Slide Number Placeholder 3"/>
          <p:cNvSpPr>
            <a:spLocks noGrp="1"/>
          </p:cNvSpPr>
          <p:nvPr>
            <p:ph type="sldNum" sz="quarter" idx="12"/>
          </p:nvPr>
        </p:nvSpPr>
        <p:spPr/>
        <p:txBody>
          <a:bodyPr/>
          <a:lstStyle/>
          <a:p>
            <a:fld id="{C1FF6DA9-008F-8B48-92A6-B652298478BF}" type="slidenum">
              <a:rPr lang="id-ID" smtClean="0"/>
              <a:t>‹#›</a:t>
            </a:fld>
            <a:endParaRPr lang="id-ID"/>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apexrecord_pitch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id-ID">
                <a:solidFill>
                  <a:schemeClr val="tx1">
                    <a:tint val="75000"/>
                  </a:schemeClr>
                </a:solidFill>
              </a:defRPr>
            </a:lvl1pPr>
          </a:lstStyle>
          <a:p>
            <a:fld id="{5BCAD085-E8A6-8845-BD4E-CB4CCA059FC4}" type="datetimeFigureOut">
              <a:rPr lang="id-ID" smtClean="0"/>
              <a:t>1/27/13</a:t>
            </a:fld>
            <a:endParaRPr lang="id-ID"/>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id-ID">
                <a:solidFill>
                  <a:schemeClr val="tx1">
                    <a:tint val="75000"/>
                  </a:schemeClr>
                </a:solidFill>
              </a:defRPr>
            </a:lvl1pPr>
          </a:lstStyle>
          <a:p>
            <a:endParaRPr lang="id-ID"/>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id-ID">
                <a:solidFill>
                  <a:schemeClr val="tx1">
                    <a:tint val="75000"/>
                  </a:schemeClr>
                </a:solidFill>
              </a:defRPr>
            </a:lvl1pPr>
          </a:lstStyle>
          <a:p>
            <a:fld id="{C1FF6DA9-008F-8B48-92A6-B652298478BF}" type="slidenum">
              <a:rPr lang="id-ID" smtClean="0"/>
              <a:t>‹#›</a:t>
            </a:fld>
            <a:endParaRPr lang="id-ID"/>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lang="id-ID">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650" kern="1200" lang="id-ID">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550" kern="1200" lang="id-ID">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450" kern="1200" lang="id-ID">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350" kern="1200" lang="id-ID">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250" kern="1200" lang="id-ID">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150" kern="1200" lang="id-ID">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050" kern="1200" lang="id-ID">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950" kern="1200" lang="id-ID">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00" kern="1200" lang="id-ID">
          <a:solidFill>
            <a:schemeClr val="tx1"/>
          </a:solidFill>
          <a:latin typeface="+mn-lt"/>
          <a:ea typeface="+mn-ea"/>
          <a:cs typeface="+mn-cs"/>
        </a:defRPr>
      </a:lvl9pPr>
    </p:bodyStyle>
    <p:otherStyle>
      <a:defPPr>
        <a:defRPr lang="id-ID"/>
      </a:defPPr>
      <a:lvl1pPr marL="0" algn="l" defTabSz="457200" rtl="0" eaLnBrk="1" latinLnBrk="0" hangingPunct="1">
        <a:defRPr sz="1650" kern="1200" lang="id-ID">
          <a:solidFill>
            <a:schemeClr val="tx1"/>
          </a:solidFill>
          <a:latin typeface="+mn-lt"/>
          <a:ea typeface="+mn-ea"/>
          <a:cs typeface="+mn-cs"/>
        </a:defRPr>
      </a:lvl1pPr>
      <a:lvl2pPr marL="457200" algn="l" defTabSz="457200" rtl="0" eaLnBrk="1" latinLnBrk="0" hangingPunct="1">
        <a:defRPr sz="1550" kern="1200" lang="id-ID">
          <a:solidFill>
            <a:schemeClr val="tx1"/>
          </a:solidFill>
          <a:latin typeface="+mn-lt"/>
          <a:ea typeface="+mn-ea"/>
          <a:cs typeface="+mn-cs"/>
        </a:defRPr>
      </a:lvl2pPr>
      <a:lvl3pPr marL="914400" algn="l" defTabSz="457200" rtl="0" eaLnBrk="1" latinLnBrk="0" hangingPunct="1">
        <a:defRPr sz="1450" kern="1200" lang="id-ID">
          <a:solidFill>
            <a:schemeClr val="tx1"/>
          </a:solidFill>
          <a:latin typeface="+mn-lt"/>
          <a:ea typeface="+mn-ea"/>
          <a:cs typeface="+mn-cs"/>
        </a:defRPr>
      </a:lvl3pPr>
      <a:lvl4pPr marL="1371600" algn="l" defTabSz="457200" rtl="0" eaLnBrk="1" latinLnBrk="0" hangingPunct="1">
        <a:defRPr sz="1350" kern="1200" lang="id-ID">
          <a:solidFill>
            <a:schemeClr val="tx1"/>
          </a:solidFill>
          <a:latin typeface="+mn-lt"/>
          <a:ea typeface="+mn-ea"/>
          <a:cs typeface="+mn-cs"/>
        </a:defRPr>
      </a:lvl4pPr>
      <a:lvl5pPr marL="1828800" algn="l" defTabSz="457200" rtl="0" eaLnBrk="1" latinLnBrk="0" hangingPunct="1">
        <a:defRPr sz="1250" kern="1200" lang="id-ID">
          <a:solidFill>
            <a:schemeClr val="tx1"/>
          </a:solidFill>
          <a:latin typeface="+mn-lt"/>
          <a:ea typeface="+mn-ea"/>
          <a:cs typeface="+mn-cs"/>
        </a:defRPr>
      </a:lvl5pPr>
      <a:lvl6pPr marL="2286000" algn="l" defTabSz="457200" rtl="0" eaLnBrk="1" latinLnBrk="0" hangingPunct="1">
        <a:defRPr sz="1150" kern="1200" lang="id-ID">
          <a:solidFill>
            <a:schemeClr val="tx1"/>
          </a:solidFill>
          <a:latin typeface="+mn-lt"/>
          <a:ea typeface="+mn-ea"/>
          <a:cs typeface="+mn-cs"/>
        </a:defRPr>
      </a:lvl6pPr>
      <a:lvl7pPr marL="2743200" algn="l" defTabSz="457200" rtl="0" eaLnBrk="1" latinLnBrk="0" hangingPunct="1">
        <a:defRPr sz="1050" kern="1200" lang="id-ID">
          <a:solidFill>
            <a:schemeClr val="tx1"/>
          </a:solidFill>
          <a:latin typeface="+mn-lt"/>
          <a:ea typeface="+mn-ea"/>
          <a:cs typeface="+mn-cs"/>
        </a:defRPr>
      </a:lvl7pPr>
      <a:lvl8pPr marL="3200400" algn="l" defTabSz="457200" rtl="0" eaLnBrk="1" latinLnBrk="0" hangingPunct="1">
        <a:defRPr sz="950" kern="1200" lang="id-ID">
          <a:solidFill>
            <a:schemeClr val="tx1"/>
          </a:solidFill>
          <a:latin typeface="+mn-lt"/>
          <a:ea typeface="+mn-ea"/>
          <a:cs typeface="+mn-cs"/>
        </a:defRPr>
      </a:lvl8pPr>
      <a:lvl9pPr marL="3657600" algn="l" defTabSz="457200" rtl="0" eaLnBrk="1" latinLnBrk="0" hangingPunct="1">
        <a:defRPr sz="800" kern="1200" lang="id-ID">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cdd85da6423f70f.pn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cdd85da6423f70f.png"/>
  <Relationship Id="rId3" Type="http://schemas.openxmlformats.org/officeDocument/2006/relationships/notesSlide" Target="../notesSlides/notesSlide2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cover-disc"/>
          <p:cNvSpPr/>
          <p:nvPr/>
        </p:nvSpPr>
        <p:spPr>
          <a:xfrm>
            <a:off x="6762750" y="381000"/>
            <a:ext cx="5715000" cy="5715000"/>
          </a:xfrm>
          <a:prstGeom prst="ellipse">
            <a:avLst/>
          </a:prstGeom>
          <a:solidFill>
            <a:srgbClr val="242320"/>
          </a:solidFill>
          <a:ln>
            <a:noFill/>
          </a:ln>
        </p:spPr>
      </p:sp>
      <p:grpSp>
        <p:nvGrpSpPr>
          <p:cNvPr id="5" name="brand-logo"/>
          <p:cNvGrpSpPr/>
          <p:nvPr/>
        </p:nvGrpSpPr>
        <p:grpSpPr>
          <a:xfrm>
            <a:off x="7981950" y="1600200"/>
            <a:ext cx="3276600" cy="3276600"/>
            <a:chOff x="7981950" y="1600200"/>
            <a:chExt cx="3276600" cy="3276600"/>
          </a:xfrm>
        </p:grpSpPr>
        <p:sp>
          <p:nvSpPr>
            <p:cNvPr id="3" name="Ellipse 3"/>
            <p:cNvSpPr/>
            <p:nvPr/>
          </p:nvSpPr>
          <p:spPr>
            <a:xfrm>
              <a:off x="7981950" y="1600200"/>
              <a:ext cx="3276600" cy="3276600"/>
            </a:xfrm>
            <a:prstGeom prst="ellipse">
              <a:avLst/>
            </a:prstGeom>
            <a:solidFill>
              <a:srgbClr val="FFFFFF"/>
            </a:solidFill>
            <a:ln>
              <a:noFill/>
            </a:ln>
          </p:spPr>
        </p:sp>
        <p:pic>
          <p:nvPicPr>
            <p:cNvPr id="4" name="Image 4"/>
            <p:cNvPicPr>
              <a:picLocks noChangeAspect="1"/>
            </p:cNvPicPr>
            <p:nvPr/>
          </p:nvPicPr>
          <p:blipFill>
            <a:blip r:embed="rId2"/>
            <a:stretch>
              <a:fillRect/>
            </a:stretch>
          </p:blipFill>
          <p:spPr>
            <a:xfrm>
              <a:off x="8429625" y="2047875"/>
              <a:ext cx="2381250" cy="2381250"/>
            </a:xfrm>
            <a:prstGeom prst="rect">
              <a:avLst/>
            </a:prstGeom>
          </p:spPr>
        </p:pic>
      </p:grpSp>
      <p:grpSp>
        <p:nvGrpSpPr>
          <p:cNvPr id="9" name="cover-pill"/>
          <p:cNvGrpSpPr/>
          <p:nvPr/>
        </p:nvGrpSpPr>
        <p:grpSpPr>
          <a:xfrm>
            <a:off x="609600" y="1428750"/>
            <a:ext cx="2495550" cy="381000"/>
            <a:chOff x="609600" y="1428750"/>
            <a:chExt cx="2495550" cy="381000"/>
          </a:xfrm>
        </p:grpSpPr>
        <p:sp>
          <p:nvSpPr>
            <p:cNvPr id="6" name="Rectangle 6"/>
            <p:cNvSpPr/>
            <p:nvPr/>
          </p:nvSpPr>
          <p:spPr>
            <a:xfrm>
              <a:off x="609600" y="1428750"/>
              <a:ext cx="2495550" cy="381000"/>
            </a:xfrm>
            <a:prstGeom prst="roundRect">
              <a:avLst>
                <a:gd name="adj" fmla="val 50000"/>
              </a:avLst>
            </a:prstGeom>
            <a:solidFill>
              <a:srgbClr val="242320"/>
            </a:solidFill>
            <a:ln>
              <a:noFill/>
            </a:ln>
          </p:spPr>
        </p:sp>
        <p:sp>
          <p:nvSpPr>
            <p:cNvPr id="7" name="Ellipse 7"/>
            <p:cNvSpPr/>
            <p:nvPr/>
          </p:nvSpPr>
          <p:spPr>
            <a:xfrm>
              <a:off x="800100" y="1562100"/>
              <a:ext cx="114300" cy="114300"/>
            </a:xfrm>
            <a:prstGeom prst="ellipse">
              <a:avLst/>
            </a:prstGeom>
            <a:solidFill>
              <a:schemeClr val="accent3"/>
            </a:solidFill>
            <a:ln>
              <a:noFill/>
            </a:ln>
          </p:spPr>
        </p:sp>
        <p:sp>
          <p:nvSpPr>
            <p:cNvPr id="8" name="TextBox 8"/>
            <p:cNvSpPr txBox="1"/>
            <p:nvPr/>
          </p:nvSpPr>
          <p:spPr>
            <a:xfrm>
              <a:off x="1022985" y="1549400"/>
              <a:ext cx="1566994" cy="220028"/>
            </a:xfrm>
            <a:prstGeom prst="rect">
              <a:avLst/>
            </a:prstGeom>
            <a:noFill/>
            <a:ln>
              <a:noFill/>
            </a:ln>
          </p:spPr>
          <p:txBody>
            <a:bodyPr wrap="none" lIns="0" tIns="0" rIns="0" bIns="0" anchor="t" anchorCtr="0">
              <a:spAutoFit/>
            </a:bodyPr>
            <a:lstStyle/>
            <a:p>
              <a:pPr algn="l"/>
              <a:r>
                <a:rPr lang="id-ID" sz="1120" b="1" spc="150" dirty="0">
                  <a:solidFill>
                    <a:srgbClr val="F3F1EA"/>
                  </a:solidFill>
                  <a:latin typeface="+mn-lt"/>
                  <a:ea typeface="+mn-ea"/>
                  <a:cs typeface="+mn-cs"/>
                </a:rPr>
                <a:t>PITCH DECK · 2026</a:t>
              </a:r>
            </a:p>
          </p:txBody>
        </p:sp>
      </p:grpSp>
      <p:grpSp>
        <p:nvGrpSpPr>
          <p:cNvPr id="11" name="cover-title"/>
          <p:cNvGrpSpPr/>
          <p:nvPr/>
        </p:nvGrpSpPr>
        <p:grpSpPr>
          <a:xfrm>
            <a:off x="590550" y="1968500"/>
            <a:ext cx="5812886" cy="1390650"/>
            <a:chOff x="590550" y="1968500"/>
            <a:chExt cx="5812886" cy="1390650"/>
          </a:xfrm>
        </p:grpSpPr>
        <p:sp>
          <p:nvSpPr>
            <p:cNvPr id="10" name="TextBox 10"/>
            <p:cNvSpPr txBox="1"/>
            <p:nvPr/>
          </p:nvSpPr>
          <p:spPr>
            <a:xfrm>
              <a:off x="590550" y="1968500"/>
              <a:ext cx="5812886" cy="1390650"/>
            </a:xfrm>
            <a:prstGeom prst="rect">
              <a:avLst/>
            </a:prstGeom>
            <a:noFill/>
            <a:ln>
              <a:noFill/>
            </a:ln>
          </p:spPr>
          <p:txBody>
            <a:bodyPr wrap="none" lIns="0" tIns="0" rIns="0" bIns="0" anchor="t" anchorCtr="0">
              <a:spAutoFit/>
            </a:bodyPr>
            <a:lstStyle/>
            <a:p>
              <a:pPr algn="l"/>
              <a:r>
                <a:rPr lang="id-ID" sz="7200" b="1" dirty="0">
                  <a:solidFill>
                    <a:srgbClr val="FFFFFF"/>
                  </a:solidFill>
                  <a:latin typeface="+mj-lt"/>
                  <a:ea typeface="+mj-ea"/>
                  <a:cs typeface="+mj-cs"/>
                </a:rPr>
                <a:t>Apex</a:t>
              </a:r>
              <a:r>
                <a:rPr lang="id-ID" sz="7200" b="1" i="1" dirty="0">
                  <a:solidFill>
                    <a:schemeClr val="accent3"/>
                  </a:solidFill>
                  <a:latin typeface="+mj-lt"/>
                  <a:ea typeface="+mj-ea"/>
                  <a:cs typeface="+mj-cs"/>
                </a:rPr>
                <a:t>Record</a:t>
              </a:r>
            </a:p>
          </p:txBody>
        </p:sp>
      </p:grpSp>
      <p:grpSp>
        <p:nvGrpSpPr>
          <p:cNvPr id="13" name="cover-promise"/>
          <p:cNvGrpSpPr/>
          <p:nvPr/>
        </p:nvGrpSpPr>
        <p:grpSpPr>
          <a:xfrm>
            <a:off x="599694" y="3270250"/>
            <a:ext cx="6319211" cy="724281"/>
            <a:chOff x="599694" y="3270250"/>
            <a:chExt cx="6319211" cy="724281"/>
          </a:xfrm>
        </p:grpSpPr>
        <p:sp>
          <p:nvSpPr>
            <p:cNvPr id="12" name="TextBox 12"/>
            <p:cNvSpPr txBox="1"/>
            <p:nvPr/>
          </p:nvSpPr>
          <p:spPr>
            <a:xfrm>
              <a:off x="599694" y="3270250"/>
              <a:ext cx="6319211" cy="724281"/>
            </a:xfrm>
            <a:prstGeom prst="rect">
              <a:avLst/>
            </a:prstGeom>
            <a:noFill/>
            <a:ln>
              <a:noFill/>
            </a:ln>
          </p:spPr>
          <p:txBody>
            <a:bodyPr wrap="none" lIns="0" tIns="0" rIns="0" bIns="0" anchor="t" anchorCtr="0">
              <a:spAutoFit/>
            </a:bodyPr>
            <a:lstStyle/>
            <a:p>
              <a:pPr algn="l">
                <a:lnSpc>
                  <a:spcPts val="2700"/>
                </a:lnSpc>
              </a:pPr>
              <a:r>
                <a:rPr lang="id-ID" sz="1950" dirty="0">
                  <a:solidFill>
                    <a:srgbClr val="F3F1EA"/>
                  </a:solidFill>
                  <a:latin typeface="+mn-lt"/>
                  <a:ea typeface="+mn-ea"/>
                  <a:cs typeface="+mn-cs"/>
                </a:rPr>
                <a:t xml:space="preserve">Kelola klinik &amp; praktik tanpa </a:t>
              </a:r>
              <a:r>
                <a:rPr lang="id-ID" sz="1950" b="1" dirty="0">
                  <a:solidFill>
                    <a:schemeClr val="accent3"/>
                  </a:solidFill>
                  <a:latin typeface="+mn-lt"/>
                  <a:ea typeface="+mn-ea"/>
                  <a:cs typeface="+mn-cs"/>
                </a:rPr>
                <a:t>drama administrasi</a:t>
              </a:r>
              <a:r>
                <a:rPr lang="id-ID" sz="1950" dirty="0">
                  <a:solidFill>
                    <a:srgbClr val="F3F1EA"/>
                  </a:solidFill>
                  <a:latin typeface="+mn-lt"/>
                  <a:ea typeface="+mn-ea"/>
                  <a:cs typeface="+mn-cs"/>
                </a:rPr>
                <a:t xml:space="preserve"> —</a:t>
              </a:r>
              <a:br>
                <a:rPr lang="id-ID" sz="1950" dirty="0">
                  <a:solidFill>
                    <a:srgbClr val="F3F1EA"/>
                  </a:solidFill>
                  <a:latin typeface="+mn-lt"/>
                  <a:ea typeface="+mn-ea"/>
                  <a:cs typeface="+mn-cs"/>
                </a:rPr>
              </a:br>
              <a:r>
                <a:rPr lang="id-ID" sz="1950" dirty="0">
                  <a:solidFill>
                    <a:srgbClr val="F3F1EA"/>
                  </a:solidFill>
                  <a:latin typeface="+mn-lt"/>
                  <a:ea typeface="+mn-ea"/>
                  <a:cs typeface="+mn-cs"/>
                </a:rPr>
                <a:t>rekam medis, keuangan, dan SATUSEHAT dalam satu platform.</a:t>
              </a:r>
            </a:p>
          </p:txBody>
        </p:sp>
      </p:grpSp>
      <p:grpSp>
        <p:nvGrpSpPr>
          <p:cNvPr id="15" name="cover-company"/>
          <p:cNvGrpSpPr/>
          <p:nvPr/>
        </p:nvGrpSpPr>
        <p:grpSpPr>
          <a:xfrm>
            <a:off x="603123" y="5524500"/>
            <a:ext cx="3819118" cy="497967"/>
            <a:chOff x="603123" y="5524500"/>
            <a:chExt cx="3819118" cy="497967"/>
          </a:xfrm>
        </p:grpSpPr>
        <p:sp>
          <p:nvSpPr>
            <p:cNvPr id="14" name="TextBox 14"/>
            <p:cNvSpPr txBox="1"/>
            <p:nvPr/>
          </p:nvSpPr>
          <p:spPr>
            <a:xfrm>
              <a:off x="603123" y="5524500"/>
              <a:ext cx="3819118" cy="497967"/>
            </a:xfrm>
            <a:prstGeom prst="rect">
              <a:avLst/>
            </a:prstGeom>
            <a:noFill/>
            <a:ln>
              <a:noFill/>
            </a:ln>
          </p:spPr>
          <p:txBody>
            <a:bodyPr wrap="none" lIns="0" tIns="0" rIns="0" bIns="0" anchor="t" anchorCtr="0">
              <a:spAutoFit/>
            </a:bodyPr>
            <a:lstStyle/>
            <a:p>
              <a:pPr algn="l">
                <a:lnSpc>
                  <a:spcPts val="1950"/>
                </a:lnSpc>
              </a:pPr>
              <a:r>
                <a:rPr lang="id-ID" sz="1280" dirty="0">
                  <a:solidFill>
                    <a:srgbClr val="B9B6AA"/>
                  </a:solidFill>
                  <a:latin typeface="+mn-lt"/>
                  <a:ea typeface="+mn-ea"/>
                  <a:cs typeface="+mn-cs"/>
                </a:rPr>
                <a:t>PT Zanak Developer Abadi · Payakumbuh, Sumatera Barat</a:t>
              </a:r>
              <a:br>
                <a:rPr lang="id-ID" sz="1280" dirty="0">
                  <a:solidFill>
                    <a:srgbClr val="B9B6AA"/>
                  </a:solidFill>
                  <a:latin typeface="+mn-lt"/>
                  <a:ea typeface="+mn-ea"/>
                  <a:cs typeface="+mn-cs"/>
                </a:rPr>
              </a:br>
              <a:r>
                <a:rPr lang="id-ID" sz="1280" dirty="0">
                  <a:solidFill>
                    <a:srgbClr val="B9B6AA"/>
                  </a:solidFill>
                  <a:latin typeface="+mn-lt"/>
                  <a:ea typeface="+mn-ea"/>
                  <a:cs typeface="+mn-cs"/>
                </a:rPr>
                <a:t>app.apexrecord.my.id · zanakdeveloper@gmail.com</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10144095" cy="786003"/>
            <a:chOff x="595122" y="635000"/>
            <a:chExt cx="10144095" cy="786003"/>
          </a:xfrm>
        </p:grpSpPr>
        <p:sp>
          <p:nvSpPr>
            <p:cNvPr id="2" name="TextBox 2"/>
            <p:cNvSpPr txBox="1"/>
            <p:nvPr/>
          </p:nvSpPr>
          <p:spPr>
            <a:xfrm>
              <a:off x="603885" y="635000"/>
              <a:ext cx="811490"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MASALAH</a:t>
              </a:r>
            </a:p>
          </p:txBody>
        </p:sp>
        <p:sp>
          <p:nvSpPr>
            <p:cNvPr id="3" name="TextBox 3"/>
            <p:cNvSpPr txBox="1"/>
            <p:nvPr/>
          </p:nvSpPr>
          <p:spPr>
            <a:xfrm>
              <a:off x="595122" y="863600"/>
              <a:ext cx="10144095"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Klinik masih jalan dengan kertas, Excel, dan WhatsApp</a:t>
              </a:r>
            </a:p>
          </p:txBody>
        </p:sp>
      </p:grpSp>
      <p:grpSp>
        <p:nvGrpSpPr>
          <p:cNvPr id="13" name="problem-records"/>
          <p:cNvGrpSpPr/>
          <p:nvPr/>
        </p:nvGrpSpPr>
        <p:grpSpPr>
          <a:xfrm>
            <a:off x="609600" y="1676400"/>
            <a:ext cx="2571750" cy="3676650"/>
            <a:chOff x="609600" y="1676400"/>
            <a:chExt cx="2571750" cy="3676650"/>
          </a:xfrm>
        </p:grpSpPr>
        <p:sp>
          <p:nvSpPr>
            <p:cNvPr id="5" name="Rectangle 5"/>
            <p:cNvSpPr/>
            <p:nvPr/>
          </p:nvSpPr>
          <p:spPr>
            <a:xfrm>
              <a:off x="609600" y="1676400"/>
              <a:ext cx="2571750" cy="3676650"/>
            </a:xfrm>
            <a:prstGeom prst="roundRect">
              <a:avLst>
                <a:gd name="adj" fmla="val 7407"/>
              </a:avLst>
            </a:prstGeom>
            <a:solidFill>
              <a:srgbClr val="FFFFFF"/>
            </a:solidFill>
            <a:ln w="9525">
              <a:solidFill>
                <a:schemeClr val="accent6"/>
              </a:solidFill>
            </a:ln>
          </p:spPr>
        </p:sp>
        <p:sp>
          <p:nvSpPr>
            <p:cNvPr id="6" name="Ellipse 6"/>
            <p:cNvSpPr/>
            <p:nvPr/>
          </p:nvSpPr>
          <p:spPr>
            <a:xfrm>
              <a:off x="876300" y="1981200"/>
              <a:ext cx="609600" cy="609600"/>
            </a:xfrm>
            <a:prstGeom prst="ellipse">
              <a:avLst/>
            </a:prstGeom>
            <a:solidFill>
              <a:srgbClr val="FBE1DE"/>
            </a:solidFill>
            <a:ln>
              <a:noFill/>
            </a:ln>
          </p:spPr>
        </p:sp>
        <p:grpSp>
          <p:nvGrpSpPr>
            <p:cNvPr id="10" name="Group 10"/>
            <p:cNvGrpSpPr/>
            <p:nvPr/>
          </p:nvGrpSpPr>
          <p:grpSpPr>
            <a:xfrm>
              <a:off x="1081088" y="2157412"/>
              <a:ext cx="200025" cy="257175"/>
              <a:chOff x="1081088" y="2157412"/>
              <a:chExt cx="200025" cy="257175"/>
            </a:xfrm>
          </p:grpSpPr>
          <p:sp>
            <p:nvSpPr>
              <p:cNvPr id="7" name="Freeform 7"/>
              <p:cNvSpPr/>
              <p:nvPr/>
            </p:nvSpPr>
            <p:spPr>
              <a:xfrm>
                <a:off x="1209675" y="2157412"/>
                <a:ext cx="71438" cy="71438"/>
              </a:xfrm>
              <a:custGeom>
                <a:avLst/>
                <a:gdLst/>
                <a:ahLst/>
                <a:cxnLst/>
                <a:rect l="l" t="t" r="r" b="b"/>
                <a:pathLst>
                  <a:path w="71438" h="71438">
                    <a:moveTo>
                      <a:pt x="0" y="0"/>
                    </a:moveTo>
                    <a:lnTo>
                      <a:pt x="0" y="57150"/>
                    </a:lnTo>
                    <a:cubicBezTo>
                      <a:pt x="0" y="65041"/>
                      <a:pt x="6397" y="71438"/>
                      <a:pt x="14288" y="71438"/>
                    </a:cubicBezTo>
                    <a:lnTo>
                      <a:pt x="71438" y="71438"/>
                    </a:lnTo>
                  </a:path>
                </a:pathLst>
              </a:custGeom>
              <a:noFill/>
              <a:ln w="28575">
                <a:solidFill>
                  <a:srgbClr val="C1381F"/>
                </a:solidFill>
              </a:ln>
            </p:spPr>
          </p:sp>
          <p:sp>
            <p:nvSpPr>
              <p:cNvPr id="8" name="Freeform 8"/>
              <p:cNvSpPr/>
              <p:nvPr/>
            </p:nvSpPr>
            <p:spPr>
              <a:xfrm>
                <a:off x="1081088" y="2157412"/>
                <a:ext cx="200025" cy="257175"/>
              </a:xfrm>
              <a:custGeom>
                <a:avLst/>
                <a:gdLst/>
                <a:ahLst/>
                <a:cxnLst/>
                <a:rect l="l" t="t" r="r" b="b"/>
                <a:pathLst>
                  <a:path w="200025" h="257175">
                    <a:moveTo>
                      <a:pt x="171450" y="257175"/>
                    </a:moveTo>
                    <a:lnTo>
                      <a:pt x="28575" y="257175"/>
                    </a:lnTo>
                    <a:cubicBezTo>
                      <a:pt x="12793" y="257175"/>
                      <a:pt x="0" y="244382"/>
                      <a:pt x="0" y="228600"/>
                    </a:cubicBezTo>
                    <a:lnTo>
                      <a:pt x="0" y="28575"/>
                    </a:lnTo>
                    <a:cubicBezTo>
                      <a:pt x="0" y="12793"/>
                      <a:pt x="12793" y="0"/>
                      <a:pt x="28575" y="0"/>
                    </a:cubicBezTo>
                    <a:lnTo>
                      <a:pt x="128588" y="0"/>
                    </a:lnTo>
                    <a:lnTo>
                      <a:pt x="200025" y="71438"/>
                    </a:lnTo>
                    <a:lnTo>
                      <a:pt x="200025" y="228600"/>
                    </a:lnTo>
                    <a:cubicBezTo>
                      <a:pt x="200025" y="244382"/>
                      <a:pt x="187232" y="257175"/>
                      <a:pt x="171450" y="257175"/>
                    </a:cubicBezTo>
                  </a:path>
                </a:pathLst>
              </a:custGeom>
              <a:noFill/>
              <a:ln w="28575">
                <a:solidFill>
                  <a:srgbClr val="C1381F"/>
                </a:solidFill>
              </a:ln>
            </p:spPr>
          </p:sp>
          <p:sp>
            <p:nvSpPr>
              <p:cNvPr id="9" name="Freeform 9"/>
              <p:cNvSpPr/>
              <p:nvPr/>
            </p:nvSpPr>
            <p:spPr>
              <a:xfrm>
                <a:off x="1152525" y="2286000"/>
                <a:ext cx="57150" cy="57150"/>
              </a:xfrm>
              <a:custGeom>
                <a:avLst/>
                <a:gdLst/>
                <a:ahLst/>
                <a:cxnLst/>
                <a:rect l="l" t="t" r="r" b="b"/>
                <a:pathLst>
                  <a:path w="57150" h="57150">
                    <a:moveTo>
                      <a:pt x="0" y="0"/>
                    </a:moveTo>
                    <a:lnTo>
                      <a:pt x="57150" y="57150"/>
                    </a:lnTo>
                    <a:moveTo>
                      <a:pt x="57150" y="0"/>
                    </a:moveTo>
                    <a:lnTo>
                      <a:pt x="0" y="57150"/>
                    </a:lnTo>
                  </a:path>
                </a:pathLst>
              </a:custGeom>
              <a:noFill/>
              <a:ln w="28575">
                <a:solidFill>
                  <a:srgbClr val="C1381F"/>
                </a:solidFill>
              </a:ln>
            </p:spPr>
          </p:sp>
        </p:grpSp>
        <p:sp>
          <p:nvSpPr>
            <p:cNvPr id="11" name="TextBox 11"/>
            <p:cNvSpPr txBox="1"/>
            <p:nvPr/>
          </p:nvSpPr>
          <p:spPr>
            <a:xfrm>
              <a:off x="866394" y="2876550"/>
              <a:ext cx="1401129" cy="686181"/>
            </a:xfrm>
            <a:prstGeom prst="rect">
              <a:avLst/>
            </a:prstGeom>
            <a:noFill/>
            <a:ln>
              <a:noFill/>
            </a:ln>
          </p:spPr>
          <p:txBody>
            <a:bodyPr wrap="none" lIns="0" tIns="0" rIns="0" bIns="0" anchor="t" anchorCtr="0">
              <a:spAutoFit/>
            </a:bodyPr>
            <a:lstStyle/>
            <a:p>
              <a:pPr algn="l">
                <a:lnSpc>
                  <a:spcPts val="2400"/>
                </a:lnSpc>
              </a:pPr>
              <a:r>
                <a:rPr lang="id-ID" sz="1950" b="1" dirty="0">
                  <a:solidFill>
                    <a:schemeClr val="dk1"/>
                  </a:solidFill>
                  <a:latin typeface="+mn-lt"/>
                  <a:ea typeface="+mn-ea"/>
                  <a:cs typeface="+mn-cs"/>
                </a:rPr>
                <a:t>Rekam medis</a:t>
              </a:r>
              <a:br>
                <a:rPr lang="id-ID" sz="1950" b="1" dirty="0">
                  <a:solidFill>
                    <a:schemeClr val="dk1"/>
                  </a:solidFill>
                  <a:latin typeface="+mn-lt"/>
                  <a:ea typeface="+mn-ea"/>
                  <a:cs typeface="+mn-cs"/>
                </a:rPr>
              </a:br>
              <a:r>
                <a:rPr lang="id-ID" sz="1950" b="1" dirty="0">
                  <a:solidFill>
                    <a:schemeClr val="dk1"/>
                  </a:solidFill>
                  <a:latin typeface="+mn-lt"/>
                  <a:ea typeface="+mn-ea"/>
                  <a:cs typeface="+mn-cs"/>
                </a:rPr>
                <a:t>tercecer</a:t>
              </a:r>
            </a:p>
          </p:txBody>
        </p:sp>
        <p:sp>
          <p:nvSpPr>
            <p:cNvPr id="12" name="TextBox 12"/>
            <p:cNvSpPr txBox="1"/>
            <p:nvPr/>
          </p:nvSpPr>
          <p:spPr>
            <a:xfrm>
              <a:off x="868680" y="3702050"/>
              <a:ext cx="1926431" cy="13601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Riwayat tindakan,</a:t>
              </a:r>
              <a:br>
                <a:rPr lang="id-ID" sz="1500" dirty="0">
                  <a:solidFill>
                    <a:srgbClr val="55534A"/>
                  </a:solidFill>
                  <a:latin typeface="+mn-lt"/>
                  <a:ea typeface="+mn-ea"/>
                  <a:cs typeface="+mn-cs"/>
                </a:rPr>
              </a:br>
              <a:r>
                <a:rPr lang="id-ID" sz="1500" dirty="0">
                  <a:solidFill>
                    <a:srgbClr val="55534A"/>
                  </a:solidFill>
                  <a:latin typeface="+mn-lt"/>
                  <a:ea typeface="+mn-ea"/>
                  <a:cs typeface="+mn-cs"/>
                </a:rPr>
                <a:t>odontogram, dan resep</a:t>
              </a:r>
              <a:br>
                <a:rPr lang="id-ID" sz="1500" dirty="0">
                  <a:solidFill>
                    <a:srgbClr val="55534A"/>
                  </a:solidFill>
                  <a:latin typeface="+mn-lt"/>
                  <a:ea typeface="+mn-ea"/>
                  <a:cs typeface="+mn-cs"/>
                </a:rPr>
              </a:br>
              <a:r>
                <a:rPr lang="id-ID" sz="1500" dirty="0">
                  <a:solidFill>
                    <a:srgbClr val="55534A"/>
                  </a:solidFill>
                  <a:latin typeface="+mn-lt"/>
                  <a:ea typeface="+mn-ea"/>
                  <a:cs typeface="+mn-cs"/>
                </a:rPr>
                <a:t>tersebar di kertas &amp; chat</a:t>
              </a:r>
              <a:br>
                <a:rPr lang="id-ID" sz="1500" dirty="0">
                  <a:solidFill>
                    <a:srgbClr val="55534A"/>
                  </a:solidFill>
                  <a:latin typeface="+mn-lt"/>
                  <a:ea typeface="+mn-ea"/>
                  <a:cs typeface="+mn-cs"/>
                </a:rPr>
              </a:br>
              <a:r>
                <a:rPr lang="id-ID" sz="1500" dirty="0">
                  <a:solidFill>
                    <a:srgbClr val="55534A"/>
                  </a:solidFill>
                  <a:latin typeface="+mn-lt"/>
                  <a:ea typeface="+mn-ea"/>
                  <a:cs typeface="+mn-cs"/>
                </a:rPr>
                <a:t>WhatsApp — sulit dicari</a:t>
              </a:r>
              <a:br>
                <a:rPr lang="id-ID" sz="1500" dirty="0">
                  <a:solidFill>
                    <a:srgbClr val="55534A"/>
                  </a:solidFill>
                  <a:latin typeface="+mn-lt"/>
                  <a:ea typeface="+mn-ea"/>
                  <a:cs typeface="+mn-cs"/>
                </a:rPr>
              </a:br>
              <a:r>
                <a:rPr lang="id-ID" sz="1500" dirty="0">
                  <a:solidFill>
                    <a:srgbClr val="55534A"/>
                  </a:solidFill>
                  <a:latin typeface="+mn-lt"/>
                  <a:ea typeface="+mn-ea"/>
                  <a:cs typeface="+mn-cs"/>
                </a:rPr>
                <a:t>saat pasien kembali.</a:t>
              </a:r>
            </a:p>
          </p:txBody>
        </p:sp>
      </p:grpSp>
      <p:grpSp>
        <p:nvGrpSpPr>
          <p:cNvPr id="24" name="problem-schedule"/>
          <p:cNvGrpSpPr/>
          <p:nvPr/>
        </p:nvGrpSpPr>
        <p:grpSpPr>
          <a:xfrm>
            <a:off x="3409950" y="1676400"/>
            <a:ext cx="2571750" cy="3676650"/>
            <a:chOff x="3409950" y="1676400"/>
            <a:chExt cx="2571750" cy="3676650"/>
          </a:xfrm>
        </p:grpSpPr>
        <p:sp>
          <p:nvSpPr>
            <p:cNvPr id="14" name="Rectangle 14"/>
            <p:cNvSpPr/>
            <p:nvPr/>
          </p:nvSpPr>
          <p:spPr>
            <a:xfrm>
              <a:off x="3409950" y="1676400"/>
              <a:ext cx="2571750" cy="3676650"/>
            </a:xfrm>
            <a:prstGeom prst="roundRect">
              <a:avLst>
                <a:gd name="adj" fmla="val 7407"/>
              </a:avLst>
            </a:prstGeom>
            <a:solidFill>
              <a:srgbClr val="FFFFFF"/>
            </a:solidFill>
            <a:ln w="9525">
              <a:solidFill>
                <a:schemeClr val="accent6"/>
              </a:solidFill>
            </a:ln>
          </p:spPr>
        </p:sp>
        <p:sp>
          <p:nvSpPr>
            <p:cNvPr id="15" name="Ellipse 15"/>
            <p:cNvSpPr/>
            <p:nvPr/>
          </p:nvSpPr>
          <p:spPr>
            <a:xfrm>
              <a:off x="3676650" y="1981200"/>
              <a:ext cx="609600" cy="609600"/>
            </a:xfrm>
            <a:prstGeom prst="ellipse">
              <a:avLst/>
            </a:prstGeom>
            <a:solidFill>
              <a:srgbClr val="FBE1DE"/>
            </a:solidFill>
            <a:ln>
              <a:noFill/>
            </a:ln>
          </p:spPr>
        </p:sp>
        <p:grpSp>
          <p:nvGrpSpPr>
            <p:cNvPr id="21" name="Group 21"/>
            <p:cNvGrpSpPr/>
            <p:nvPr/>
          </p:nvGrpSpPr>
          <p:grpSpPr>
            <a:xfrm>
              <a:off x="3867150" y="2157412"/>
              <a:ext cx="242887" cy="257176"/>
              <a:chOff x="3867150" y="2157412"/>
              <a:chExt cx="242887" cy="257176"/>
            </a:xfrm>
          </p:grpSpPr>
          <p:sp>
            <p:nvSpPr>
              <p:cNvPr id="16" name="Freeform 16"/>
              <p:cNvSpPr/>
              <p:nvPr/>
            </p:nvSpPr>
            <p:spPr>
              <a:xfrm>
                <a:off x="3867150" y="2185988"/>
                <a:ext cx="228600" cy="228600"/>
              </a:xfrm>
              <a:custGeom>
                <a:avLst/>
                <a:gdLst/>
                <a:ahLst/>
                <a:cxnLst/>
                <a:rect l="l" t="t" r="r" b="b"/>
                <a:pathLst>
                  <a:path w="228600" h="228600">
                    <a:moveTo>
                      <a:pt x="107156" y="228600"/>
                    </a:moveTo>
                    <a:lnTo>
                      <a:pt x="28575" y="228600"/>
                    </a:lnTo>
                    <a:cubicBezTo>
                      <a:pt x="12793" y="228600"/>
                      <a:pt x="0" y="215807"/>
                      <a:pt x="0" y="200025"/>
                    </a:cubicBezTo>
                    <a:lnTo>
                      <a:pt x="0" y="28575"/>
                    </a:lnTo>
                    <a:cubicBezTo>
                      <a:pt x="0" y="12793"/>
                      <a:pt x="12793" y="0"/>
                      <a:pt x="28575" y="0"/>
                    </a:cubicBezTo>
                    <a:lnTo>
                      <a:pt x="200025" y="0"/>
                    </a:lnTo>
                    <a:cubicBezTo>
                      <a:pt x="215807" y="0"/>
                      <a:pt x="228600" y="12793"/>
                      <a:pt x="228600" y="28575"/>
                    </a:cubicBezTo>
                    <a:lnTo>
                      <a:pt x="228600" y="114300"/>
                    </a:lnTo>
                  </a:path>
                </a:pathLst>
              </a:custGeom>
              <a:noFill/>
              <a:ln w="28575">
                <a:solidFill>
                  <a:srgbClr val="C1381F"/>
                </a:solidFill>
              </a:ln>
            </p:spPr>
          </p:sp>
          <p:sp>
            <p:nvSpPr>
              <p:cNvPr id="17" name="Freeform 17"/>
              <p:cNvSpPr/>
              <p:nvPr/>
            </p:nvSpPr>
            <p:spPr>
              <a:xfrm>
                <a:off x="4038600" y="2157412"/>
                <a:ext cx="9525" cy="57150"/>
              </a:xfrm>
              <a:custGeom>
                <a:avLst/>
                <a:gdLst/>
                <a:ahLst/>
                <a:cxnLst/>
                <a:rect l="l" t="t" r="r" b="b"/>
                <a:pathLst>
                  <a:path w="9525" h="57150">
                    <a:moveTo>
                      <a:pt x="0" y="0"/>
                    </a:moveTo>
                    <a:lnTo>
                      <a:pt x="0" y="57150"/>
                    </a:lnTo>
                  </a:path>
                </a:pathLst>
              </a:custGeom>
              <a:noFill/>
              <a:ln w="28575">
                <a:solidFill>
                  <a:srgbClr val="C1381F"/>
                </a:solidFill>
              </a:ln>
            </p:spPr>
          </p:sp>
          <p:sp>
            <p:nvSpPr>
              <p:cNvPr id="18" name="Freeform 18"/>
              <p:cNvSpPr/>
              <p:nvPr/>
            </p:nvSpPr>
            <p:spPr>
              <a:xfrm>
                <a:off x="3924300" y="2157412"/>
                <a:ext cx="9525" cy="57150"/>
              </a:xfrm>
              <a:custGeom>
                <a:avLst/>
                <a:gdLst/>
                <a:ahLst/>
                <a:cxnLst/>
                <a:rect l="l" t="t" r="r" b="b"/>
                <a:pathLst>
                  <a:path w="9525" h="57150">
                    <a:moveTo>
                      <a:pt x="0" y="0"/>
                    </a:moveTo>
                    <a:lnTo>
                      <a:pt x="0" y="57150"/>
                    </a:lnTo>
                  </a:path>
                </a:pathLst>
              </a:custGeom>
              <a:noFill/>
              <a:ln w="28575">
                <a:solidFill>
                  <a:srgbClr val="C1381F"/>
                </a:solidFill>
              </a:ln>
            </p:spPr>
          </p:sp>
          <p:sp>
            <p:nvSpPr>
              <p:cNvPr id="19" name="Freeform 19"/>
              <p:cNvSpPr/>
              <p:nvPr/>
            </p:nvSpPr>
            <p:spPr>
              <a:xfrm>
                <a:off x="3867150" y="2271712"/>
                <a:ext cx="228600" cy="9525"/>
              </a:xfrm>
              <a:custGeom>
                <a:avLst/>
                <a:gdLst/>
                <a:ahLst/>
                <a:cxnLst/>
                <a:rect l="l" t="t" r="r" b="b"/>
                <a:pathLst>
                  <a:path w="228600" h="9525">
                    <a:moveTo>
                      <a:pt x="0" y="0"/>
                    </a:moveTo>
                    <a:lnTo>
                      <a:pt x="228600" y="0"/>
                    </a:lnTo>
                  </a:path>
                </a:pathLst>
              </a:custGeom>
              <a:noFill/>
              <a:ln w="28575">
                <a:solidFill>
                  <a:srgbClr val="C1381F"/>
                </a:solidFill>
              </a:ln>
            </p:spPr>
          </p:sp>
          <p:sp>
            <p:nvSpPr>
              <p:cNvPr id="20" name="Freeform 20"/>
              <p:cNvSpPr/>
              <p:nvPr/>
            </p:nvSpPr>
            <p:spPr>
              <a:xfrm>
                <a:off x="4024312" y="2357438"/>
                <a:ext cx="85725" cy="57150"/>
              </a:xfrm>
              <a:custGeom>
                <a:avLst/>
                <a:gdLst/>
                <a:ahLst/>
                <a:cxnLst/>
                <a:rect l="l" t="t" r="r" b="b"/>
                <a:pathLst>
                  <a:path w="85725" h="57150">
                    <a:moveTo>
                      <a:pt x="0" y="28575"/>
                    </a:moveTo>
                    <a:lnTo>
                      <a:pt x="28575" y="57150"/>
                    </a:lnTo>
                    <a:lnTo>
                      <a:pt x="85725" y="0"/>
                    </a:lnTo>
                  </a:path>
                </a:pathLst>
              </a:custGeom>
              <a:noFill/>
              <a:ln w="28575">
                <a:solidFill>
                  <a:srgbClr val="C1381F"/>
                </a:solidFill>
              </a:ln>
            </p:spPr>
          </p:sp>
        </p:grpSp>
        <p:sp>
          <p:nvSpPr>
            <p:cNvPr id="22" name="TextBox 22"/>
            <p:cNvSpPr txBox="1"/>
            <p:nvPr/>
          </p:nvSpPr>
          <p:spPr>
            <a:xfrm>
              <a:off x="3666744" y="2876550"/>
              <a:ext cx="1756086" cy="686181"/>
            </a:xfrm>
            <a:prstGeom prst="rect">
              <a:avLst/>
            </a:prstGeom>
            <a:noFill/>
            <a:ln>
              <a:noFill/>
            </a:ln>
          </p:spPr>
          <p:txBody>
            <a:bodyPr wrap="none" lIns="0" tIns="0" rIns="0" bIns="0" anchor="t" anchorCtr="0">
              <a:spAutoFit/>
            </a:bodyPr>
            <a:lstStyle/>
            <a:p>
              <a:pPr algn="l">
                <a:lnSpc>
                  <a:spcPts val="2400"/>
                </a:lnSpc>
              </a:pPr>
              <a:r>
                <a:rPr lang="id-ID" sz="1950" b="1" dirty="0">
                  <a:solidFill>
                    <a:schemeClr val="dk1"/>
                  </a:solidFill>
                  <a:latin typeface="+mn-lt"/>
                  <a:ea typeface="+mn-ea"/>
                  <a:cs typeface="+mn-cs"/>
                </a:rPr>
                <a:t>Jadwal &amp; antrian</a:t>
              </a:r>
              <a:br>
                <a:rPr lang="id-ID" sz="1950" b="1" dirty="0">
                  <a:solidFill>
                    <a:schemeClr val="dk1"/>
                  </a:solidFill>
                  <a:latin typeface="+mn-lt"/>
                  <a:ea typeface="+mn-ea"/>
                  <a:cs typeface="+mn-cs"/>
                </a:rPr>
              </a:br>
              <a:r>
                <a:rPr lang="id-ID" sz="1950" b="1" dirty="0">
                  <a:solidFill>
                    <a:schemeClr val="dk1"/>
                  </a:solidFill>
                  <a:latin typeface="+mn-lt"/>
                  <a:ea typeface="+mn-ea"/>
                  <a:cs typeface="+mn-cs"/>
                </a:rPr>
                <a:t>manual</a:t>
              </a:r>
            </a:p>
          </p:txBody>
        </p:sp>
        <p:sp>
          <p:nvSpPr>
            <p:cNvPr id="23" name="TextBox 23"/>
            <p:cNvSpPr txBox="1"/>
            <p:nvPr/>
          </p:nvSpPr>
          <p:spPr>
            <a:xfrm>
              <a:off x="3669030" y="3702050"/>
              <a:ext cx="1812569" cy="13601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Booking lewat telepon</a:t>
              </a:r>
              <a:br>
                <a:rPr lang="id-ID" sz="1500" dirty="0">
                  <a:solidFill>
                    <a:srgbClr val="55534A"/>
                  </a:solidFill>
                  <a:latin typeface="+mn-lt"/>
                  <a:ea typeface="+mn-ea"/>
                  <a:cs typeface="+mn-cs"/>
                </a:rPr>
              </a:br>
              <a:r>
                <a:rPr lang="id-ID" sz="1500" dirty="0">
                  <a:solidFill>
                    <a:srgbClr val="55534A"/>
                  </a:solidFill>
                  <a:latin typeface="+mn-lt"/>
                  <a:ea typeface="+mn-ea"/>
                  <a:cs typeface="+mn-cs"/>
                </a:rPr>
                <a:t>atau buku sering</a:t>
              </a:r>
              <a:br>
                <a:rPr lang="id-ID" sz="1500" dirty="0">
                  <a:solidFill>
                    <a:srgbClr val="55534A"/>
                  </a:solidFill>
                  <a:latin typeface="+mn-lt"/>
                  <a:ea typeface="+mn-ea"/>
                  <a:cs typeface="+mn-cs"/>
                </a:rPr>
              </a:br>
              <a:r>
                <a:rPr lang="id-ID" sz="1500" dirty="0">
                  <a:solidFill>
                    <a:srgbClr val="55534A"/>
                  </a:solidFill>
                  <a:latin typeface="+mn-lt"/>
                  <a:ea typeface="+mn-ea"/>
                  <a:cs typeface="+mn-cs"/>
                </a:rPr>
                <a:t>bentrok, tidak terlacak,</a:t>
              </a:r>
              <a:br>
                <a:rPr lang="id-ID" sz="1500" dirty="0">
                  <a:solidFill>
                    <a:srgbClr val="55534A"/>
                  </a:solidFill>
                  <a:latin typeface="+mn-lt"/>
                  <a:ea typeface="+mn-ea"/>
                  <a:cs typeface="+mn-cs"/>
                </a:rPr>
              </a:br>
              <a:r>
                <a:rPr lang="id-ID" sz="1500" dirty="0">
                  <a:solidFill>
                    <a:srgbClr val="55534A"/>
                  </a:solidFill>
                  <a:latin typeface="+mn-lt"/>
                  <a:ea typeface="+mn-ea"/>
                  <a:cs typeface="+mn-cs"/>
                </a:rPr>
                <a:t>dan pasien menunggu</a:t>
              </a:r>
              <a:br>
                <a:rPr lang="id-ID" sz="1500" dirty="0">
                  <a:solidFill>
                    <a:srgbClr val="55534A"/>
                  </a:solidFill>
                  <a:latin typeface="+mn-lt"/>
                  <a:ea typeface="+mn-ea"/>
                  <a:cs typeface="+mn-cs"/>
                </a:rPr>
              </a:br>
              <a:r>
                <a:rPr lang="id-ID" sz="1500" dirty="0">
                  <a:solidFill>
                    <a:srgbClr val="55534A"/>
                  </a:solidFill>
                  <a:latin typeface="+mn-lt"/>
                  <a:ea typeface="+mn-ea"/>
                  <a:cs typeface="+mn-cs"/>
                </a:rPr>
                <a:t>lama.</a:t>
              </a:r>
            </a:p>
          </p:txBody>
        </p:sp>
      </p:grpSp>
      <p:grpSp>
        <p:nvGrpSpPr>
          <p:cNvPr id="33" name="problem-numbers"/>
          <p:cNvGrpSpPr/>
          <p:nvPr/>
        </p:nvGrpSpPr>
        <p:grpSpPr>
          <a:xfrm>
            <a:off x="6210300" y="1676400"/>
            <a:ext cx="2571750" cy="3676650"/>
            <a:chOff x="6210300" y="1676400"/>
            <a:chExt cx="2571750" cy="3676650"/>
          </a:xfrm>
        </p:grpSpPr>
        <p:sp>
          <p:nvSpPr>
            <p:cNvPr id="25" name="Rectangle 25"/>
            <p:cNvSpPr/>
            <p:nvPr/>
          </p:nvSpPr>
          <p:spPr>
            <a:xfrm>
              <a:off x="6210300" y="1676400"/>
              <a:ext cx="2571750" cy="3676650"/>
            </a:xfrm>
            <a:prstGeom prst="roundRect">
              <a:avLst>
                <a:gd name="adj" fmla="val 7407"/>
              </a:avLst>
            </a:prstGeom>
            <a:solidFill>
              <a:srgbClr val="FFFFFF"/>
            </a:solidFill>
            <a:ln w="9525">
              <a:solidFill>
                <a:schemeClr val="accent6"/>
              </a:solidFill>
            </a:ln>
          </p:spPr>
        </p:sp>
        <p:sp>
          <p:nvSpPr>
            <p:cNvPr id="26" name="Ellipse 26"/>
            <p:cNvSpPr/>
            <p:nvPr/>
          </p:nvSpPr>
          <p:spPr>
            <a:xfrm>
              <a:off x="6477000" y="1981200"/>
              <a:ext cx="609600" cy="609600"/>
            </a:xfrm>
            <a:prstGeom prst="ellipse">
              <a:avLst/>
            </a:prstGeom>
            <a:solidFill>
              <a:srgbClr val="FBE1DE"/>
            </a:solidFill>
            <a:ln>
              <a:noFill/>
            </a:ln>
          </p:spPr>
        </p:sp>
        <p:grpSp>
          <p:nvGrpSpPr>
            <p:cNvPr id="30" name="Group 30"/>
            <p:cNvGrpSpPr/>
            <p:nvPr/>
          </p:nvGrpSpPr>
          <p:grpSpPr>
            <a:xfrm>
              <a:off x="6653212" y="2185988"/>
              <a:ext cx="257175" cy="200025"/>
              <a:chOff x="6653212" y="2185988"/>
              <a:chExt cx="257175" cy="200025"/>
            </a:xfrm>
          </p:grpSpPr>
          <p:sp>
            <p:nvSpPr>
              <p:cNvPr id="27" name="Freeform 27"/>
              <p:cNvSpPr/>
              <p:nvPr/>
            </p:nvSpPr>
            <p:spPr>
              <a:xfrm>
                <a:off x="6653212" y="2185988"/>
                <a:ext cx="200025" cy="142875"/>
              </a:xfrm>
              <a:custGeom>
                <a:avLst/>
                <a:gdLst/>
                <a:ahLst/>
                <a:cxnLst/>
                <a:rect l="l" t="t" r="r" b="b"/>
                <a:pathLst>
                  <a:path w="200025" h="142875">
                    <a:moveTo>
                      <a:pt x="57150" y="142875"/>
                    </a:moveTo>
                    <a:lnTo>
                      <a:pt x="14288" y="142875"/>
                    </a:lnTo>
                    <a:cubicBezTo>
                      <a:pt x="6397" y="142875"/>
                      <a:pt x="0" y="136478"/>
                      <a:pt x="0" y="128588"/>
                    </a:cubicBezTo>
                    <a:lnTo>
                      <a:pt x="0" y="14288"/>
                    </a:lnTo>
                    <a:cubicBezTo>
                      <a:pt x="0" y="6397"/>
                      <a:pt x="6397" y="0"/>
                      <a:pt x="14288" y="0"/>
                    </a:cubicBezTo>
                    <a:lnTo>
                      <a:pt x="185738" y="0"/>
                    </a:lnTo>
                    <a:cubicBezTo>
                      <a:pt x="193628" y="0"/>
                      <a:pt x="200025" y="6397"/>
                      <a:pt x="200025" y="14288"/>
                    </a:cubicBezTo>
                    <a:lnTo>
                      <a:pt x="200025" y="57150"/>
                    </a:lnTo>
                  </a:path>
                </a:pathLst>
              </a:custGeom>
              <a:noFill/>
              <a:ln w="28575">
                <a:solidFill>
                  <a:srgbClr val="C1381F"/>
                </a:solidFill>
              </a:ln>
            </p:spPr>
          </p:sp>
          <p:sp>
            <p:nvSpPr>
              <p:cNvPr id="28" name="Freeform 28"/>
              <p:cNvSpPr/>
              <p:nvPr/>
            </p:nvSpPr>
            <p:spPr>
              <a:xfrm>
                <a:off x="6710362" y="2243138"/>
                <a:ext cx="200025" cy="142875"/>
              </a:xfrm>
              <a:custGeom>
                <a:avLst/>
                <a:gdLst/>
                <a:ahLst/>
                <a:cxnLst/>
                <a:rect l="l" t="t" r="r" b="b"/>
                <a:pathLst>
                  <a:path w="200025" h="142875">
                    <a:moveTo>
                      <a:pt x="0" y="14288"/>
                    </a:moveTo>
                    <a:cubicBezTo>
                      <a:pt x="0" y="6397"/>
                      <a:pt x="6397" y="0"/>
                      <a:pt x="14288" y="0"/>
                    </a:cubicBezTo>
                    <a:lnTo>
                      <a:pt x="185738" y="0"/>
                    </a:lnTo>
                    <a:cubicBezTo>
                      <a:pt x="193628" y="0"/>
                      <a:pt x="200025" y="6397"/>
                      <a:pt x="200025" y="14288"/>
                    </a:cubicBezTo>
                    <a:lnTo>
                      <a:pt x="200025" y="128588"/>
                    </a:lnTo>
                    <a:cubicBezTo>
                      <a:pt x="200025" y="136478"/>
                      <a:pt x="193628" y="142875"/>
                      <a:pt x="185738" y="142875"/>
                    </a:cubicBezTo>
                    <a:lnTo>
                      <a:pt x="14288" y="142875"/>
                    </a:lnTo>
                    <a:cubicBezTo>
                      <a:pt x="6397" y="142875"/>
                      <a:pt x="0" y="136478"/>
                      <a:pt x="0" y="128588"/>
                    </a:cubicBezTo>
                    <a:lnTo>
                      <a:pt x="0" y="14288"/>
                    </a:lnTo>
                  </a:path>
                </a:pathLst>
              </a:custGeom>
              <a:noFill/>
              <a:ln w="28575">
                <a:solidFill>
                  <a:srgbClr val="C1381F"/>
                </a:solidFill>
              </a:ln>
            </p:spPr>
          </p:sp>
          <p:sp>
            <p:nvSpPr>
              <p:cNvPr id="29" name="Freeform 29"/>
              <p:cNvSpPr/>
              <p:nvPr/>
            </p:nvSpPr>
            <p:spPr>
              <a:xfrm>
                <a:off x="6781800" y="2286000"/>
                <a:ext cx="57150" cy="57150"/>
              </a:xfrm>
              <a:custGeom>
                <a:avLst/>
                <a:gdLst/>
                <a:ahLst/>
                <a:cxnLst/>
                <a:rect l="l" t="t" r="r" b="b"/>
                <a:pathLst>
                  <a:path w="57150" h="57150">
                    <a:moveTo>
                      <a:pt x="0" y="28575"/>
                    </a:moveTo>
                    <a:cubicBezTo>
                      <a:pt x="0" y="44357"/>
                      <a:pt x="12793" y="57150"/>
                      <a:pt x="28575" y="57150"/>
                    </a:cubicBezTo>
                    <a:cubicBezTo>
                      <a:pt x="44357" y="57150"/>
                      <a:pt x="57150" y="44357"/>
                      <a:pt x="57150" y="28575"/>
                    </a:cubicBezTo>
                    <a:cubicBezTo>
                      <a:pt x="57150" y="12793"/>
                      <a:pt x="44357" y="0"/>
                      <a:pt x="28575" y="0"/>
                    </a:cubicBezTo>
                    <a:cubicBezTo>
                      <a:pt x="12793" y="0"/>
                      <a:pt x="0" y="12793"/>
                      <a:pt x="0" y="28575"/>
                    </a:cubicBezTo>
                  </a:path>
                </a:pathLst>
              </a:custGeom>
              <a:noFill/>
              <a:ln w="28575">
                <a:solidFill>
                  <a:srgbClr val="C1381F"/>
                </a:solidFill>
              </a:ln>
            </p:spPr>
          </p:sp>
        </p:grpSp>
        <p:sp>
          <p:nvSpPr>
            <p:cNvPr id="31" name="TextBox 31"/>
            <p:cNvSpPr txBox="1"/>
            <p:nvPr/>
          </p:nvSpPr>
          <p:spPr>
            <a:xfrm>
              <a:off x="6467094" y="2876550"/>
              <a:ext cx="1169329" cy="686181"/>
            </a:xfrm>
            <a:prstGeom prst="rect">
              <a:avLst/>
            </a:prstGeom>
            <a:noFill/>
            <a:ln>
              <a:noFill/>
            </a:ln>
          </p:spPr>
          <p:txBody>
            <a:bodyPr wrap="none" lIns="0" tIns="0" rIns="0" bIns="0" anchor="t" anchorCtr="0">
              <a:spAutoFit/>
            </a:bodyPr>
            <a:lstStyle/>
            <a:p>
              <a:pPr algn="l">
                <a:lnSpc>
                  <a:spcPts val="2400"/>
                </a:lnSpc>
              </a:pPr>
              <a:r>
                <a:rPr lang="id-ID" sz="1950" b="1" dirty="0">
                  <a:solidFill>
                    <a:schemeClr val="dk1"/>
                  </a:solidFill>
                  <a:latin typeface="+mn-lt"/>
                  <a:ea typeface="+mn-ea"/>
                  <a:cs typeface="+mn-cs"/>
                </a:rPr>
                <a:t>Buta angka</a:t>
              </a:r>
              <a:br>
                <a:rPr lang="id-ID" sz="1950" b="1" dirty="0">
                  <a:solidFill>
                    <a:schemeClr val="dk1"/>
                  </a:solidFill>
                  <a:latin typeface="+mn-lt"/>
                  <a:ea typeface="+mn-ea"/>
                  <a:cs typeface="+mn-cs"/>
                </a:rPr>
              </a:br>
              <a:r>
                <a:rPr lang="id-ID" sz="1950" b="1" dirty="0">
                  <a:solidFill>
                    <a:schemeClr val="dk1"/>
                  </a:solidFill>
                  <a:latin typeface="+mn-lt"/>
                  <a:ea typeface="+mn-ea"/>
                  <a:cs typeface="+mn-cs"/>
                </a:rPr>
                <a:t>bisnis</a:t>
              </a:r>
            </a:p>
          </p:txBody>
        </p:sp>
        <p:sp>
          <p:nvSpPr>
            <p:cNvPr id="32" name="TextBox 32"/>
            <p:cNvSpPr txBox="1"/>
            <p:nvPr/>
          </p:nvSpPr>
          <p:spPr>
            <a:xfrm>
              <a:off x="6469380" y="3702050"/>
              <a:ext cx="1972361" cy="10934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Uang masuk tercatat,</a:t>
              </a:r>
              <a:br>
                <a:rPr lang="id-ID" sz="1500" dirty="0">
                  <a:solidFill>
                    <a:srgbClr val="55534A"/>
                  </a:solidFill>
                  <a:latin typeface="+mn-lt"/>
                  <a:ea typeface="+mn-ea"/>
                  <a:cs typeface="+mn-cs"/>
                </a:rPr>
              </a:br>
              <a:r>
                <a:rPr lang="id-ID" sz="1500" dirty="0">
                  <a:solidFill>
                    <a:srgbClr val="55534A"/>
                  </a:solidFill>
                  <a:latin typeface="+mn-lt"/>
                  <a:ea typeface="+mn-ea"/>
                  <a:cs typeface="+mn-cs"/>
                </a:rPr>
                <a:t>tapi margin per tindakan,</a:t>
              </a:r>
              <a:br>
                <a:rPr lang="id-ID" sz="1500" dirty="0">
                  <a:solidFill>
                    <a:srgbClr val="55534A"/>
                  </a:solidFill>
                  <a:latin typeface="+mn-lt"/>
                  <a:ea typeface="+mn-ea"/>
                  <a:cs typeface="+mn-cs"/>
                </a:rPr>
              </a:br>
              <a:r>
                <a:rPr lang="id-ID" sz="1500" dirty="0">
                  <a:solidFill>
                    <a:srgbClr val="55534A"/>
                  </a:solidFill>
                  <a:latin typeface="+mn-lt"/>
                  <a:ea typeface="+mn-ea"/>
                  <a:cs typeface="+mn-cs"/>
                </a:rPr>
                <a:t>fee dokter, dan piutang</a:t>
              </a:r>
              <a:br>
                <a:rPr lang="id-ID" sz="1500" dirty="0">
                  <a:solidFill>
                    <a:srgbClr val="55534A"/>
                  </a:solidFill>
                  <a:latin typeface="+mn-lt"/>
                  <a:ea typeface="+mn-ea"/>
                  <a:cs typeface="+mn-cs"/>
                </a:rPr>
              </a:br>
              <a:r>
                <a:rPr lang="id-ID" sz="1500" dirty="0">
                  <a:solidFill>
                    <a:srgbClr val="55534A"/>
                  </a:solidFill>
                  <a:latin typeface="+mn-lt"/>
                  <a:ea typeface="+mn-ea"/>
                  <a:cs typeface="+mn-cs"/>
                </a:rPr>
                <a:t>tidak pernah dihitung.</a:t>
              </a:r>
            </a:p>
          </p:txBody>
        </p:sp>
      </p:grpSp>
      <p:grpSp>
        <p:nvGrpSpPr>
          <p:cNvPr id="47" name="problem-regulation"/>
          <p:cNvGrpSpPr/>
          <p:nvPr/>
        </p:nvGrpSpPr>
        <p:grpSpPr>
          <a:xfrm>
            <a:off x="9010650" y="1676400"/>
            <a:ext cx="2571750" cy="3676650"/>
            <a:chOff x="9010650" y="1676400"/>
            <a:chExt cx="2571750" cy="3676650"/>
          </a:xfrm>
        </p:grpSpPr>
        <p:sp>
          <p:nvSpPr>
            <p:cNvPr id="34" name="Rectangle 34"/>
            <p:cNvSpPr/>
            <p:nvPr/>
          </p:nvSpPr>
          <p:spPr>
            <a:xfrm>
              <a:off x="9010650" y="1676400"/>
              <a:ext cx="2571750" cy="3676650"/>
            </a:xfrm>
            <a:prstGeom prst="roundRect">
              <a:avLst>
                <a:gd name="adj" fmla="val 7407"/>
              </a:avLst>
            </a:prstGeom>
            <a:solidFill>
              <a:srgbClr val="FFFFFF"/>
            </a:solidFill>
            <a:ln w="9525">
              <a:solidFill>
                <a:schemeClr val="accent6"/>
              </a:solidFill>
            </a:ln>
          </p:spPr>
        </p:sp>
        <p:sp>
          <p:nvSpPr>
            <p:cNvPr id="35" name="Ellipse 35"/>
            <p:cNvSpPr/>
            <p:nvPr/>
          </p:nvSpPr>
          <p:spPr>
            <a:xfrm>
              <a:off x="9277350" y="1981200"/>
              <a:ext cx="609600" cy="609600"/>
            </a:xfrm>
            <a:prstGeom prst="ellipse">
              <a:avLst/>
            </a:prstGeom>
            <a:solidFill>
              <a:srgbClr val="FBE1DE"/>
            </a:solidFill>
            <a:ln>
              <a:noFill/>
            </a:ln>
          </p:spPr>
        </p:sp>
        <p:grpSp>
          <p:nvGrpSpPr>
            <p:cNvPr id="44" name="Group 44"/>
            <p:cNvGrpSpPr/>
            <p:nvPr/>
          </p:nvGrpSpPr>
          <p:grpSpPr>
            <a:xfrm>
              <a:off x="9453562" y="2157412"/>
              <a:ext cx="257175" cy="266701"/>
              <a:chOff x="9453562" y="2157412"/>
              <a:chExt cx="257175" cy="266701"/>
            </a:xfrm>
          </p:grpSpPr>
          <p:sp>
            <p:nvSpPr>
              <p:cNvPr id="36" name="Freeform 36"/>
              <p:cNvSpPr/>
              <p:nvPr/>
            </p:nvSpPr>
            <p:spPr>
              <a:xfrm>
                <a:off x="9453562" y="2414588"/>
                <a:ext cx="257175" cy="9525"/>
              </a:xfrm>
              <a:custGeom>
                <a:avLst/>
                <a:gdLst/>
                <a:ahLst/>
                <a:cxnLst/>
                <a:rect l="l" t="t" r="r" b="b"/>
                <a:pathLst>
                  <a:path w="257175" h="9525">
                    <a:moveTo>
                      <a:pt x="0" y="0"/>
                    </a:moveTo>
                    <a:lnTo>
                      <a:pt x="257175" y="0"/>
                    </a:lnTo>
                  </a:path>
                </a:pathLst>
              </a:custGeom>
              <a:noFill/>
              <a:ln w="28575">
                <a:solidFill>
                  <a:srgbClr val="C1381F"/>
                </a:solidFill>
              </a:ln>
            </p:spPr>
          </p:sp>
          <p:sp>
            <p:nvSpPr>
              <p:cNvPr id="37" name="Freeform 37"/>
              <p:cNvSpPr/>
              <p:nvPr/>
            </p:nvSpPr>
            <p:spPr>
              <a:xfrm>
                <a:off x="9453562" y="2257425"/>
                <a:ext cx="257175" cy="9525"/>
              </a:xfrm>
              <a:custGeom>
                <a:avLst/>
                <a:gdLst/>
                <a:ahLst/>
                <a:cxnLst/>
                <a:rect l="l" t="t" r="r" b="b"/>
                <a:pathLst>
                  <a:path w="257175" h="9525">
                    <a:moveTo>
                      <a:pt x="0" y="0"/>
                    </a:moveTo>
                    <a:lnTo>
                      <a:pt x="257175" y="0"/>
                    </a:lnTo>
                  </a:path>
                </a:pathLst>
              </a:custGeom>
              <a:noFill/>
              <a:ln w="28575">
                <a:solidFill>
                  <a:srgbClr val="C1381F"/>
                </a:solidFill>
              </a:ln>
            </p:spPr>
          </p:sp>
          <p:sp>
            <p:nvSpPr>
              <p:cNvPr id="38" name="Freeform 38"/>
              <p:cNvSpPr/>
              <p:nvPr/>
            </p:nvSpPr>
            <p:spPr>
              <a:xfrm>
                <a:off x="9482138" y="2157412"/>
                <a:ext cx="200025" cy="42862"/>
              </a:xfrm>
              <a:custGeom>
                <a:avLst/>
                <a:gdLst/>
                <a:ahLst/>
                <a:cxnLst/>
                <a:rect l="l" t="t" r="r" b="b"/>
                <a:pathLst>
                  <a:path w="200025" h="42862">
                    <a:moveTo>
                      <a:pt x="0" y="42862"/>
                    </a:moveTo>
                    <a:lnTo>
                      <a:pt x="100012" y="0"/>
                    </a:lnTo>
                    <a:lnTo>
                      <a:pt x="200025" y="42862"/>
                    </a:lnTo>
                  </a:path>
                </a:pathLst>
              </a:custGeom>
              <a:noFill/>
              <a:ln w="28575">
                <a:solidFill>
                  <a:srgbClr val="C1381F"/>
                </a:solidFill>
              </a:ln>
            </p:spPr>
          </p:sp>
          <p:sp>
            <p:nvSpPr>
              <p:cNvPr id="39" name="Freeform 39"/>
              <p:cNvSpPr/>
              <p:nvPr/>
            </p:nvSpPr>
            <p:spPr>
              <a:xfrm>
                <a:off x="9467850" y="2257425"/>
                <a:ext cx="9525" cy="157162"/>
              </a:xfrm>
              <a:custGeom>
                <a:avLst/>
                <a:gdLst/>
                <a:ahLst/>
                <a:cxnLst/>
                <a:rect l="l" t="t" r="r" b="b"/>
                <a:pathLst>
                  <a:path w="9525" h="157162">
                    <a:moveTo>
                      <a:pt x="0" y="0"/>
                    </a:moveTo>
                    <a:lnTo>
                      <a:pt x="0" y="157162"/>
                    </a:lnTo>
                  </a:path>
                </a:pathLst>
              </a:custGeom>
              <a:noFill/>
              <a:ln w="28575">
                <a:solidFill>
                  <a:srgbClr val="C1381F"/>
                </a:solidFill>
              </a:ln>
            </p:spPr>
          </p:sp>
          <p:sp>
            <p:nvSpPr>
              <p:cNvPr id="40" name="Freeform 40"/>
              <p:cNvSpPr/>
              <p:nvPr/>
            </p:nvSpPr>
            <p:spPr>
              <a:xfrm>
                <a:off x="9696450" y="2257425"/>
                <a:ext cx="9525" cy="157162"/>
              </a:xfrm>
              <a:custGeom>
                <a:avLst/>
                <a:gdLst/>
                <a:ahLst/>
                <a:cxnLst/>
                <a:rect l="l" t="t" r="r" b="b"/>
                <a:pathLst>
                  <a:path w="9525" h="157162">
                    <a:moveTo>
                      <a:pt x="0" y="0"/>
                    </a:moveTo>
                    <a:lnTo>
                      <a:pt x="0" y="157162"/>
                    </a:lnTo>
                  </a:path>
                </a:pathLst>
              </a:custGeom>
              <a:noFill/>
              <a:ln w="28575">
                <a:solidFill>
                  <a:srgbClr val="C1381F"/>
                </a:solidFill>
              </a:ln>
            </p:spPr>
          </p:sp>
          <p:sp>
            <p:nvSpPr>
              <p:cNvPr id="41" name="Freeform 41"/>
              <p:cNvSpPr/>
              <p:nvPr/>
            </p:nvSpPr>
            <p:spPr>
              <a:xfrm>
                <a:off x="9525000" y="2314575"/>
                <a:ext cx="9525" cy="42862"/>
              </a:xfrm>
              <a:custGeom>
                <a:avLst/>
                <a:gdLst/>
                <a:ahLst/>
                <a:cxnLst/>
                <a:rect l="l" t="t" r="r" b="b"/>
                <a:pathLst>
                  <a:path w="9525" h="42862">
                    <a:moveTo>
                      <a:pt x="0" y="0"/>
                    </a:moveTo>
                    <a:lnTo>
                      <a:pt x="0" y="42862"/>
                    </a:lnTo>
                  </a:path>
                </a:pathLst>
              </a:custGeom>
              <a:noFill/>
              <a:ln w="28575">
                <a:solidFill>
                  <a:srgbClr val="C1381F"/>
                </a:solidFill>
              </a:ln>
            </p:spPr>
          </p:sp>
          <p:sp>
            <p:nvSpPr>
              <p:cNvPr id="42" name="Freeform 42"/>
              <p:cNvSpPr/>
              <p:nvPr/>
            </p:nvSpPr>
            <p:spPr>
              <a:xfrm>
                <a:off x="9582150" y="2314575"/>
                <a:ext cx="9525" cy="42862"/>
              </a:xfrm>
              <a:custGeom>
                <a:avLst/>
                <a:gdLst/>
                <a:ahLst/>
                <a:cxnLst/>
                <a:rect l="l" t="t" r="r" b="b"/>
                <a:pathLst>
                  <a:path w="9525" h="42862">
                    <a:moveTo>
                      <a:pt x="0" y="0"/>
                    </a:moveTo>
                    <a:lnTo>
                      <a:pt x="0" y="42862"/>
                    </a:lnTo>
                  </a:path>
                </a:pathLst>
              </a:custGeom>
              <a:noFill/>
              <a:ln w="28575">
                <a:solidFill>
                  <a:srgbClr val="C1381F"/>
                </a:solidFill>
              </a:ln>
            </p:spPr>
          </p:sp>
          <p:sp>
            <p:nvSpPr>
              <p:cNvPr id="43" name="Freeform 43"/>
              <p:cNvSpPr/>
              <p:nvPr/>
            </p:nvSpPr>
            <p:spPr>
              <a:xfrm>
                <a:off x="9639300" y="2314575"/>
                <a:ext cx="9525" cy="42862"/>
              </a:xfrm>
              <a:custGeom>
                <a:avLst/>
                <a:gdLst/>
                <a:ahLst/>
                <a:cxnLst/>
                <a:rect l="l" t="t" r="r" b="b"/>
                <a:pathLst>
                  <a:path w="9525" h="42862">
                    <a:moveTo>
                      <a:pt x="0" y="0"/>
                    </a:moveTo>
                    <a:lnTo>
                      <a:pt x="0" y="42862"/>
                    </a:lnTo>
                  </a:path>
                </a:pathLst>
              </a:custGeom>
              <a:noFill/>
              <a:ln w="28575">
                <a:solidFill>
                  <a:srgbClr val="C1381F"/>
                </a:solidFill>
              </a:ln>
            </p:spPr>
          </p:sp>
        </p:grpSp>
        <p:sp>
          <p:nvSpPr>
            <p:cNvPr id="45" name="TextBox 45"/>
            <p:cNvSpPr txBox="1"/>
            <p:nvPr/>
          </p:nvSpPr>
          <p:spPr>
            <a:xfrm>
              <a:off x="9267444" y="2876550"/>
              <a:ext cx="896270" cy="686181"/>
            </a:xfrm>
            <a:prstGeom prst="rect">
              <a:avLst/>
            </a:prstGeom>
            <a:noFill/>
            <a:ln>
              <a:noFill/>
            </a:ln>
          </p:spPr>
          <p:txBody>
            <a:bodyPr wrap="none" lIns="0" tIns="0" rIns="0" bIns="0" anchor="t" anchorCtr="0">
              <a:spAutoFit/>
            </a:bodyPr>
            <a:lstStyle/>
            <a:p>
              <a:pPr algn="l">
                <a:lnSpc>
                  <a:spcPts val="2400"/>
                </a:lnSpc>
              </a:pPr>
              <a:r>
                <a:rPr lang="id-ID" sz="1950" b="1" dirty="0">
                  <a:solidFill>
                    <a:schemeClr val="dk1"/>
                  </a:solidFill>
                  <a:latin typeface="+mn-lt"/>
                  <a:ea typeface="+mn-ea"/>
                  <a:cs typeface="+mn-cs"/>
                </a:rPr>
                <a:t>Tekanan</a:t>
              </a:r>
              <a:br>
                <a:rPr lang="id-ID" sz="1950" b="1" dirty="0">
                  <a:solidFill>
                    <a:schemeClr val="dk1"/>
                  </a:solidFill>
                  <a:latin typeface="+mn-lt"/>
                  <a:ea typeface="+mn-ea"/>
                  <a:cs typeface="+mn-cs"/>
                </a:rPr>
              </a:br>
              <a:r>
                <a:rPr lang="id-ID" sz="1950" b="1" dirty="0">
                  <a:solidFill>
                    <a:schemeClr val="dk1"/>
                  </a:solidFill>
                  <a:latin typeface="+mn-lt"/>
                  <a:ea typeface="+mn-ea"/>
                  <a:cs typeface="+mn-cs"/>
                </a:rPr>
                <a:t>regulasi</a:t>
              </a:r>
            </a:p>
          </p:txBody>
        </p:sp>
        <p:sp>
          <p:nvSpPr>
            <p:cNvPr id="46" name="TextBox 46"/>
            <p:cNvSpPr txBox="1"/>
            <p:nvPr/>
          </p:nvSpPr>
          <p:spPr>
            <a:xfrm>
              <a:off x="9269730" y="3702050"/>
              <a:ext cx="1893989" cy="13601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RME dan pelaporan</a:t>
              </a:r>
              <a:br>
                <a:rPr lang="id-ID" sz="1500" dirty="0">
                  <a:solidFill>
                    <a:srgbClr val="55534A"/>
                  </a:solidFill>
                  <a:latin typeface="+mn-lt"/>
                  <a:ea typeface="+mn-ea"/>
                  <a:cs typeface="+mn-cs"/>
                </a:rPr>
              </a:br>
              <a:r>
                <a:rPr lang="id-ID" sz="1500" dirty="0">
                  <a:solidFill>
                    <a:srgbClr val="55534A"/>
                  </a:solidFill>
                  <a:latin typeface="+mn-lt"/>
                  <a:ea typeface="+mn-ea"/>
                  <a:cs typeface="+mn-cs"/>
                </a:rPr>
                <a:t>SATUSEHAT kini wajib;</a:t>
              </a:r>
              <a:br>
                <a:rPr lang="id-ID" sz="1500" dirty="0">
                  <a:solidFill>
                    <a:srgbClr val="55534A"/>
                  </a:solidFill>
                  <a:latin typeface="+mn-lt"/>
                  <a:ea typeface="+mn-ea"/>
                  <a:cs typeface="+mn-cs"/>
                </a:rPr>
              </a:br>
              <a:r>
                <a:rPr lang="id-ID" sz="1500" dirty="0">
                  <a:solidFill>
                    <a:srgbClr val="55534A"/>
                  </a:solidFill>
                  <a:latin typeface="+mn-lt"/>
                  <a:ea typeface="+mn-ea"/>
                  <a:cs typeface="+mn-cs"/>
                </a:rPr>
                <a:t>sistem lama tidak siap,</a:t>
              </a:r>
              <a:br>
                <a:rPr lang="id-ID" sz="1500" dirty="0">
                  <a:solidFill>
                    <a:srgbClr val="55534A"/>
                  </a:solidFill>
                  <a:latin typeface="+mn-lt"/>
                  <a:ea typeface="+mn-ea"/>
                  <a:cs typeface="+mn-cs"/>
                </a:rPr>
              </a:br>
              <a:r>
                <a:rPr lang="id-ID" sz="1500" dirty="0">
                  <a:solidFill>
                    <a:srgbClr val="55534A"/>
                  </a:solidFill>
                  <a:latin typeface="+mn-lt"/>
                  <a:ea typeface="+mn-ea"/>
                  <a:cs typeface="+mn-cs"/>
                </a:rPr>
                <a:t>SIMRS enterprise terlalu</a:t>
              </a:r>
              <a:br>
                <a:rPr lang="id-ID" sz="1500" dirty="0">
                  <a:solidFill>
                    <a:srgbClr val="55534A"/>
                  </a:solidFill>
                  <a:latin typeface="+mn-lt"/>
                  <a:ea typeface="+mn-ea"/>
                  <a:cs typeface="+mn-cs"/>
                </a:rPr>
              </a:br>
              <a:r>
                <a:rPr lang="id-ID" sz="1500" dirty="0">
                  <a:solidFill>
                    <a:srgbClr val="55534A"/>
                  </a:solidFill>
                  <a:latin typeface="+mn-lt"/>
                  <a:ea typeface="+mn-ea"/>
                  <a:cs typeface="+mn-cs"/>
                </a:rPr>
                <a:t>mahal untuk klinik kecil.</a:t>
              </a:r>
            </a:p>
          </p:txBody>
        </p:sp>
      </p:grpSp>
      <p:grpSp>
        <p:nvGrpSpPr>
          <p:cNvPr id="54" name="problem-takeaway"/>
          <p:cNvGrpSpPr/>
          <p:nvPr/>
        </p:nvGrpSpPr>
        <p:grpSpPr>
          <a:xfrm>
            <a:off x="609600" y="5581650"/>
            <a:ext cx="10972800" cy="571500"/>
            <a:chOff x="609600" y="5581650"/>
            <a:chExt cx="10972800" cy="571500"/>
          </a:xfrm>
        </p:grpSpPr>
        <p:sp>
          <p:nvSpPr>
            <p:cNvPr id="48" name="Rectangle 48"/>
            <p:cNvSpPr/>
            <p:nvPr/>
          </p:nvSpPr>
          <p:spPr>
            <a:xfrm>
              <a:off x="609600" y="5581650"/>
              <a:ext cx="10972800" cy="571500"/>
            </a:xfrm>
            <a:prstGeom prst="roundRect">
              <a:avLst>
                <a:gd name="adj" fmla="val 33333"/>
              </a:avLst>
            </a:prstGeom>
            <a:solidFill>
              <a:srgbClr val="FBE1DE"/>
            </a:solidFill>
            <a:ln>
              <a:noFill/>
            </a:ln>
          </p:spPr>
        </p:sp>
        <p:grpSp>
          <p:nvGrpSpPr>
            <p:cNvPr id="52" name="Group 52"/>
            <p:cNvGrpSpPr/>
            <p:nvPr/>
          </p:nvGrpSpPr>
          <p:grpSpPr>
            <a:xfrm>
              <a:off x="897579" y="5763696"/>
              <a:ext cx="224134" cy="192560"/>
              <a:chOff x="897579" y="5763696"/>
              <a:chExt cx="224134" cy="192560"/>
            </a:xfrm>
          </p:grpSpPr>
          <p:sp>
            <p:nvSpPr>
              <p:cNvPr id="49" name="Freeform 49"/>
              <p:cNvSpPr/>
              <p:nvPr/>
            </p:nvSpPr>
            <p:spPr>
              <a:xfrm>
                <a:off x="1009650" y="5834063"/>
                <a:ext cx="9525" cy="44450"/>
              </a:xfrm>
              <a:custGeom>
                <a:avLst/>
                <a:gdLst/>
                <a:ahLst/>
                <a:cxnLst/>
                <a:rect l="l" t="t" r="r" b="b"/>
                <a:pathLst>
                  <a:path w="9525" h="44450">
                    <a:moveTo>
                      <a:pt x="0" y="0"/>
                    </a:moveTo>
                    <a:lnTo>
                      <a:pt x="0" y="44450"/>
                    </a:lnTo>
                  </a:path>
                </a:pathLst>
              </a:custGeom>
              <a:noFill/>
              <a:ln w="22225">
                <a:solidFill>
                  <a:srgbClr val="C1381F"/>
                </a:solidFill>
              </a:ln>
            </p:spPr>
          </p:sp>
          <p:sp>
            <p:nvSpPr>
              <p:cNvPr id="50" name="Freeform 50"/>
              <p:cNvSpPr/>
              <p:nvPr/>
            </p:nvSpPr>
            <p:spPr>
              <a:xfrm>
                <a:off x="897579" y="5763696"/>
                <a:ext cx="224134" cy="192560"/>
              </a:xfrm>
              <a:custGeom>
                <a:avLst/>
                <a:gdLst/>
                <a:ahLst/>
                <a:cxnLst/>
                <a:rect l="l" t="t" r="r" b="b"/>
                <a:pathLst>
                  <a:path w="224134" h="192560">
                    <a:moveTo>
                      <a:pt x="93880" y="10259"/>
                    </a:moveTo>
                    <a:lnTo>
                      <a:pt x="3802" y="160656"/>
                    </a:lnTo>
                    <a:cubicBezTo>
                      <a:pt x="23" y="167200"/>
                      <a:pt x="0" y="175257"/>
                      <a:pt x="3741" y="181823"/>
                    </a:cubicBezTo>
                    <a:cubicBezTo>
                      <a:pt x="7482" y="188388"/>
                      <a:pt x="14426" y="192476"/>
                      <a:pt x="21982" y="192560"/>
                    </a:cubicBezTo>
                    <a:lnTo>
                      <a:pt x="202160" y="192560"/>
                    </a:lnTo>
                    <a:cubicBezTo>
                      <a:pt x="209713" y="192473"/>
                      <a:pt x="216653" y="188387"/>
                      <a:pt x="220393" y="181826"/>
                    </a:cubicBezTo>
                    <a:cubicBezTo>
                      <a:pt x="224134" y="175264"/>
                      <a:pt x="224114" y="167211"/>
                      <a:pt x="220341" y="160667"/>
                    </a:cubicBezTo>
                    <a:lnTo>
                      <a:pt x="130262" y="10248"/>
                    </a:lnTo>
                    <a:cubicBezTo>
                      <a:pt x="126408" y="3886"/>
                      <a:pt x="119510" y="0"/>
                      <a:pt x="112071" y="0"/>
                    </a:cubicBezTo>
                    <a:cubicBezTo>
                      <a:pt x="104633" y="0"/>
                      <a:pt x="97734" y="3886"/>
                      <a:pt x="93880" y="10248"/>
                    </a:cubicBezTo>
                  </a:path>
                </a:pathLst>
              </a:custGeom>
              <a:noFill/>
              <a:ln w="22225">
                <a:solidFill>
                  <a:srgbClr val="C1381F"/>
                </a:solidFill>
              </a:ln>
            </p:spPr>
          </p:sp>
          <p:sp>
            <p:nvSpPr>
              <p:cNvPr id="51" name="Freeform 51"/>
              <p:cNvSpPr/>
              <p:nvPr/>
            </p:nvSpPr>
            <p:spPr>
              <a:xfrm>
                <a:off x="1009650" y="5911851"/>
                <a:ext cx="9525" cy="9525"/>
              </a:xfrm>
              <a:custGeom>
                <a:avLst/>
                <a:gdLst/>
                <a:ahLst/>
                <a:cxnLst/>
                <a:rect l="l" t="t" r="r" b="b"/>
                <a:pathLst>
                  <a:path w="9525" h="9525">
                    <a:moveTo>
                      <a:pt x="0" y="0"/>
                    </a:moveTo>
                    <a:lnTo>
                      <a:pt x="111" y="0"/>
                    </a:lnTo>
                  </a:path>
                </a:pathLst>
              </a:custGeom>
              <a:noFill/>
              <a:ln w="22225">
                <a:solidFill>
                  <a:srgbClr val="C1381F"/>
                </a:solidFill>
              </a:ln>
            </p:spPr>
          </p:sp>
        </p:grpSp>
        <p:sp>
          <p:nvSpPr>
            <p:cNvPr id="53" name="TextBox 53"/>
            <p:cNvSpPr txBox="1"/>
            <p:nvPr/>
          </p:nvSpPr>
          <p:spPr>
            <a:xfrm>
              <a:off x="1287018" y="5743575"/>
              <a:ext cx="6774691" cy="322707"/>
            </a:xfrm>
            <a:prstGeom prst="rect">
              <a:avLst/>
            </a:prstGeom>
            <a:noFill/>
            <a:ln>
              <a:noFill/>
            </a:ln>
          </p:spPr>
          <p:txBody>
            <a:bodyPr wrap="none" lIns="0" tIns="0" rIns="0" bIns="0" anchor="t" anchorCtr="0">
              <a:spAutoFit/>
            </a:bodyPr>
            <a:lstStyle/>
            <a:p>
              <a:pPr algn="l"/>
              <a:r>
                <a:rPr lang="id-ID" sz="1650" dirty="0">
                  <a:solidFill>
                    <a:schemeClr val="dk1"/>
                  </a:solidFill>
                  <a:latin typeface="+mn-lt"/>
                  <a:ea typeface="+mn-ea"/>
                  <a:cs typeface="+mn-cs"/>
                </a:rPr>
                <a:t xml:space="preserve">Data berserakan = </a:t>
              </a:r>
              <a:r>
                <a:rPr lang="id-ID" sz="1650" b="1" dirty="0">
                  <a:solidFill>
                    <a:srgbClr val="C1381F"/>
                  </a:solidFill>
                  <a:latin typeface="+mn-lt"/>
                  <a:ea typeface="+mn-ea"/>
                  <a:cs typeface="+mn-cs"/>
                </a:rPr>
                <a:t>rugi waktu, rugi uang,</a:t>
              </a:r>
              <a:r>
                <a:rPr lang="id-ID" sz="1650" dirty="0">
                  <a:solidFill>
                    <a:schemeClr val="dk1"/>
                  </a:solidFill>
                  <a:latin typeface="+mn-lt"/>
                  <a:ea typeface="+mn-ea"/>
                  <a:cs typeface="+mn-cs"/>
                </a:rPr>
                <a:t xml:space="preserve"> dan berisiko tidak patuh regulasi.</a:t>
              </a:r>
            </a:p>
          </p:txBody>
        </p:sp>
      </p:grpSp>
      <p:grpSp>
        <p:nvGrpSpPr>
          <p:cNvPr id="57" name="footer"/>
          <p:cNvGrpSpPr/>
          <p:nvPr/>
        </p:nvGrpSpPr>
        <p:grpSpPr>
          <a:xfrm>
            <a:off x="604647" y="6477000"/>
            <a:ext cx="10982706" cy="191643"/>
            <a:chOff x="604647" y="6477000"/>
            <a:chExt cx="10982706" cy="191643"/>
          </a:xfrm>
        </p:grpSpPr>
        <p:sp>
          <p:nvSpPr>
            <p:cNvPr id="55" name="TextBox 55"/>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56" name="TextBox 56"/>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02</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9038215" cy="786003"/>
            <a:chOff x="595122" y="635000"/>
            <a:chExt cx="9038215" cy="786003"/>
          </a:xfrm>
        </p:grpSpPr>
        <p:sp>
          <p:nvSpPr>
            <p:cNvPr id="2" name="TextBox 2"/>
            <p:cNvSpPr txBox="1"/>
            <p:nvPr/>
          </p:nvSpPr>
          <p:spPr>
            <a:xfrm>
              <a:off x="603885" y="635000"/>
              <a:ext cx="590301"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SOLUSI</a:t>
              </a:r>
            </a:p>
          </p:txBody>
        </p:sp>
        <p:sp>
          <p:nvSpPr>
            <p:cNvPr id="3" name="TextBox 3"/>
            <p:cNvSpPr txBox="1"/>
            <p:nvPr/>
          </p:nvSpPr>
          <p:spPr>
            <a:xfrm>
              <a:off x="595122" y="863600"/>
              <a:ext cx="9038215"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Satu platform, dari pasien datang sampai laporan</a:t>
              </a:r>
            </a:p>
          </p:txBody>
        </p:sp>
      </p:grpSp>
      <p:sp>
        <p:nvSpPr>
          <p:cNvPr id="5" name="Freeform 5"/>
          <p:cNvSpPr/>
          <p:nvPr/>
        </p:nvSpPr>
        <p:spPr>
          <a:xfrm>
            <a:off x="609600" y="1809750"/>
            <a:ext cx="2495550" cy="1143000"/>
          </a:xfrm>
          <a:prstGeom prst="homePlate">
            <a:avLst>
              <a:gd name="adj" fmla="val 45833"/>
            </a:avLst>
          </a:prstGeom>
          <a:solidFill>
            <a:schemeClr val="accent1"/>
          </a:solidFill>
          <a:ln>
            <a:noFill/>
          </a:ln>
        </p:spPr>
      </p:sp>
      <p:sp>
        <p:nvSpPr>
          <p:cNvPr id="6" name="Freeform 6"/>
          <p:cNvSpPr/>
          <p:nvPr/>
        </p:nvSpPr>
        <p:spPr>
          <a:xfrm>
            <a:off x="2657475" y="1809750"/>
            <a:ext cx="2495550" cy="1143000"/>
          </a:xfrm>
          <a:prstGeom prst="chevron">
            <a:avLst>
              <a:gd name="adj" fmla="val 45833"/>
            </a:avLst>
          </a:prstGeom>
          <a:solidFill>
            <a:schemeClr val="accent1"/>
          </a:solidFill>
          <a:ln>
            <a:noFill/>
          </a:ln>
        </p:spPr>
      </p:sp>
      <p:sp>
        <p:nvSpPr>
          <p:cNvPr id="7" name="Freeform 7"/>
          <p:cNvSpPr/>
          <p:nvPr/>
        </p:nvSpPr>
        <p:spPr>
          <a:xfrm>
            <a:off x="4705350" y="1809750"/>
            <a:ext cx="2495550" cy="1143000"/>
          </a:xfrm>
          <a:prstGeom prst="chevron">
            <a:avLst>
              <a:gd name="adj" fmla="val 45833"/>
            </a:avLst>
          </a:prstGeom>
          <a:solidFill>
            <a:schemeClr val="accent1"/>
          </a:solidFill>
          <a:ln>
            <a:noFill/>
          </a:ln>
        </p:spPr>
      </p:sp>
      <p:sp>
        <p:nvSpPr>
          <p:cNvPr id="8" name="Freeform 8"/>
          <p:cNvSpPr/>
          <p:nvPr/>
        </p:nvSpPr>
        <p:spPr>
          <a:xfrm>
            <a:off x="6753225" y="1809750"/>
            <a:ext cx="2495550" cy="1143000"/>
          </a:xfrm>
          <a:prstGeom prst="chevron">
            <a:avLst>
              <a:gd name="adj" fmla="val 45833"/>
            </a:avLst>
          </a:prstGeom>
          <a:solidFill>
            <a:schemeClr val="accent1"/>
          </a:solidFill>
          <a:ln>
            <a:noFill/>
          </a:ln>
        </p:spPr>
      </p:sp>
      <p:sp>
        <p:nvSpPr>
          <p:cNvPr id="9" name="Freeform 9"/>
          <p:cNvSpPr/>
          <p:nvPr/>
        </p:nvSpPr>
        <p:spPr>
          <a:xfrm>
            <a:off x="8801100" y="1809750"/>
            <a:ext cx="2495550" cy="1143000"/>
          </a:xfrm>
          <a:prstGeom prst="chevron">
            <a:avLst>
              <a:gd name="adj" fmla="val 45833"/>
            </a:avLst>
          </a:prstGeom>
          <a:solidFill>
            <a:schemeClr val="accent2"/>
          </a:solidFill>
          <a:ln>
            <a:noFill/>
          </a:ln>
        </p:spPr>
      </p:sp>
      <p:grpSp>
        <p:nvGrpSpPr>
          <p:cNvPr id="46" name="stage-labels"/>
          <p:cNvGrpSpPr/>
          <p:nvPr/>
        </p:nvGrpSpPr>
        <p:grpSpPr>
          <a:xfrm>
            <a:off x="1042143" y="2057400"/>
            <a:ext cx="9592360" cy="1565783"/>
            <a:chOff x="1042143" y="2057400"/>
            <a:chExt cx="9592360" cy="1565783"/>
          </a:xfrm>
        </p:grpSpPr>
        <p:grpSp>
          <p:nvGrpSpPr>
            <p:cNvPr id="15" name="Group 15"/>
            <p:cNvGrpSpPr/>
            <p:nvPr/>
          </p:nvGrpSpPr>
          <p:grpSpPr>
            <a:xfrm>
              <a:off x="1498600" y="2057400"/>
              <a:ext cx="215900" cy="228599"/>
              <a:chOff x="1498600" y="2057400"/>
              <a:chExt cx="215900" cy="228599"/>
            </a:xfrm>
          </p:grpSpPr>
          <p:sp>
            <p:nvSpPr>
              <p:cNvPr id="10" name="Freeform 10"/>
              <p:cNvSpPr/>
              <p:nvPr/>
            </p:nvSpPr>
            <p:spPr>
              <a:xfrm>
                <a:off x="1498600" y="2082800"/>
                <a:ext cx="203199" cy="203199"/>
              </a:xfrm>
              <a:custGeom>
                <a:avLst/>
                <a:gdLst/>
                <a:ahLst/>
                <a:cxnLst/>
                <a:rect l="l" t="t" r="r" b="b"/>
                <a:pathLst>
                  <a:path w="203199" h="203199">
                    <a:moveTo>
                      <a:pt x="95250" y="203199"/>
                    </a:moveTo>
                    <a:lnTo>
                      <a:pt x="25400" y="203199"/>
                    </a:lnTo>
                    <a:cubicBezTo>
                      <a:pt x="11372" y="203199"/>
                      <a:pt x="0" y="191828"/>
                      <a:pt x="0" y="177800"/>
                    </a:cubicBezTo>
                    <a:lnTo>
                      <a:pt x="0" y="25400"/>
                    </a:lnTo>
                    <a:cubicBezTo>
                      <a:pt x="0" y="11372"/>
                      <a:pt x="11372" y="0"/>
                      <a:pt x="25400" y="0"/>
                    </a:cubicBezTo>
                    <a:lnTo>
                      <a:pt x="177800" y="0"/>
                    </a:lnTo>
                    <a:cubicBezTo>
                      <a:pt x="191828" y="0"/>
                      <a:pt x="203199" y="11372"/>
                      <a:pt x="203199" y="25400"/>
                    </a:cubicBezTo>
                    <a:lnTo>
                      <a:pt x="203199" y="101600"/>
                    </a:lnTo>
                  </a:path>
                </a:pathLst>
              </a:custGeom>
              <a:noFill/>
              <a:ln w="25400">
                <a:solidFill>
                  <a:schemeClr val="accent3"/>
                </a:solidFill>
              </a:ln>
            </p:spPr>
          </p:sp>
          <p:sp>
            <p:nvSpPr>
              <p:cNvPr id="11" name="Freeform 11"/>
              <p:cNvSpPr/>
              <p:nvPr/>
            </p:nvSpPr>
            <p:spPr>
              <a:xfrm>
                <a:off x="1650999" y="2057400"/>
                <a:ext cx="9525" cy="50800"/>
              </a:xfrm>
              <a:custGeom>
                <a:avLst/>
                <a:gdLst/>
                <a:ahLst/>
                <a:cxnLst/>
                <a:rect l="l" t="t" r="r" b="b"/>
                <a:pathLst>
                  <a:path w="9525" h="50800">
                    <a:moveTo>
                      <a:pt x="0" y="0"/>
                    </a:moveTo>
                    <a:lnTo>
                      <a:pt x="0" y="50800"/>
                    </a:lnTo>
                  </a:path>
                </a:pathLst>
              </a:custGeom>
              <a:noFill/>
              <a:ln w="25400">
                <a:solidFill>
                  <a:schemeClr val="accent3"/>
                </a:solidFill>
              </a:ln>
            </p:spPr>
          </p:sp>
          <p:sp>
            <p:nvSpPr>
              <p:cNvPr id="12" name="Freeform 12"/>
              <p:cNvSpPr/>
              <p:nvPr/>
            </p:nvSpPr>
            <p:spPr>
              <a:xfrm>
                <a:off x="1549400" y="2057400"/>
                <a:ext cx="9525" cy="50800"/>
              </a:xfrm>
              <a:custGeom>
                <a:avLst/>
                <a:gdLst/>
                <a:ahLst/>
                <a:cxnLst/>
                <a:rect l="l" t="t" r="r" b="b"/>
                <a:pathLst>
                  <a:path w="9525" h="50800">
                    <a:moveTo>
                      <a:pt x="0" y="0"/>
                    </a:moveTo>
                    <a:lnTo>
                      <a:pt x="0" y="50800"/>
                    </a:lnTo>
                  </a:path>
                </a:pathLst>
              </a:custGeom>
              <a:noFill/>
              <a:ln w="25400">
                <a:solidFill>
                  <a:schemeClr val="accent3"/>
                </a:solidFill>
              </a:ln>
            </p:spPr>
          </p:sp>
          <p:sp>
            <p:nvSpPr>
              <p:cNvPr id="13" name="Freeform 13"/>
              <p:cNvSpPr/>
              <p:nvPr/>
            </p:nvSpPr>
            <p:spPr>
              <a:xfrm>
                <a:off x="1498600" y="2159000"/>
                <a:ext cx="203199" cy="9525"/>
              </a:xfrm>
              <a:custGeom>
                <a:avLst/>
                <a:gdLst/>
                <a:ahLst/>
                <a:cxnLst/>
                <a:rect l="l" t="t" r="r" b="b"/>
                <a:pathLst>
                  <a:path w="203199" h="9525">
                    <a:moveTo>
                      <a:pt x="0" y="0"/>
                    </a:moveTo>
                    <a:lnTo>
                      <a:pt x="203199" y="0"/>
                    </a:lnTo>
                  </a:path>
                </a:pathLst>
              </a:custGeom>
              <a:noFill/>
              <a:ln w="25400">
                <a:solidFill>
                  <a:schemeClr val="accent3"/>
                </a:solidFill>
              </a:ln>
            </p:spPr>
          </p:sp>
          <p:sp>
            <p:nvSpPr>
              <p:cNvPr id="14" name="Freeform 14"/>
              <p:cNvSpPr/>
              <p:nvPr/>
            </p:nvSpPr>
            <p:spPr>
              <a:xfrm>
                <a:off x="1638300" y="2235199"/>
                <a:ext cx="76200" cy="50800"/>
              </a:xfrm>
              <a:custGeom>
                <a:avLst/>
                <a:gdLst/>
                <a:ahLst/>
                <a:cxnLst/>
                <a:rect l="l" t="t" r="r" b="b"/>
                <a:pathLst>
                  <a:path w="76200" h="50800">
                    <a:moveTo>
                      <a:pt x="0" y="25400"/>
                    </a:moveTo>
                    <a:lnTo>
                      <a:pt x="25400" y="50800"/>
                    </a:lnTo>
                    <a:lnTo>
                      <a:pt x="76200" y="0"/>
                    </a:lnTo>
                  </a:path>
                </a:pathLst>
              </a:custGeom>
              <a:noFill/>
              <a:ln w="25400">
                <a:solidFill>
                  <a:schemeClr val="accent3"/>
                </a:solidFill>
              </a:ln>
            </p:spPr>
          </p:sp>
        </p:grpSp>
        <p:sp>
          <p:nvSpPr>
            <p:cNvPr id="16" name="TextBox 16"/>
            <p:cNvSpPr txBox="1"/>
            <p:nvPr/>
          </p:nvSpPr>
          <p:spPr>
            <a:xfrm>
              <a:off x="1151987" y="2495550"/>
              <a:ext cx="896427" cy="322707"/>
            </a:xfrm>
            <a:prstGeom prst="rect">
              <a:avLst/>
            </a:prstGeom>
            <a:noFill/>
            <a:ln>
              <a:noFill/>
            </a:ln>
          </p:spPr>
          <p:txBody>
            <a:bodyPr wrap="none" lIns="0" tIns="0" rIns="0" bIns="0" anchor="t" anchorCtr="0">
              <a:spAutoFit/>
            </a:bodyPr>
            <a:lstStyle/>
            <a:p>
              <a:pPr algn="ctr"/>
              <a:r>
                <a:rPr lang="id-ID" sz="1650" b="1" dirty="0">
                  <a:solidFill>
                    <a:srgbClr val="FFFFFF"/>
                  </a:solidFill>
                  <a:latin typeface="+mn-lt"/>
                  <a:ea typeface="+mn-ea"/>
                  <a:cs typeface="+mn-cs"/>
                </a:rPr>
                <a:t>Reservasi</a:t>
              </a:r>
            </a:p>
          </p:txBody>
        </p:sp>
        <p:grpSp>
          <p:nvGrpSpPr>
            <p:cNvPr id="22" name="Group 22"/>
            <p:cNvGrpSpPr/>
            <p:nvPr/>
          </p:nvGrpSpPr>
          <p:grpSpPr>
            <a:xfrm>
              <a:off x="3790950" y="2057400"/>
              <a:ext cx="241299" cy="228600"/>
              <a:chOff x="3790950" y="2057400"/>
              <a:chExt cx="241299" cy="228600"/>
            </a:xfrm>
          </p:grpSpPr>
          <p:sp>
            <p:nvSpPr>
              <p:cNvPr id="17" name="Freeform 17"/>
              <p:cNvSpPr/>
              <p:nvPr/>
            </p:nvSpPr>
            <p:spPr>
              <a:xfrm>
                <a:off x="3790950" y="2070100"/>
                <a:ext cx="139700" cy="139700"/>
              </a:xfrm>
              <a:custGeom>
                <a:avLst/>
                <a:gdLst/>
                <a:ahLst/>
                <a:cxnLst/>
                <a:rect l="l" t="t" r="r" b="b"/>
                <a:pathLst>
                  <a:path w="139700" h="139700">
                    <a:moveTo>
                      <a:pt x="38100" y="0"/>
                    </a:moveTo>
                    <a:lnTo>
                      <a:pt x="25400" y="0"/>
                    </a:lnTo>
                    <a:cubicBezTo>
                      <a:pt x="11372" y="0"/>
                      <a:pt x="0" y="11372"/>
                      <a:pt x="0" y="25400"/>
                    </a:cubicBezTo>
                    <a:lnTo>
                      <a:pt x="0" y="69850"/>
                    </a:lnTo>
                    <a:cubicBezTo>
                      <a:pt x="0" y="108427"/>
                      <a:pt x="31273" y="139700"/>
                      <a:pt x="69850" y="139700"/>
                    </a:cubicBezTo>
                    <a:cubicBezTo>
                      <a:pt x="108427" y="139700"/>
                      <a:pt x="139700" y="108427"/>
                      <a:pt x="139700" y="69850"/>
                    </a:cubicBezTo>
                    <a:lnTo>
                      <a:pt x="139700" y="25400"/>
                    </a:lnTo>
                    <a:cubicBezTo>
                      <a:pt x="139700" y="11372"/>
                      <a:pt x="128328" y="0"/>
                      <a:pt x="114300" y="0"/>
                    </a:cubicBezTo>
                    <a:lnTo>
                      <a:pt x="101600" y="0"/>
                    </a:lnTo>
                  </a:path>
                </a:pathLst>
              </a:custGeom>
              <a:noFill/>
              <a:ln w="25400">
                <a:solidFill>
                  <a:schemeClr val="accent3"/>
                </a:solidFill>
              </a:ln>
            </p:spPr>
          </p:sp>
          <p:sp>
            <p:nvSpPr>
              <p:cNvPr id="18" name="Freeform 18"/>
              <p:cNvSpPr/>
              <p:nvPr/>
            </p:nvSpPr>
            <p:spPr>
              <a:xfrm>
                <a:off x="3854450" y="2171700"/>
                <a:ext cx="152400" cy="114300"/>
              </a:xfrm>
              <a:custGeom>
                <a:avLst/>
                <a:gdLst/>
                <a:ahLst/>
                <a:cxnLst/>
                <a:rect l="l" t="t" r="r" b="b"/>
                <a:pathLst>
                  <a:path w="152400" h="114300">
                    <a:moveTo>
                      <a:pt x="0" y="38100"/>
                    </a:moveTo>
                    <a:cubicBezTo>
                      <a:pt x="0" y="80184"/>
                      <a:pt x="34116" y="114300"/>
                      <a:pt x="76200" y="114300"/>
                    </a:cubicBezTo>
                    <a:cubicBezTo>
                      <a:pt x="118284" y="114300"/>
                      <a:pt x="152400" y="80184"/>
                      <a:pt x="152400" y="38100"/>
                    </a:cubicBezTo>
                    <a:lnTo>
                      <a:pt x="152400" y="0"/>
                    </a:lnTo>
                  </a:path>
                </a:pathLst>
              </a:custGeom>
              <a:noFill/>
              <a:ln w="25400">
                <a:solidFill>
                  <a:schemeClr val="accent3"/>
                </a:solidFill>
              </a:ln>
            </p:spPr>
          </p:sp>
          <p:sp>
            <p:nvSpPr>
              <p:cNvPr id="19" name="Freeform 19"/>
              <p:cNvSpPr/>
              <p:nvPr/>
            </p:nvSpPr>
            <p:spPr>
              <a:xfrm>
                <a:off x="3892550" y="2057400"/>
                <a:ext cx="9525" cy="25400"/>
              </a:xfrm>
              <a:custGeom>
                <a:avLst/>
                <a:gdLst/>
                <a:ahLst/>
                <a:cxnLst/>
                <a:rect l="l" t="t" r="r" b="b"/>
                <a:pathLst>
                  <a:path w="9525" h="25400">
                    <a:moveTo>
                      <a:pt x="0" y="0"/>
                    </a:moveTo>
                    <a:lnTo>
                      <a:pt x="0" y="25400"/>
                    </a:lnTo>
                  </a:path>
                </a:pathLst>
              </a:custGeom>
              <a:noFill/>
              <a:ln w="25400">
                <a:solidFill>
                  <a:schemeClr val="accent3"/>
                </a:solidFill>
              </a:ln>
            </p:spPr>
          </p:sp>
          <p:sp>
            <p:nvSpPr>
              <p:cNvPr id="20" name="Freeform 20"/>
              <p:cNvSpPr/>
              <p:nvPr/>
            </p:nvSpPr>
            <p:spPr>
              <a:xfrm>
                <a:off x="3829050" y="2057400"/>
                <a:ext cx="9525" cy="25400"/>
              </a:xfrm>
              <a:custGeom>
                <a:avLst/>
                <a:gdLst/>
                <a:ahLst/>
                <a:cxnLst/>
                <a:rect l="l" t="t" r="r" b="b"/>
                <a:pathLst>
                  <a:path w="9525" h="25400">
                    <a:moveTo>
                      <a:pt x="0" y="0"/>
                    </a:moveTo>
                    <a:lnTo>
                      <a:pt x="0" y="25400"/>
                    </a:lnTo>
                  </a:path>
                </a:pathLst>
              </a:custGeom>
              <a:noFill/>
              <a:ln w="25400">
                <a:solidFill>
                  <a:schemeClr val="accent3"/>
                </a:solidFill>
              </a:ln>
            </p:spPr>
          </p:sp>
          <p:sp>
            <p:nvSpPr>
              <p:cNvPr id="21" name="Freeform 21"/>
              <p:cNvSpPr/>
              <p:nvPr/>
            </p:nvSpPr>
            <p:spPr>
              <a:xfrm>
                <a:off x="3981449" y="2120900"/>
                <a:ext cx="50800" cy="50800"/>
              </a:xfrm>
              <a:custGeom>
                <a:avLst/>
                <a:gdLst/>
                <a:ahLst/>
                <a:cxnLst/>
                <a:rect l="l" t="t" r="r" b="b"/>
                <a:pathLst>
                  <a:path w="50800" h="50800">
                    <a:moveTo>
                      <a:pt x="0" y="25400"/>
                    </a:moveTo>
                    <a:cubicBezTo>
                      <a:pt x="0" y="39428"/>
                      <a:pt x="11372" y="50800"/>
                      <a:pt x="25400" y="50800"/>
                    </a:cubicBezTo>
                    <a:cubicBezTo>
                      <a:pt x="39428" y="50800"/>
                      <a:pt x="50800" y="39428"/>
                      <a:pt x="50800" y="25400"/>
                    </a:cubicBezTo>
                    <a:cubicBezTo>
                      <a:pt x="50800" y="11372"/>
                      <a:pt x="39428" y="0"/>
                      <a:pt x="25400" y="0"/>
                    </a:cubicBezTo>
                    <a:cubicBezTo>
                      <a:pt x="11372" y="0"/>
                      <a:pt x="0" y="11372"/>
                      <a:pt x="0" y="25400"/>
                    </a:cubicBezTo>
                  </a:path>
                </a:pathLst>
              </a:custGeom>
              <a:noFill/>
              <a:ln w="25400">
                <a:solidFill>
                  <a:schemeClr val="accent3"/>
                </a:solidFill>
              </a:ln>
            </p:spPr>
          </p:sp>
        </p:grpSp>
        <p:sp>
          <p:nvSpPr>
            <p:cNvPr id="23" name="TextBox 23"/>
            <p:cNvSpPr txBox="1"/>
            <p:nvPr/>
          </p:nvSpPr>
          <p:spPr>
            <a:xfrm>
              <a:off x="3298906" y="2495550"/>
              <a:ext cx="1212688" cy="322707"/>
            </a:xfrm>
            <a:prstGeom prst="rect">
              <a:avLst/>
            </a:prstGeom>
            <a:noFill/>
            <a:ln>
              <a:noFill/>
            </a:ln>
          </p:spPr>
          <p:txBody>
            <a:bodyPr wrap="none" lIns="0" tIns="0" rIns="0" bIns="0" anchor="t" anchorCtr="0">
              <a:spAutoFit/>
            </a:bodyPr>
            <a:lstStyle/>
            <a:p>
              <a:pPr algn="ctr"/>
              <a:r>
                <a:rPr lang="id-ID" sz="1650" b="1" dirty="0">
                  <a:solidFill>
                    <a:srgbClr val="FFFFFF"/>
                  </a:solidFill>
                  <a:latin typeface="+mn-lt"/>
                  <a:ea typeface="+mn-ea"/>
                  <a:cs typeface="+mn-cs"/>
                </a:rPr>
                <a:t>Pemeriksaan</a:t>
              </a:r>
            </a:p>
          </p:txBody>
        </p:sp>
        <p:sp>
          <p:nvSpPr>
            <p:cNvPr id="24" name="Freeform 24"/>
            <p:cNvSpPr/>
            <p:nvPr/>
          </p:nvSpPr>
          <p:spPr>
            <a:xfrm>
              <a:off x="5864225" y="2057400"/>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lnTo>
                    <a:pt x="139700" y="203199"/>
                  </a:lnTo>
                  <a:lnTo>
                    <a:pt x="114300" y="228599"/>
                  </a:lnTo>
                  <a:lnTo>
                    <a:pt x="88900" y="203199"/>
                  </a:lnTo>
                  <a:lnTo>
                    <a:pt x="63500" y="228599"/>
                  </a:lnTo>
                  <a:lnTo>
                    <a:pt x="38100" y="203199"/>
                  </a:lnTo>
                  <a:lnTo>
                    <a:pt x="0" y="228599"/>
                  </a:lnTo>
                  <a:moveTo>
                    <a:pt x="50800" y="50800"/>
                  </a:moveTo>
                  <a:lnTo>
                    <a:pt x="127000" y="50800"/>
                  </a:lnTo>
                  <a:moveTo>
                    <a:pt x="50800" y="101600"/>
                  </a:moveTo>
                  <a:lnTo>
                    <a:pt x="127000" y="101600"/>
                  </a:lnTo>
                  <a:moveTo>
                    <a:pt x="101600" y="152400"/>
                  </a:moveTo>
                  <a:lnTo>
                    <a:pt x="127000" y="152400"/>
                  </a:lnTo>
                </a:path>
              </a:pathLst>
            </a:custGeom>
            <a:noFill/>
            <a:ln w="25400">
              <a:solidFill>
                <a:schemeClr val="accent3"/>
              </a:solidFill>
            </a:ln>
          </p:spPr>
        </p:sp>
        <p:sp>
          <p:nvSpPr>
            <p:cNvPr id="25" name="TextBox 25"/>
            <p:cNvSpPr txBox="1"/>
            <p:nvPr/>
          </p:nvSpPr>
          <p:spPr>
            <a:xfrm>
              <a:off x="5658843" y="2495550"/>
              <a:ext cx="588564" cy="322707"/>
            </a:xfrm>
            <a:prstGeom prst="rect">
              <a:avLst/>
            </a:prstGeom>
            <a:noFill/>
            <a:ln>
              <a:noFill/>
            </a:ln>
          </p:spPr>
          <p:txBody>
            <a:bodyPr wrap="none" lIns="0" tIns="0" rIns="0" bIns="0" anchor="t" anchorCtr="0">
              <a:spAutoFit/>
            </a:bodyPr>
            <a:lstStyle/>
            <a:p>
              <a:pPr algn="ctr"/>
              <a:r>
                <a:rPr lang="id-ID" sz="1650" b="1" dirty="0">
                  <a:solidFill>
                    <a:srgbClr val="FFFFFF"/>
                  </a:solidFill>
                  <a:latin typeface="+mn-lt"/>
                  <a:ea typeface="+mn-ea"/>
                  <a:cs typeface="+mn-cs"/>
                </a:rPr>
                <a:t>Billing</a:t>
              </a:r>
            </a:p>
          </p:txBody>
        </p:sp>
        <p:grpSp>
          <p:nvGrpSpPr>
            <p:cNvPr id="28" name="Group 28"/>
            <p:cNvGrpSpPr/>
            <p:nvPr/>
          </p:nvGrpSpPr>
          <p:grpSpPr>
            <a:xfrm>
              <a:off x="7899400" y="2095500"/>
              <a:ext cx="203199" cy="174624"/>
              <a:chOff x="7899400" y="2095500"/>
              <a:chExt cx="203199" cy="174624"/>
            </a:xfrm>
          </p:grpSpPr>
          <p:sp>
            <p:nvSpPr>
              <p:cNvPr id="26" name="Freeform 26"/>
              <p:cNvSpPr/>
              <p:nvPr/>
            </p:nvSpPr>
            <p:spPr>
              <a:xfrm>
                <a:off x="7899400" y="2260599"/>
                <a:ext cx="203199" cy="9525"/>
              </a:xfrm>
              <a:custGeom>
                <a:avLst/>
                <a:gdLst/>
                <a:ahLst/>
                <a:cxnLst/>
                <a:rect l="l" t="t" r="r" b="b"/>
                <a:pathLst>
                  <a:path w="203199" h="9525">
                    <a:moveTo>
                      <a:pt x="0" y="0"/>
                    </a:moveTo>
                    <a:lnTo>
                      <a:pt x="203199" y="0"/>
                    </a:lnTo>
                  </a:path>
                </a:pathLst>
              </a:custGeom>
              <a:noFill/>
              <a:ln w="25400">
                <a:solidFill>
                  <a:schemeClr val="accent3"/>
                </a:solidFill>
              </a:ln>
            </p:spPr>
          </p:sp>
          <p:sp>
            <p:nvSpPr>
              <p:cNvPr id="27" name="Freeform 27"/>
              <p:cNvSpPr/>
              <p:nvPr/>
            </p:nvSpPr>
            <p:spPr>
              <a:xfrm>
                <a:off x="7899400" y="2095500"/>
                <a:ext cx="203199" cy="114300"/>
              </a:xfrm>
              <a:custGeom>
                <a:avLst/>
                <a:gdLst/>
                <a:ahLst/>
                <a:cxnLst/>
                <a:rect l="l" t="t" r="r" b="b"/>
                <a:pathLst>
                  <a:path w="203199" h="114300">
                    <a:moveTo>
                      <a:pt x="0" y="114300"/>
                    </a:moveTo>
                    <a:lnTo>
                      <a:pt x="50800" y="38100"/>
                    </a:lnTo>
                    <a:lnTo>
                      <a:pt x="101600" y="63500"/>
                    </a:lnTo>
                    <a:lnTo>
                      <a:pt x="152400" y="0"/>
                    </a:lnTo>
                    <a:lnTo>
                      <a:pt x="203199" y="50800"/>
                    </a:lnTo>
                  </a:path>
                </a:pathLst>
              </a:custGeom>
              <a:noFill/>
              <a:ln w="25400">
                <a:solidFill>
                  <a:schemeClr val="accent3"/>
                </a:solidFill>
              </a:ln>
            </p:spPr>
          </p:sp>
        </p:grpSp>
        <p:sp>
          <p:nvSpPr>
            <p:cNvPr id="29" name="TextBox 29"/>
            <p:cNvSpPr txBox="1"/>
            <p:nvPr/>
          </p:nvSpPr>
          <p:spPr>
            <a:xfrm>
              <a:off x="7614575" y="2495550"/>
              <a:ext cx="772849" cy="322707"/>
            </a:xfrm>
            <a:prstGeom prst="rect">
              <a:avLst/>
            </a:prstGeom>
            <a:noFill/>
            <a:ln>
              <a:noFill/>
            </a:ln>
          </p:spPr>
          <p:txBody>
            <a:bodyPr wrap="none" lIns="0" tIns="0" rIns="0" bIns="0" anchor="t" anchorCtr="0">
              <a:spAutoFit/>
            </a:bodyPr>
            <a:lstStyle/>
            <a:p>
              <a:pPr algn="ctr"/>
              <a:r>
                <a:rPr lang="id-ID" sz="1650" b="1" dirty="0">
                  <a:solidFill>
                    <a:srgbClr val="FFFFFF"/>
                  </a:solidFill>
                  <a:latin typeface="+mn-lt"/>
                  <a:ea typeface="+mn-ea"/>
                  <a:cs typeface="+mn-cs"/>
                </a:rPr>
                <a:t>Laporan</a:t>
              </a:r>
            </a:p>
          </p:txBody>
        </p:sp>
        <p:grpSp>
          <p:nvGrpSpPr>
            <p:cNvPr id="33" name="Group 33"/>
            <p:cNvGrpSpPr/>
            <p:nvPr/>
          </p:nvGrpSpPr>
          <p:grpSpPr>
            <a:xfrm>
              <a:off x="9947273" y="2063895"/>
              <a:ext cx="209388" cy="215583"/>
              <a:chOff x="9947273" y="2063895"/>
              <a:chExt cx="209388" cy="215583"/>
            </a:xfrm>
          </p:grpSpPr>
          <p:sp>
            <p:nvSpPr>
              <p:cNvPr id="30" name="Freeform 30"/>
              <p:cNvSpPr/>
              <p:nvPr/>
            </p:nvSpPr>
            <p:spPr>
              <a:xfrm>
                <a:off x="10010775" y="2133600"/>
                <a:ext cx="76200" cy="76200"/>
              </a:xfrm>
              <a:custGeom>
                <a:avLst/>
                <a:gdLst/>
                <a:ahLst/>
                <a:cxnLst/>
                <a:rect l="l" t="t" r="r" b="b"/>
                <a:pathLst>
                  <a:path w="76200" h="76200">
                    <a:moveTo>
                      <a:pt x="0" y="76200"/>
                    </a:moveTo>
                    <a:lnTo>
                      <a:pt x="76200" y="0"/>
                    </a:lnTo>
                  </a:path>
                </a:pathLst>
              </a:custGeom>
              <a:noFill/>
              <a:ln w="25400">
                <a:solidFill>
                  <a:srgbClr val="FFFFFF"/>
                </a:solidFill>
              </a:ln>
            </p:spPr>
          </p:sp>
          <p:sp>
            <p:nvSpPr>
              <p:cNvPr id="31" name="Freeform 31"/>
              <p:cNvSpPr/>
              <p:nvPr/>
            </p:nvSpPr>
            <p:spPr>
              <a:xfrm>
                <a:off x="10036175" y="2063895"/>
                <a:ext cx="120486" cy="120505"/>
              </a:xfrm>
              <a:custGeom>
                <a:avLst/>
                <a:gdLst/>
                <a:ahLst/>
                <a:cxnLst/>
                <a:rect l="l" t="t" r="r" b="b"/>
                <a:pathLst>
                  <a:path w="120486" h="120505">
                    <a:moveTo>
                      <a:pt x="0" y="31605"/>
                    </a:moveTo>
                    <a:lnTo>
                      <a:pt x="5880" y="24798"/>
                    </a:lnTo>
                    <a:cubicBezTo>
                      <a:pt x="30682" y="0"/>
                      <a:pt x="70890" y="3"/>
                      <a:pt x="95688" y="24804"/>
                    </a:cubicBezTo>
                    <a:cubicBezTo>
                      <a:pt x="120486" y="49606"/>
                      <a:pt x="120483" y="89814"/>
                      <a:pt x="95682" y="114612"/>
                    </a:cubicBezTo>
                    <a:lnTo>
                      <a:pt x="88900" y="120505"/>
                    </a:lnTo>
                  </a:path>
                </a:pathLst>
              </a:custGeom>
              <a:noFill/>
              <a:ln w="25400">
                <a:solidFill>
                  <a:srgbClr val="FFFFFF"/>
                </a:solidFill>
              </a:ln>
            </p:spPr>
          </p:sp>
          <p:sp>
            <p:nvSpPr>
              <p:cNvPr id="32" name="Freeform 32"/>
              <p:cNvSpPr/>
              <p:nvPr/>
            </p:nvSpPr>
            <p:spPr>
              <a:xfrm>
                <a:off x="9947273" y="2159000"/>
                <a:ext cx="114302" cy="120478"/>
              </a:xfrm>
              <a:custGeom>
                <a:avLst/>
                <a:gdLst/>
                <a:ahLst/>
                <a:cxnLst/>
                <a:rect l="l" t="t" r="r" b="b"/>
                <a:pathLst>
                  <a:path w="114302" h="120478">
                    <a:moveTo>
                      <a:pt x="114302" y="88900"/>
                    </a:moveTo>
                    <a:lnTo>
                      <a:pt x="109260" y="95682"/>
                    </a:lnTo>
                    <a:cubicBezTo>
                      <a:pt x="84184" y="120478"/>
                      <a:pt x="43823" y="120478"/>
                      <a:pt x="18747" y="95682"/>
                    </a:cubicBezTo>
                    <a:cubicBezTo>
                      <a:pt x="6751" y="83820"/>
                      <a:pt x="0" y="67651"/>
                      <a:pt x="0" y="50781"/>
                    </a:cubicBezTo>
                    <a:cubicBezTo>
                      <a:pt x="0" y="33911"/>
                      <a:pt x="6751" y="17742"/>
                      <a:pt x="18747" y="5880"/>
                    </a:cubicBezTo>
                    <a:lnTo>
                      <a:pt x="25402" y="0"/>
                    </a:lnTo>
                  </a:path>
                </a:pathLst>
              </a:custGeom>
              <a:noFill/>
              <a:ln w="25400">
                <a:solidFill>
                  <a:srgbClr val="FFFFFF"/>
                </a:solidFill>
              </a:ln>
            </p:spPr>
          </p:sp>
        </p:grpSp>
        <p:sp>
          <p:nvSpPr>
            <p:cNvPr id="34" name="TextBox 34"/>
            <p:cNvSpPr txBox="1"/>
            <p:nvPr/>
          </p:nvSpPr>
          <p:spPr>
            <a:xfrm>
              <a:off x="9463246" y="2495550"/>
              <a:ext cx="1171257" cy="322707"/>
            </a:xfrm>
            <a:prstGeom prst="rect">
              <a:avLst/>
            </a:prstGeom>
            <a:noFill/>
            <a:ln>
              <a:noFill/>
            </a:ln>
          </p:spPr>
          <p:txBody>
            <a:bodyPr wrap="none" lIns="0" tIns="0" rIns="0" bIns="0" anchor="t" anchorCtr="0">
              <a:spAutoFit/>
            </a:bodyPr>
            <a:lstStyle/>
            <a:p>
              <a:pPr algn="ctr"/>
              <a:r>
                <a:rPr lang="id-ID" sz="1650" b="1" dirty="0">
                  <a:solidFill>
                    <a:srgbClr val="FFFFFF"/>
                  </a:solidFill>
                  <a:latin typeface="+mn-lt"/>
                  <a:ea typeface="+mn-ea"/>
                  <a:cs typeface="+mn-cs"/>
                </a:rPr>
                <a:t>SATUSEHAT</a:t>
              </a:r>
            </a:p>
          </p:txBody>
        </p:sp>
        <p:grpSp>
          <p:nvGrpSpPr>
            <p:cNvPr id="45" name="Group 45"/>
            <p:cNvGrpSpPr/>
            <p:nvPr/>
          </p:nvGrpSpPr>
          <p:grpSpPr>
            <a:xfrm>
              <a:off x="1042143" y="3130550"/>
              <a:ext cx="9503448" cy="492633"/>
              <a:chOff x="1042143" y="3130550"/>
              <a:chExt cx="9503448" cy="492633"/>
            </a:xfrm>
          </p:grpSpPr>
          <p:sp>
            <p:nvSpPr>
              <p:cNvPr id="35" name="TextBox 35"/>
              <p:cNvSpPr txBox="1"/>
              <p:nvPr/>
            </p:nvSpPr>
            <p:spPr>
              <a:xfrm>
                <a:off x="1042143" y="3130550"/>
                <a:ext cx="1116114"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Booking online</a:t>
                </a:r>
              </a:p>
            </p:txBody>
          </p:sp>
          <p:sp>
            <p:nvSpPr>
              <p:cNvPr id="36" name="TextBox 36"/>
              <p:cNvSpPr txBox="1"/>
              <p:nvPr/>
            </p:nvSpPr>
            <p:spPr>
              <a:xfrm>
                <a:off x="1245307" y="3359150"/>
                <a:ext cx="709787"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&amp; antrian</a:t>
                </a:r>
              </a:p>
            </p:txBody>
          </p:sp>
          <p:sp>
            <p:nvSpPr>
              <p:cNvPr id="37" name="TextBox 37"/>
              <p:cNvSpPr txBox="1"/>
              <p:nvPr/>
            </p:nvSpPr>
            <p:spPr>
              <a:xfrm>
                <a:off x="3354762" y="3130550"/>
                <a:ext cx="1100975"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SOAP, ICD-10,</a:t>
                </a:r>
              </a:p>
            </p:txBody>
          </p:sp>
          <p:sp>
            <p:nvSpPr>
              <p:cNvPr id="38" name="TextBox 38"/>
              <p:cNvSpPr txBox="1"/>
              <p:nvPr/>
            </p:nvSpPr>
            <p:spPr>
              <a:xfrm>
                <a:off x="3438161" y="3359150"/>
                <a:ext cx="934178"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odontogram</a:t>
                </a:r>
              </a:p>
            </p:txBody>
          </p:sp>
          <p:sp>
            <p:nvSpPr>
              <p:cNvPr id="39" name="TextBox 39"/>
              <p:cNvSpPr txBox="1"/>
              <p:nvPr/>
            </p:nvSpPr>
            <p:spPr>
              <a:xfrm>
                <a:off x="5515253" y="3130550"/>
                <a:ext cx="875744"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Cash, QRIS,</a:t>
                </a:r>
              </a:p>
            </p:txBody>
          </p:sp>
          <p:sp>
            <p:nvSpPr>
              <p:cNvPr id="40" name="TextBox 40"/>
              <p:cNvSpPr txBox="1"/>
              <p:nvPr/>
            </p:nvSpPr>
            <p:spPr>
              <a:xfrm>
                <a:off x="5615381" y="3359150"/>
                <a:ext cx="675488"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BPJS, DP</a:t>
                </a:r>
              </a:p>
            </p:txBody>
          </p:sp>
          <p:sp>
            <p:nvSpPr>
              <p:cNvPr id="41" name="TextBox 41"/>
              <p:cNvSpPr txBox="1"/>
              <p:nvPr/>
            </p:nvSpPr>
            <p:spPr>
              <a:xfrm>
                <a:off x="7542972" y="3130550"/>
                <a:ext cx="916055"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Keuangan &amp;</a:t>
                </a:r>
              </a:p>
            </p:txBody>
          </p:sp>
          <p:sp>
            <p:nvSpPr>
              <p:cNvPr id="42" name="TextBox 42"/>
              <p:cNvSpPr txBox="1"/>
              <p:nvPr/>
            </p:nvSpPr>
            <p:spPr>
              <a:xfrm>
                <a:off x="7704298" y="3359150"/>
                <a:ext cx="593404"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BI klinik</a:t>
                </a:r>
              </a:p>
            </p:txBody>
          </p:sp>
          <p:sp>
            <p:nvSpPr>
              <p:cNvPr id="43" name="TextBox 43"/>
              <p:cNvSpPr txBox="1"/>
              <p:nvPr/>
            </p:nvSpPr>
            <p:spPr>
              <a:xfrm>
                <a:off x="9559776" y="3130550"/>
                <a:ext cx="978198"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Sinkron FHIR</a:t>
                </a:r>
              </a:p>
            </p:txBody>
          </p:sp>
          <p:sp>
            <p:nvSpPr>
              <p:cNvPr id="44" name="TextBox 44"/>
              <p:cNvSpPr txBox="1"/>
              <p:nvPr/>
            </p:nvSpPr>
            <p:spPr>
              <a:xfrm>
                <a:off x="9552159" y="3359150"/>
                <a:ext cx="993432" cy="264033"/>
              </a:xfrm>
              <a:prstGeom prst="rect">
                <a:avLst/>
              </a:prstGeom>
              <a:noFill/>
              <a:ln>
                <a:noFill/>
              </a:ln>
            </p:spPr>
            <p:txBody>
              <a:bodyPr wrap="none" lIns="0" tIns="0" rIns="0" bIns="0" anchor="t" anchorCtr="0">
                <a:spAutoFit/>
              </a:bodyPr>
              <a:lstStyle/>
              <a:p>
                <a:pPr algn="ctr"/>
                <a:r>
                  <a:rPr lang="id-ID" sz="1350" dirty="0">
                    <a:solidFill>
                      <a:srgbClr val="55534A"/>
                    </a:solidFill>
                    <a:latin typeface="+mn-lt"/>
                    <a:ea typeface="+mn-ea"/>
                    <a:cs typeface="+mn-cs"/>
                  </a:rPr>
                  <a:t>ke Kemenkes</a:t>
                </a:r>
              </a:p>
            </p:txBody>
          </p:sp>
        </p:grpSp>
      </p:grpSp>
      <p:grpSp>
        <p:nvGrpSpPr>
          <p:cNvPr id="56" name="value-band"/>
          <p:cNvGrpSpPr/>
          <p:nvPr/>
        </p:nvGrpSpPr>
        <p:grpSpPr>
          <a:xfrm>
            <a:off x="609600" y="4019550"/>
            <a:ext cx="10972800" cy="2076450"/>
            <a:chOff x="609600" y="4019550"/>
            <a:chExt cx="10972800" cy="2076450"/>
          </a:xfrm>
        </p:grpSpPr>
        <p:sp>
          <p:nvSpPr>
            <p:cNvPr id="47" name="Rectangle 47"/>
            <p:cNvSpPr/>
            <p:nvPr/>
          </p:nvSpPr>
          <p:spPr>
            <a:xfrm>
              <a:off x="609600" y="4019550"/>
              <a:ext cx="10972800" cy="2076450"/>
            </a:xfrm>
            <a:prstGeom prst="roundRect">
              <a:avLst>
                <a:gd name="adj" fmla="val 9174"/>
              </a:avLst>
            </a:prstGeom>
            <a:solidFill>
              <a:srgbClr val="E3F3DA"/>
            </a:solidFill>
            <a:ln>
              <a:noFill/>
            </a:ln>
          </p:spPr>
        </p:sp>
        <p:grpSp>
          <p:nvGrpSpPr>
            <p:cNvPr id="51" name="Group 51"/>
            <p:cNvGrpSpPr/>
            <p:nvPr/>
          </p:nvGrpSpPr>
          <p:grpSpPr>
            <a:xfrm>
              <a:off x="1047750" y="4375150"/>
              <a:ext cx="9306488" cy="876300"/>
              <a:chOff x="1047750" y="4375150"/>
              <a:chExt cx="9306488" cy="876300"/>
            </a:xfrm>
          </p:grpSpPr>
          <p:sp>
            <p:nvSpPr>
              <p:cNvPr id="48" name="TextBox 48"/>
              <p:cNvSpPr txBox="1"/>
              <p:nvPr/>
            </p:nvSpPr>
            <p:spPr>
              <a:xfrm>
                <a:off x="1047750" y="4375150"/>
                <a:ext cx="3017981" cy="876300"/>
              </a:xfrm>
              <a:prstGeom prst="rect">
                <a:avLst/>
              </a:prstGeom>
              <a:noFill/>
              <a:ln>
                <a:noFill/>
              </a:ln>
            </p:spPr>
            <p:txBody>
              <a:bodyPr wrap="none" lIns="0" tIns="0" rIns="0" bIns="0" anchor="t" anchorCtr="0">
                <a:spAutoFit/>
              </a:bodyPr>
              <a:lstStyle/>
              <a:p>
                <a:pPr algn="l"/>
                <a:r>
                  <a:rPr lang="id-ID" sz="4500" b="1" dirty="0">
                    <a:solidFill>
                      <a:srgbClr val="2B6B22"/>
                    </a:solidFill>
                    <a:latin typeface="+mj-lt"/>
                    <a:ea typeface="+mj-ea"/>
                    <a:cs typeface="+mj-cs"/>
                  </a:rPr>
                  <a:t>&lt; 10 menit</a:t>
                </a:r>
              </a:p>
            </p:txBody>
          </p:sp>
          <p:sp>
            <p:nvSpPr>
              <p:cNvPr id="49" name="TextBox 49"/>
              <p:cNvSpPr txBox="1"/>
              <p:nvPr/>
            </p:nvSpPr>
            <p:spPr>
              <a:xfrm>
                <a:off x="4705350" y="4375150"/>
                <a:ext cx="2496533" cy="876300"/>
              </a:xfrm>
              <a:prstGeom prst="rect">
                <a:avLst/>
              </a:prstGeom>
              <a:noFill/>
              <a:ln>
                <a:noFill/>
              </a:ln>
            </p:spPr>
            <p:txBody>
              <a:bodyPr wrap="none" lIns="0" tIns="0" rIns="0" bIns="0" anchor="t" anchorCtr="0">
                <a:spAutoFit/>
              </a:bodyPr>
              <a:lstStyle/>
              <a:p>
                <a:pPr algn="l"/>
                <a:r>
                  <a:rPr lang="id-ID" sz="4500" b="1" dirty="0">
                    <a:solidFill>
                      <a:srgbClr val="2B6B22"/>
                    </a:solidFill>
                    <a:latin typeface="+mj-lt"/>
                    <a:ea typeface="+mj-ea"/>
                    <a:cs typeface="+mj-cs"/>
                  </a:rPr>
                  <a:t>Rp149rb</a:t>
                </a:r>
              </a:p>
            </p:txBody>
          </p:sp>
          <p:sp>
            <p:nvSpPr>
              <p:cNvPr id="50" name="TextBox 50"/>
              <p:cNvSpPr txBox="1"/>
              <p:nvPr/>
            </p:nvSpPr>
            <p:spPr>
              <a:xfrm>
                <a:off x="8362950" y="4375150"/>
                <a:ext cx="1991288" cy="876300"/>
              </a:xfrm>
              <a:prstGeom prst="rect">
                <a:avLst/>
              </a:prstGeom>
              <a:noFill/>
              <a:ln>
                <a:noFill/>
              </a:ln>
            </p:spPr>
            <p:txBody>
              <a:bodyPr wrap="none" lIns="0" tIns="0" rIns="0" bIns="0" anchor="t" anchorCtr="0">
                <a:spAutoFit/>
              </a:bodyPr>
              <a:lstStyle/>
              <a:p>
                <a:pPr algn="l"/>
                <a:r>
                  <a:rPr lang="id-ID" sz="4500" b="1" dirty="0">
                    <a:solidFill>
                      <a:srgbClr val="2B6B22"/>
                    </a:solidFill>
                    <a:latin typeface="+mj-lt"/>
                    <a:ea typeface="+mj-ea"/>
                    <a:cs typeface="+mj-cs"/>
                  </a:rPr>
                  <a:t>15 hari</a:t>
                </a:r>
              </a:p>
            </p:txBody>
          </p:sp>
        </p:grpSp>
        <p:grpSp>
          <p:nvGrpSpPr>
            <p:cNvPr id="55" name="Group 55"/>
            <p:cNvGrpSpPr/>
            <p:nvPr/>
          </p:nvGrpSpPr>
          <p:grpSpPr>
            <a:xfrm>
              <a:off x="1059180" y="5149850"/>
              <a:ext cx="8944794" cy="560070"/>
              <a:chOff x="1059180" y="5149850"/>
              <a:chExt cx="8944794" cy="560070"/>
            </a:xfrm>
          </p:grpSpPr>
          <p:sp>
            <p:nvSpPr>
              <p:cNvPr id="52" name="TextBox 52"/>
              <p:cNvSpPr txBox="1"/>
              <p:nvPr/>
            </p:nvSpPr>
            <p:spPr>
              <a:xfrm>
                <a:off x="1059180" y="5149850"/>
                <a:ext cx="2071059" cy="560070"/>
              </a:xfrm>
              <a:prstGeom prst="rect">
                <a:avLst/>
              </a:prstGeom>
              <a:noFill/>
              <a:ln>
                <a:noFill/>
              </a:ln>
            </p:spPr>
            <p:txBody>
              <a:bodyPr wrap="none" lIns="0" tIns="0" rIns="0" bIns="0" anchor="t" anchorCtr="0">
                <a:spAutoFit/>
              </a:bodyPr>
              <a:lstStyle/>
              <a:p>
                <a:pPr algn="l">
                  <a:lnSpc>
                    <a:spcPts val="2100"/>
                  </a:lnSpc>
                </a:pPr>
                <a:r>
                  <a:rPr lang="id-ID" sz="1500" dirty="0">
                    <a:solidFill>
                      <a:schemeClr val="dk1"/>
                    </a:solidFill>
                    <a:latin typeface="+mn-lt"/>
                    <a:ea typeface="+mn-ea"/>
                    <a:cs typeface="+mn-cs"/>
                  </a:rPr>
                  <a:t>setup klinik dengan wizard</a:t>
                </a:r>
                <a:br>
                  <a:rPr lang="id-ID" sz="1500" dirty="0">
                    <a:solidFill>
                      <a:schemeClr val="dk1"/>
                    </a:solidFill>
                    <a:latin typeface="+mn-lt"/>
                    <a:ea typeface="+mn-ea"/>
                    <a:cs typeface="+mn-cs"/>
                  </a:rPr>
                </a:br>
                <a:r>
                  <a:rPr lang="id-ID" sz="1500" dirty="0">
                    <a:solidFill>
                      <a:schemeClr val="dk1"/>
                    </a:solidFill>
                    <a:latin typeface="+mn-lt"/>
                    <a:ea typeface="+mn-ea"/>
                    <a:cs typeface="+mn-cs"/>
                  </a:rPr>
                  <a:t>onboarding</a:t>
                </a:r>
              </a:p>
            </p:txBody>
          </p:sp>
          <p:sp>
            <p:nvSpPr>
              <p:cNvPr id="53" name="TextBox 53"/>
              <p:cNvSpPr txBox="1"/>
              <p:nvPr/>
            </p:nvSpPr>
            <p:spPr>
              <a:xfrm>
                <a:off x="4716780" y="5149850"/>
                <a:ext cx="2306345" cy="560070"/>
              </a:xfrm>
              <a:prstGeom prst="rect">
                <a:avLst/>
              </a:prstGeom>
              <a:noFill/>
              <a:ln>
                <a:noFill/>
              </a:ln>
            </p:spPr>
            <p:txBody>
              <a:bodyPr wrap="none" lIns="0" tIns="0" rIns="0" bIns="0" anchor="t" anchorCtr="0">
                <a:spAutoFit/>
              </a:bodyPr>
              <a:lstStyle/>
              <a:p>
                <a:pPr algn="l">
                  <a:lnSpc>
                    <a:spcPts val="2100"/>
                  </a:lnSpc>
                </a:pPr>
                <a:r>
                  <a:rPr lang="id-ID" sz="1500" dirty="0">
                    <a:solidFill>
                      <a:schemeClr val="dk1"/>
                    </a:solidFill>
                    <a:latin typeface="+mn-lt"/>
                    <a:ea typeface="+mn-ea"/>
                    <a:cs typeface="+mn-cs"/>
                  </a:rPr>
                  <a:t>mulai per bulan (harga 2027);</a:t>
                </a:r>
                <a:br>
                  <a:rPr lang="id-ID" sz="1500" dirty="0">
                    <a:solidFill>
                      <a:schemeClr val="dk1"/>
                    </a:solidFill>
                    <a:latin typeface="+mn-lt"/>
                    <a:ea typeface="+mn-ea"/>
                    <a:cs typeface="+mn-cs"/>
                  </a:rPr>
                </a:br>
                <a:r>
                  <a:rPr lang="id-ID" sz="1500" dirty="0">
                    <a:solidFill>
                      <a:schemeClr val="dk1"/>
                    </a:solidFill>
                    <a:latin typeface="+mn-lt"/>
                    <a:ea typeface="+mn-ea"/>
                    <a:cs typeface="+mn-cs"/>
                  </a:rPr>
                  <a:t>SIMRS butuh jutaan rupiah</a:t>
                </a:r>
              </a:p>
            </p:txBody>
          </p:sp>
          <p:sp>
            <p:nvSpPr>
              <p:cNvPr id="54" name="TextBox 54"/>
              <p:cNvSpPr txBox="1"/>
              <p:nvPr/>
            </p:nvSpPr>
            <p:spPr>
              <a:xfrm>
                <a:off x="8374380" y="5149850"/>
                <a:ext cx="1629594" cy="560070"/>
              </a:xfrm>
              <a:prstGeom prst="rect">
                <a:avLst/>
              </a:prstGeom>
              <a:noFill/>
              <a:ln>
                <a:noFill/>
              </a:ln>
            </p:spPr>
            <p:txBody>
              <a:bodyPr wrap="none" lIns="0" tIns="0" rIns="0" bIns="0" anchor="t" anchorCtr="0">
                <a:spAutoFit/>
              </a:bodyPr>
              <a:lstStyle/>
              <a:p>
                <a:pPr algn="l">
                  <a:lnSpc>
                    <a:spcPts val="2100"/>
                  </a:lnSpc>
                </a:pPr>
                <a:r>
                  <a:rPr lang="id-ID" sz="1500" dirty="0">
                    <a:solidFill>
                      <a:schemeClr val="dk1"/>
                    </a:solidFill>
                    <a:latin typeface="+mn-lt"/>
                    <a:ea typeface="+mn-ea"/>
                    <a:cs typeface="+mn-cs"/>
                  </a:rPr>
                  <a:t>uji coba gratis, tanpa</a:t>
                </a:r>
                <a:br>
                  <a:rPr lang="id-ID" sz="1500" dirty="0">
                    <a:solidFill>
                      <a:schemeClr val="dk1"/>
                    </a:solidFill>
                    <a:latin typeface="+mn-lt"/>
                    <a:ea typeface="+mn-ea"/>
                    <a:cs typeface="+mn-cs"/>
                  </a:rPr>
                </a:br>
                <a:r>
                  <a:rPr lang="id-ID" sz="1500" dirty="0">
                    <a:solidFill>
                      <a:schemeClr val="dk1"/>
                    </a:solidFill>
                    <a:latin typeface="+mn-lt"/>
                    <a:ea typeface="+mn-ea"/>
                    <a:cs typeface="+mn-cs"/>
                  </a:rPr>
                  <a:t>penagihan otomatis</a:t>
                </a:r>
              </a:p>
            </p:txBody>
          </p:sp>
        </p:grpSp>
      </p:grpSp>
      <p:grpSp>
        <p:nvGrpSpPr>
          <p:cNvPr id="59" name="footer"/>
          <p:cNvGrpSpPr/>
          <p:nvPr/>
        </p:nvGrpSpPr>
        <p:grpSpPr>
          <a:xfrm>
            <a:off x="604647" y="6477000"/>
            <a:ext cx="10982706" cy="191643"/>
            <a:chOff x="604647" y="6477000"/>
            <a:chExt cx="10982706" cy="191643"/>
          </a:xfrm>
        </p:grpSpPr>
        <p:sp>
          <p:nvSpPr>
            <p:cNvPr id="57" name="TextBox 57"/>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58" name="TextBox 58"/>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03</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8932115" cy="786003"/>
            <a:chOff x="595122" y="635000"/>
            <a:chExt cx="8932115" cy="786003"/>
          </a:xfrm>
        </p:grpSpPr>
        <p:sp>
          <p:nvSpPr>
            <p:cNvPr id="2" name="TextBox 2"/>
            <p:cNvSpPr txBox="1"/>
            <p:nvPr/>
          </p:nvSpPr>
          <p:spPr>
            <a:xfrm>
              <a:off x="603885" y="635000"/>
              <a:ext cx="1878468"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PRODUK · SUDAH LIVE</a:t>
              </a:r>
            </a:p>
          </p:txBody>
        </p:sp>
        <p:sp>
          <p:nvSpPr>
            <p:cNvPr id="3" name="TextBox 3"/>
            <p:cNvSpPr txBox="1"/>
            <p:nvPr/>
          </p:nvSpPr>
          <p:spPr>
            <a:xfrm>
              <a:off x="595122" y="863600"/>
              <a:ext cx="8932115"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Semua operasional klinik, sudah tersedia hari ini</a:t>
              </a:r>
            </a:p>
          </p:txBody>
        </p:sp>
      </p:grpSp>
      <p:grpSp>
        <p:nvGrpSpPr>
          <p:cNvPr id="68" name="module-panel"/>
          <p:cNvGrpSpPr/>
          <p:nvPr/>
        </p:nvGrpSpPr>
        <p:grpSpPr>
          <a:xfrm>
            <a:off x="609600" y="1676400"/>
            <a:ext cx="10972800" cy="4267200"/>
            <a:chOff x="609600" y="1676400"/>
            <a:chExt cx="10972800" cy="4267200"/>
          </a:xfrm>
        </p:grpSpPr>
        <p:sp>
          <p:nvSpPr>
            <p:cNvPr id="5" name="Rectangle 5"/>
            <p:cNvSpPr/>
            <p:nvPr/>
          </p:nvSpPr>
          <p:spPr>
            <a:xfrm>
              <a:off x="609600" y="1676400"/>
              <a:ext cx="10972800" cy="4267200"/>
            </a:xfrm>
            <a:prstGeom prst="roundRect">
              <a:avLst>
                <a:gd name="adj" fmla="val 4464"/>
              </a:avLst>
            </a:prstGeom>
            <a:solidFill>
              <a:srgbClr val="FFFFFF"/>
            </a:solidFill>
            <a:ln w="9525">
              <a:solidFill>
                <a:schemeClr val="accent6"/>
              </a:solidFill>
            </a:ln>
          </p:spPr>
        </p:sp>
        <p:grpSp>
          <p:nvGrpSpPr>
            <p:cNvPr id="10" name="Group 10"/>
            <p:cNvGrpSpPr/>
            <p:nvPr/>
          </p:nvGrpSpPr>
          <p:grpSpPr>
            <a:xfrm>
              <a:off x="876300" y="1943100"/>
              <a:ext cx="10439400" cy="3733800"/>
              <a:chOff x="876300" y="1943100"/>
              <a:chExt cx="10439400" cy="3733800"/>
            </a:xfrm>
          </p:grpSpPr>
          <p:sp>
            <p:nvSpPr>
              <p:cNvPr id="6" name="Line 6"/>
              <p:cNvSpPr/>
              <p:nvPr/>
            </p:nvSpPr>
            <p:spPr>
              <a:xfrm>
                <a:off x="3352800" y="1943100"/>
                <a:ext cx="9525" cy="3733800"/>
              </a:xfrm>
              <a:custGeom>
                <a:avLst/>
                <a:gdLst/>
                <a:ahLst/>
                <a:cxnLst/>
                <a:rect l="l" t="t" r="r" b="b"/>
                <a:pathLst>
                  <a:path w="9525" h="3733800">
                    <a:moveTo>
                      <a:pt x="0" y="0"/>
                    </a:moveTo>
                    <a:lnTo>
                      <a:pt x="0" y="3733800"/>
                    </a:lnTo>
                  </a:path>
                </a:pathLst>
              </a:custGeom>
              <a:noFill/>
              <a:ln w="9525">
                <a:solidFill>
                  <a:schemeClr val="accent6"/>
                </a:solidFill>
              </a:ln>
            </p:spPr>
          </p:sp>
          <p:sp>
            <p:nvSpPr>
              <p:cNvPr id="7" name="Line 7"/>
              <p:cNvSpPr/>
              <p:nvPr/>
            </p:nvSpPr>
            <p:spPr>
              <a:xfrm>
                <a:off x="6096000" y="1943100"/>
                <a:ext cx="9525" cy="3733800"/>
              </a:xfrm>
              <a:custGeom>
                <a:avLst/>
                <a:gdLst/>
                <a:ahLst/>
                <a:cxnLst/>
                <a:rect l="l" t="t" r="r" b="b"/>
                <a:pathLst>
                  <a:path w="9525" h="3733800">
                    <a:moveTo>
                      <a:pt x="0" y="0"/>
                    </a:moveTo>
                    <a:lnTo>
                      <a:pt x="0" y="3733800"/>
                    </a:lnTo>
                  </a:path>
                </a:pathLst>
              </a:custGeom>
              <a:noFill/>
              <a:ln w="9525">
                <a:solidFill>
                  <a:schemeClr val="accent6"/>
                </a:solidFill>
              </a:ln>
            </p:spPr>
          </p:sp>
          <p:sp>
            <p:nvSpPr>
              <p:cNvPr id="8" name="Line 8"/>
              <p:cNvSpPr/>
              <p:nvPr/>
            </p:nvSpPr>
            <p:spPr>
              <a:xfrm>
                <a:off x="8839200" y="1943100"/>
                <a:ext cx="9525" cy="3733800"/>
              </a:xfrm>
              <a:custGeom>
                <a:avLst/>
                <a:gdLst/>
                <a:ahLst/>
                <a:cxnLst/>
                <a:rect l="l" t="t" r="r" b="b"/>
                <a:pathLst>
                  <a:path w="9525" h="3733800">
                    <a:moveTo>
                      <a:pt x="0" y="0"/>
                    </a:moveTo>
                    <a:lnTo>
                      <a:pt x="0" y="3733800"/>
                    </a:lnTo>
                  </a:path>
                </a:pathLst>
              </a:custGeom>
              <a:noFill/>
              <a:ln w="9525">
                <a:solidFill>
                  <a:schemeClr val="accent6"/>
                </a:solidFill>
              </a:ln>
            </p:spPr>
          </p:sp>
          <p:sp>
            <p:nvSpPr>
              <p:cNvPr id="9" name="Line 9"/>
              <p:cNvSpPr/>
              <p:nvPr/>
            </p:nvSpPr>
            <p:spPr>
              <a:xfrm>
                <a:off x="876300" y="3810000"/>
                <a:ext cx="10439400" cy="9525"/>
              </a:xfrm>
              <a:custGeom>
                <a:avLst/>
                <a:gdLst/>
                <a:ahLst/>
                <a:cxnLst/>
                <a:rect l="l" t="t" r="r" b="b"/>
                <a:pathLst>
                  <a:path w="10439400" h="9525">
                    <a:moveTo>
                      <a:pt x="0" y="0"/>
                    </a:moveTo>
                    <a:lnTo>
                      <a:pt x="10439400" y="0"/>
                    </a:lnTo>
                  </a:path>
                </a:pathLst>
              </a:custGeom>
              <a:noFill/>
              <a:ln w="9525">
                <a:solidFill>
                  <a:schemeClr val="accent6"/>
                </a:solidFill>
              </a:ln>
            </p:spPr>
          </p:sp>
        </p:grpSp>
        <p:grpSp>
          <p:nvGrpSpPr>
            <p:cNvPr id="19" name="Group 19"/>
            <p:cNvGrpSpPr/>
            <p:nvPr/>
          </p:nvGrpSpPr>
          <p:grpSpPr>
            <a:xfrm>
              <a:off x="914400" y="2019300"/>
              <a:ext cx="8763000" cy="2628900"/>
              <a:chOff x="914400" y="2019300"/>
              <a:chExt cx="8763000" cy="2628900"/>
            </a:xfrm>
          </p:grpSpPr>
          <p:sp>
            <p:nvSpPr>
              <p:cNvPr id="11" name="Ellipse 11"/>
              <p:cNvSpPr/>
              <p:nvPr/>
            </p:nvSpPr>
            <p:spPr>
              <a:xfrm>
                <a:off x="914400" y="2019300"/>
                <a:ext cx="533400" cy="533400"/>
              </a:xfrm>
              <a:prstGeom prst="ellipse">
                <a:avLst/>
              </a:prstGeom>
              <a:solidFill>
                <a:srgbClr val="E3F3DA"/>
              </a:solidFill>
              <a:ln>
                <a:noFill/>
              </a:ln>
            </p:spPr>
          </p:sp>
          <p:sp>
            <p:nvSpPr>
              <p:cNvPr id="12" name="Ellipse 12"/>
              <p:cNvSpPr/>
              <p:nvPr/>
            </p:nvSpPr>
            <p:spPr>
              <a:xfrm>
                <a:off x="3657600" y="2019300"/>
                <a:ext cx="533400" cy="533400"/>
              </a:xfrm>
              <a:prstGeom prst="ellipse">
                <a:avLst/>
              </a:prstGeom>
              <a:solidFill>
                <a:srgbClr val="E3F3DA"/>
              </a:solidFill>
              <a:ln>
                <a:noFill/>
              </a:ln>
            </p:spPr>
          </p:sp>
          <p:sp>
            <p:nvSpPr>
              <p:cNvPr id="13" name="Ellipse 13"/>
              <p:cNvSpPr/>
              <p:nvPr/>
            </p:nvSpPr>
            <p:spPr>
              <a:xfrm>
                <a:off x="6400800" y="2019300"/>
                <a:ext cx="533400" cy="533400"/>
              </a:xfrm>
              <a:prstGeom prst="ellipse">
                <a:avLst/>
              </a:prstGeom>
              <a:solidFill>
                <a:srgbClr val="E3F3DA"/>
              </a:solidFill>
              <a:ln>
                <a:noFill/>
              </a:ln>
            </p:spPr>
          </p:sp>
          <p:sp>
            <p:nvSpPr>
              <p:cNvPr id="14" name="Ellipse 14"/>
              <p:cNvSpPr/>
              <p:nvPr/>
            </p:nvSpPr>
            <p:spPr>
              <a:xfrm>
                <a:off x="9144000" y="2019300"/>
                <a:ext cx="533400" cy="533400"/>
              </a:xfrm>
              <a:prstGeom prst="ellipse">
                <a:avLst/>
              </a:prstGeom>
              <a:solidFill>
                <a:srgbClr val="E3F3DA"/>
              </a:solidFill>
              <a:ln>
                <a:noFill/>
              </a:ln>
            </p:spPr>
          </p:sp>
          <p:sp>
            <p:nvSpPr>
              <p:cNvPr id="15" name="Ellipse 15"/>
              <p:cNvSpPr/>
              <p:nvPr/>
            </p:nvSpPr>
            <p:spPr>
              <a:xfrm>
                <a:off x="914400" y="4114800"/>
                <a:ext cx="533400" cy="533400"/>
              </a:xfrm>
              <a:prstGeom prst="ellipse">
                <a:avLst/>
              </a:prstGeom>
              <a:solidFill>
                <a:srgbClr val="E3F3DA"/>
              </a:solidFill>
              <a:ln>
                <a:noFill/>
              </a:ln>
            </p:spPr>
          </p:sp>
          <p:sp>
            <p:nvSpPr>
              <p:cNvPr id="16" name="Ellipse 16"/>
              <p:cNvSpPr/>
              <p:nvPr/>
            </p:nvSpPr>
            <p:spPr>
              <a:xfrm>
                <a:off x="3657600" y="4114800"/>
                <a:ext cx="533400" cy="533400"/>
              </a:xfrm>
              <a:prstGeom prst="ellipse">
                <a:avLst/>
              </a:prstGeom>
              <a:solidFill>
                <a:srgbClr val="E3F3DA"/>
              </a:solidFill>
              <a:ln>
                <a:noFill/>
              </a:ln>
            </p:spPr>
          </p:sp>
          <p:sp>
            <p:nvSpPr>
              <p:cNvPr id="17" name="Ellipse 17"/>
              <p:cNvSpPr/>
              <p:nvPr/>
            </p:nvSpPr>
            <p:spPr>
              <a:xfrm>
                <a:off x="6400800" y="4114800"/>
                <a:ext cx="533400" cy="533400"/>
              </a:xfrm>
              <a:prstGeom prst="ellipse">
                <a:avLst/>
              </a:prstGeom>
              <a:solidFill>
                <a:srgbClr val="E3F3DA"/>
              </a:solidFill>
              <a:ln>
                <a:noFill/>
              </a:ln>
            </p:spPr>
          </p:sp>
          <p:sp>
            <p:nvSpPr>
              <p:cNvPr id="18" name="Ellipse 18"/>
              <p:cNvSpPr/>
              <p:nvPr/>
            </p:nvSpPr>
            <p:spPr>
              <a:xfrm>
                <a:off x="9144000" y="4114800"/>
                <a:ext cx="533400" cy="533400"/>
              </a:xfrm>
              <a:prstGeom prst="ellipse">
                <a:avLst/>
              </a:prstGeom>
              <a:solidFill>
                <a:srgbClr val="E3F3DA"/>
              </a:solidFill>
              <a:ln>
                <a:noFill/>
              </a:ln>
            </p:spPr>
          </p:sp>
        </p:grpSp>
        <p:grpSp>
          <p:nvGrpSpPr>
            <p:cNvPr id="25" name="Group 25"/>
            <p:cNvGrpSpPr/>
            <p:nvPr/>
          </p:nvGrpSpPr>
          <p:grpSpPr>
            <a:xfrm>
              <a:off x="1092200" y="2171700"/>
              <a:ext cx="177800" cy="228599"/>
              <a:chOff x="1092200" y="2171700"/>
              <a:chExt cx="177800" cy="228599"/>
            </a:xfrm>
          </p:grpSpPr>
          <p:sp>
            <p:nvSpPr>
              <p:cNvPr id="20" name="Freeform 20"/>
              <p:cNvSpPr/>
              <p:nvPr/>
            </p:nvSpPr>
            <p:spPr>
              <a:xfrm>
                <a:off x="1206500" y="21717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2"/>
                </a:solidFill>
              </a:ln>
            </p:spPr>
          </p:sp>
          <p:sp>
            <p:nvSpPr>
              <p:cNvPr id="21" name="Freeform 21"/>
              <p:cNvSpPr/>
              <p:nvPr/>
            </p:nvSpPr>
            <p:spPr>
              <a:xfrm>
                <a:off x="1092200" y="21717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2"/>
                </a:solidFill>
              </a:ln>
            </p:spPr>
          </p:sp>
          <p:sp>
            <p:nvSpPr>
              <p:cNvPr id="22" name="Freeform 22"/>
              <p:cNvSpPr/>
              <p:nvPr/>
            </p:nvSpPr>
            <p:spPr>
              <a:xfrm>
                <a:off x="1143000" y="2247900"/>
                <a:ext cx="12700" cy="9525"/>
              </a:xfrm>
              <a:custGeom>
                <a:avLst/>
                <a:gdLst/>
                <a:ahLst/>
                <a:cxnLst/>
                <a:rect l="l" t="t" r="r" b="b"/>
                <a:pathLst>
                  <a:path w="12700" h="9525">
                    <a:moveTo>
                      <a:pt x="0" y="0"/>
                    </a:moveTo>
                    <a:lnTo>
                      <a:pt x="12700" y="0"/>
                    </a:lnTo>
                  </a:path>
                </a:pathLst>
              </a:custGeom>
              <a:noFill/>
              <a:ln w="25400">
                <a:solidFill>
                  <a:schemeClr val="accent2"/>
                </a:solidFill>
              </a:ln>
            </p:spPr>
          </p:sp>
          <p:sp>
            <p:nvSpPr>
              <p:cNvPr id="23" name="Freeform 23"/>
              <p:cNvSpPr/>
              <p:nvPr/>
            </p:nvSpPr>
            <p:spPr>
              <a:xfrm>
                <a:off x="1143000" y="2298700"/>
                <a:ext cx="76200" cy="9525"/>
              </a:xfrm>
              <a:custGeom>
                <a:avLst/>
                <a:gdLst/>
                <a:ahLst/>
                <a:cxnLst/>
                <a:rect l="l" t="t" r="r" b="b"/>
                <a:pathLst>
                  <a:path w="76200" h="9525">
                    <a:moveTo>
                      <a:pt x="0" y="0"/>
                    </a:moveTo>
                    <a:lnTo>
                      <a:pt x="76200" y="0"/>
                    </a:lnTo>
                  </a:path>
                </a:pathLst>
              </a:custGeom>
              <a:noFill/>
              <a:ln w="25400">
                <a:solidFill>
                  <a:schemeClr val="accent2"/>
                </a:solidFill>
              </a:ln>
            </p:spPr>
          </p:sp>
          <p:sp>
            <p:nvSpPr>
              <p:cNvPr id="24" name="Freeform 24"/>
              <p:cNvSpPr/>
              <p:nvPr/>
            </p:nvSpPr>
            <p:spPr>
              <a:xfrm>
                <a:off x="1143000" y="2349499"/>
                <a:ext cx="76200" cy="9525"/>
              </a:xfrm>
              <a:custGeom>
                <a:avLst/>
                <a:gdLst/>
                <a:ahLst/>
                <a:cxnLst/>
                <a:rect l="l" t="t" r="r" b="b"/>
                <a:pathLst>
                  <a:path w="76200" h="9525">
                    <a:moveTo>
                      <a:pt x="0" y="0"/>
                    </a:moveTo>
                    <a:lnTo>
                      <a:pt x="76200" y="0"/>
                    </a:lnTo>
                  </a:path>
                </a:pathLst>
              </a:custGeom>
              <a:noFill/>
              <a:ln w="25400">
                <a:solidFill>
                  <a:schemeClr val="accent2"/>
                </a:solidFill>
              </a:ln>
            </p:spPr>
          </p:sp>
        </p:grpSp>
        <p:grpSp>
          <p:nvGrpSpPr>
            <p:cNvPr id="28" name="Group 28"/>
            <p:cNvGrpSpPr/>
            <p:nvPr/>
          </p:nvGrpSpPr>
          <p:grpSpPr>
            <a:xfrm>
              <a:off x="3822700" y="2184400"/>
              <a:ext cx="203199" cy="206921"/>
              <a:chOff x="3822700" y="2184400"/>
              <a:chExt cx="203199" cy="206921"/>
            </a:xfrm>
          </p:grpSpPr>
          <p:sp>
            <p:nvSpPr>
              <p:cNvPr id="26" name="Freeform 26"/>
              <p:cNvSpPr/>
              <p:nvPr/>
            </p:nvSpPr>
            <p:spPr>
              <a:xfrm>
                <a:off x="3822700" y="2184400"/>
                <a:ext cx="203199" cy="206921"/>
              </a:xfrm>
              <a:custGeom>
                <a:avLst/>
                <a:gdLst/>
                <a:ahLst/>
                <a:cxnLst/>
                <a:rect l="l" t="t" r="r" b="b"/>
                <a:pathLst>
                  <a:path w="203199" h="206921">
                    <a:moveTo>
                      <a:pt x="101600" y="19050"/>
                    </a:moveTo>
                    <a:cubicBezTo>
                      <a:pt x="87960" y="11608"/>
                      <a:pt x="68796" y="0"/>
                      <a:pt x="50800" y="0"/>
                    </a:cubicBezTo>
                    <a:cubicBezTo>
                      <a:pt x="24130" y="0"/>
                      <a:pt x="0" y="15837"/>
                      <a:pt x="0" y="63500"/>
                    </a:cubicBezTo>
                    <a:cubicBezTo>
                      <a:pt x="0" y="125717"/>
                      <a:pt x="13411" y="170307"/>
                      <a:pt x="33922" y="197319"/>
                    </a:cubicBezTo>
                    <a:cubicBezTo>
                      <a:pt x="41199" y="206921"/>
                      <a:pt x="58941" y="203936"/>
                      <a:pt x="66522" y="194322"/>
                    </a:cubicBezTo>
                    <a:cubicBezTo>
                      <a:pt x="71577" y="187909"/>
                      <a:pt x="76924" y="176047"/>
                      <a:pt x="82550" y="158750"/>
                    </a:cubicBezTo>
                    <a:cubicBezTo>
                      <a:pt x="86258" y="148958"/>
                      <a:pt x="93878" y="139649"/>
                      <a:pt x="101600" y="139700"/>
                    </a:cubicBezTo>
                    <a:cubicBezTo>
                      <a:pt x="109245" y="139700"/>
                      <a:pt x="116967" y="149060"/>
                      <a:pt x="120650" y="158750"/>
                    </a:cubicBezTo>
                    <a:cubicBezTo>
                      <a:pt x="126276" y="176047"/>
                      <a:pt x="131622" y="187896"/>
                      <a:pt x="136677" y="194310"/>
                    </a:cubicBezTo>
                    <a:cubicBezTo>
                      <a:pt x="144259" y="203949"/>
                      <a:pt x="162077" y="206921"/>
                      <a:pt x="169278" y="197319"/>
                    </a:cubicBezTo>
                    <a:cubicBezTo>
                      <a:pt x="189788" y="170307"/>
                      <a:pt x="203199" y="125730"/>
                      <a:pt x="203199" y="63500"/>
                    </a:cubicBezTo>
                    <a:cubicBezTo>
                      <a:pt x="203199" y="16002"/>
                      <a:pt x="178968" y="0"/>
                      <a:pt x="152400" y="0"/>
                    </a:cubicBezTo>
                    <a:cubicBezTo>
                      <a:pt x="134328" y="0"/>
                      <a:pt x="115316" y="11570"/>
                      <a:pt x="101600" y="19050"/>
                    </a:cubicBezTo>
                  </a:path>
                </a:pathLst>
              </a:custGeom>
              <a:noFill/>
              <a:ln w="25400">
                <a:solidFill>
                  <a:schemeClr val="accent2"/>
                </a:solidFill>
              </a:ln>
            </p:spPr>
          </p:sp>
          <p:sp>
            <p:nvSpPr>
              <p:cNvPr id="27" name="Freeform 27"/>
              <p:cNvSpPr/>
              <p:nvPr/>
            </p:nvSpPr>
            <p:spPr>
              <a:xfrm>
                <a:off x="3924300" y="2203450"/>
                <a:ext cx="38100" cy="19050"/>
              </a:xfrm>
              <a:custGeom>
                <a:avLst/>
                <a:gdLst/>
                <a:ahLst/>
                <a:cxnLst/>
                <a:rect l="l" t="t" r="r" b="b"/>
                <a:pathLst>
                  <a:path w="38100" h="19050">
                    <a:moveTo>
                      <a:pt x="0" y="0"/>
                    </a:moveTo>
                    <a:lnTo>
                      <a:pt x="38100" y="19050"/>
                    </a:lnTo>
                  </a:path>
                </a:pathLst>
              </a:custGeom>
              <a:noFill/>
              <a:ln w="25400">
                <a:solidFill>
                  <a:schemeClr val="accent2"/>
                </a:solidFill>
              </a:ln>
            </p:spPr>
          </p:sp>
        </p:grpSp>
        <p:sp>
          <p:nvSpPr>
            <p:cNvPr id="29" name="Freeform 29"/>
            <p:cNvSpPr/>
            <p:nvPr/>
          </p:nvSpPr>
          <p:spPr>
            <a:xfrm>
              <a:off x="6578600" y="2171700"/>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lnTo>
                    <a:pt x="139700" y="203199"/>
                  </a:lnTo>
                  <a:lnTo>
                    <a:pt x="114300" y="228599"/>
                  </a:lnTo>
                  <a:lnTo>
                    <a:pt x="88900" y="203199"/>
                  </a:lnTo>
                  <a:lnTo>
                    <a:pt x="63500" y="228599"/>
                  </a:lnTo>
                  <a:lnTo>
                    <a:pt x="38100" y="203199"/>
                  </a:lnTo>
                  <a:lnTo>
                    <a:pt x="0" y="228599"/>
                  </a:lnTo>
                  <a:moveTo>
                    <a:pt x="50800" y="50800"/>
                  </a:moveTo>
                  <a:lnTo>
                    <a:pt x="127000" y="50800"/>
                  </a:lnTo>
                  <a:moveTo>
                    <a:pt x="50800" y="101600"/>
                  </a:moveTo>
                  <a:lnTo>
                    <a:pt x="127000" y="101600"/>
                  </a:lnTo>
                  <a:moveTo>
                    <a:pt x="101600" y="152400"/>
                  </a:moveTo>
                  <a:lnTo>
                    <a:pt x="127000" y="152400"/>
                  </a:lnTo>
                </a:path>
              </a:pathLst>
            </a:custGeom>
            <a:noFill/>
            <a:ln w="25400">
              <a:solidFill>
                <a:schemeClr val="accent2"/>
              </a:solidFill>
            </a:ln>
          </p:spPr>
        </p:sp>
        <p:grpSp>
          <p:nvGrpSpPr>
            <p:cNvPr id="35" name="Group 35"/>
            <p:cNvGrpSpPr/>
            <p:nvPr/>
          </p:nvGrpSpPr>
          <p:grpSpPr>
            <a:xfrm>
              <a:off x="9309100" y="2171700"/>
              <a:ext cx="215900" cy="228599"/>
              <a:chOff x="9309100" y="2171700"/>
              <a:chExt cx="215900" cy="228599"/>
            </a:xfrm>
          </p:grpSpPr>
          <p:sp>
            <p:nvSpPr>
              <p:cNvPr id="30" name="Freeform 30"/>
              <p:cNvSpPr/>
              <p:nvPr/>
            </p:nvSpPr>
            <p:spPr>
              <a:xfrm>
                <a:off x="9309100" y="2197100"/>
                <a:ext cx="203199" cy="203199"/>
              </a:xfrm>
              <a:custGeom>
                <a:avLst/>
                <a:gdLst/>
                <a:ahLst/>
                <a:cxnLst/>
                <a:rect l="l" t="t" r="r" b="b"/>
                <a:pathLst>
                  <a:path w="203199" h="203199">
                    <a:moveTo>
                      <a:pt x="95250" y="203199"/>
                    </a:moveTo>
                    <a:lnTo>
                      <a:pt x="25400" y="203199"/>
                    </a:lnTo>
                    <a:cubicBezTo>
                      <a:pt x="11372" y="203199"/>
                      <a:pt x="0" y="191828"/>
                      <a:pt x="0" y="177800"/>
                    </a:cubicBezTo>
                    <a:lnTo>
                      <a:pt x="0" y="25400"/>
                    </a:lnTo>
                    <a:cubicBezTo>
                      <a:pt x="0" y="11372"/>
                      <a:pt x="11372" y="0"/>
                      <a:pt x="25400" y="0"/>
                    </a:cubicBezTo>
                    <a:lnTo>
                      <a:pt x="177800" y="0"/>
                    </a:lnTo>
                    <a:cubicBezTo>
                      <a:pt x="191828" y="0"/>
                      <a:pt x="203199" y="11372"/>
                      <a:pt x="203199" y="25400"/>
                    </a:cubicBezTo>
                    <a:lnTo>
                      <a:pt x="203199" y="101600"/>
                    </a:lnTo>
                  </a:path>
                </a:pathLst>
              </a:custGeom>
              <a:noFill/>
              <a:ln w="25400">
                <a:solidFill>
                  <a:schemeClr val="accent2"/>
                </a:solidFill>
              </a:ln>
            </p:spPr>
          </p:sp>
          <p:sp>
            <p:nvSpPr>
              <p:cNvPr id="31" name="Freeform 31"/>
              <p:cNvSpPr/>
              <p:nvPr/>
            </p:nvSpPr>
            <p:spPr>
              <a:xfrm>
                <a:off x="9461499" y="2171700"/>
                <a:ext cx="9525" cy="50800"/>
              </a:xfrm>
              <a:custGeom>
                <a:avLst/>
                <a:gdLst/>
                <a:ahLst/>
                <a:cxnLst/>
                <a:rect l="l" t="t" r="r" b="b"/>
                <a:pathLst>
                  <a:path w="9525" h="50800">
                    <a:moveTo>
                      <a:pt x="0" y="0"/>
                    </a:moveTo>
                    <a:lnTo>
                      <a:pt x="0" y="50800"/>
                    </a:lnTo>
                  </a:path>
                </a:pathLst>
              </a:custGeom>
              <a:noFill/>
              <a:ln w="25400">
                <a:solidFill>
                  <a:schemeClr val="accent2"/>
                </a:solidFill>
              </a:ln>
            </p:spPr>
          </p:sp>
          <p:sp>
            <p:nvSpPr>
              <p:cNvPr id="32" name="Freeform 32"/>
              <p:cNvSpPr/>
              <p:nvPr/>
            </p:nvSpPr>
            <p:spPr>
              <a:xfrm>
                <a:off x="9359900" y="2171700"/>
                <a:ext cx="9525" cy="50800"/>
              </a:xfrm>
              <a:custGeom>
                <a:avLst/>
                <a:gdLst/>
                <a:ahLst/>
                <a:cxnLst/>
                <a:rect l="l" t="t" r="r" b="b"/>
                <a:pathLst>
                  <a:path w="9525" h="50800">
                    <a:moveTo>
                      <a:pt x="0" y="0"/>
                    </a:moveTo>
                    <a:lnTo>
                      <a:pt x="0" y="50800"/>
                    </a:lnTo>
                  </a:path>
                </a:pathLst>
              </a:custGeom>
              <a:noFill/>
              <a:ln w="25400">
                <a:solidFill>
                  <a:schemeClr val="accent2"/>
                </a:solidFill>
              </a:ln>
            </p:spPr>
          </p:sp>
          <p:sp>
            <p:nvSpPr>
              <p:cNvPr id="33" name="Freeform 33"/>
              <p:cNvSpPr/>
              <p:nvPr/>
            </p:nvSpPr>
            <p:spPr>
              <a:xfrm>
                <a:off x="9309100" y="2273300"/>
                <a:ext cx="203199" cy="9525"/>
              </a:xfrm>
              <a:custGeom>
                <a:avLst/>
                <a:gdLst/>
                <a:ahLst/>
                <a:cxnLst/>
                <a:rect l="l" t="t" r="r" b="b"/>
                <a:pathLst>
                  <a:path w="203199" h="9525">
                    <a:moveTo>
                      <a:pt x="0" y="0"/>
                    </a:moveTo>
                    <a:lnTo>
                      <a:pt x="203199" y="0"/>
                    </a:lnTo>
                  </a:path>
                </a:pathLst>
              </a:custGeom>
              <a:noFill/>
              <a:ln w="25400">
                <a:solidFill>
                  <a:schemeClr val="accent2"/>
                </a:solidFill>
              </a:ln>
            </p:spPr>
          </p:sp>
          <p:sp>
            <p:nvSpPr>
              <p:cNvPr id="34" name="Freeform 34"/>
              <p:cNvSpPr/>
              <p:nvPr/>
            </p:nvSpPr>
            <p:spPr>
              <a:xfrm>
                <a:off x="9448800" y="2349499"/>
                <a:ext cx="76200" cy="50800"/>
              </a:xfrm>
              <a:custGeom>
                <a:avLst/>
                <a:gdLst/>
                <a:ahLst/>
                <a:cxnLst/>
                <a:rect l="l" t="t" r="r" b="b"/>
                <a:pathLst>
                  <a:path w="76200" h="50800">
                    <a:moveTo>
                      <a:pt x="0" y="25400"/>
                    </a:moveTo>
                    <a:lnTo>
                      <a:pt x="25400" y="50800"/>
                    </a:lnTo>
                    <a:lnTo>
                      <a:pt x="76200" y="0"/>
                    </a:lnTo>
                  </a:path>
                </a:pathLst>
              </a:custGeom>
              <a:noFill/>
              <a:ln w="25400">
                <a:solidFill>
                  <a:schemeClr val="accent2"/>
                </a:solidFill>
              </a:ln>
            </p:spPr>
          </p:sp>
        </p:grpSp>
        <p:grpSp>
          <p:nvGrpSpPr>
            <p:cNvPr id="38" name="Group 38"/>
            <p:cNvGrpSpPr/>
            <p:nvPr/>
          </p:nvGrpSpPr>
          <p:grpSpPr>
            <a:xfrm>
              <a:off x="1061301" y="4261701"/>
              <a:ext cx="239598" cy="239598"/>
              <a:chOff x="1061301" y="4261701"/>
              <a:chExt cx="239598" cy="239598"/>
            </a:xfrm>
          </p:grpSpPr>
          <p:sp>
            <p:nvSpPr>
              <p:cNvPr id="36" name="Freeform 36"/>
              <p:cNvSpPr/>
              <p:nvPr/>
            </p:nvSpPr>
            <p:spPr>
              <a:xfrm>
                <a:off x="1061301" y="4261701"/>
                <a:ext cx="239598" cy="239598"/>
              </a:xfrm>
              <a:custGeom>
                <a:avLst/>
                <a:gdLst/>
                <a:ahLst/>
                <a:cxnLst/>
                <a:rect l="l" t="t" r="r" b="b"/>
                <a:pathLst>
                  <a:path w="239598" h="239598">
                    <a:moveTo>
                      <a:pt x="24549" y="126149"/>
                    </a:moveTo>
                    <a:lnTo>
                      <a:pt x="126149" y="24549"/>
                    </a:lnTo>
                    <a:cubicBezTo>
                      <a:pt x="150698" y="0"/>
                      <a:pt x="190500" y="0"/>
                      <a:pt x="215049" y="24549"/>
                    </a:cubicBezTo>
                    <a:cubicBezTo>
                      <a:pt x="239598" y="49098"/>
                      <a:pt x="239598" y="88900"/>
                      <a:pt x="215049" y="113449"/>
                    </a:cubicBezTo>
                    <a:lnTo>
                      <a:pt x="113449" y="215049"/>
                    </a:lnTo>
                    <a:cubicBezTo>
                      <a:pt x="88900" y="239598"/>
                      <a:pt x="49098" y="239598"/>
                      <a:pt x="24549" y="215049"/>
                    </a:cubicBezTo>
                    <a:cubicBezTo>
                      <a:pt x="0" y="190500"/>
                      <a:pt x="0" y="150698"/>
                      <a:pt x="24549" y="126149"/>
                    </a:cubicBezTo>
                  </a:path>
                </a:pathLst>
              </a:custGeom>
              <a:noFill/>
              <a:ln w="25400">
                <a:solidFill>
                  <a:schemeClr val="accent2"/>
                </a:solidFill>
              </a:ln>
            </p:spPr>
          </p:sp>
          <p:sp>
            <p:nvSpPr>
              <p:cNvPr id="37" name="Freeform 37"/>
              <p:cNvSpPr/>
              <p:nvPr/>
            </p:nvSpPr>
            <p:spPr>
              <a:xfrm>
                <a:off x="1136650" y="4337050"/>
                <a:ext cx="88900" cy="88900"/>
              </a:xfrm>
              <a:custGeom>
                <a:avLst/>
                <a:gdLst/>
                <a:ahLst/>
                <a:cxnLst/>
                <a:rect l="l" t="t" r="r" b="b"/>
                <a:pathLst>
                  <a:path w="88900" h="88900">
                    <a:moveTo>
                      <a:pt x="0" y="0"/>
                    </a:moveTo>
                    <a:lnTo>
                      <a:pt x="88900" y="88900"/>
                    </a:lnTo>
                  </a:path>
                </a:pathLst>
              </a:custGeom>
              <a:noFill/>
              <a:ln w="25400">
                <a:solidFill>
                  <a:schemeClr val="accent2"/>
                </a:solidFill>
              </a:ln>
            </p:spPr>
          </p:sp>
        </p:grpSp>
        <p:grpSp>
          <p:nvGrpSpPr>
            <p:cNvPr id="42" name="Group 42"/>
            <p:cNvGrpSpPr/>
            <p:nvPr/>
          </p:nvGrpSpPr>
          <p:grpSpPr>
            <a:xfrm>
              <a:off x="3810000" y="4267200"/>
              <a:ext cx="228599" cy="228599"/>
              <a:chOff x="3810000" y="4267200"/>
              <a:chExt cx="228599" cy="228599"/>
            </a:xfrm>
          </p:grpSpPr>
          <p:sp>
            <p:nvSpPr>
              <p:cNvPr id="39" name="Freeform 39"/>
              <p:cNvSpPr/>
              <p:nvPr/>
            </p:nvSpPr>
            <p:spPr>
              <a:xfrm>
                <a:off x="3810000" y="4267200"/>
                <a:ext cx="228599" cy="228599"/>
              </a:xfrm>
              <a:custGeom>
                <a:avLst/>
                <a:gdLst/>
                <a:ahLst/>
                <a:cxnLst/>
                <a:rect l="l" t="t" r="r" b="b"/>
                <a:pathLst>
                  <a:path w="228599" h="228599">
                    <a:moveTo>
                      <a:pt x="0" y="114300"/>
                    </a:moveTo>
                    <a:cubicBezTo>
                      <a:pt x="0" y="177426"/>
                      <a:pt x="51174" y="228599"/>
                      <a:pt x="114300" y="228599"/>
                    </a:cubicBezTo>
                    <a:cubicBezTo>
                      <a:pt x="177426" y="228599"/>
                      <a:pt x="228599" y="177426"/>
                      <a:pt x="228599" y="114300"/>
                    </a:cubicBezTo>
                    <a:cubicBezTo>
                      <a:pt x="228599" y="51174"/>
                      <a:pt x="177426" y="0"/>
                      <a:pt x="114300" y="0"/>
                    </a:cubicBezTo>
                    <a:cubicBezTo>
                      <a:pt x="51174" y="0"/>
                      <a:pt x="0" y="51174"/>
                      <a:pt x="0" y="114300"/>
                    </a:cubicBezTo>
                  </a:path>
                </a:pathLst>
              </a:custGeom>
              <a:noFill/>
              <a:ln w="25400">
                <a:solidFill>
                  <a:schemeClr val="accent2"/>
                </a:solidFill>
              </a:ln>
            </p:spPr>
          </p:sp>
          <p:sp>
            <p:nvSpPr>
              <p:cNvPr id="40" name="Freeform 40"/>
              <p:cNvSpPr/>
              <p:nvPr/>
            </p:nvSpPr>
            <p:spPr>
              <a:xfrm>
                <a:off x="3886200" y="4330384"/>
                <a:ext cx="76200" cy="102231"/>
              </a:xfrm>
              <a:custGeom>
                <a:avLst/>
                <a:gdLst/>
                <a:ahLst/>
                <a:cxnLst/>
                <a:rect l="l" t="t" r="r" b="b"/>
                <a:pathLst>
                  <a:path w="76200" h="102231">
                    <a:moveTo>
                      <a:pt x="73660" y="13016"/>
                    </a:moveTo>
                    <a:cubicBezTo>
                      <a:pt x="68972" y="4884"/>
                      <a:pt x="60181" y="0"/>
                      <a:pt x="50800" y="316"/>
                    </a:cubicBezTo>
                    <a:lnTo>
                      <a:pt x="25400" y="316"/>
                    </a:lnTo>
                    <a:cubicBezTo>
                      <a:pt x="11372" y="316"/>
                      <a:pt x="0" y="11688"/>
                      <a:pt x="0" y="25716"/>
                    </a:cubicBezTo>
                    <a:cubicBezTo>
                      <a:pt x="0" y="39744"/>
                      <a:pt x="11372" y="51116"/>
                      <a:pt x="25400" y="51116"/>
                    </a:cubicBezTo>
                    <a:lnTo>
                      <a:pt x="50800" y="51116"/>
                    </a:lnTo>
                    <a:cubicBezTo>
                      <a:pt x="64828" y="51116"/>
                      <a:pt x="76200" y="62488"/>
                      <a:pt x="76200" y="76516"/>
                    </a:cubicBezTo>
                    <a:cubicBezTo>
                      <a:pt x="76200" y="90544"/>
                      <a:pt x="64828" y="101916"/>
                      <a:pt x="50800" y="101916"/>
                    </a:cubicBezTo>
                    <a:lnTo>
                      <a:pt x="25400" y="101916"/>
                    </a:lnTo>
                    <a:cubicBezTo>
                      <a:pt x="16019" y="102231"/>
                      <a:pt x="7228" y="97348"/>
                      <a:pt x="2540" y="89216"/>
                    </a:cubicBezTo>
                  </a:path>
                </a:pathLst>
              </a:custGeom>
              <a:noFill/>
              <a:ln w="25400">
                <a:solidFill>
                  <a:schemeClr val="accent2"/>
                </a:solidFill>
              </a:ln>
            </p:spPr>
          </p:sp>
          <p:sp>
            <p:nvSpPr>
              <p:cNvPr id="41" name="Freeform 41"/>
              <p:cNvSpPr/>
              <p:nvPr/>
            </p:nvSpPr>
            <p:spPr>
              <a:xfrm>
                <a:off x="3924300" y="4318000"/>
                <a:ext cx="9525" cy="127000"/>
              </a:xfrm>
              <a:custGeom>
                <a:avLst/>
                <a:gdLst/>
                <a:ahLst/>
                <a:cxnLst/>
                <a:rect l="l" t="t" r="r" b="b"/>
                <a:pathLst>
                  <a:path w="9525" h="127000">
                    <a:moveTo>
                      <a:pt x="0" y="0"/>
                    </a:moveTo>
                    <a:lnTo>
                      <a:pt x="0" y="127000"/>
                    </a:lnTo>
                  </a:path>
                </a:pathLst>
              </a:custGeom>
              <a:noFill/>
              <a:ln w="25400">
                <a:solidFill>
                  <a:schemeClr val="accent2"/>
                </a:solidFill>
              </a:ln>
            </p:spPr>
          </p:sp>
        </p:grpSp>
        <p:sp>
          <p:nvSpPr>
            <p:cNvPr id="43" name="Freeform 43"/>
            <p:cNvSpPr/>
            <p:nvPr/>
          </p:nvSpPr>
          <p:spPr>
            <a:xfrm>
              <a:off x="6553200" y="4305300"/>
              <a:ext cx="228599" cy="146050"/>
            </a:xfrm>
            <a:custGeom>
              <a:avLst/>
              <a:gdLst/>
              <a:ahLst/>
              <a:cxnLst/>
              <a:rect l="l" t="t" r="r" b="b"/>
              <a:pathLst>
                <a:path w="228599" h="146050">
                  <a:moveTo>
                    <a:pt x="0" y="139700"/>
                  </a:moveTo>
                  <a:cubicBezTo>
                    <a:pt x="42329" y="97371"/>
                    <a:pt x="63500" y="63500"/>
                    <a:pt x="63500" y="38100"/>
                  </a:cubicBezTo>
                  <a:cubicBezTo>
                    <a:pt x="63500" y="0"/>
                    <a:pt x="50800" y="0"/>
                    <a:pt x="38100" y="0"/>
                  </a:cubicBezTo>
                  <a:cubicBezTo>
                    <a:pt x="25400" y="0"/>
                    <a:pt x="12294" y="13779"/>
                    <a:pt x="12700" y="38100"/>
                  </a:cubicBezTo>
                  <a:cubicBezTo>
                    <a:pt x="13132" y="64109"/>
                    <a:pt x="33757" y="100038"/>
                    <a:pt x="44450" y="114300"/>
                  </a:cubicBezTo>
                  <a:cubicBezTo>
                    <a:pt x="63500" y="139700"/>
                    <a:pt x="76200" y="146050"/>
                    <a:pt x="88900" y="127000"/>
                  </a:cubicBezTo>
                  <a:lnTo>
                    <a:pt x="114300" y="88900"/>
                  </a:lnTo>
                  <a:cubicBezTo>
                    <a:pt x="118529" y="122771"/>
                    <a:pt x="131229" y="139700"/>
                    <a:pt x="152400" y="139700"/>
                  </a:cubicBezTo>
                  <a:cubicBezTo>
                    <a:pt x="159131" y="139700"/>
                    <a:pt x="185915" y="114300"/>
                    <a:pt x="190500" y="114300"/>
                  </a:cubicBezTo>
                  <a:cubicBezTo>
                    <a:pt x="197065" y="114300"/>
                    <a:pt x="209765" y="122771"/>
                    <a:pt x="228599" y="139700"/>
                  </a:cubicBezTo>
                </a:path>
              </a:pathLst>
            </a:custGeom>
            <a:noFill/>
            <a:ln w="25400">
              <a:solidFill>
                <a:schemeClr val="accent2"/>
              </a:solidFill>
            </a:ln>
          </p:spPr>
        </p:sp>
        <p:grpSp>
          <p:nvGrpSpPr>
            <p:cNvPr id="49" name="Group 49"/>
            <p:cNvGrpSpPr/>
            <p:nvPr/>
          </p:nvGrpSpPr>
          <p:grpSpPr>
            <a:xfrm>
              <a:off x="9296400" y="4267200"/>
              <a:ext cx="228599" cy="238124"/>
              <a:chOff x="9296400" y="4267200"/>
              <a:chExt cx="228599" cy="238124"/>
            </a:xfrm>
          </p:grpSpPr>
          <p:sp>
            <p:nvSpPr>
              <p:cNvPr id="44" name="Freeform 44"/>
              <p:cNvSpPr/>
              <p:nvPr/>
            </p:nvSpPr>
            <p:spPr>
              <a:xfrm>
                <a:off x="9296400" y="4495799"/>
                <a:ext cx="228599" cy="9525"/>
              </a:xfrm>
              <a:custGeom>
                <a:avLst/>
                <a:gdLst/>
                <a:ahLst/>
                <a:cxnLst/>
                <a:rect l="l" t="t" r="r" b="b"/>
                <a:pathLst>
                  <a:path w="228599" h="9525">
                    <a:moveTo>
                      <a:pt x="0" y="0"/>
                    </a:moveTo>
                    <a:lnTo>
                      <a:pt x="228599" y="0"/>
                    </a:lnTo>
                  </a:path>
                </a:pathLst>
              </a:custGeom>
              <a:noFill/>
              <a:ln w="25400">
                <a:solidFill>
                  <a:schemeClr val="accent2"/>
                </a:solidFill>
              </a:ln>
            </p:spPr>
          </p:sp>
          <p:sp>
            <p:nvSpPr>
              <p:cNvPr id="45" name="Freeform 45"/>
              <p:cNvSpPr/>
              <p:nvPr/>
            </p:nvSpPr>
            <p:spPr>
              <a:xfrm>
                <a:off x="9321800" y="4267200"/>
                <a:ext cx="177800" cy="228599"/>
              </a:xfrm>
              <a:custGeom>
                <a:avLst/>
                <a:gdLst/>
                <a:ahLst/>
                <a:cxnLst/>
                <a:rect l="l" t="t" r="r" b="b"/>
                <a:pathLst>
                  <a:path w="177800" h="228599">
                    <a:moveTo>
                      <a:pt x="0" y="228599"/>
                    </a:moveTo>
                    <a:lnTo>
                      <a:pt x="0" y="25400"/>
                    </a:lnTo>
                    <a:cubicBezTo>
                      <a:pt x="0" y="11372"/>
                      <a:pt x="11372" y="0"/>
                      <a:pt x="25400" y="0"/>
                    </a:cubicBezTo>
                    <a:lnTo>
                      <a:pt x="152400" y="0"/>
                    </a:lnTo>
                    <a:cubicBezTo>
                      <a:pt x="166428" y="0"/>
                      <a:pt x="177800" y="11372"/>
                      <a:pt x="177800" y="25400"/>
                    </a:cubicBezTo>
                    <a:lnTo>
                      <a:pt x="177800" y="228599"/>
                    </a:lnTo>
                  </a:path>
                </a:pathLst>
              </a:custGeom>
              <a:noFill/>
              <a:ln w="25400">
                <a:solidFill>
                  <a:schemeClr val="accent2"/>
                </a:solidFill>
              </a:ln>
            </p:spPr>
          </p:sp>
          <p:sp>
            <p:nvSpPr>
              <p:cNvPr id="46" name="Freeform 46"/>
              <p:cNvSpPr/>
              <p:nvPr/>
            </p:nvSpPr>
            <p:spPr>
              <a:xfrm>
                <a:off x="9372600" y="4419600"/>
                <a:ext cx="76200" cy="76200"/>
              </a:xfrm>
              <a:custGeom>
                <a:avLst/>
                <a:gdLst/>
                <a:ahLst/>
                <a:cxnLst/>
                <a:rect l="l" t="t" r="r" b="b"/>
                <a:pathLst>
                  <a:path w="76200" h="76200">
                    <a:moveTo>
                      <a:pt x="0" y="76200"/>
                    </a:moveTo>
                    <a:lnTo>
                      <a:pt x="0" y="25400"/>
                    </a:lnTo>
                    <a:cubicBezTo>
                      <a:pt x="0" y="11372"/>
                      <a:pt x="11372" y="0"/>
                      <a:pt x="25400" y="0"/>
                    </a:cubicBezTo>
                    <a:lnTo>
                      <a:pt x="50800" y="0"/>
                    </a:lnTo>
                    <a:cubicBezTo>
                      <a:pt x="64828" y="0"/>
                      <a:pt x="76200" y="11372"/>
                      <a:pt x="76200" y="25400"/>
                    </a:cubicBezTo>
                    <a:lnTo>
                      <a:pt x="76200" y="76200"/>
                    </a:lnTo>
                  </a:path>
                </a:pathLst>
              </a:custGeom>
              <a:noFill/>
              <a:ln w="25400">
                <a:solidFill>
                  <a:schemeClr val="accent2"/>
                </a:solidFill>
              </a:ln>
            </p:spPr>
          </p:sp>
          <p:sp>
            <p:nvSpPr>
              <p:cNvPr id="47" name="Freeform 47"/>
              <p:cNvSpPr/>
              <p:nvPr/>
            </p:nvSpPr>
            <p:spPr>
              <a:xfrm>
                <a:off x="9385300" y="4343400"/>
                <a:ext cx="50800" cy="9525"/>
              </a:xfrm>
              <a:custGeom>
                <a:avLst/>
                <a:gdLst/>
                <a:ahLst/>
                <a:cxnLst/>
                <a:rect l="l" t="t" r="r" b="b"/>
                <a:pathLst>
                  <a:path w="50800" h="9525">
                    <a:moveTo>
                      <a:pt x="0" y="0"/>
                    </a:moveTo>
                    <a:lnTo>
                      <a:pt x="50800" y="0"/>
                    </a:lnTo>
                  </a:path>
                </a:pathLst>
              </a:custGeom>
              <a:noFill/>
              <a:ln w="25400">
                <a:solidFill>
                  <a:schemeClr val="accent2"/>
                </a:solidFill>
              </a:ln>
            </p:spPr>
          </p:sp>
          <p:sp>
            <p:nvSpPr>
              <p:cNvPr id="48" name="Freeform 48"/>
              <p:cNvSpPr/>
              <p:nvPr/>
            </p:nvSpPr>
            <p:spPr>
              <a:xfrm>
                <a:off x="9410700" y="4318000"/>
                <a:ext cx="9525" cy="50800"/>
              </a:xfrm>
              <a:custGeom>
                <a:avLst/>
                <a:gdLst/>
                <a:ahLst/>
                <a:cxnLst/>
                <a:rect l="l" t="t" r="r" b="b"/>
                <a:pathLst>
                  <a:path w="9525" h="50800">
                    <a:moveTo>
                      <a:pt x="0" y="0"/>
                    </a:moveTo>
                    <a:lnTo>
                      <a:pt x="0" y="50800"/>
                    </a:lnTo>
                  </a:path>
                </a:pathLst>
              </a:custGeom>
              <a:noFill/>
              <a:ln w="25400">
                <a:solidFill>
                  <a:schemeClr val="accent2"/>
                </a:solidFill>
              </a:ln>
            </p:spPr>
          </p:sp>
        </p:grpSp>
        <p:grpSp>
          <p:nvGrpSpPr>
            <p:cNvPr id="58" name="Group 58"/>
            <p:cNvGrpSpPr/>
            <p:nvPr/>
          </p:nvGrpSpPr>
          <p:grpSpPr>
            <a:xfrm>
              <a:off x="905256" y="2794000"/>
              <a:ext cx="10094135" cy="2447544"/>
              <a:chOff x="905256" y="2794000"/>
              <a:chExt cx="10094135" cy="2447544"/>
            </a:xfrm>
          </p:grpSpPr>
          <p:sp>
            <p:nvSpPr>
              <p:cNvPr id="50" name="TextBox 50"/>
              <p:cNvSpPr txBox="1"/>
              <p:nvPr/>
            </p:nvSpPr>
            <p:spPr>
              <a:xfrm>
                <a:off x="905256" y="2794000"/>
                <a:ext cx="2272438"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Rekam Medis &amp; SOAP</a:t>
                </a:r>
              </a:p>
            </p:txBody>
          </p:sp>
          <p:sp>
            <p:nvSpPr>
              <p:cNvPr id="51" name="TextBox 51"/>
              <p:cNvSpPr txBox="1"/>
              <p:nvPr/>
            </p:nvSpPr>
            <p:spPr>
              <a:xfrm>
                <a:off x="3648456" y="2794000"/>
                <a:ext cx="2022414"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Odontogram Digital</a:t>
                </a:r>
              </a:p>
            </p:txBody>
          </p:sp>
          <p:sp>
            <p:nvSpPr>
              <p:cNvPr id="52" name="TextBox 52"/>
              <p:cNvSpPr txBox="1"/>
              <p:nvPr/>
            </p:nvSpPr>
            <p:spPr>
              <a:xfrm>
                <a:off x="6391656" y="2794000"/>
                <a:ext cx="1652930"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Billing &amp; Invoice</a:t>
                </a:r>
              </a:p>
            </p:txBody>
          </p:sp>
          <p:sp>
            <p:nvSpPr>
              <p:cNvPr id="53" name="TextBox 53"/>
              <p:cNvSpPr txBox="1"/>
              <p:nvPr/>
            </p:nvSpPr>
            <p:spPr>
              <a:xfrm>
                <a:off x="9134856" y="2794000"/>
                <a:ext cx="1864535"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Reservasi &amp; Recall</a:t>
                </a:r>
              </a:p>
            </p:txBody>
          </p:sp>
          <p:sp>
            <p:nvSpPr>
              <p:cNvPr id="54" name="TextBox 54"/>
              <p:cNvSpPr txBox="1"/>
              <p:nvPr/>
            </p:nvSpPr>
            <p:spPr>
              <a:xfrm>
                <a:off x="905256" y="4889500"/>
                <a:ext cx="1883626"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Gudang &amp; Farmasi</a:t>
                </a:r>
              </a:p>
            </p:txBody>
          </p:sp>
          <p:sp>
            <p:nvSpPr>
              <p:cNvPr id="55" name="TextBox 55"/>
              <p:cNvSpPr txBox="1"/>
              <p:nvPr/>
            </p:nvSpPr>
            <p:spPr>
              <a:xfrm>
                <a:off x="3648456" y="4889500"/>
                <a:ext cx="1767816"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Fee Share Dokter</a:t>
                </a:r>
              </a:p>
            </p:txBody>
          </p:sp>
          <p:sp>
            <p:nvSpPr>
              <p:cNvPr id="56" name="TextBox 56"/>
              <p:cNvSpPr txBox="1"/>
              <p:nvPr/>
            </p:nvSpPr>
            <p:spPr>
              <a:xfrm>
                <a:off x="6391656" y="4889500"/>
                <a:ext cx="1844833"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Informed Consent</a:t>
                </a:r>
              </a:p>
            </p:txBody>
          </p:sp>
          <p:sp>
            <p:nvSpPr>
              <p:cNvPr id="57" name="TextBox 57"/>
              <p:cNvSpPr txBox="1"/>
              <p:nvPr/>
            </p:nvSpPr>
            <p:spPr>
              <a:xfrm>
                <a:off x="9134856" y="4889500"/>
                <a:ext cx="1393801"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Multi-Cabang</a:t>
                </a:r>
              </a:p>
            </p:txBody>
          </p:sp>
        </p:grpSp>
        <p:grpSp>
          <p:nvGrpSpPr>
            <p:cNvPr id="67" name="Group 67"/>
            <p:cNvGrpSpPr/>
            <p:nvPr/>
          </p:nvGrpSpPr>
          <p:grpSpPr>
            <a:xfrm>
              <a:off x="906780" y="3124200"/>
              <a:ext cx="9948577" cy="2636520"/>
              <a:chOff x="906780" y="3124200"/>
              <a:chExt cx="9948577" cy="2636520"/>
            </a:xfrm>
          </p:grpSpPr>
          <p:sp>
            <p:nvSpPr>
              <p:cNvPr id="59" name="TextBox 59"/>
              <p:cNvSpPr txBox="1"/>
              <p:nvPr/>
            </p:nvSpPr>
            <p:spPr>
              <a:xfrm>
                <a:off x="906780" y="3124200"/>
                <a:ext cx="1744256" cy="541020"/>
              </a:xfrm>
              <a:prstGeom prst="rect">
                <a:avLst/>
              </a:prstGeom>
              <a:noFill/>
              <a:ln>
                <a:noFill/>
              </a:ln>
            </p:spPr>
            <p:txBody>
              <a:bodyPr wrap="none" lIns="0" tIns="0" rIns="0" bIns="0" anchor="t" anchorCtr="0">
                <a:spAutoFit/>
              </a:bodyPr>
              <a:lstStyle/>
              <a:p>
                <a:pPr algn="l">
                  <a:lnSpc>
                    <a:spcPts val="1950"/>
                  </a:lnSpc>
                </a:pPr>
                <a:r>
                  <a:rPr lang="id-ID" sz="1500" dirty="0">
                    <a:solidFill>
                      <a:srgbClr val="55534A"/>
                    </a:solidFill>
                    <a:latin typeface="+mn-lt"/>
                    <a:ea typeface="+mn-ea"/>
                    <a:cs typeface="+mn-cs"/>
                  </a:rPr>
                  <a:t>ICD-10 &amp; SNOMED CT,</a:t>
                </a:r>
                <a:br>
                  <a:rPr lang="id-ID" sz="1500" dirty="0">
                    <a:solidFill>
                      <a:srgbClr val="55534A"/>
                    </a:solidFill>
                    <a:latin typeface="+mn-lt"/>
                    <a:ea typeface="+mn-ea"/>
                    <a:cs typeface="+mn-cs"/>
                  </a:rPr>
                </a:br>
                <a:r>
                  <a:rPr lang="id-ID" sz="1500" dirty="0">
                    <a:solidFill>
                      <a:srgbClr val="55534A"/>
                    </a:solidFill>
                    <a:latin typeface="+mn-lt"/>
                    <a:ea typeface="+mn-ea"/>
                    <a:cs typeface="+mn-cs"/>
                  </a:rPr>
                  <a:t>rencana perawatan</a:t>
                </a:r>
              </a:p>
            </p:txBody>
          </p:sp>
          <p:sp>
            <p:nvSpPr>
              <p:cNvPr id="60" name="TextBox 60"/>
              <p:cNvSpPr txBox="1"/>
              <p:nvPr/>
            </p:nvSpPr>
            <p:spPr>
              <a:xfrm>
                <a:off x="3649980" y="3124200"/>
                <a:ext cx="1393622" cy="541020"/>
              </a:xfrm>
              <a:prstGeom prst="rect">
                <a:avLst/>
              </a:prstGeom>
              <a:noFill/>
              <a:ln>
                <a:noFill/>
              </a:ln>
            </p:spPr>
            <p:txBody>
              <a:bodyPr wrap="none" lIns="0" tIns="0" rIns="0" bIns="0" anchor="t" anchorCtr="0">
                <a:spAutoFit/>
              </a:bodyPr>
              <a:lstStyle/>
              <a:p>
                <a:pPr algn="l">
                  <a:lnSpc>
                    <a:spcPts val="1950"/>
                  </a:lnSpc>
                </a:pPr>
                <a:r>
                  <a:rPr lang="id-ID" sz="1500" dirty="0">
                    <a:solidFill>
                      <a:srgbClr val="55534A"/>
                    </a:solidFill>
                    <a:latin typeface="+mn-lt"/>
                    <a:ea typeface="+mn-ea"/>
                    <a:cs typeface="+mn-cs"/>
                  </a:rPr>
                  <a:t>Interaktif per gigi,</a:t>
                </a:r>
                <a:br>
                  <a:rPr lang="id-ID" sz="1500" dirty="0">
                    <a:solidFill>
                      <a:srgbClr val="55534A"/>
                    </a:solidFill>
                    <a:latin typeface="+mn-lt"/>
                    <a:ea typeface="+mn-ea"/>
                    <a:cs typeface="+mn-cs"/>
                  </a:rPr>
                </a:br>
                <a:r>
                  <a:rPr lang="id-ID" sz="1500" dirty="0">
                    <a:solidFill>
                      <a:srgbClr val="55534A"/>
                    </a:solidFill>
                    <a:latin typeface="+mn-lt"/>
                    <a:ea typeface="+mn-ea"/>
                    <a:cs typeface="+mn-cs"/>
                  </a:rPr>
                  <a:t>untuk dokter gigi</a:t>
                </a:r>
              </a:p>
            </p:txBody>
          </p:sp>
          <p:sp>
            <p:nvSpPr>
              <p:cNvPr id="61" name="TextBox 61"/>
              <p:cNvSpPr txBox="1"/>
              <p:nvPr/>
            </p:nvSpPr>
            <p:spPr>
              <a:xfrm>
                <a:off x="6393180" y="3124200"/>
                <a:ext cx="1683715" cy="541020"/>
              </a:xfrm>
              <a:prstGeom prst="rect">
                <a:avLst/>
              </a:prstGeom>
              <a:noFill/>
              <a:ln>
                <a:noFill/>
              </a:ln>
            </p:spPr>
            <p:txBody>
              <a:bodyPr wrap="none" lIns="0" tIns="0" rIns="0" bIns="0" anchor="t" anchorCtr="0">
                <a:spAutoFit/>
              </a:bodyPr>
              <a:lstStyle/>
              <a:p>
                <a:pPr algn="l">
                  <a:lnSpc>
                    <a:spcPts val="1950"/>
                  </a:lnSpc>
                </a:pPr>
                <a:r>
                  <a:rPr lang="id-ID" sz="1500" dirty="0">
                    <a:solidFill>
                      <a:srgbClr val="55534A"/>
                    </a:solidFill>
                    <a:latin typeface="+mn-lt"/>
                    <a:ea typeface="+mn-ea"/>
                    <a:cs typeface="+mn-cs"/>
                  </a:rPr>
                  <a:t>Tarif, QRIS, asuransi,</a:t>
                </a:r>
                <a:br>
                  <a:rPr lang="id-ID" sz="1500" dirty="0">
                    <a:solidFill>
                      <a:srgbClr val="55534A"/>
                    </a:solidFill>
                    <a:latin typeface="+mn-lt"/>
                    <a:ea typeface="+mn-ea"/>
                    <a:cs typeface="+mn-cs"/>
                  </a:rPr>
                </a:br>
                <a:r>
                  <a:rPr lang="id-ID" sz="1500" dirty="0">
                    <a:solidFill>
                      <a:srgbClr val="55534A"/>
                    </a:solidFill>
                    <a:latin typeface="+mn-lt"/>
                    <a:ea typeface="+mn-ea"/>
                    <a:cs typeface="+mn-cs"/>
                  </a:rPr>
                  <a:t>BPJS, DP &amp; pelunasan</a:t>
                </a:r>
              </a:p>
            </p:txBody>
          </p:sp>
          <p:sp>
            <p:nvSpPr>
              <p:cNvPr id="62" name="TextBox 62"/>
              <p:cNvSpPr txBox="1"/>
              <p:nvPr/>
            </p:nvSpPr>
            <p:spPr>
              <a:xfrm>
                <a:off x="9136380" y="3124200"/>
                <a:ext cx="1599933" cy="541020"/>
              </a:xfrm>
              <a:prstGeom prst="rect">
                <a:avLst/>
              </a:prstGeom>
              <a:noFill/>
              <a:ln>
                <a:noFill/>
              </a:ln>
            </p:spPr>
            <p:txBody>
              <a:bodyPr wrap="none" lIns="0" tIns="0" rIns="0" bIns="0" anchor="t" anchorCtr="0">
                <a:spAutoFit/>
              </a:bodyPr>
              <a:lstStyle/>
              <a:p>
                <a:pPr algn="l">
                  <a:lnSpc>
                    <a:spcPts val="1950"/>
                  </a:lnSpc>
                </a:pPr>
                <a:r>
                  <a:rPr lang="id-ID" sz="1500" dirty="0">
                    <a:solidFill>
                      <a:srgbClr val="55534A"/>
                    </a:solidFill>
                    <a:latin typeface="+mn-lt"/>
                    <a:ea typeface="+mn-ea"/>
                    <a:cs typeface="+mn-cs"/>
                  </a:rPr>
                  <a:t>Booking online, cek</a:t>
                </a:r>
                <a:br>
                  <a:rPr lang="id-ID" sz="1500" dirty="0">
                    <a:solidFill>
                      <a:srgbClr val="55534A"/>
                    </a:solidFill>
                    <a:latin typeface="+mn-lt"/>
                    <a:ea typeface="+mn-ea"/>
                    <a:cs typeface="+mn-cs"/>
                  </a:rPr>
                </a:br>
                <a:r>
                  <a:rPr lang="id-ID" sz="1500" dirty="0">
                    <a:solidFill>
                      <a:srgbClr val="55534A"/>
                    </a:solidFill>
                    <a:latin typeface="+mn-lt"/>
                    <a:ea typeface="+mn-ea"/>
                    <a:cs typeface="+mn-cs"/>
                  </a:rPr>
                  <a:t>status via WhatsApp</a:t>
                </a:r>
              </a:p>
            </p:txBody>
          </p:sp>
          <p:sp>
            <p:nvSpPr>
              <p:cNvPr id="63" name="TextBox 63"/>
              <p:cNvSpPr txBox="1"/>
              <p:nvPr/>
            </p:nvSpPr>
            <p:spPr>
              <a:xfrm>
                <a:off x="906780" y="5219700"/>
                <a:ext cx="1448200" cy="541020"/>
              </a:xfrm>
              <a:prstGeom prst="rect">
                <a:avLst/>
              </a:prstGeom>
              <a:noFill/>
              <a:ln>
                <a:noFill/>
              </a:ln>
            </p:spPr>
            <p:txBody>
              <a:bodyPr wrap="none" lIns="0" tIns="0" rIns="0" bIns="0" anchor="t" anchorCtr="0">
                <a:spAutoFit/>
              </a:bodyPr>
              <a:lstStyle/>
              <a:p>
                <a:pPr algn="l">
                  <a:lnSpc>
                    <a:spcPts val="1950"/>
                  </a:lnSpc>
                </a:pPr>
                <a:r>
                  <a:rPr lang="id-ID" sz="1500" dirty="0">
                    <a:solidFill>
                      <a:srgbClr val="55534A"/>
                    </a:solidFill>
                    <a:latin typeface="+mn-lt"/>
                    <a:ea typeface="+mn-ea"/>
                    <a:cs typeface="+mn-cs"/>
                  </a:rPr>
                  <a:t>Stok bahan, resep,</a:t>
                </a:r>
                <a:br>
                  <a:rPr lang="id-ID" sz="1500" dirty="0">
                    <a:solidFill>
                      <a:srgbClr val="55534A"/>
                    </a:solidFill>
                    <a:latin typeface="+mn-lt"/>
                    <a:ea typeface="+mn-ea"/>
                    <a:cs typeface="+mn-cs"/>
                  </a:rPr>
                </a:br>
                <a:r>
                  <a:rPr lang="id-ID" sz="1500" dirty="0">
                    <a:solidFill>
                      <a:srgbClr val="55534A"/>
                    </a:solidFill>
                    <a:latin typeface="+mn-lt"/>
                    <a:ea typeface="+mn-ea"/>
                    <a:cs typeface="+mn-cs"/>
                  </a:rPr>
                  <a:t>nilai inventory</a:t>
                </a:r>
              </a:p>
            </p:txBody>
          </p:sp>
          <p:sp>
            <p:nvSpPr>
              <p:cNvPr id="64" name="TextBox 64"/>
              <p:cNvSpPr txBox="1"/>
              <p:nvPr/>
            </p:nvSpPr>
            <p:spPr>
              <a:xfrm>
                <a:off x="3649980" y="5219700"/>
                <a:ext cx="1473117" cy="541020"/>
              </a:xfrm>
              <a:prstGeom prst="rect">
                <a:avLst/>
              </a:prstGeom>
              <a:noFill/>
              <a:ln>
                <a:noFill/>
              </a:ln>
            </p:spPr>
            <p:txBody>
              <a:bodyPr wrap="none" lIns="0" tIns="0" rIns="0" bIns="0" anchor="t" anchorCtr="0">
                <a:spAutoFit/>
              </a:bodyPr>
              <a:lstStyle/>
              <a:p>
                <a:pPr algn="l">
                  <a:lnSpc>
                    <a:spcPts val="1950"/>
                  </a:lnSpc>
                </a:pPr>
                <a:r>
                  <a:rPr lang="id-ID" sz="1500" dirty="0">
                    <a:solidFill>
                      <a:srgbClr val="55534A"/>
                    </a:solidFill>
                    <a:latin typeface="+mn-lt"/>
                    <a:ea typeface="+mn-ea"/>
                    <a:cs typeface="+mn-cs"/>
                  </a:rPr>
                  <a:t>Bagi hasil otomatis</a:t>
                </a:r>
                <a:br>
                  <a:rPr lang="id-ID" sz="1500" dirty="0">
                    <a:solidFill>
                      <a:srgbClr val="55534A"/>
                    </a:solidFill>
                    <a:latin typeface="+mn-lt"/>
                    <a:ea typeface="+mn-ea"/>
                    <a:cs typeface="+mn-cs"/>
                  </a:rPr>
                </a:br>
                <a:r>
                  <a:rPr lang="id-ID" sz="1500" dirty="0">
                    <a:solidFill>
                      <a:srgbClr val="55534A"/>
                    </a:solidFill>
                    <a:latin typeface="+mn-lt"/>
                    <a:ea typeface="+mn-ea"/>
                    <a:cs typeface="+mn-cs"/>
                  </a:rPr>
                  <a:t>per tindakan</a:t>
                </a:r>
              </a:p>
            </p:txBody>
          </p:sp>
          <p:sp>
            <p:nvSpPr>
              <p:cNvPr id="65" name="TextBox 65"/>
              <p:cNvSpPr txBox="1"/>
              <p:nvPr/>
            </p:nvSpPr>
            <p:spPr>
              <a:xfrm>
                <a:off x="6393180" y="5219700"/>
                <a:ext cx="1589037" cy="541020"/>
              </a:xfrm>
              <a:prstGeom prst="rect">
                <a:avLst/>
              </a:prstGeom>
              <a:noFill/>
              <a:ln>
                <a:noFill/>
              </a:ln>
            </p:spPr>
            <p:txBody>
              <a:bodyPr wrap="none" lIns="0" tIns="0" rIns="0" bIns="0" anchor="t" anchorCtr="0">
                <a:spAutoFit/>
              </a:bodyPr>
              <a:lstStyle/>
              <a:p>
                <a:pPr algn="l">
                  <a:lnSpc>
                    <a:spcPts val="1950"/>
                  </a:lnSpc>
                </a:pPr>
                <a:r>
                  <a:rPr lang="id-ID" sz="1500" dirty="0">
                    <a:solidFill>
                      <a:srgbClr val="55534A"/>
                    </a:solidFill>
                    <a:latin typeface="+mn-lt"/>
                    <a:ea typeface="+mn-ea"/>
                    <a:cs typeface="+mn-cs"/>
                  </a:rPr>
                  <a:t>Tanda tangan digital</a:t>
                </a:r>
                <a:br>
                  <a:rPr lang="id-ID" sz="1500" dirty="0">
                    <a:solidFill>
                      <a:srgbClr val="55534A"/>
                    </a:solidFill>
                    <a:latin typeface="+mn-lt"/>
                    <a:ea typeface="+mn-ea"/>
                    <a:cs typeface="+mn-cs"/>
                  </a:rPr>
                </a:br>
                <a:r>
                  <a:rPr lang="id-ID" sz="1500" dirty="0">
                    <a:solidFill>
                      <a:srgbClr val="55534A"/>
                    </a:solidFill>
                    <a:latin typeface="+mn-lt"/>
                    <a:ea typeface="+mn-ea"/>
                    <a:cs typeface="+mn-cs"/>
                  </a:rPr>
                  <a:t>pasien &amp; dokter</a:t>
                </a:r>
              </a:p>
            </p:txBody>
          </p:sp>
          <p:sp>
            <p:nvSpPr>
              <p:cNvPr id="66" name="TextBox 66"/>
              <p:cNvSpPr txBox="1"/>
              <p:nvPr/>
            </p:nvSpPr>
            <p:spPr>
              <a:xfrm>
                <a:off x="9136380" y="5219700"/>
                <a:ext cx="1718977" cy="541020"/>
              </a:xfrm>
              <a:prstGeom prst="rect">
                <a:avLst/>
              </a:prstGeom>
              <a:noFill/>
              <a:ln>
                <a:noFill/>
              </a:ln>
            </p:spPr>
            <p:txBody>
              <a:bodyPr wrap="none" lIns="0" tIns="0" rIns="0" bIns="0" anchor="t" anchorCtr="0">
                <a:spAutoFit/>
              </a:bodyPr>
              <a:lstStyle/>
              <a:p>
                <a:pPr algn="l">
                  <a:lnSpc>
                    <a:spcPts val="1950"/>
                  </a:lnSpc>
                </a:pPr>
                <a:r>
                  <a:rPr lang="id-ID" sz="1500" dirty="0">
                    <a:solidFill>
                      <a:srgbClr val="55534A"/>
                    </a:solidFill>
                    <a:latin typeface="+mn-lt"/>
                    <a:ea typeface="+mn-ea"/>
                    <a:cs typeface="+mn-cs"/>
                  </a:rPr>
                  <a:t>Satu dashboard untuk</a:t>
                </a:r>
                <a:br>
                  <a:rPr lang="id-ID" sz="1500" dirty="0">
                    <a:solidFill>
                      <a:srgbClr val="55534A"/>
                    </a:solidFill>
                    <a:latin typeface="+mn-lt"/>
                    <a:ea typeface="+mn-ea"/>
                    <a:cs typeface="+mn-cs"/>
                  </a:rPr>
                </a:br>
                <a:r>
                  <a:rPr lang="id-ID" sz="1500" dirty="0">
                    <a:solidFill>
                      <a:srgbClr val="55534A"/>
                    </a:solidFill>
                    <a:latin typeface="+mn-lt"/>
                    <a:ea typeface="+mn-ea"/>
                    <a:cs typeface="+mn-cs"/>
                  </a:rPr>
                  <a:t>semua cabang</a:t>
                </a:r>
              </a:p>
            </p:txBody>
          </p:sp>
        </p:grpSp>
      </p:grpSp>
      <p:grpSp>
        <p:nvGrpSpPr>
          <p:cNvPr id="71" name="footer"/>
          <p:cNvGrpSpPr/>
          <p:nvPr/>
        </p:nvGrpSpPr>
        <p:grpSpPr>
          <a:xfrm>
            <a:off x="604647" y="6477000"/>
            <a:ext cx="10982706" cy="191643"/>
            <a:chOff x="604647" y="6477000"/>
            <a:chExt cx="10982706" cy="191643"/>
          </a:xfrm>
        </p:grpSpPr>
        <p:sp>
          <p:nvSpPr>
            <p:cNvPr id="69" name="TextBox 69"/>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70" name="TextBox 70"/>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04</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8911244" cy="786003"/>
            <a:chOff x="595122" y="635000"/>
            <a:chExt cx="8911244" cy="786003"/>
          </a:xfrm>
        </p:grpSpPr>
        <p:sp>
          <p:nvSpPr>
            <p:cNvPr id="2" name="TextBox 2"/>
            <p:cNvSpPr txBox="1"/>
            <p:nvPr/>
          </p:nvSpPr>
          <p:spPr>
            <a:xfrm>
              <a:off x="603885" y="635000"/>
              <a:ext cx="1153094" cy="220028"/>
            </a:xfrm>
            <a:prstGeom prst="rect">
              <a:avLst/>
            </a:prstGeom>
            <a:noFill/>
            <a:ln>
              <a:noFill/>
            </a:ln>
          </p:spPr>
          <p:txBody>
            <a:bodyPr wrap="none" lIns="0" tIns="0" rIns="0" bIns="0" anchor="t" anchorCtr="0">
              <a:spAutoFit/>
            </a:bodyPr>
            <a:lstStyle/>
            <a:p>
              <a:pPr algn="l"/>
              <a:r>
                <a:rPr lang="id-ID" sz="1120" b="1" spc="150" dirty="0">
                  <a:solidFill>
                    <a:schemeClr val="accent3"/>
                  </a:solidFill>
                  <a:latin typeface="+mn-lt"/>
                  <a:ea typeface="+mn-ea"/>
                  <a:cs typeface="+mn-cs"/>
                </a:rPr>
                <a:t>KEUNGGULAN</a:t>
              </a:r>
            </a:p>
          </p:txBody>
        </p:sp>
        <p:sp>
          <p:nvSpPr>
            <p:cNvPr id="3" name="TextBox 3"/>
            <p:cNvSpPr txBox="1"/>
            <p:nvPr/>
          </p:nvSpPr>
          <p:spPr>
            <a:xfrm>
              <a:off x="595122" y="863600"/>
              <a:ext cx="8911244" cy="557403"/>
            </a:xfrm>
            <a:prstGeom prst="rect">
              <a:avLst/>
            </a:prstGeom>
            <a:noFill/>
            <a:ln>
              <a:noFill/>
            </a:ln>
          </p:spPr>
          <p:txBody>
            <a:bodyPr wrap="none" lIns="0" tIns="0" rIns="0" bIns="0" anchor="t" anchorCtr="0">
              <a:spAutoFit/>
            </a:bodyPr>
            <a:lstStyle/>
            <a:p>
              <a:pPr algn="l"/>
              <a:r>
                <a:rPr lang="id-ID" sz="2850" b="1" dirty="0">
                  <a:solidFill>
                    <a:srgbClr val="F3F1EA"/>
                  </a:solidFill>
                  <a:latin typeface="+mj-lt"/>
                  <a:ea typeface="+mj-ea"/>
                  <a:cs typeface="+mj-cs"/>
                </a:rPr>
                <a:t>Empat hal yang tidak dimiliki aplikasi kasir biasa</a:t>
              </a:r>
            </a:p>
          </p:txBody>
        </p:sp>
      </p:grpSp>
      <p:grpSp>
        <p:nvGrpSpPr>
          <p:cNvPr id="13" name="diff-satusehat"/>
          <p:cNvGrpSpPr/>
          <p:nvPr/>
        </p:nvGrpSpPr>
        <p:grpSpPr>
          <a:xfrm>
            <a:off x="609600" y="1676400"/>
            <a:ext cx="5372100" cy="1943100"/>
            <a:chOff x="609600" y="1676400"/>
            <a:chExt cx="5372100" cy="1943100"/>
          </a:xfrm>
        </p:grpSpPr>
        <p:sp>
          <p:nvSpPr>
            <p:cNvPr id="5" name="Rectangle 5"/>
            <p:cNvSpPr/>
            <p:nvPr/>
          </p:nvSpPr>
          <p:spPr>
            <a:xfrm>
              <a:off x="609600" y="1676400"/>
              <a:ext cx="5372100" cy="1943100"/>
            </a:xfrm>
            <a:prstGeom prst="roundRect">
              <a:avLst>
                <a:gd name="adj" fmla="val 9804"/>
              </a:avLst>
            </a:prstGeom>
            <a:solidFill>
              <a:srgbClr val="242320"/>
            </a:solidFill>
            <a:ln>
              <a:noFill/>
            </a:ln>
          </p:spPr>
        </p:sp>
        <p:sp>
          <p:nvSpPr>
            <p:cNvPr id="6" name="Ellipse 6"/>
            <p:cNvSpPr/>
            <p:nvPr/>
          </p:nvSpPr>
          <p:spPr>
            <a:xfrm>
              <a:off x="895350" y="1962150"/>
              <a:ext cx="647700" cy="647700"/>
            </a:xfrm>
            <a:prstGeom prst="ellipse">
              <a:avLst/>
            </a:prstGeom>
            <a:solidFill>
              <a:schemeClr val="accent3"/>
            </a:solidFill>
            <a:ln>
              <a:noFill/>
            </a:ln>
          </p:spPr>
        </p:sp>
        <p:grpSp>
          <p:nvGrpSpPr>
            <p:cNvPr id="10" name="Group 10"/>
            <p:cNvGrpSpPr/>
            <p:nvPr/>
          </p:nvGrpSpPr>
          <p:grpSpPr>
            <a:xfrm>
              <a:off x="1104898" y="2164719"/>
              <a:ext cx="235561" cy="242531"/>
              <a:chOff x="1104898" y="2164719"/>
              <a:chExt cx="235561" cy="242531"/>
            </a:xfrm>
          </p:grpSpPr>
          <p:sp>
            <p:nvSpPr>
              <p:cNvPr id="7" name="Freeform 7"/>
              <p:cNvSpPr/>
              <p:nvPr/>
            </p:nvSpPr>
            <p:spPr>
              <a:xfrm>
                <a:off x="1176338" y="2243138"/>
                <a:ext cx="85725" cy="85725"/>
              </a:xfrm>
              <a:custGeom>
                <a:avLst/>
                <a:gdLst/>
                <a:ahLst/>
                <a:cxnLst/>
                <a:rect l="l" t="t" r="r" b="b"/>
                <a:pathLst>
                  <a:path w="85725" h="85725">
                    <a:moveTo>
                      <a:pt x="0" y="85725"/>
                    </a:moveTo>
                    <a:lnTo>
                      <a:pt x="85725" y="0"/>
                    </a:lnTo>
                  </a:path>
                </a:pathLst>
              </a:custGeom>
              <a:noFill/>
              <a:ln w="28575">
                <a:solidFill>
                  <a:schemeClr val="accent1"/>
                </a:solidFill>
              </a:ln>
            </p:spPr>
          </p:sp>
          <p:sp>
            <p:nvSpPr>
              <p:cNvPr id="8" name="Freeform 8"/>
              <p:cNvSpPr/>
              <p:nvPr/>
            </p:nvSpPr>
            <p:spPr>
              <a:xfrm>
                <a:off x="1204912" y="2164719"/>
                <a:ext cx="135547" cy="135568"/>
              </a:xfrm>
              <a:custGeom>
                <a:avLst/>
                <a:gdLst/>
                <a:ahLst/>
                <a:cxnLst/>
                <a:rect l="l" t="t" r="r" b="b"/>
                <a:pathLst>
                  <a:path w="135547" h="135568">
                    <a:moveTo>
                      <a:pt x="0" y="35556"/>
                    </a:moveTo>
                    <a:lnTo>
                      <a:pt x="6615" y="27898"/>
                    </a:lnTo>
                    <a:cubicBezTo>
                      <a:pt x="34517" y="0"/>
                      <a:pt x="79751" y="3"/>
                      <a:pt x="107649" y="27905"/>
                    </a:cubicBezTo>
                    <a:cubicBezTo>
                      <a:pt x="135547" y="55807"/>
                      <a:pt x="135544" y="101041"/>
                      <a:pt x="107642" y="128939"/>
                    </a:cubicBezTo>
                    <a:lnTo>
                      <a:pt x="100012" y="135568"/>
                    </a:lnTo>
                  </a:path>
                </a:pathLst>
              </a:custGeom>
              <a:noFill/>
              <a:ln w="28575">
                <a:solidFill>
                  <a:schemeClr val="accent1"/>
                </a:solidFill>
              </a:ln>
            </p:spPr>
          </p:sp>
          <p:sp>
            <p:nvSpPr>
              <p:cNvPr id="9" name="Freeform 9"/>
              <p:cNvSpPr/>
              <p:nvPr/>
            </p:nvSpPr>
            <p:spPr>
              <a:xfrm>
                <a:off x="1104898" y="2271712"/>
                <a:ext cx="128590" cy="135538"/>
              </a:xfrm>
              <a:custGeom>
                <a:avLst/>
                <a:gdLst/>
                <a:ahLst/>
                <a:cxnLst/>
                <a:rect l="l" t="t" r="r" b="b"/>
                <a:pathLst>
                  <a:path w="128590" h="135538">
                    <a:moveTo>
                      <a:pt x="128590" y="100012"/>
                    </a:moveTo>
                    <a:lnTo>
                      <a:pt x="122917" y="107642"/>
                    </a:lnTo>
                    <a:cubicBezTo>
                      <a:pt x="94707" y="135538"/>
                      <a:pt x="49301" y="135538"/>
                      <a:pt x="21090" y="107642"/>
                    </a:cubicBezTo>
                    <a:cubicBezTo>
                      <a:pt x="7595" y="94298"/>
                      <a:pt x="0" y="76108"/>
                      <a:pt x="0" y="57129"/>
                    </a:cubicBezTo>
                    <a:cubicBezTo>
                      <a:pt x="0" y="38149"/>
                      <a:pt x="7595" y="19960"/>
                      <a:pt x="21090" y="6615"/>
                    </a:cubicBezTo>
                    <a:lnTo>
                      <a:pt x="28577" y="0"/>
                    </a:lnTo>
                  </a:path>
                </a:pathLst>
              </a:custGeom>
              <a:noFill/>
              <a:ln w="28575">
                <a:solidFill>
                  <a:schemeClr val="accent1"/>
                </a:solidFill>
              </a:ln>
            </p:spPr>
          </p:sp>
        </p:grpSp>
        <p:sp>
          <p:nvSpPr>
            <p:cNvPr id="11" name="TextBox 11"/>
            <p:cNvSpPr txBox="1"/>
            <p:nvPr/>
          </p:nvSpPr>
          <p:spPr>
            <a:xfrm>
              <a:off x="1780794" y="2019300"/>
              <a:ext cx="2742429" cy="381381"/>
            </a:xfrm>
            <a:prstGeom prst="rect">
              <a:avLst/>
            </a:prstGeom>
            <a:noFill/>
            <a:ln>
              <a:noFill/>
            </a:ln>
          </p:spPr>
          <p:txBody>
            <a:bodyPr wrap="none" lIns="0" tIns="0" rIns="0" bIns="0" anchor="t" anchorCtr="0">
              <a:spAutoFit/>
            </a:bodyPr>
            <a:lstStyle/>
            <a:p>
              <a:pPr algn="l"/>
              <a:r>
                <a:rPr lang="id-ID" sz="1950" b="1" dirty="0">
                  <a:solidFill>
                    <a:srgbClr val="F3F1EA"/>
                  </a:solidFill>
                  <a:latin typeface="+mn-lt"/>
                  <a:ea typeface="+mn-ea"/>
                  <a:cs typeface="+mn-cs"/>
                </a:rPr>
                <a:t>Terintegrasi SATUSEHAT</a:t>
              </a:r>
            </a:p>
          </p:txBody>
        </p:sp>
        <p:sp>
          <p:nvSpPr>
            <p:cNvPr id="12" name="TextBox 12"/>
            <p:cNvSpPr txBox="1"/>
            <p:nvPr/>
          </p:nvSpPr>
          <p:spPr>
            <a:xfrm>
              <a:off x="1783080" y="2425700"/>
              <a:ext cx="3432067"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B9B6AA"/>
                  </a:solidFill>
                  <a:latin typeface="+mn-lt"/>
                  <a:ea typeface="+mn-ea"/>
                  <a:cs typeface="+mn-cs"/>
                </a:rPr>
                <a:t>Onboarding, KYC, dan sinkronisasi data FHIR</a:t>
              </a:r>
              <a:br>
                <a:rPr lang="id-ID" sz="1500" dirty="0">
                  <a:solidFill>
                    <a:srgbClr val="B9B6AA"/>
                  </a:solidFill>
                  <a:latin typeface="+mn-lt"/>
                  <a:ea typeface="+mn-ea"/>
                  <a:cs typeface="+mn-cs"/>
                </a:rPr>
              </a:br>
              <a:r>
                <a:rPr lang="id-ID" sz="1500" dirty="0">
                  <a:solidFill>
                    <a:srgbClr val="B9B6AA"/>
                  </a:solidFill>
                  <a:latin typeface="+mn-lt"/>
                  <a:ea typeface="+mn-ea"/>
                  <a:cs typeface="+mn-cs"/>
                </a:rPr>
                <a:t>ke Kemenkes langsung dari aplikasi — klinik</a:t>
              </a:r>
              <a:br>
                <a:rPr lang="id-ID" sz="1500" dirty="0">
                  <a:solidFill>
                    <a:srgbClr val="B9B6AA"/>
                  </a:solidFill>
                  <a:latin typeface="+mn-lt"/>
                  <a:ea typeface="+mn-ea"/>
                  <a:cs typeface="+mn-cs"/>
                </a:rPr>
              </a:br>
              <a:r>
                <a:rPr lang="id-ID" sz="1500" dirty="0">
                  <a:solidFill>
                    <a:srgbClr val="B9B6AA"/>
                  </a:solidFill>
                  <a:latin typeface="+mn-lt"/>
                  <a:ea typeface="+mn-ea"/>
                  <a:cs typeface="+mn-cs"/>
                </a:rPr>
                <a:t>patuh regulasi tanpa tim IT.</a:t>
              </a:r>
            </a:p>
          </p:txBody>
        </p:sp>
      </p:grpSp>
      <p:grpSp>
        <p:nvGrpSpPr>
          <p:cNvPr id="21" name="diff-report"/>
          <p:cNvGrpSpPr/>
          <p:nvPr/>
        </p:nvGrpSpPr>
        <p:grpSpPr>
          <a:xfrm>
            <a:off x="6210300" y="1676400"/>
            <a:ext cx="5372100" cy="1943100"/>
            <a:chOff x="6210300" y="1676400"/>
            <a:chExt cx="5372100" cy="1943100"/>
          </a:xfrm>
        </p:grpSpPr>
        <p:sp>
          <p:nvSpPr>
            <p:cNvPr id="14" name="Rectangle 14"/>
            <p:cNvSpPr/>
            <p:nvPr/>
          </p:nvSpPr>
          <p:spPr>
            <a:xfrm>
              <a:off x="6210300" y="1676400"/>
              <a:ext cx="5372100" cy="1943100"/>
            </a:xfrm>
            <a:prstGeom prst="roundRect">
              <a:avLst>
                <a:gd name="adj" fmla="val 9804"/>
              </a:avLst>
            </a:prstGeom>
            <a:solidFill>
              <a:srgbClr val="242320"/>
            </a:solidFill>
            <a:ln>
              <a:noFill/>
            </a:ln>
          </p:spPr>
        </p:sp>
        <p:sp>
          <p:nvSpPr>
            <p:cNvPr id="15" name="Ellipse 15"/>
            <p:cNvSpPr/>
            <p:nvPr/>
          </p:nvSpPr>
          <p:spPr>
            <a:xfrm>
              <a:off x="6496050" y="1962150"/>
              <a:ext cx="647700" cy="647700"/>
            </a:xfrm>
            <a:prstGeom prst="ellipse">
              <a:avLst/>
            </a:prstGeom>
            <a:solidFill>
              <a:schemeClr val="accent3"/>
            </a:solidFill>
            <a:ln>
              <a:noFill/>
            </a:ln>
          </p:spPr>
        </p:sp>
        <p:grpSp>
          <p:nvGrpSpPr>
            <p:cNvPr id="18" name="Group 18"/>
            <p:cNvGrpSpPr/>
            <p:nvPr/>
          </p:nvGrpSpPr>
          <p:grpSpPr>
            <a:xfrm>
              <a:off x="6705600" y="2200275"/>
              <a:ext cx="228600" cy="195262"/>
              <a:chOff x="6705600" y="2200275"/>
              <a:chExt cx="228600" cy="195262"/>
            </a:xfrm>
          </p:grpSpPr>
          <p:sp>
            <p:nvSpPr>
              <p:cNvPr id="16" name="Freeform 16"/>
              <p:cNvSpPr/>
              <p:nvPr/>
            </p:nvSpPr>
            <p:spPr>
              <a:xfrm>
                <a:off x="6705600" y="2386012"/>
                <a:ext cx="228600" cy="9525"/>
              </a:xfrm>
              <a:custGeom>
                <a:avLst/>
                <a:gdLst/>
                <a:ahLst/>
                <a:cxnLst/>
                <a:rect l="l" t="t" r="r" b="b"/>
                <a:pathLst>
                  <a:path w="228600" h="9525">
                    <a:moveTo>
                      <a:pt x="0" y="0"/>
                    </a:moveTo>
                    <a:lnTo>
                      <a:pt x="228600" y="0"/>
                    </a:lnTo>
                  </a:path>
                </a:pathLst>
              </a:custGeom>
              <a:noFill/>
              <a:ln w="28575">
                <a:solidFill>
                  <a:schemeClr val="accent1"/>
                </a:solidFill>
              </a:ln>
            </p:spPr>
          </p:sp>
          <p:sp>
            <p:nvSpPr>
              <p:cNvPr id="17" name="Freeform 17"/>
              <p:cNvSpPr/>
              <p:nvPr/>
            </p:nvSpPr>
            <p:spPr>
              <a:xfrm>
                <a:off x="6705600" y="2200275"/>
                <a:ext cx="228600" cy="128588"/>
              </a:xfrm>
              <a:custGeom>
                <a:avLst/>
                <a:gdLst/>
                <a:ahLst/>
                <a:cxnLst/>
                <a:rect l="l" t="t" r="r" b="b"/>
                <a:pathLst>
                  <a:path w="228600" h="128588">
                    <a:moveTo>
                      <a:pt x="0" y="128588"/>
                    </a:moveTo>
                    <a:lnTo>
                      <a:pt x="57150" y="42862"/>
                    </a:lnTo>
                    <a:lnTo>
                      <a:pt x="114300" y="71438"/>
                    </a:lnTo>
                    <a:lnTo>
                      <a:pt x="171450" y="0"/>
                    </a:lnTo>
                    <a:lnTo>
                      <a:pt x="228600" y="57150"/>
                    </a:lnTo>
                  </a:path>
                </a:pathLst>
              </a:custGeom>
              <a:noFill/>
              <a:ln w="28575">
                <a:solidFill>
                  <a:schemeClr val="accent1"/>
                </a:solidFill>
              </a:ln>
            </p:spPr>
          </p:sp>
        </p:grpSp>
        <p:sp>
          <p:nvSpPr>
            <p:cNvPr id="19" name="TextBox 19"/>
            <p:cNvSpPr txBox="1"/>
            <p:nvPr/>
          </p:nvSpPr>
          <p:spPr>
            <a:xfrm>
              <a:off x="7381494" y="2019300"/>
              <a:ext cx="2504237" cy="381381"/>
            </a:xfrm>
            <a:prstGeom prst="rect">
              <a:avLst/>
            </a:prstGeom>
            <a:noFill/>
            <a:ln>
              <a:noFill/>
            </a:ln>
          </p:spPr>
          <p:txBody>
            <a:bodyPr wrap="none" lIns="0" tIns="0" rIns="0" bIns="0" anchor="t" anchorCtr="0">
              <a:spAutoFit/>
            </a:bodyPr>
            <a:lstStyle/>
            <a:p>
              <a:pPr algn="l"/>
              <a:r>
                <a:rPr lang="id-ID" sz="1950" b="1" dirty="0">
                  <a:solidFill>
                    <a:srgbClr val="F3F1EA"/>
                  </a:solidFill>
                  <a:latin typeface="+mn-lt"/>
                  <a:ea typeface="+mn-ea"/>
                  <a:cs typeface="+mn-cs"/>
                </a:rPr>
                <a:t>Laporan Keuangan Pro</a:t>
              </a:r>
            </a:p>
          </p:txBody>
        </p:sp>
        <p:sp>
          <p:nvSpPr>
            <p:cNvPr id="20" name="TextBox 20"/>
            <p:cNvSpPr txBox="1"/>
            <p:nvPr/>
          </p:nvSpPr>
          <p:spPr>
            <a:xfrm>
              <a:off x="7383780" y="2425700"/>
              <a:ext cx="3528003"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B9B6AA"/>
                  </a:solidFill>
                  <a:latin typeface="+mn-lt"/>
                  <a:ea typeface="+mn-ea"/>
                  <a:cs typeface="+mn-cs"/>
                </a:rPr>
                <a:t>LTV, CAC, retensi pasien, heatmap jam ramai,</a:t>
              </a:r>
              <a:br>
                <a:rPr lang="id-ID" sz="1500" dirty="0">
                  <a:solidFill>
                    <a:srgbClr val="B9B6AA"/>
                  </a:solidFill>
                  <a:latin typeface="+mn-lt"/>
                  <a:ea typeface="+mn-ea"/>
                  <a:cs typeface="+mn-cs"/>
                </a:rPr>
              </a:br>
              <a:r>
                <a:rPr lang="id-ID" sz="1500" dirty="0">
                  <a:solidFill>
                    <a:srgbClr val="B9B6AA"/>
                  </a:solidFill>
                  <a:latin typeface="+mn-lt"/>
                  <a:ea typeface="+mn-ea"/>
                  <a:cs typeface="+mn-cs"/>
                </a:rPr>
                <a:t>peta asal pasien per kecamatan — intelijen</a:t>
              </a:r>
              <a:br>
                <a:rPr lang="id-ID" sz="1500" dirty="0">
                  <a:solidFill>
                    <a:srgbClr val="B9B6AA"/>
                  </a:solidFill>
                  <a:latin typeface="+mn-lt"/>
                  <a:ea typeface="+mn-ea"/>
                  <a:cs typeface="+mn-cs"/>
                </a:rPr>
              </a:br>
              <a:r>
                <a:rPr lang="id-ID" sz="1500" dirty="0">
                  <a:solidFill>
                    <a:srgbClr val="B9B6AA"/>
                  </a:solidFill>
                  <a:latin typeface="+mn-lt"/>
                  <a:ea typeface="+mn-ea"/>
                  <a:cs typeface="+mn-cs"/>
                </a:rPr>
                <a:t>bisnis, bukan sekadar kasir.</a:t>
              </a:r>
            </a:p>
          </p:txBody>
        </p:sp>
      </p:grpSp>
      <p:grpSp>
        <p:nvGrpSpPr>
          <p:cNvPr id="29" name="diff-diagnosis"/>
          <p:cNvGrpSpPr/>
          <p:nvPr/>
        </p:nvGrpSpPr>
        <p:grpSpPr>
          <a:xfrm>
            <a:off x="609600" y="3848100"/>
            <a:ext cx="5372100" cy="1943100"/>
            <a:chOff x="609600" y="3848100"/>
            <a:chExt cx="5372100" cy="1943100"/>
          </a:xfrm>
        </p:grpSpPr>
        <p:sp>
          <p:nvSpPr>
            <p:cNvPr id="22" name="Rectangle 22"/>
            <p:cNvSpPr/>
            <p:nvPr/>
          </p:nvSpPr>
          <p:spPr>
            <a:xfrm>
              <a:off x="609600" y="3848100"/>
              <a:ext cx="5372100" cy="1943100"/>
            </a:xfrm>
            <a:prstGeom prst="roundRect">
              <a:avLst>
                <a:gd name="adj" fmla="val 9804"/>
              </a:avLst>
            </a:prstGeom>
            <a:solidFill>
              <a:srgbClr val="242320"/>
            </a:solidFill>
            <a:ln>
              <a:noFill/>
            </a:ln>
          </p:spPr>
        </p:sp>
        <p:sp>
          <p:nvSpPr>
            <p:cNvPr id="23" name="Ellipse 23"/>
            <p:cNvSpPr/>
            <p:nvPr/>
          </p:nvSpPr>
          <p:spPr>
            <a:xfrm>
              <a:off x="895350" y="4133850"/>
              <a:ext cx="647700" cy="647700"/>
            </a:xfrm>
            <a:prstGeom prst="ellipse">
              <a:avLst/>
            </a:prstGeom>
            <a:solidFill>
              <a:schemeClr val="accent3"/>
            </a:solidFill>
            <a:ln>
              <a:noFill/>
            </a:ln>
          </p:spPr>
        </p:sp>
        <p:grpSp>
          <p:nvGrpSpPr>
            <p:cNvPr id="26" name="Group 26"/>
            <p:cNvGrpSpPr/>
            <p:nvPr/>
          </p:nvGrpSpPr>
          <p:grpSpPr>
            <a:xfrm>
              <a:off x="1090612" y="4329112"/>
              <a:ext cx="257175" cy="257175"/>
              <a:chOff x="1090612" y="4329112"/>
              <a:chExt cx="257175" cy="257175"/>
            </a:xfrm>
          </p:grpSpPr>
          <p:sp>
            <p:nvSpPr>
              <p:cNvPr id="24" name="Freeform 24"/>
              <p:cNvSpPr/>
              <p:nvPr/>
            </p:nvSpPr>
            <p:spPr>
              <a:xfrm>
                <a:off x="1090612" y="4329112"/>
                <a:ext cx="200025" cy="200025"/>
              </a:xfrm>
              <a:custGeom>
                <a:avLst/>
                <a:gdLst/>
                <a:ahLst/>
                <a:cxnLst/>
                <a:rect l="l" t="t" r="r" b="b"/>
                <a:pathLst>
                  <a:path w="200025" h="200025">
                    <a:moveTo>
                      <a:pt x="0" y="100012"/>
                    </a:moveTo>
                    <a:cubicBezTo>
                      <a:pt x="0" y="155248"/>
                      <a:pt x="44777" y="200025"/>
                      <a:pt x="100012" y="200025"/>
                    </a:cubicBezTo>
                    <a:cubicBezTo>
                      <a:pt x="155248" y="200025"/>
                      <a:pt x="200025" y="155248"/>
                      <a:pt x="200025" y="100012"/>
                    </a:cubicBezTo>
                    <a:cubicBezTo>
                      <a:pt x="200025" y="44777"/>
                      <a:pt x="155248" y="0"/>
                      <a:pt x="100012" y="0"/>
                    </a:cubicBezTo>
                    <a:cubicBezTo>
                      <a:pt x="44777" y="0"/>
                      <a:pt x="0" y="44777"/>
                      <a:pt x="0" y="100012"/>
                    </a:cubicBezTo>
                  </a:path>
                </a:pathLst>
              </a:custGeom>
              <a:noFill/>
              <a:ln w="28575">
                <a:solidFill>
                  <a:schemeClr val="accent1"/>
                </a:solidFill>
              </a:ln>
            </p:spPr>
          </p:sp>
          <p:sp>
            <p:nvSpPr>
              <p:cNvPr id="25" name="Freeform 25"/>
              <p:cNvSpPr/>
              <p:nvPr/>
            </p:nvSpPr>
            <p:spPr>
              <a:xfrm>
                <a:off x="1262062" y="4500562"/>
                <a:ext cx="85725" cy="85725"/>
              </a:xfrm>
              <a:custGeom>
                <a:avLst/>
                <a:gdLst/>
                <a:ahLst/>
                <a:cxnLst/>
                <a:rect l="l" t="t" r="r" b="b"/>
                <a:pathLst>
                  <a:path w="85725" h="85725">
                    <a:moveTo>
                      <a:pt x="85725" y="85725"/>
                    </a:moveTo>
                    <a:lnTo>
                      <a:pt x="0" y="0"/>
                    </a:lnTo>
                  </a:path>
                </a:pathLst>
              </a:custGeom>
              <a:noFill/>
              <a:ln w="28575">
                <a:solidFill>
                  <a:schemeClr val="accent1"/>
                </a:solidFill>
              </a:ln>
            </p:spPr>
          </p:sp>
        </p:grpSp>
        <p:sp>
          <p:nvSpPr>
            <p:cNvPr id="27" name="TextBox 27"/>
            <p:cNvSpPr txBox="1"/>
            <p:nvPr/>
          </p:nvSpPr>
          <p:spPr>
            <a:xfrm>
              <a:off x="1780794" y="4191000"/>
              <a:ext cx="2611468" cy="381381"/>
            </a:xfrm>
            <a:prstGeom prst="rect">
              <a:avLst/>
            </a:prstGeom>
            <a:noFill/>
            <a:ln>
              <a:noFill/>
            </a:ln>
          </p:spPr>
          <p:txBody>
            <a:bodyPr wrap="none" lIns="0" tIns="0" rIns="0" bIns="0" anchor="t" anchorCtr="0">
              <a:spAutoFit/>
            </a:bodyPr>
            <a:lstStyle/>
            <a:p>
              <a:pPr algn="l"/>
              <a:r>
                <a:rPr lang="id-ID" sz="1950" b="1" dirty="0">
                  <a:solidFill>
                    <a:srgbClr val="F3F1EA"/>
                  </a:solidFill>
                  <a:latin typeface="+mn-lt"/>
                  <a:ea typeface="+mn-ea"/>
                  <a:cs typeface="+mn-cs"/>
                </a:rPr>
                <a:t>Diagnosis seperti bicara</a:t>
              </a:r>
            </a:p>
          </p:txBody>
        </p:sp>
        <p:sp>
          <p:nvSpPr>
            <p:cNvPr id="28" name="TextBox 28"/>
            <p:cNvSpPr txBox="1"/>
            <p:nvPr/>
          </p:nvSpPr>
          <p:spPr>
            <a:xfrm>
              <a:off x="1783080" y="4597400"/>
              <a:ext cx="3697205"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B9B6AA"/>
                  </a:solidFill>
                  <a:latin typeface="+mn-lt"/>
                  <a:ea typeface="+mn-ea"/>
                  <a:cs typeface="+mn-cs"/>
                </a:rPr>
                <a:t xml:space="preserve">Cari </a:t>
              </a:r>
              <a:r>
                <a:rPr lang="id-ID" sz="1500" b="1" dirty="0">
                  <a:solidFill>
                    <a:schemeClr val="accent3"/>
                  </a:solidFill>
                  <a:latin typeface="+mn-lt"/>
                  <a:ea typeface="+mn-ea"/>
                  <a:cs typeface="+mn-cs"/>
                </a:rPr>
                <a:t>18.500+</a:t>
              </a:r>
              <a:r>
                <a:rPr lang="id-ID" sz="1500" dirty="0">
                  <a:solidFill>
                    <a:srgbClr val="B9B6AA"/>
                  </a:solidFill>
                  <a:latin typeface="+mn-lt"/>
                  <a:ea typeface="+mn-ea"/>
                  <a:cs typeface="+mn-cs"/>
                </a:rPr>
                <a:t xml:space="preserve"> kode ICD-10 dan </a:t>
              </a:r>
              <a:r>
                <a:rPr lang="id-ID" sz="1500" b="1" dirty="0">
                  <a:solidFill>
                    <a:schemeClr val="accent3"/>
                  </a:solidFill>
                  <a:latin typeface="+mn-lt"/>
                  <a:ea typeface="+mn-ea"/>
                  <a:cs typeface="+mn-cs"/>
                </a:rPr>
                <a:t>499.000+</a:t>
              </a:r>
              <a:br>
                <a:rPr lang="id-ID" sz="1500" b="1" dirty="0">
                  <a:solidFill>
                    <a:schemeClr val="accent3"/>
                  </a:solidFill>
                  <a:latin typeface="+mn-lt"/>
                  <a:ea typeface="+mn-ea"/>
                  <a:cs typeface="+mn-cs"/>
                </a:rPr>
              </a:br>
              <a:r>
                <a:rPr lang="id-ID" sz="1500" dirty="0">
                  <a:solidFill>
                    <a:srgbClr val="B9B6AA"/>
                  </a:solidFill>
                  <a:latin typeface="+mn-lt"/>
                  <a:ea typeface="+mn-ea"/>
                  <a:cs typeface="+mn-cs"/>
                </a:rPr>
                <a:t>konsep SNOMED CT dengan bahasa sehari-hari:</a:t>
              </a:r>
              <a:br>
                <a:rPr lang="id-ID" sz="1500" dirty="0">
                  <a:solidFill>
                    <a:srgbClr val="B9B6AA"/>
                  </a:solidFill>
                  <a:latin typeface="+mn-lt"/>
                  <a:ea typeface="+mn-ea"/>
                  <a:cs typeface="+mn-cs"/>
                </a:rPr>
              </a:br>
              <a:r>
                <a:rPr lang="id-ID" sz="1500" dirty="0">
                  <a:solidFill>
                    <a:srgbClr val="B9B6AA"/>
                  </a:solidFill>
                  <a:latin typeface="+mn-lt"/>
                  <a:ea typeface="+mn-ea"/>
                  <a:cs typeface="+mn-cs"/>
                </a:rPr>
                <a:t>“gigi berlubang”, “radang gusi”.</a:t>
              </a:r>
            </a:p>
          </p:txBody>
        </p:sp>
      </p:grpSp>
      <p:grpSp>
        <p:nvGrpSpPr>
          <p:cNvPr id="40" name="diff-api"/>
          <p:cNvGrpSpPr/>
          <p:nvPr/>
        </p:nvGrpSpPr>
        <p:grpSpPr>
          <a:xfrm>
            <a:off x="6210300" y="3848100"/>
            <a:ext cx="5372100" cy="1943100"/>
            <a:chOff x="6210300" y="3848100"/>
            <a:chExt cx="5372100" cy="1943100"/>
          </a:xfrm>
        </p:grpSpPr>
        <p:sp>
          <p:nvSpPr>
            <p:cNvPr id="30" name="Rectangle 30"/>
            <p:cNvSpPr/>
            <p:nvPr/>
          </p:nvSpPr>
          <p:spPr>
            <a:xfrm>
              <a:off x="6210300" y="3848100"/>
              <a:ext cx="5372100" cy="1943100"/>
            </a:xfrm>
            <a:prstGeom prst="roundRect">
              <a:avLst>
                <a:gd name="adj" fmla="val 9804"/>
              </a:avLst>
            </a:prstGeom>
            <a:solidFill>
              <a:srgbClr val="242320"/>
            </a:solidFill>
            <a:ln>
              <a:noFill/>
            </a:ln>
          </p:spPr>
        </p:sp>
        <p:sp>
          <p:nvSpPr>
            <p:cNvPr id="31" name="Ellipse 31"/>
            <p:cNvSpPr/>
            <p:nvPr/>
          </p:nvSpPr>
          <p:spPr>
            <a:xfrm>
              <a:off x="6496050" y="4133850"/>
              <a:ext cx="647700" cy="647700"/>
            </a:xfrm>
            <a:prstGeom prst="ellipse">
              <a:avLst/>
            </a:prstGeom>
            <a:solidFill>
              <a:schemeClr val="accent3"/>
            </a:solidFill>
            <a:ln>
              <a:noFill/>
            </a:ln>
          </p:spPr>
        </p:sp>
        <p:grpSp>
          <p:nvGrpSpPr>
            <p:cNvPr id="37" name="Group 37"/>
            <p:cNvGrpSpPr/>
            <p:nvPr/>
          </p:nvGrpSpPr>
          <p:grpSpPr>
            <a:xfrm>
              <a:off x="6691312" y="4329112"/>
              <a:ext cx="257175" cy="257175"/>
              <a:chOff x="6691312" y="4329112"/>
              <a:chExt cx="257175" cy="257175"/>
            </a:xfrm>
          </p:grpSpPr>
          <p:sp>
            <p:nvSpPr>
              <p:cNvPr id="32" name="Freeform 32"/>
              <p:cNvSpPr/>
              <p:nvPr/>
            </p:nvSpPr>
            <p:spPr>
              <a:xfrm>
                <a:off x="6691312" y="432911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8575">
                <a:solidFill>
                  <a:schemeClr val="accent1"/>
                </a:solidFill>
              </a:ln>
            </p:spPr>
          </p:sp>
          <p:sp>
            <p:nvSpPr>
              <p:cNvPr id="33" name="Freeform 33"/>
              <p:cNvSpPr/>
              <p:nvPr/>
            </p:nvSpPr>
            <p:spPr>
              <a:xfrm>
                <a:off x="6699885" y="4414838"/>
                <a:ext cx="240030" cy="9525"/>
              </a:xfrm>
              <a:custGeom>
                <a:avLst/>
                <a:gdLst/>
                <a:ahLst/>
                <a:cxnLst/>
                <a:rect l="l" t="t" r="r" b="b"/>
                <a:pathLst>
                  <a:path w="240030" h="9525">
                    <a:moveTo>
                      <a:pt x="0" y="0"/>
                    </a:moveTo>
                    <a:lnTo>
                      <a:pt x="240030" y="0"/>
                    </a:lnTo>
                  </a:path>
                </a:pathLst>
              </a:custGeom>
              <a:noFill/>
              <a:ln w="28575">
                <a:solidFill>
                  <a:schemeClr val="accent1"/>
                </a:solidFill>
              </a:ln>
            </p:spPr>
          </p:sp>
          <p:sp>
            <p:nvSpPr>
              <p:cNvPr id="34" name="Freeform 34"/>
              <p:cNvSpPr/>
              <p:nvPr/>
            </p:nvSpPr>
            <p:spPr>
              <a:xfrm>
                <a:off x="6699885" y="4500562"/>
                <a:ext cx="240030" cy="9525"/>
              </a:xfrm>
              <a:custGeom>
                <a:avLst/>
                <a:gdLst/>
                <a:ahLst/>
                <a:cxnLst/>
                <a:rect l="l" t="t" r="r" b="b"/>
                <a:pathLst>
                  <a:path w="240030" h="9525">
                    <a:moveTo>
                      <a:pt x="0" y="0"/>
                    </a:moveTo>
                    <a:lnTo>
                      <a:pt x="240030" y="0"/>
                    </a:lnTo>
                  </a:path>
                </a:pathLst>
              </a:custGeom>
              <a:noFill/>
              <a:ln w="28575">
                <a:solidFill>
                  <a:schemeClr val="accent1"/>
                </a:solidFill>
              </a:ln>
            </p:spPr>
          </p:sp>
          <p:sp>
            <p:nvSpPr>
              <p:cNvPr id="35" name="Freeform 35"/>
              <p:cNvSpPr/>
              <p:nvPr/>
            </p:nvSpPr>
            <p:spPr>
              <a:xfrm>
                <a:off x="6763649" y="4329112"/>
                <a:ext cx="49107" cy="257175"/>
              </a:xfrm>
              <a:custGeom>
                <a:avLst/>
                <a:gdLst/>
                <a:ahLst/>
                <a:cxnLst/>
                <a:rect l="l" t="t" r="r" b="b"/>
                <a:pathLst>
                  <a:path w="49107" h="257175">
                    <a:moveTo>
                      <a:pt x="49107" y="0"/>
                    </a:moveTo>
                    <a:cubicBezTo>
                      <a:pt x="0" y="78692"/>
                      <a:pt x="0" y="178483"/>
                      <a:pt x="49107" y="257175"/>
                    </a:cubicBezTo>
                  </a:path>
                </a:pathLst>
              </a:custGeom>
              <a:noFill/>
              <a:ln w="28575">
                <a:solidFill>
                  <a:schemeClr val="accent1"/>
                </a:solidFill>
              </a:ln>
            </p:spPr>
          </p:sp>
          <p:sp>
            <p:nvSpPr>
              <p:cNvPr id="36" name="Freeform 36"/>
              <p:cNvSpPr/>
              <p:nvPr/>
            </p:nvSpPr>
            <p:spPr>
              <a:xfrm>
                <a:off x="6827044" y="4329112"/>
                <a:ext cx="49107" cy="257175"/>
              </a:xfrm>
              <a:custGeom>
                <a:avLst/>
                <a:gdLst/>
                <a:ahLst/>
                <a:cxnLst/>
                <a:rect l="l" t="t" r="r" b="b"/>
                <a:pathLst>
                  <a:path w="49107" h="257175">
                    <a:moveTo>
                      <a:pt x="0" y="0"/>
                    </a:moveTo>
                    <a:cubicBezTo>
                      <a:pt x="49107" y="78692"/>
                      <a:pt x="49107" y="178483"/>
                      <a:pt x="0" y="257175"/>
                    </a:cubicBezTo>
                  </a:path>
                </a:pathLst>
              </a:custGeom>
              <a:noFill/>
              <a:ln w="28575">
                <a:solidFill>
                  <a:schemeClr val="accent1"/>
                </a:solidFill>
              </a:ln>
            </p:spPr>
          </p:sp>
        </p:grpSp>
        <p:sp>
          <p:nvSpPr>
            <p:cNvPr id="38" name="TextBox 38"/>
            <p:cNvSpPr txBox="1"/>
            <p:nvPr/>
          </p:nvSpPr>
          <p:spPr>
            <a:xfrm>
              <a:off x="7381494" y="4191000"/>
              <a:ext cx="2049663" cy="381381"/>
            </a:xfrm>
            <a:prstGeom prst="rect">
              <a:avLst/>
            </a:prstGeom>
            <a:noFill/>
            <a:ln>
              <a:noFill/>
            </a:ln>
          </p:spPr>
          <p:txBody>
            <a:bodyPr wrap="none" lIns="0" tIns="0" rIns="0" bIns="0" anchor="t" anchorCtr="0">
              <a:spAutoFit/>
            </a:bodyPr>
            <a:lstStyle/>
            <a:p>
              <a:pPr algn="l"/>
              <a:r>
                <a:rPr lang="id-ID" sz="1950" b="1" dirty="0">
                  <a:solidFill>
                    <a:srgbClr val="F3F1EA"/>
                  </a:solidFill>
                  <a:latin typeface="+mn-lt"/>
                  <a:ea typeface="+mn-ea"/>
                  <a:cs typeface="+mn-cs"/>
                </a:rPr>
                <a:t>API Website Klinik</a:t>
              </a:r>
            </a:p>
          </p:txBody>
        </p:sp>
        <p:sp>
          <p:nvSpPr>
            <p:cNvPr id="39" name="TextBox 39"/>
            <p:cNvSpPr txBox="1"/>
            <p:nvPr/>
          </p:nvSpPr>
          <p:spPr>
            <a:xfrm>
              <a:off x="7383780" y="4597400"/>
              <a:ext cx="3479654"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B9B6AA"/>
                  </a:solidFill>
                  <a:latin typeface="+mn-lt"/>
                  <a:ea typeface="+mn-ea"/>
                  <a:cs typeface="+mn-cs"/>
                </a:rPr>
                <a:t>Jadwal dokter, layanan, slot kosong, dan</a:t>
              </a:r>
              <a:br>
                <a:rPr lang="id-ID" sz="1500" dirty="0">
                  <a:solidFill>
                    <a:srgbClr val="B9B6AA"/>
                  </a:solidFill>
                  <a:latin typeface="+mn-lt"/>
                  <a:ea typeface="+mn-ea"/>
                  <a:cs typeface="+mn-cs"/>
                </a:rPr>
              </a:br>
              <a:r>
                <a:rPr lang="id-ID" sz="1500" dirty="0">
                  <a:solidFill>
                    <a:srgbClr val="B9B6AA"/>
                  </a:solidFill>
                  <a:latin typeface="+mn-lt"/>
                  <a:ea typeface="+mn-ea"/>
                  <a:cs typeface="+mn-cs"/>
                </a:rPr>
                <a:t>reservasi tampil otomatis di website klinik —</a:t>
              </a:r>
              <a:br>
                <a:rPr lang="id-ID" sz="1500" dirty="0">
                  <a:solidFill>
                    <a:srgbClr val="B9B6AA"/>
                  </a:solidFill>
                  <a:latin typeface="+mn-lt"/>
                  <a:ea typeface="+mn-ea"/>
                  <a:cs typeface="+mn-cs"/>
                </a:rPr>
              </a:br>
              <a:r>
                <a:rPr lang="id-ID" sz="1500" dirty="0">
                  <a:solidFill>
                    <a:srgbClr val="B9B6AA"/>
                  </a:solidFill>
                  <a:latin typeface="+mn-lt"/>
                  <a:ea typeface="+mn-ea"/>
                  <a:cs typeface="+mn-cs"/>
                </a:rPr>
                <a:t>API key terkunci per domain.</a:t>
              </a:r>
            </a:p>
          </p:txBody>
        </p:sp>
      </p:grpSp>
      <p:grpSp>
        <p:nvGrpSpPr>
          <p:cNvPr id="43" name="footer"/>
          <p:cNvGrpSpPr/>
          <p:nvPr/>
        </p:nvGrpSpPr>
        <p:grpSpPr>
          <a:xfrm>
            <a:off x="604647" y="6477000"/>
            <a:ext cx="10982706" cy="191643"/>
            <a:chOff x="604647" y="6477000"/>
            <a:chExt cx="10982706" cy="191643"/>
          </a:xfrm>
        </p:grpSpPr>
        <p:sp>
          <p:nvSpPr>
            <p:cNvPr id="41" name="TextBox 41"/>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rgbClr val="B9B6AA"/>
                  </a:solidFill>
                  <a:latin typeface="+mn-lt"/>
                  <a:ea typeface="+mn-ea"/>
                  <a:cs typeface="+mn-cs"/>
                </a:rPr>
                <a:t>ApexRecord · Pitch Deck 2026</a:t>
              </a:r>
            </a:p>
          </p:txBody>
        </p:sp>
        <p:sp>
          <p:nvSpPr>
            <p:cNvPr id="42" name="TextBox 42"/>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rgbClr val="B9B6AA"/>
                  </a:solidFill>
                  <a:latin typeface="+mn-lt"/>
                  <a:ea typeface="+mn-ea"/>
                  <a:cs typeface="+mn-cs"/>
                </a:rPr>
                <a:t>05</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7587615" cy="786003"/>
            <a:chOff x="595122" y="635000"/>
            <a:chExt cx="7587615" cy="786003"/>
          </a:xfrm>
        </p:grpSpPr>
        <p:sp>
          <p:nvSpPr>
            <p:cNvPr id="2" name="TextBox 2"/>
            <p:cNvSpPr txBox="1"/>
            <p:nvPr/>
          </p:nvSpPr>
          <p:spPr>
            <a:xfrm>
              <a:off x="603885" y="635000"/>
              <a:ext cx="1623157"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KENAPA SEKARANG</a:t>
              </a:r>
            </a:p>
          </p:txBody>
        </p:sp>
        <p:sp>
          <p:nvSpPr>
            <p:cNvPr id="3" name="TextBox 3"/>
            <p:cNvSpPr txBox="1"/>
            <p:nvPr/>
          </p:nvSpPr>
          <p:spPr>
            <a:xfrm>
              <a:off x="595122" y="863600"/>
              <a:ext cx="7587615"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Regulasi kini mewajibkan klinik go digital</a:t>
              </a:r>
            </a:p>
          </p:txBody>
        </p:sp>
      </p:grpSp>
      <p:grpSp>
        <p:nvGrpSpPr>
          <p:cNvPr id="10" name="timeline-axis"/>
          <p:cNvGrpSpPr/>
          <p:nvPr/>
        </p:nvGrpSpPr>
        <p:grpSpPr>
          <a:xfrm>
            <a:off x="800100" y="2647950"/>
            <a:ext cx="10629900" cy="381000"/>
            <a:chOff x="800100" y="2647950"/>
            <a:chExt cx="10629900" cy="381000"/>
          </a:xfrm>
        </p:grpSpPr>
        <p:sp>
          <p:nvSpPr>
            <p:cNvPr id="5" name="Line 5"/>
            <p:cNvSpPr/>
            <p:nvPr/>
          </p:nvSpPr>
          <p:spPr>
            <a:xfrm>
              <a:off x="800100" y="2838450"/>
              <a:ext cx="10629900" cy="1"/>
            </a:xfrm>
            <a:prstGeom prst="line">
              <a:avLst/>
            </a:prstGeom>
            <a:noFill/>
            <a:ln w="28575">
              <a:solidFill>
                <a:schemeClr val="accent6"/>
              </a:solidFill>
              <a:tailEnd type="triangle" w="lg" len="lg"/>
            </a:ln>
          </p:spPr>
        </p:sp>
        <p:sp>
          <p:nvSpPr>
            <p:cNvPr id="6" name="Ellipse 6"/>
            <p:cNvSpPr/>
            <p:nvPr/>
          </p:nvSpPr>
          <p:spPr>
            <a:xfrm>
              <a:off x="819150" y="2705100"/>
              <a:ext cx="266700" cy="266700"/>
            </a:xfrm>
            <a:prstGeom prst="ellipse">
              <a:avLst/>
            </a:prstGeom>
            <a:solidFill>
              <a:schemeClr val="accent1"/>
            </a:solidFill>
            <a:ln>
              <a:noFill/>
            </a:ln>
          </p:spPr>
        </p:sp>
        <p:sp>
          <p:nvSpPr>
            <p:cNvPr id="7" name="Ellipse 7"/>
            <p:cNvSpPr/>
            <p:nvPr/>
          </p:nvSpPr>
          <p:spPr>
            <a:xfrm>
              <a:off x="3467100" y="2705100"/>
              <a:ext cx="266700" cy="266700"/>
            </a:xfrm>
            <a:prstGeom prst="ellipse">
              <a:avLst/>
            </a:prstGeom>
            <a:solidFill>
              <a:schemeClr val="accent1"/>
            </a:solidFill>
            <a:ln>
              <a:noFill/>
            </a:ln>
          </p:spPr>
        </p:sp>
        <p:sp>
          <p:nvSpPr>
            <p:cNvPr id="8" name="Ellipse 8"/>
            <p:cNvSpPr/>
            <p:nvPr/>
          </p:nvSpPr>
          <p:spPr>
            <a:xfrm>
              <a:off x="6115050" y="2705100"/>
              <a:ext cx="266700" cy="266700"/>
            </a:xfrm>
            <a:prstGeom prst="ellipse">
              <a:avLst/>
            </a:prstGeom>
            <a:solidFill>
              <a:schemeClr val="accent1"/>
            </a:solidFill>
            <a:ln>
              <a:noFill/>
            </a:ln>
          </p:spPr>
        </p:sp>
        <p:sp>
          <p:nvSpPr>
            <p:cNvPr id="9" name="Ellipse 9"/>
            <p:cNvSpPr/>
            <p:nvPr/>
          </p:nvSpPr>
          <p:spPr>
            <a:xfrm>
              <a:off x="8858250" y="2647950"/>
              <a:ext cx="381000" cy="381000"/>
            </a:xfrm>
            <a:prstGeom prst="ellipse">
              <a:avLst/>
            </a:prstGeom>
            <a:solidFill>
              <a:schemeClr val="accent3"/>
            </a:solidFill>
            <a:ln w="28575">
              <a:solidFill>
                <a:schemeClr val="accent2"/>
              </a:solidFill>
            </a:ln>
          </p:spPr>
        </p:sp>
      </p:grpSp>
      <p:grpSp>
        <p:nvGrpSpPr>
          <p:cNvPr id="14" name="milestone-2022"/>
          <p:cNvGrpSpPr/>
          <p:nvPr/>
        </p:nvGrpSpPr>
        <p:grpSpPr>
          <a:xfrm>
            <a:off x="742950" y="3289300"/>
            <a:ext cx="2070849" cy="1944370"/>
            <a:chOff x="742950" y="3289300"/>
            <a:chExt cx="2070849" cy="1944370"/>
          </a:xfrm>
        </p:grpSpPr>
        <p:sp>
          <p:nvSpPr>
            <p:cNvPr id="11" name="TextBox 11"/>
            <p:cNvSpPr txBox="1"/>
            <p:nvPr/>
          </p:nvSpPr>
          <p:spPr>
            <a:xfrm>
              <a:off x="742950" y="3289300"/>
              <a:ext cx="1385862"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2022</a:t>
              </a:r>
            </a:p>
          </p:txBody>
        </p:sp>
        <p:sp>
          <p:nvSpPr>
            <p:cNvPr id="12" name="TextBox 12"/>
            <p:cNvSpPr txBox="1"/>
            <p:nvPr/>
          </p:nvSpPr>
          <p:spPr>
            <a:xfrm>
              <a:off x="753618" y="4076700"/>
              <a:ext cx="1877233" cy="322707"/>
            </a:xfrm>
            <a:prstGeom prst="rect">
              <a:avLst/>
            </a:prstGeom>
            <a:noFill/>
            <a:ln>
              <a:noFill/>
            </a:ln>
          </p:spPr>
          <p:txBody>
            <a:bodyPr wrap="none" lIns="0" tIns="0" rIns="0" bIns="0" anchor="t" anchorCtr="0">
              <a:spAutoFit/>
            </a:bodyPr>
            <a:lstStyle/>
            <a:p>
              <a:pPr algn="l"/>
              <a:r>
                <a:rPr lang="id-ID" sz="1650" b="1" dirty="0">
                  <a:solidFill>
                    <a:schemeClr val="dk1"/>
                  </a:solidFill>
                  <a:latin typeface="+mn-lt"/>
                  <a:ea typeface="+mn-ea"/>
                  <a:cs typeface="+mn-cs"/>
                </a:rPr>
                <a:t>Permenkes 24/2022</a:t>
              </a:r>
            </a:p>
          </p:txBody>
        </p:sp>
        <p:sp>
          <p:nvSpPr>
            <p:cNvPr id="13" name="TextBox 13"/>
            <p:cNvSpPr txBox="1"/>
            <p:nvPr/>
          </p:nvSpPr>
          <p:spPr>
            <a:xfrm>
              <a:off x="754380" y="4406900"/>
              <a:ext cx="2059419"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Setiap fasyankes wajib</a:t>
              </a:r>
              <a:br>
                <a:rPr lang="id-ID" sz="1500" dirty="0">
                  <a:solidFill>
                    <a:srgbClr val="55534A"/>
                  </a:solidFill>
                  <a:latin typeface="+mn-lt"/>
                  <a:ea typeface="+mn-ea"/>
                  <a:cs typeface="+mn-cs"/>
                </a:rPr>
              </a:br>
              <a:r>
                <a:rPr lang="id-ID" sz="1500" dirty="0">
                  <a:solidFill>
                    <a:srgbClr val="55534A"/>
                  </a:solidFill>
                  <a:latin typeface="+mn-lt"/>
                  <a:ea typeface="+mn-ea"/>
                  <a:cs typeface="+mn-cs"/>
                </a:rPr>
                <a:t>menyelenggarakan Rekam</a:t>
              </a:r>
              <a:br>
                <a:rPr lang="id-ID" sz="1500" dirty="0">
                  <a:solidFill>
                    <a:srgbClr val="55534A"/>
                  </a:solidFill>
                  <a:latin typeface="+mn-lt"/>
                  <a:ea typeface="+mn-ea"/>
                  <a:cs typeface="+mn-cs"/>
                </a:rPr>
              </a:br>
              <a:r>
                <a:rPr lang="id-ID" sz="1500" dirty="0">
                  <a:solidFill>
                    <a:srgbClr val="55534A"/>
                  </a:solidFill>
                  <a:latin typeface="+mn-lt"/>
                  <a:ea typeface="+mn-ea"/>
                  <a:cs typeface="+mn-cs"/>
                </a:rPr>
                <a:t>Medis Elektronik (RME).</a:t>
              </a:r>
            </a:p>
          </p:txBody>
        </p:sp>
      </p:grpSp>
      <p:grpSp>
        <p:nvGrpSpPr>
          <p:cNvPr id="18" name="milestone-2023"/>
          <p:cNvGrpSpPr/>
          <p:nvPr/>
        </p:nvGrpSpPr>
        <p:grpSpPr>
          <a:xfrm>
            <a:off x="3390900" y="3289300"/>
            <a:ext cx="2161203" cy="1944370"/>
            <a:chOff x="3390900" y="3289300"/>
            <a:chExt cx="2161203" cy="1944370"/>
          </a:xfrm>
        </p:grpSpPr>
        <p:sp>
          <p:nvSpPr>
            <p:cNvPr id="15" name="TextBox 15"/>
            <p:cNvSpPr txBox="1"/>
            <p:nvPr/>
          </p:nvSpPr>
          <p:spPr>
            <a:xfrm>
              <a:off x="3390900" y="3289300"/>
              <a:ext cx="1385862"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2023</a:t>
              </a:r>
            </a:p>
          </p:txBody>
        </p:sp>
        <p:sp>
          <p:nvSpPr>
            <p:cNvPr id="16" name="TextBox 16"/>
            <p:cNvSpPr txBox="1"/>
            <p:nvPr/>
          </p:nvSpPr>
          <p:spPr>
            <a:xfrm>
              <a:off x="3401568" y="4076700"/>
              <a:ext cx="1749512" cy="322707"/>
            </a:xfrm>
            <a:prstGeom prst="rect">
              <a:avLst/>
            </a:prstGeom>
            <a:noFill/>
            <a:ln>
              <a:noFill/>
            </a:ln>
          </p:spPr>
          <p:txBody>
            <a:bodyPr wrap="none" lIns="0" tIns="0" rIns="0" bIns="0" anchor="t" anchorCtr="0">
              <a:spAutoFit/>
            </a:bodyPr>
            <a:lstStyle/>
            <a:p>
              <a:pPr algn="l"/>
              <a:r>
                <a:rPr lang="id-ID" sz="1650" b="1" dirty="0">
                  <a:solidFill>
                    <a:schemeClr val="dk1"/>
                  </a:solidFill>
                  <a:latin typeface="+mn-lt"/>
                  <a:ea typeface="+mn-ea"/>
                  <a:cs typeface="+mn-cs"/>
                </a:rPr>
                <a:t>Batas transisi RME</a:t>
              </a:r>
            </a:p>
          </p:txBody>
        </p:sp>
        <p:sp>
          <p:nvSpPr>
            <p:cNvPr id="17" name="TextBox 17"/>
            <p:cNvSpPr txBox="1"/>
            <p:nvPr/>
          </p:nvSpPr>
          <p:spPr>
            <a:xfrm>
              <a:off x="3402330" y="4406900"/>
              <a:ext cx="2149773"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Batas akhir transisi ke RME;</a:t>
              </a:r>
              <a:br>
                <a:rPr lang="id-ID" sz="1500" dirty="0">
                  <a:solidFill>
                    <a:srgbClr val="55534A"/>
                  </a:solidFill>
                  <a:latin typeface="+mn-lt"/>
                  <a:ea typeface="+mn-ea"/>
                  <a:cs typeface="+mn-cs"/>
                </a:rPr>
              </a:br>
              <a:r>
                <a:rPr lang="id-ID" sz="1500" dirty="0">
                  <a:solidFill>
                    <a:srgbClr val="55534A"/>
                  </a:solidFill>
                  <a:latin typeface="+mn-lt"/>
                  <a:ea typeface="+mn-ea"/>
                  <a:cs typeface="+mn-cs"/>
                </a:rPr>
                <a:t>fasyankes diarahkan</a:t>
              </a:r>
              <a:br>
                <a:rPr lang="id-ID" sz="1500" dirty="0">
                  <a:solidFill>
                    <a:srgbClr val="55534A"/>
                  </a:solidFill>
                  <a:latin typeface="+mn-lt"/>
                  <a:ea typeface="+mn-ea"/>
                  <a:cs typeface="+mn-cs"/>
                </a:rPr>
              </a:br>
              <a:r>
                <a:rPr lang="id-ID" sz="1500" dirty="0">
                  <a:solidFill>
                    <a:srgbClr val="55534A"/>
                  </a:solidFill>
                  <a:latin typeface="+mn-lt"/>
                  <a:ea typeface="+mn-ea"/>
                  <a:cs typeface="+mn-cs"/>
                </a:rPr>
                <a:t>terhubung ke SATUSEHAT.</a:t>
              </a:r>
            </a:p>
          </p:txBody>
        </p:sp>
      </p:grpSp>
      <p:grpSp>
        <p:nvGrpSpPr>
          <p:cNvPr id="22" name="milestone-2024"/>
          <p:cNvGrpSpPr/>
          <p:nvPr/>
        </p:nvGrpSpPr>
        <p:grpSpPr>
          <a:xfrm>
            <a:off x="6038850" y="3289300"/>
            <a:ext cx="2396683" cy="1944370"/>
            <a:chOff x="6038850" y="3289300"/>
            <a:chExt cx="2396683" cy="1944370"/>
          </a:xfrm>
        </p:grpSpPr>
        <p:sp>
          <p:nvSpPr>
            <p:cNvPr id="19" name="TextBox 19"/>
            <p:cNvSpPr txBox="1"/>
            <p:nvPr/>
          </p:nvSpPr>
          <p:spPr>
            <a:xfrm>
              <a:off x="6038850" y="3289300"/>
              <a:ext cx="2396683"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2024–26</a:t>
              </a:r>
            </a:p>
          </p:txBody>
        </p:sp>
        <p:sp>
          <p:nvSpPr>
            <p:cNvPr id="20" name="TextBox 20"/>
            <p:cNvSpPr txBox="1"/>
            <p:nvPr/>
          </p:nvSpPr>
          <p:spPr>
            <a:xfrm>
              <a:off x="6049518" y="4076700"/>
              <a:ext cx="2025193" cy="322707"/>
            </a:xfrm>
            <a:prstGeom prst="rect">
              <a:avLst/>
            </a:prstGeom>
            <a:noFill/>
            <a:ln>
              <a:noFill/>
            </a:ln>
          </p:spPr>
          <p:txBody>
            <a:bodyPr wrap="none" lIns="0" tIns="0" rIns="0" bIns="0" anchor="t" anchorCtr="0">
              <a:spAutoFit/>
            </a:bodyPr>
            <a:lstStyle/>
            <a:p>
              <a:pPr algn="l"/>
              <a:r>
                <a:rPr lang="id-ID" sz="1650" b="1" dirty="0">
                  <a:solidFill>
                    <a:schemeClr val="dk1"/>
                  </a:solidFill>
                  <a:latin typeface="+mn-lt"/>
                  <a:ea typeface="+mn-ea"/>
                  <a:cs typeface="+mn-cs"/>
                </a:rPr>
                <a:t>Integrasi SATUSEHAT</a:t>
              </a:r>
            </a:p>
          </p:txBody>
        </p:sp>
        <p:sp>
          <p:nvSpPr>
            <p:cNvPr id="21" name="TextBox 21"/>
            <p:cNvSpPr txBox="1"/>
            <p:nvPr/>
          </p:nvSpPr>
          <p:spPr>
            <a:xfrm>
              <a:off x="6050280" y="4406900"/>
              <a:ext cx="2003527"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Kemenkes memonitor</a:t>
              </a:r>
              <a:br>
                <a:rPr lang="id-ID" sz="1500" dirty="0">
                  <a:solidFill>
                    <a:srgbClr val="55534A"/>
                  </a:solidFill>
                  <a:latin typeface="+mn-lt"/>
                  <a:ea typeface="+mn-ea"/>
                  <a:cs typeface="+mn-cs"/>
                </a:rPr>
              </a:br>
              <a:r>
                <a:rPr lang="id-ID" sz="1500" dirty="0">
                  <a:solidFill>
                    <a:srgbClr val="55534A"/>
                  </a:solidFill>
                  <a:latin typeface="+mn-lt"/>
                  <a:ea typeface="+mn-ea"/>
                  <a:cs typeface="+mn-cs"/>
                </a:rPr>
                <a:t>keterhubungan fasyankes</a:t>
              </a:r>
              <a:br>
                <a:rPr lang="id-ID" sz="1500" dirty="0">
                  <a:solidFill>
                    <a:srgbClr val="55534A"/>
                  </a:solidFill>
                  <a:latin typeface="+mn-lt"/>
                  <a:ea typeface="+mn-ea"/>
                  <a:cs typeface="+mn-cs"/>
                </a:rPr>
              </a:br>
              <a:r>
                <a:rPr lang="id-ID" sz="1500" dirty="0">
                  <a:solidFill>
                    <a:srgbClr val="55534A"/>
                  </a:solidFill>
                  <a:latin typeface="+mn-lt"/>
                  <a:ea typeface="+mn-ea"/>
                  <a:cs typeface="+mn-cs"/>
                </a:rPr>
                <a:t>ke SATUSEHAT.</a:t>
              </a:r>
            </a:p>
          </p:txBody>
        </p:sp>
      </p:grpSp>
      <p:grpSp>
        <p:nvGrpSpPr>
          <p:cNvPr id="26" name="milestone-now"/>
          <p:cNvGrpSpPr/>
          <p:nvPr/>
        </p:nvGrpSpPr>
        <p:grpSpPr>
          <a:xfrm>
            <a:off x="8743950" y="3314700"/>
            <a:ext cx="2693465" cy="1918970"/>
            <a:chOff x="8743950" y="3314700"/>
            <a:chExt cx="2693465" cy="1918970"/>
          </a:xfrm>
        </p:grpSpPr>
        <p:sp>
          <p:nvSpPr>
            <p:cNvPr id="23" name="TextBox 23"/>
            <p:cNvSpPr txBox="1"/>
            <p:nvPr/>
          </p:nvSpPr>
          <p:spPr>
            <a:xfrm>
              <a:off x="8743950" y="3314700"/>
              <a:ext cx="2693465" cy="847725"/>
            </a:xfrm>
            <a:prstGeom prst="rect">
              <a:avLst/>
            </a:prstGeom>
            <a:noFill/>
            <a:ln>
              <a:noFill/>
            </a:ln>
          </p:spPr>
          <p:txBody>
            <a:bodyPr wrap="none" lIns="0" tIns="0" rIns="0" bIns="0" anchor="t" anchorCtr="0">
              <a:spAutoFit/>
            </a:bodyPr>
            <a:lstStyle/>
            <a:p>
              <a:pPr algn="l"/>
              <a:r>
                <a:rPr lang="id-ID" sz="4350" b="1" dirty="0">
                  <a:solidFill>
                    <a:schemeClr val="accent2"/>
                  </a:solidFill>
                  <a:latin typeface="+mj-lt"/>
                  <a:ea typeface="+mj-ea"/>
                  <a:cs typeface="+mj-cs"/>
                </a:rPr>
                <a:t>Sekarang</a:t>
              </a:r>
            </a:p>
          </p:txBody>
        </p:sp>
        <p:sp>
          <p:nvSpPr>
            <p:cNvPr id="24" name="TextBox 24"/>
            <p:cNvSpPr txBox="1"/>
            <p:nvPr/>
          </p:nvSpPr>
          <p:spPr>
            <a:xfrm>
              <a:off x="8754618" y="4076700"/>
              <a:ext cx="1939014" cy="322707"/>
            </a:xfrm>
            <a:prstGeom prst="rect">
              <a:avLst/>
            </a:prstGeom>
            <a:noFill/>
            <a:ln>
              <a:noFill/>
            </a:ln>
          </p:spPr>
          <p:txBody>
            <a:bodyPr wrap="none" lIns="0" tIns="0" rIns="0" bIns="0" anchor="t" anchorCtr="0">
              <a:spAutoFit/>
            </a:bodyPr>
            <a:lstStyle/>
            <a:p>
              <a:pPr algn="l"/>
              <a:r>
                <a:rPr lang="id-ID" sz="1650" b="1" dirty="0">
                  <a:solidFill>
                    <a:schemeClr val="dk1"/>
                  </a:solidFill>
                  <a:latin typeface="+mn-lt"/>
                  <a:ea typeface="+mn-ea"/>
                  <a:cs typeface="+mn-cs"/>
                </a:rPr>
                <a:t>Peluang ApexRecord</a:t>
              </a:r>
            </a:p>
          </p:txBody>
        </p:sp>
        <p:sp>
          <p:nvSpPr>
            <p:cNvPr id="25" name="TextBox 25"/>
            <p:cNvSpPr txBox="1"/>
            <p:nvPr/>
          </p:nvSpPr>
          <p:spPr>
            <a:xfrm>
              <a:off x="8755380" y="4406900"/>
              <a:ext cx="1974875"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Klinik kecil &amp; praktik</a:t>
              </a:r>
              <a:br>
                <a:rPr lang="id-ID" sz="1500" dirty="0">
                  <a:solidFill>
                    <a:srgbClr val="55534A"/>
                  </a:solidFill>
                  <a:latin typeface="+mn-lt"/>
                  <a:ea typeface="+mn-ea"/>
                  <a:cs typeface="+mn-cs"/>
                </a:rPr>
              </a:br>
              <a:r>
                <a:rPr lang="id-ID" sz="1500" dirty="0">
                  <a:solidFill>
                    <a:srgbClr val="55534A"/>
                  </a:solidFill>
                  <a:latin typeface="+mn-lt"/>
                  <a:ea typeface="+mn-ea"/>
                  <a:cs typeface="+mn-cs"/>
                </a:rPr>
                <a:t>mandiri butuh solusi</a:t>
              </a:r>
              <a:br>
                <a:rPr lang="id-ID" sz="1500" dirty="0">
                  <a:solidFill>
                    <a:srgbClr val="55534A"/>
                  </a:solidFill>
                  <a:latin typeface="+mn-lt"/>
                  <a:ea typeface="+mn-ea"/>
                  <a:cs typeface="+mn-cs"/>
                </a:rPr>
              </a:br>
              <a:r>
                <a:rPr lang="id-ID" sz="1500" dirty="0">
                  <a:solidFill>
                    <a:srgbClr val="55534A"/>
                  </a:solidFill>
                  <a:latin typeface="+mn-lt"/>
                  <a:ea typeface="+mn-ea"/>
                  <a:cs typeface="+mn-cs"/>
                </a:rPr>
                <a:t>murah, cepat, dan patuh.</a:t>
              </a:r>
            </a:p>
          </p:txBody>
        </p:sp>
      </p:grpSp>
      <p:grpSp>
        <p:nvGrpSpPr>
          <p:cNvPr id="28" name="source-note"/>
          <p:cNvGrpSpPr/>
          <p:nvPr/>
        </p:nvGrpSpPr>
        <p:grpSpPr>
          <a:xfrm>
            <a:off x="604647" y="6019800"/>
            <a:ext cx="4507625" cy="191643"/>
            <a:chOff x="604647" y="6019800"/>
            <a:chExt cx="4507625" cy="191643"/>
          </a:xfrm>
        </p:grpSpPr>
        <p:sp>
          <p:nvSpPr>
            <p:cNvPr id="27" name="TextBox 27"/>
            <p:cNvSpPr txBox="1"/>
            <p:nvPr/>
          </p:nvSpPr>
          <p:spPr>
            <a:xfrm>
              <a:off x="604647" y="6019800"/>
              <a:ext cx="4507625"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Sumber: Permenkes No. 24 Tahun 2022 tentang Rekam Medis; keslan.kemkes.go.id</a:t>
              </a:r>
            </a:p>
          </p:txBody>
        </p:sp>
      </p:grpSp>
      <p:grpSp>
        <p:nvGrpSpPr>
          <p:cNvPr id="31" name="footer"/>
          <p:cNvGrpSpPr/>
          <p:nvPr/>
        </p:nvGrpSpPr>
        <p:grpSpPr>
          <a:xfrm>
            <a:off x="604647" y="6477000"/>
            <a:ext cx="10982706" cy="191643"/>
            <a:chOff x="604647" y="6477000"/>
            <a:chExt cx="10982706" cy="191643"/>
          </a:xfrm>
        </p:grpSpPr>
        <p:sp>
          <p:nvSpPr>
            <p:cNvPr id="29" name="TextBox 29"/>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30" name="TextBox 30"/>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06</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10233304" cy="786003"/>
            <a:chOff x="595122" y="635000"/>
            <a:chExt cx="10233304" cy="786003"/>
          </a:xfrm>
        </p:grpSpPr>
        <p:sp>
          <p:nvSpPr>
            <p:cNvPr id="2" name="TextBox 2"/>
            <p:cNvSpPr txBox="1"/>
            <p:nvPr/>
          </p:nvSpPr>
          <p:spPr>
            <a:xfrm>
              <a:off x="603885" y="635000"/>
              <a:ext cx="1311296"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UKURAN PASAR</a:t>
              </a:r>
            </a:p>
          </p:txBody>
        </p:sp>
        <p:sp>
          <p:nvSpPr>
            <p:cNvPr id="3" name="TextBox 3"/>
            <p:cNvSpPr txBox="1"/>
            <p:nvPr/>
          </p:nvSpPr>
          <p:spPr>
            <a:xfrm>
              <a:off x="595122" y="863600"/>
              <a:ext cx="10233304"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Ribuan fasyankes swasta butuh sistem yang terjangkau</a:t>
              </a:r>
            </a:p>
          </p:txBody>
        </p:sp>
      </p:grpSp>
      <p:grpSp>
        <p:nvGrpSpPr>
          <p:cNvPr id="12" name="market-nest"/>
          <p:cNvGrpSpPr/>
          <p:nvPr/>
        </p:nvGrpSpPr>
        <p:grpSpPr>
          <a:xfrm>
            <a:off x="876300" y="1828800"/>
            <a:ext cx="4152900" cy="4152900"/>
            <a:chOff x="876300" y="1828800"/>
            <a:chExt cx="4152900" cy="4152900"/>
          </a:xfrm>
        </p:grpSpPr>
        <p:sp>
          <p:nvSpPr>
            <p:cNvPr id="5" name="Ellipse 5"/>
            <p:cNvSpPr/>
            <p:nvPr/>
          </p:nvSpPr>
          <p:spPr>
            <a:xfrm>
              <a:off x="876300" y="1828800"/>
              <a:ext cx="4152900" cy="4152900"/>
            </a:xfrm>
            <a:prstGeom prst="ellipse">
              <a:avLst/>
            </a:prstGeom>
            <a:solidFill>
              <a:schemeClr val="lt2"/>
            </a:solidFill>
            <a:ln w="9525">
              <a:solidFill>
                <a:schemeClr val="accent6"/>
              </a:solidFill>
            </a:ln>
          </p:spPr>
        </p:sp>
        <p:sp>
          <p:nvSpPr>
            <p:cNvPr id="6" name="Ellipse 6"/>
            <p:cNvSpPr/>
            <p:nvPr/>
          </p:nvSpPr>
          <p:spPr>
            <a:xfrm>
              <a:off x="1524000" y="3124200"/>
              <a:ext cx="2857500" cy="2857500"/>
            </a:xfrm>
            <a:prstGeom prst="ellipse">
              <a:avLst/>
            </a:prstGeom>
            <a:solidFill>
              <a:srgbClr val="E3F3DA"/>
            </a:solidFill>
            <a:ln>
              <a:noFill/>
            </a:ln>
          </p:spPr>
        </p:sp>
        <p:sp>
          <p:nvSpPr>
            <p:cNvPr id="7" name="Ellipse 7"/>
            <p:cNvSpPr/>
            <p:nvPr/>
          </p:nvSpPr>
          <p:spPr>
            <a:xfrm>
              <a:off x="2190750" y="4457700"/>
              <a:ext cx="1524000" cy="1524000"/>
            </a:xfrm>
            <a:prstGeom prst="ellipse">
              <a:avLst/>
            </a:prstGeom>
            <a:solidFill>
              <a:schemeClr val="accent2"/>
            </a:solidFill>
            <a:ln>
              <a:noFill/>
            </a:ln>
          </p:spPr>
        </p:sp>
        <p:grpSp>
          <p:nvGrpSpPr>
            <p:cNvPr id="11" name="Group 11"/>
            <p:cNvGrpSpPr/>
            <p:nvPr/>
          </p:nvGrpSpPr>
          <p:grpSpPr>
            <a:xfrm>
              <a:off x="2729316" y="2070100"/>
              <a:ext cx="446867" cy="3341370"/>
              <a:chOff x="2729316" y="2070100"/>
              <a:chExt cx="446867" cy="3341370"/>
            </a:xfrm>
          </p:grpSpPr>
          <p:sp>
            <p:nvSpPr>
              <p:cNvPr id="8" name="TextBox 8"/>
              <p:cNvSpPr txBox="1"/>
              <p:nvPr/>
            </p:nvSpPr>
            <p:spPr>
              <a:xfrm>
                <a:off x="2734426" y="2070100"/>
                <a:ext cx="436647" cy="293370"/>
              </a:xfrm>
              <a:prstGeom prst="rect">
                <a:avLst/>
              </a:prstGeom>
              <a:noFill/>
              <a:ln>
                <a:noFill/>
              </a:ln>
            </p:spPr>
            <p:txBody>
              <a:bodyPr wrap="none" lIns="0" tIns="0" rIns="0" bIns="0" anchor="t" anchorCtr="0">
                <a:spAutoFit/>
              </a:bodyPr>
              <a:lstStyle/>
              <a:p>
                <a:pPr algn="ctr"/>
                <a:r>
                  <a:rPr lang="id-ID" sz="1500" b="1" dirty="0">
                    <a:solidFill>
                      <a:srgbClr val="55534A"/>
                    </a:solidFill>
                    <a:latin typeface="+mn-lt"/>
                    <a:ea typeface="+mn-ea"/>
                    <a:cs typeface="+mn-cs"/>
                  </a:rPr>
                  <a:t>TAM</a:t>
                </a:r>
              </a:p>
            </p:txBody>
          </p:sp>
          <p:sp>
            <p:nvSpPr>
              <p:cNvPr id="9" name="TextBox 9"/>
              <p:cNvSpPr txBox="1"/>
              <p:nvPr/>
            </p:nvSpPr>
            <p:spPr>
              <a:xfrm>
                <a:off x="2736816" y="3384550"/>
                <a:ext cx="431868" cy="293370"/>
              </a:xfrm>
              <a:prstGeom prst="rect">
                <a:avLst/>
              </a:prstGeom>
              <a:noFill/>
              <a:ln>
                <a:noFill/>
              </a:ln>
            </p:spPr>
            <p:txBody>
              <a:bodyPr wrap="none" lIns="0" tIns="0" rIns="0" bIns="0" anchor="t" anchorCtr="0">
                <a:spAutoFit/>
              </a:bodyPr>
              <a:lstStyle/>
              <a:p>
                <a:pPr algn="ctr"/>
                <a:r>
                  <a:rPr lang="id-ID" sz="1500" b="1" dirty="0">
                    <a:solidFill>
                      <a:srgbClr val="2B6B22"/>
                    </a:solidFill>
                    <a:latin typeface="+mn-lt"/>
                    <a:ea typeface="+mn-ea"/>
                    <a:cs typeface="+mn-cs"/>
                  </a:rPr>
                  <a:t>SAM</a:t>
                </a:r>
              </a:p>
            </p:txBody>
          </p:sp>
          <p:sp>
            <p:nvSpPr>
              <p:cNvPr id="10" name="TextBox 10"/>
              <p:cNvSpPr txBox="1"/>
              <p:nvPr/>
            </p:nvSpPr>
            <p:spPr>
              <a:xfrm>
                <a:off x="2729316" y="5118100"/>
                <a:ext cx="446867" cy="293370"/>
              </a:xfrm>
              <a:prstGeom prst="rect">
                <a:avLst/>
              </a:prstGeom>
              <a:noFill/>
              <a:ln>
                <a:noFill/>
              </a:ln>
            </p:spPr>
            <p:txBody>
              <a:bodyPr wrap="none" lIns="0" tIns="0" rIns="0" bIns="0" anchor="t" anchorCtr="0">
                <a:spAutoFit/>
              </a:bodyPr>
              <a:lstStyle/>
              <a:p>
                <a:pPr algn="ctr"/>
                <a:r>
                  <a:rPr lang="id-ID" sz="1500" b="1" dirty="0">
                    <a:solidFill>
                      <a:srgbClr val="FFFFFF"/>
                    </a:solidFill>
                    <a:latin typeface="+mn-lt"/>
                    <a:ea typeface="+mn-ea"/>
                    <a:cs typeface="+mn-cs"/>
                  </a:rPr>
                  <a:t>SOM</a:t>
                </a:r>
              </a:p>
            </p:txBody>
          </p:sp>
        </p:grpSp>
      </p:grpSp>
      <p:grpSp>
        <p:nvGrpSpPr>
          <p:cNvPr id="15" name="market-tam"/>
          <p:cNvGrpSpPr/>
          <p:nvPr/>
        </p:nvGrpSpPr>
        <p:grpSpPr>
          <a:xfrm>
            <a:off x="5513832" y="1841500"/>
            <a:ext cx="4518755" cy="972820"/>
            <a:chOff x="5513832" y="1841500"/>
            <a:chExt cx="4518755" cy="972820"/>
          </a:xfrm>
        </p:grpSpPr>
        <p:sp>
          <p:nvSpPr>
            <p:cNvPr id="13" name="TextBox 13"/>
            <p:cNvSpPr txBox="1"/>
            <p:nvPr/>
          </p:nvSpPr>
          <p:spPr>
            <a:xfrm>
              <a:off x="5513832" y="1841500"/>
              <a:ext cx="3370149" cy="410718"/>
            </a:xfrm>
            <a:prstGeom prst="rect">
              <a:avLst/>
            </a:prstGeom>
            <a:noFill/>
            <a:ln>
              <a:noFill/>
            </a:ln>
          </p:spPr>
          <p:txBody>
            <a:bodyPr wrap="none" lIns="0" tIns="0" rIns="0" bIns="0" anchor="t" anchorCtr="0">
              <a:spAutoFit/>
            </a:bodyPr>
            <a:lstStyle/>
            <a:p>
              <a:pPr algn="l"/>
              <a:r>
                <a:rPr lang="id-ID" sz="2100" b="1" dirty="0">
                  <a:solidFill>
                    <a:schemeClr val="dk1"/>
                  </a:solidFill>
                  <a:latin typeface="+mj-lt"/>
                  <a:ea typeface="+mj-ea"/>
                  <a:cs typeface="+mj-cs"/>
                </a:rPr>
                <a:t>TAM · ± Rp428 M / tahun</a:t>
              </a:r>
            </a:p>
          </p:txBody>
        </p:sp>
        <p:sp>
          <p:nvSpPr>
            <p:cNvPr id="14" name="TextBox 14"/>
            <p:cNvSpPr txBox="1"/>
            <p:nvPr/>
          </p:nvSpPr>
          <p:spPr>
            <a:xfrm>
              <a:off x="5516880" y="2254250"/>
              <a:ext cx="4515707" cy="5600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287 ribu dokter terdaftar KKI (Okt 2024), termasuk 46 ribu</a:t>
              </a:r>
              <a:br>
                <a:rPr lang="id-ID" sz="1500" dirty="0">
                  <a:solidFill>
                    <a:srgbClr val="55534A"/>
                  </a:solidFill>
                  <a:latin typeface="+mn-lt"/>
                  <a:ea typeface="+mn-ea"/>
                  <a:cs typeface="+mn-cs"/>
                </a:rPr>
              </a:br>
              <a:r>
                <a:rPr lang="id-ID" sz="1500" dirty="0">
                  <a:solidFill>
                    <a:srgbClr val="55534A"/>
                  </a:solidFill>
                  <a:latin typeface="+mn-lt"/>
                  <a:ea typeface="+mn-ea"/>
                  <a:cs typeface="+mn-cs"/>
                </a:rPr>
                <a:t>dokter gigi × paket Starter tahunan Rp1,49 jt.</a:t>
              </a:r>
            </a:p>
          </p:txBody>
        </p:sp>
      </p:grpSp>
      <p:grpSp>
        <p:nvGrpSpPr>
          <p:cNvPr id="18" name="market-sam"/>
          <p:cNvGrpSpPr/>
          <p:nvPr/>
        </p:nvGrpSpPr>
        <p:grpSpPr>
          <a:xfrm>
            <a:off x="5513832" y="3175000"/>
            <a:ext cx="4917167" cy="972820"/>
            <a:chOff x="5513832" y="3175000"/>
            <a:chExt cx="4917167" cy="972820"/>
          </a:xfrm>
        </p:grpSpPr>
        <p:sp>
          <p:nvSpPr>
            <p:cNvPr id="16" name="TextBox 16"/>
            <p:cNvSpPr txBox="1"/>
            <p:nvPr/>
          </p:nvSpPr>
          <p:spPr>
            <a:xfrm>
              <a:off x="5513832" y="3175000"/>
              <a:ext cx="3225161" cy="410718"/>
            </a:xfrm>
            <a:prstGeom prst="rect">
              <a:avLst/>
            </a:prstGeom>
            <a:noFill/>
            <a:ln>
              <a:noFill/>
            </a:ln>
          </p:spPr>
          <p:txBody>
            <a:bodyPr wrap="none" lIns="0" tIns="0" rIns="0" bIns="0" anchor="t" anchorCtr="0">
              <a:spAutoFit/>
            </a:bodyPr>
            <a:lstStyle/>
            <a:p>
              <a:pPr algn="l"/>
              <a:r>
                <a:rPr lang="id-ID" sz="2100" b="1" dirty="0">
                  <a:solidFill>
                    <a:schemeClr val="dk1"/>
                  </a:solidFill>
                  <a:latin typeface="+mj-lt"/>
                  <a:ea typeface="+mj-ea"/>
                  <a:cs typeface="+mj-cs"/>
                </a:rPr>
                <a:t>SAM · ± Rp54 M / tahun</a:t>
              </a:r>
            </a:p>
          </p:txBody>
        </p:sp>
        <p:sp>
          <p:nvSpPr>
            <p:cNvPr id="17" name="TextBox 17"/>
            <p:cNvSpPr txBox="1"/>
            <p:nvPr/>
          </p:nvSpPr>
          <p:spPr>
            <a:xfrm>
              <a:off x="5516880" y="3587750"/>
              <a:ext cx="4914119" cy="5600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 18 ribu fasyankes: 7.022 klinik pratama &amp; utama terakreditasi</a:t>
              </a:r>
              <a:br>
                <a:rPr lang="id-ID" sz="1500" dirty="0">
                  <a:solidFill>
                    <a:srgbClr val="55534A"/>
                  </a:solidFill>
                  <a:latin typeface="+mn-lt"/>
                  <a:ea typeface="+mn-ea"/>
                  <a:cs typeface="+mn-cs"/>
                </a:rPr>
              </a:br>
              <a:r>
                <a:rPr lang="id-ID" sz="1500" dirty="0">
                  <a:solidFill>
                    <a:srgbClr val="55534A"/>
                  </a:solidFill>
                  <a:latin typeface="+mn-lt"/>
                  <a:ea typeface="+mn-ea"/>
                  <a:cs typeface="+mn-cs"/>
                </a:rPr>
                <a:t>+ ± 11 ribu praktik mandiri × paket Pro tahunan Rp2,99 jt.</a:t>
              </a:r>
            </a:p>
          </p:txBody>
        </p:sp>
      </p:grpSp>
      <p:grpSp>
        <p:nvGrpSpPr>
          <p:cNvPr id="23" name="market-som"/>
          <p:cNvGrpSpPr/>
          <p:nvPr/>
        </p:nvGrpSpPr>
        <p:grpSpPr>
          <a:xfrm>
            <a:off x="5513832" y="4508500"/>
            <a:ext cx="5190249" cy="1309053"/>
            <a:chOff x="5513832" y="4508500"/>
            <a:chExt cx="5190249" cy="1309053"/>
          </a:xfrm>
        </p:grpSpPr>
        <p:sp>
          <p:nvSpPr>
            <p:cNvPr id="19" name="TextBox 19"/>
            <p:cNvSpPr txBox="1"/>
            <p:nvPr/>
          </p:nvSpPr>
          <p:spPr>
            <a:xfrm>
              <a:off x="5513832" y="4508500"/>
              <a:ext cx="4137765" cy="410718"/>
            </a:xfrm>
            <a:prstGeom prst="rect">
              <a:avLst/>
            </a:prstGeom>
            <a:noFill/>
            <a:ln>
              <a:noFill/>
            </a:ln>
          </p:spPr>
          <p:txBody>
            <a:bodyPr wrap="none" lIns="0" tIns="0" rIns="0" bIns="0" anchor="t" anchorCtr="0">
              <a:spAutoFit/>
            </a:bodyPr>
            <a:lstStyle/>
            <a:p>
              <a:pPr algn="l"/>
              <a:r>
                <a:rPr lang="id-ID" sz="2100" b="1" dirty="0">
                  <a:solidFill>
                    <a:schemeClr val="accent2"/>
                  </a:solidFill>
                  <a:latin typeface="+mj-lt"/>
                  <a:ea typeface="+mj-ea"/>
                  <a:cs typeface="+mj-cs"/>
                </a:rPr>
                <a:t>SOM 3 tahun · ± Rp2,2 M ARR</a:t>
              </a:r>
            </a:p>
          </p:txBody>
        </p:sp>
        <p:sp>
          <p:nvSpPr>
            <p:cNvPr id="20" name="TextBox 20"/>
            <p:cNvSpPr txBox="1"/>
            <p:nvPr/>
          </p:nvSpPr>
          <p:spPr>
            <a:xfrm>
              <a:off x="5516880" y="4921250"/>
              <a:ext cx="5187201" cy="5600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1.000 fasyankes berbayar (± 5,5% SAM) × ARPU blended ± Rp2,2 jt;</a:t>
              </a:r>
              <a:br>
                <a:rPr lang="id-ID" sz="1500" dirty="0">
                  <a:solidFill>
                    <a:srgbClr val="55534A"/>
                  </a:solidFill>
                  <a:latin typeface="+mn-lt"/>
                  <a:ea typeface="+mn-ea"/>
                  <a:cs typeface="+mn-cs"/>
                </a:rPr>
              </a:br>
              <a:r>
                <a:rPr lang="id-ID" sz="1500" dirty="0">
                  <a:solidFill>
                    <a:srgbClr val="55534A"/>
                  </a:solidFill>
                  <a:latin typeface="+mn-lt"/>
                  <a:ea typeface="+mn-ea"/>
                  <a:cs typeface="+mn-cs"/>
                </a:rPr>
                <a:t>mulai dari klinik gigi di Sumatera.</a:t>
              </a:r>
            </a:p>
          </p:txBody>
        </p:sp>
        <p:sp>
          <p:nvSpPr>
            <p:cNvPr id="21" name="Rectangle 21"/>
            <p:cNvSpPr/>
            <p:nvPr/>
          </p:nvSpPr>
          <p:spPr>
            <a:xfrm>
              <a:off x="5524500" y="5524500"/>
              <a:ext cx="1866900" cy="285750"/>
            </a:xfrm>
            <a:prstGeom prst="roundRect">
              <a:avLst>
                <a:gd name="adj" fmla="val 50000"/>
              </a:avLst>
            </a:prstGeom>
            <a:solidFill>
              <a:srgbClr val="FCEACB"/>
            </a:solidFill>
            <a:ln>
              <a:noFill/>
            </a:ln>
          </p:spPr>
        </p:sp>
        <p:sp>
          <p:nvSpPr>
            <p:cNvPr id="22" name="TextBox 22"/>
            <p:cNvSpPr txBox="1"/>
            <p:nvPr/>
          </p:nvSpPr>
          <p:spPr>
            <a:xfrm>
              <a:off x="5671185" y="5597525"/>
              <a:ext cx="1101357" cy="220028"/>
            </a:xfrm>
            <a:prstGeom prst="rect">
              <a:avLst/>
            </a:prstGeom>
            <a:noFill/>
            <a:ln>
              <a:noFill/>
            </a:ln>
          </p:spPr>
          <p:txBody>
            <a:bodyPr wrap="none" lIns="0" tIns="0" rIns="0" bIns="0" anchor="t" anchorCtr="0">
              <a:spAutoFit/>
            </a:bodyPr>
            <a:lstStyle/>
            <a:p>
              <a:pPr algn="l"/>
              <a:r>
                <a:rPr lang="id-ID" sz="1120" b="1" dirty="0">
                  <a:solidFill>
                    <a:srgbClr val="8A5A00"/>
                  </a:solidFill>
                  <a:latin typeface="+mn-lt"/>
                  <a:ea typeface="+mn-ea"/>
                  <a:cs typeface="+mn-cs"/>
                </a:rPr>
                <a:t>DATA SKENARIO</a:t>
              </a:r>
            </a:p>
          </p:txBody>
        </p:sp>
      </p:grpSp>
      <p:grpSp>
        <p:nvGrpSpPr>
          <p:cNvPr id="25" name="market-source"/>
          <p:cNvGrpSpPr/>
          <p:nvPr/>
        </p:nvGrpSpPr>
        <p:grpSpPr>
          <a:xfrm>
            <a:off x="604647" y="6153150"/>
            <a:ext cx="8460082" cy="191643"/>
            <a:chOff x="604647" y="6153150"/>
            <a:chExt cx="8460082" cy="191643"/>
          </a:xfrm>
        </p:grpSpPr>
        <p:sp>
          <p:nvSpPr>
            <p:cNvPr id="24" name="TextBox 24"/>
            <p:cNvSpPr txBox="1"/>
            <p:nvPr/>
          </p:nvSpPr>
          <p:spPr>
            <a:xfrm>
              <a:off x="604647" y="6153150"/>
              <a:ext cx="8460082"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Estimasi bottom-up, perlu validasi. Sumber: KKI via GoodStats (Okt 2024); Kemenkes, klinik terakreditasi per Feb 2024; Kemenkes, data praktik mandiri 2018.</a:t>
              </a:r>
            </a:p>
          </p:txBody>
        </p:sp>
      </p:grpSp>
      <p:grpSp>
        <p:nvGrpSpPr>
          <p:cNvPr id="28" name="footer"/>
          <p:cNvGrpSpPr/>
          <p:nvPr/>
        </p:nvGrpSpPr>
        <p:grpSpPr>
          <a:xfrm>
            <a:off x="604647" y="6477000"/>
            <a:ext cx="10982706" cy="191643"/>
            <a:chOff x="604647" y="6477000"/>
            <a:chExt cx="10982706" cy="191643"/>
          </a:xfrm>
        </p:grpSpPr>
        <p:sp>
          <p:nvSpPr>
            <p:cNvPr id="26" name="TextBox 26"/>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27" name="TextBox 27"/>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07</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9504620" cy="786003"/>
            <a:chOff x="595122" y="635000"/>
            <a:chExt cx="9504620" cy="786003"/>
          </a:xfrm>
        </p:grpSpPr>
        <p:sp>
          <p:nvSpPr>
            <p:cNvPr id="2" name="TextBox 2"/>
            <p:cNvSpPr txBox="1"/>
            <p:nvPr/>
          </p:nvSpPr>
          <p:spPr>
            <a:xfrm>
              <a:off x="603885" y="635000"/>
              <a:ext cx="4006933"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MODEL BISNIS · HARGA MULAI 1 JANUARI 2027</a:t>
              </a:r>
            </a:p>
          </p:txBody>
        </p:sp>
        <p:sp>
          <p:nvSpPr>
            <p:cNvPr id="3" name="TextBox 3"/>
            <p:cNvSpPr txBox="1"/>
            <p:nvPr/>
          </p:nvSpPr>
          <p:spPr>
            <a:xfrm>
              <a:off x="595122" y="863600"/>
              <a:ext cx="9504620"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SaaS berlangganan dengan paket 1, 3, dan 12 bulan</a:t>
              </a:r>
            </a:p>
          </p:txBody>
        </p:sp>
      </p:grpSp>
      <p:grpSp>
        <p:nvGrpSpPr>
          <p:cNvPr id="41" name="price-table"/>
          <p:cNvGrpSpPr/>
          <p:nvPr/>
        </p:nvGrpSpPr>
        <p:grpSpPr>
          <a:xfrm>
            <a:off x="609600" y="1828800"/>
            <a:ext cx="10972800" cy="3095625"/>
            <a:chOff x="609600" y="1828800"/>
            <a:chExt cx="10972800" cy="3095625"/>
          </a:xfrm>
        </p:grpSpPr>
        <p:sp>
          <p:nvSpPr>
            <p:cNvPr id="5" name="Rectangle 5"/>
            <p:cNvSpPr/>
            <p:nvPr/>
          </p:nvSpPr>
          <p:spPr>
            <a:xfrm>
              <a:off x="609600" y="2857500"/>
              <a:ext cx="10972800" cy="685800"/>
            </a:xfrm>
            <a:prstGeom prst="rect">
              <a:avLst/>
            </a:prstGeom>
            <a:solidFill>
              <a:srgbClr val="E3F3DA"/>
            </a:solidFill>
            <a:ln>
              <a:noFill/>
            </a:ln>
          </p:spPr>
        </p:sp>
        <p:sp>
          <p:nvSpPr>
            <p:cNvPr id="6" name="Line 6"/>
            <p:cNvSpPr/>
            <p:nvPr/>
          </p:nvSpPr>
          <p:spPr>
            <a:xfrm>
              <a:off x="609600" y="2171700"/>
              <a:ext cx="10972800" cy="9525"/>
            </a:xfrm>
            <a:custGeom>
              <a:avLst/>
              <a:gdLst/>
              <a:ahLst/>
              <a:cxnLst/>
              <a:rect l="l" t="t" r="r" b="b"/>
              <a:pathLst>
                <a:path w="10972800" h="9525">
                  <a:moveTo>
                    <a:pt x="0" y="0"/>
                  </a:moveTo>
                  <a:lnTo>
                    <a:pt x="10972800" y="0"/>
                  </a:lnTo>
                </a:path>
              </a:pathLst>
            </a:custGeom>
            <a:noFill/>
            <a:ln w="19050">
              <a:solidFill>
                <a:schemeClr val="accent1"/>
              </a:solidFill>
            </a:ln>
          </p:spPr>
        </p:sp>
        <p:grpSp>
          <p:nvGrpSpPr>
            <p:cNvPr id="11" name="Group 11"/>
            <p:cNvGrpSpPr/>
            <p:nvPr/>
          </p:nvGrpSpPr>
          <p:grpSpPr>
            <a:xfrm>
              <a:off x="609600" y="2857500"/>
              <a:ext cx="10972800" cy="2066925"/>
              <a:chOff x="609600" y="2857500"/>
              <a:chExt cx="10972800" cy="2066925"/>
            </a:xfrm>
          </p:grpSpPr>
          <p:sp>
            <p:nvSpPr>
              <p:cNvPr id="7" name="Line 7"/>
              <p:cNvSpPr/>
              <p:nvPr/>
            </p:nvSpPr>
            <p:spPr>
              <a:xfrm>
                <a:off x="609600" y="285750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8" name="Line 8"/>
              <p:cNvSpPr/>
              <p:nvPr/>
            </p:nvSpPr>
            <p:spPr>
              <a:xfrm>
                <a:off x="609600" y="354330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9" name="Line 9"/>
              <p:cNvSpPr/>
              <p:nvPr/>
            </p:nvSpPr>
            <p:spPr>
              <a:xfrm>
                <a:off x="609600" y="422910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10" name="Line 10"/>
              <p:cNvSpPr/>
              <p:nvPr/>
            </p:nvSpPr>
            <p:spPr>
              <a:xfrm>
                <a:off x="609600" y="491490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17" name="Group 17"/>
            <p:cNvGrpSpPr/>
            <p:nvPr/>
          </p:nvGrpSpPr>
          <p:grpSpPr>
            <a:xfrm>
              <a:off x="717423" y="1828800"/>
              <a:ext cx="10428178" cy="250317"/>
              <a:chOff x="717423" y="1828800"/>
              <a:chExt cx="10428178" cy="250317"/>
            </a:xfrm>
          </p:grpSpPr>
          <p:sp>
            <p:nvSpPr>
              <p:cNvPr id="12" name="TextBox 12"/>
              <p:cNvSpPr txBox="1"/>
              <p:nvPr/>
            </p:nvSpPr>
            <p:spPr>
              <a:xfrm>
                <a:off x="717423" y="1828800"/>
                <a:ext cx="423521" cy="250317"/>
              </a:xfrm>
              <a:prstGeom prst="rect">
                <a:avLst/>
              </a:prstGeom>
              <a:noFill/>
              <a:ln>
                <a:noFill/>
              </a:ln>
            </p:spPr>
            <p:txBody>
              <a:bodyPr wrap="none" lIns="0" tIns="0" rIns="0" bIns="0" anchor="t" anchorCtr="0">
                <a:spAutoFit/>
              </a:bodyPr>
              <a:lstStyle/>
              <a:p>
                <a:pPr algn="l"/>
                <a:r>
                  <a:rPr lang="id-ID" sz="1280" b="1" dirty="0">
                    <a:solidFill>
                      <a:schemeClr val="accent5"/>
                    </a:solidFill>
                    <a:latin typeface="+mn-lt"/>
                    <a:ea typeface="+mn-ea"/>
                    <a:cs typeface="+mn-cs"/>
                  </a:rPr>
                  <a:t>Paket</a:t>
                </a:r>
              </a:p>
            </p:txBody>
          </p:sp>
          <p:sp>
            <p:nvSpPr>
              <p:cNvPr id="13" name="TextBox 13"/>
              <p:cNvSpPr txBox="1"/>
              <p:nvPr/>
            </p:nvSpPr>
            <p:spPr>
              <a:xfrm>
                <a:off x="2908173" y="1828800"/>
                <a:ext cx="870266" cy="250317"/>
              </a:xfrm>
              <a:prstGeom prst="rect">
                <a:avLst/>
              </a:prstGeom>
              <a:noFill/>
              <a:ln>
                <a:noFill/>
              </a:ln>
            </p:spPr>
            <p:txBody>
              <a:bodyPr wrap="none" lIns="0" tIns="0" rIns="0" bIns="0" anchor="t" anchorCtr="0">
                <a:spAutoFit/>
              </a:bodyPr>
              <a:lstStyle/>
              <a:p>
                <a:pPr algn="l"/>
                <a:r>
                  <a:rPr lang="id-ID" sz="1280" b="1" dirty="0">
                    <a:solidFill>
                      <a:schemeClr val="accent5"/>
                    </a:solidFill>
                    <a:latin typeface="+mn-lt"/>
                    <a:ea typeface="+mn-ea"/>
                    <a:cs typeface="+mn-cs"/>
                  </a:rPr>
                  <a:t>Untuk siapa</a:t>
                </a:r>
              </a:p>
            </p:txBody>
          </p:sp>
          <p:sp>
            <p:nvSpPr>
              <p:cNvPr id="14" name="TextBox 14"/>
              <p:cNvSpPr txBox="1"/>
              <p:nvPr/>
            </p:nvSpPr>
            <p:spPr>
              <a:xfrm>
                <a:off x="7119388" y="1828800"/>
                <a:ext cx="544025" cy="250317"/>
              </a:xfrm>
              <a:prstGeom prst="rect">
                <a:avLst/>
              </a:prstGeom>
              <a:noFill/>
              <a:ln>
                <a:noFill/>
              </a:ln>
            </p:spPr>
            <p:txBody>
              <a:bodyPr wrap="none" lIns="0" tIns="0" rIns="0" bIns="0" anchor="t" anchorCtr="0">
                <a:spAutoFit/>
              </a:bodyPr>
              <a:lstStyle/>
              <a:p>
                <a:pPr algn="ctr"/>
                <a:r>
                  <a:rPr lang="id-ID" sz="1280" b="1" dirty="0">
                    <a:solidFill>
                      <a:schemeClr val="accent5"/>
                    </a:solidFill>
                    <a:latin typeface="+mn-lt"/>
                    <a:ea typeface="+mn-ea"/>
                    <a:cs typeface="+mn-cs"/>
                  </a:rPr>
                  <a:t>1 bulan</a:t>
                </a:r>
              </a:p>
            </p:txBody>
          </p:sp>
          <p:sp>
            <p:nvSpPr>
              <p:cNvPr id="15" name="TextBox 15"/>
              <p:cNvSpPr txBox="1"/>
              <p:nvPr/>
            </p:nvSpPr>
            <p:spPr>
              <a:xfrm>
                <a:off x="8833888" y="1828800"/>
                <a:ext cx="544025" cy="250317"/>
              </a:xfrm>
              <a:prstGeom prst="rect">
                <a:avLst/>
              </a:prstGeom>
              <a:noFill/>
              <a:ln>
                <a:noFill/>
              </a:ln>
            </p:spPr>
            <p:txBody>
              <a:bodyPr wrap="none" lIns="0" tIns="0" rIns="0" bIns="0" anchor="t" anchorCtr="0">
                <a:spAutoFit/>
              </a:bodyPr>
              <a:lstStyle/>
              <a:p>
                <a:pPr algn="ctr"/>
                <a:r>
                  <a:rPr lang="id-ID" sz="1280" b="1" dirty="0">
                    <a:solidFill>
                      <a:schemeClr val="accent5"/>
                    </a:solidFill>
                    <a:latin typeface="+mn-lt"/>
                    <a:ea typeface="+mn-ea"/>
                    <a:cs typeface="+mn-cs"/>
                  </a:rPr>
                  <a:t>3 bulan</a:t>
                </a:r>
              </a:p>
            </p:txBody>
          </p:sp>
          <p:sp>
            <p:nvSpPr>
              <p:cNvPr id="16" name="TextBox 16"/>
              <p:cNvSpPr txBox="1"/>
              <p:nvPr/>
            </p:nvSpPr>
            <p:spPr>
              <a:xfrm>
                <a:off x="10514248" y="1828800"/>
                <a:ext cx="631353" cy="250317"/>
              </a:xfrm>
              <a:prstGeom prst="rect">
                <a:avLst/>
              </a:prstGeom>
              <a:noFill/>
              <a:ln>
                <a:noFill/>
              </a:ln>
            </p:spPr>
            <p:txBody>
              <a:bodyPr wrap="none" lIns="0" tIns="0" rIns="0" bIns="0" anchor="t" anchorCtr="0">
                <a:spAutoFit/>
              </a:bodyPr>
              <a:lstStyle/>
              <a:p>
                <a:pPr algn="ctr"/>
                <a:r>
                  <a:rPr lang="id-ID" sz="1280" b="1" dirty="0">
                    <a:solidFill>
                      <a:schemeClr val="accent5"/>
                    </a:solidFill>
                    <a:latin typeface="+mn-lt"/>
                    <a:ea typeface="+mn-ea"/>
                    <a:cs typeface="+mn-cs"/>
                  </a:rPr>
                  <a:t>12 bulan</a:t>
                </a:r>
              </a:p>
            </p:txBody>
          </p:sp>
        </p:grpSp>
        <p:grpSp>
          <p:nvGrpSpPr>
            <p:cNvPr id="22" name="Group 22"/>
            <p:cNvGrpSpPr/>
            <p:nvPr/>
          </p:nvGrpSpPr>
          <p:grpSpPr>
            <a:xfrm>
              <a:off x="715518" y="2400300"/>
              <a:ext cx="1833940" cy="2380107"/>
              <a:chOff x="715518" y="2400300"/>
              <a:chExt cx="1833940" cy="2380107"/>
            </a:xfrm>
          </p:grpSpPr>
          <p:sp>
            <p:nvSpPr>
              <p:cNvPr id="18" name="TextBox 18"/>
              <p:cNvSpPr txBox="1"/>
              <p:nvPr/>
            </p:nvSpPr>
            <p:spPr>
              <a:xfrm>
                <a:off x="715518" y="2400300"/>
                <a:ext cx="660352" cy="322707"/>
              </a:xfrm>
              <a:prstGeom prst="rect">
                <a:avLst/>
              </a:prstGeom>
              <a:noFill/>
              <a:ln>
                <a:noFill/>
              </a:ln>
            </p:spPr>
            <p:txBody>
              <a:bodyPr wrap="none" lIns="0" tIns="0" rIns="0" bIns="0" anchor="t" anchorCtr="0">
                <a:spAutoFit/>
              </a:bodyPr>
              <a:lstStyle/>
              <a:p>
                <a:pPr algn="l"/>
                <a:r>
                  <a:rPr lang="id-ID" sz="1650" b="1" dirty="0">
                    <a:solidFill>
                      <a:schemeClr val="dk1"/>
                    </a:solidFill>
                    <a:latin typeface="+mn-lt"/>
                    <a:ea typeface="+mn-ea"/>
                    <a:cs typeface="+mn-cs"/>
                  </a:rPr>
                  <a:t>Starter</a:t>
                </a:r>
              </a:p>
            </p:txBody>
          </p:sp>
          <p:sp>
            <p:nvSpPr>
              <p:cNvPr id="19" name="TextBox 19"/>
              <p:cNvSpPr txBox="1"/>
              <p:nvPr/>
            </p:nvSpPr>
            <p:spPr>
              <a:xfrm>
                <a:off x="715518" y="3086100"/>
                <a:ext cx="339329" cy="322707"/>
              </a:xfrm>
              <a:prstGeom prst="rect">
                <a:avLst/>
              </a:prstGeom>
              <a:noFill/>
              <a:ln>
                <a:noFill/>
              </a:ln>
            </p:spPr>
            <p:txBody>
              <a:bodyPr wrap="none" lIns="0" tIns="0" rIns="0" bIns="0" anchor="t" anchorCtr="0">
                <a:spAutoFit/>
              </a:bodyPr>
              <a:lstStyle/>
              <a:p>
                <a:pPr algn="l"/>
                <a:r>
                  <a:rPr lang="id-ID" sz="1650" b="1" dirty="0">
                    <a:solidFill>
                      <a:schemeClr val="accent2"/>
                    </a:solidFill>
                    <a:latin typeface="+mn-lt"/>
                    <a:ea typeface="+mn-ea"/>
                    <a:cs typeface="+mn-cs"/>
                  </a:rPr>
                  <a:t>Pro</a:t>
                </a:r>
              </a:p>
            </p:txBody>
          </p:sp>
          <p:sp>
            <p:nvSpPr>
              <p:cNvPr id="20" name="TextBox 20"/>
              <p:cNvSpPr txBox="1"/>
              <p:nvPr/>
            </p:nvSpPr>
            <p:spPr>
              <a:xfrm>
                <a:off x="715518" y="3771900"/>
                <a:ext cx="1088295" cy="322707"/>
              </a:xfrm>
              <a:prstGeom prst="rect">
                <a:avLst/>
              </a:prstGeom>
              <a:noFill/>
              <a:ln>
                <a:noFill/>
              </a:ln>
            </p:spPr>
            <p:txBody>
              <a:bodyPr wrap="none" lIns="0" tIns="0" rIns="0" bIns="0" anchor="t" anchorCtr="0">
                <a:spAutoFit/>
              </a:bodyPr>
              <a:lstStyle/>
              <a:p>
                <a:pPr algn="l"/>
                <a:r>
                  <a:rPr lang="id-ID" sz="1650" b="1" dirty="0">
                    <a:solidFill>
                      <a:schemeClr val="dk1"/>
                    </a:solidFill>
                    <a:latin typeface="+mn-lt"/>
                    <a:ea typeface="+mn-ea"/>
                    <a:cs typeface="+mn-cs"/>
                  </a:rPr>
                  <a:t>Multi Klinik</a:t>
                </a:r>
              </a:p>
            </p:txBody>
          </p:sp>
          <p:sp>
            <p:nvSpPr>
              <p:cNvPr id="21" name="TextBox 21"/>
              <p:cNvSpPr txBox="1"/>
              <p:nvPr/>
            </p:nvSpPr>
            <p:spPr>
              <a:xfrm>
                <a:off x="715518" y="4457700"/>
                <a:ext cx="1833940" cy="322707"/>
              </a:xfrm>
              <a:prstGeom prst="rect">
                <a:avLst/>
              </a:prstGeom>
              <a:noFill/>
              <a:ln>
                <a:noFill/>
              </a:ln>
            </p:spPr>
            <p:txBody>
              <a:bodyPr wrap="none" lIns="0" tIns="0" rIns="0" bIns="0" anchor="t" anchorCtr="0">
                <a:spAutoFit/>
              </a:bodyPr>
              <a:lstStyle/>
              <a:p>
                <a:pPr algn="l"/>
                <a:r>
                  <a:rPr lang="id-ID" sz="1650" b="1" dirty="0">
                    <a:solidFill>
                      <a:schemeClr val="dk1"/>
                    </a:solidFill>
                    <a:latin typeface="+mn-lt"/>
                    <a:ea typeface="+mn-ea"/>
                    <a:cs typeface="+mn-cs"/>
                  </a:rPr>
                  <a:t>+ Dashboard owner</a:t>
                </a:r>
              </a:p>
            </p:txBody>
          </p:sp>
        </p:grpSp>
        <p:grpSp>
          <p:nvGrpSpPr>
            <p:cNvPr id="27" name="Group 27"/>
            <p:cNvGrpSpPr/>
            <p:nvPr/>
          </p:nvGrpSpPr>
          <p:grpSpPr>
            <a:xfrm>
              <a:off x="2907411" y="2416175"/>
              <a:ext cx="2337073" cy="2336102"/>
              <a:chOff x="2907411" y="2416175"/>
              <a:chExt cx="2337073" cy="2336102"/>
            </a:xfrm>
          </p:grpSpPr>
          <p:sp>
            <p:nvSpPr>
              <p:cNvPr id="23" name="TextBox 23"/>
              <p:cNvSpPr txBox="1"/>
              <p:nvPr/>
            </p:nvSpPr>
            <p:spPr>
              <a:xfrm>
                <a:off x="2907411" y="2416175"/>
                <a:ext cx="1946292" cy="278702"/>
              </a:xfrm>
              <a:prstGeom prst="rect">
                <a:avLst/>
              </a:prstGeom>
              <a:noFill/>
              <a:ln>
                <a:noFill/>
              </a:ln>
            </p:spPr>
            <p:txBody>
              <a:bodyPr wrap="none" lIns="0" tIns="0" rIns="0" bIns="0" anchor="t" anchorCtr="0">
                <a:spAutoFit/>
              </a:bodyPr>
              <a:lstStyle/>
              <a:p>
                <a:pPr algn="l"/>
                <a:r>
                  <a:rPr lang="id-ID" sz="1420" dirty="0">
                    <a:solidFill>
                      <a:srgbClr val="55534A"/>
                    </a:solidFill>
                    <a:latin typeface="+mn-lt"/>
                    <a:ea typeface="+mn-ea"/>
                    <a:cs typeface="+mn-cs"/>
                  </a:rPr>
                  <a:t>Praktik mandiri, 1 dokter</a:t>
                </a:r>
              </a:p>
            </p:txBody>
          </p:sp>
          <p:sp>
            <p:nvSpPr>
              <p:cNvPr id="24" name="TextBox 24"/>
              <p:cNvSpPr txBox="1"/>
              <p:nvPr/>
            </p:nvSpPr>
            <p:spPr>
              <a:xfrm>
                <a:off x="2907411" y="3101975"/>
                <a:ext cx="2216915" cy="278702"/>
              </a:xfrm>
              <a:prstGeom prst="rect">
                <a:avLst/>
              </a:prstGeom>
              <a:noFill/>
              <a:ln>
                <a:noFill/>
              </a:ln>
            </p:spPr>
            <p:txBody>
              <a:bodyPr wrap="none" lIns="0" tIns="0" rIns="0" bIns="0" anchor="t" anchorCtr="0">
                <a:spAutoFit/>
              </a:bodyPr>
              <a:lstStyle/>
              <a:p>
                <a:pPr algn="l"/>
                <a:r>
                  <a:rPr lang="id-ID" sz="1420" dirty="0">
                    <a:solidFill>
                      <a:srgbClr val="55534A"/>
                    </a:solidFill>
                    <a:latin typeface="+mn-lt"/>
                    <a:ea typeface="+mn-ea"/>
                    <a:cs typeface="+mn-cs"/>
                  </a:rPr>
                  <a:t>Klinik dengan banyak dokter</a:t>
                </a:r>
              </a:p>
            </p:txBody>
          </p:sp>
          <p:sp>
            <p:nvSpPr>
              <p:cNvPr id="25" name="TextBox 25"/>
              <p:cNvSpPr txBox="1"/>
              <p:nvPr/>
            </p:nvSpPr>
            <p:spPr>
              <a:xfrm>
                <a:off x="2907411" y="3787775"/>
                <a:ext cx="2337073" cy="278702"/>
              </a:xfrm>
              <a:prstGeom prst="rect">
                <a:avLst/>
              </a:prstGeom>
              <a:noFill/>
              <a:ln>
                <a:noFill/>
              </a:ln>
            </p:spPr>
            <p:txBody>
              <a:bodyPr wrap="none" lIns="0" tIns="0" rIns="0" bIns="0" anchor="t" anchorCtr="0">
                <a:spAutoFit/>
              </a:bodyPr>
              <a:lstStyle/>
              <a:p>
                <a:pPr algn="l"/>
                <a:r>
                  <a:rPr lang="id-ID" sz="1420" dirty="0">
                    <a:solidFill>
                      <a:srgbClr val="55534A"/>
                    </a:solidFill>
                    <a:latin typeface="+mn-lt"/>
                    <a:ea typeface="+mn-ea"/>
                    <a:cs typeface="+mn-cs"/>
                  </a:rPr>
                  <a:t>Per cabang, minimal 2 cabang</a:t>
                </a:r>
              </a:p>
            </p:txBody>
          </p:sp>
          <p:sp>
            <p:nvSpPr>
              <p:cNvPr id="26" name="TextBox 26"/>
              <p:cNvSpPr txBox="1"/>
              <p:nvPr/>
            </p:nvSpPr>
            <p:spPr>
              <a:xfrm>
                <a:off x="2907411" y="4473575"/>
                <a:ext cx="1623629" cy="278702"/>
              </a:xfrm>
              <a:prstGeom prst="rect">
                <a:avLst/>
              </a:prstGeom>
              <a:noFill/>
              <a:ln>
                <a:noFill/>
              </a:ln>
            </p:spPr>
            <p:txBody>
              <a:bodyPr wrap="none" lIns="0" tIns="0" rIns="0" bIns="0" anchor="t" anchorCtr="0">
                <a:spAutoFit/>
              </a:bodyPr>
              <a:lstStyle/>
              <a:p>
                <a:pPr algn="l"/>
                <a:r>
                  <a:rPr lang="id-ID" sz="1420" dirty="0">
                    <a:solidFill>
                      <a:srgbClr val="55534A"/>
                    </a:solidFill>
                    <a:latin typeface="+mn-lt"/>
                    <a:ea typeface="+mn-ea"/>
                    <a:cs typeface="+mn-cs"/>
                  </a:rPr>
                  <a:t>Sekali per grup klinik</a:t>
                </a:r>
              </a:p>
            </p:txBody>
          </p:sp>
        </p:grpSp>
        <p:grpSp>
          <p:nvGrpSpPr>
            <p:cNvPr id="40" name="Group 40"/>
            <p:cNvGrpSpPr/>
            <p:nvPr/>
          </p:nvGrpSpPr>
          <p:grpSpPr>
            <a:xfrm>
              <a:off x="6987439" y="2400300"/>
              <a:ext cx="4268287" cy="2380107"/>
              <a:chOff x="6987439" y="2400300"/>
              <a:chExt cx="4268287" cy="2380107"/>
            </a:xfrm>
          </p:grpSpPr>
          <p:sp>
            <p:nvSpPr>
              <p:cNvPr id="28" name="TextBox 28"/>
              <p:cNvSpPr txBox="1"/>
              <p:nvPr/>
            </p:nvSpPr>
            <p:spPr>
              <a:xfrm>
                <a:off x="6987439" y="2400300"/>
                <a:ext cx="807922"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Rp149rb</a:t>
                </a:r>
              </a:p>
            </p:txBody>
          </p:sp>
          <p:sp>
            <p:nvSpPr>
              <p:cNvPr id="29" name="TextBox 29"/>
              <p:cNvSpPr txBox="1"/>
              <p:nvPr/>
            </p:nvSpPr>
            <p:spPr>
              <a:xfrm>
                <a:off x="8701939" y="2400300"/>
                <a:ext cx="807922"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Rp399rb</a:t>
                </a:r>
              </a:p>
            </p:txBody>
          </p:sp>
          <p:sp>
            <p:nvSpPr>
              <p:cNvPr id="30" name="TextBox 30"/>
              <p:cNvSpPr txBox="1"/>
              <p:nvPr/>
            </p:nvSpPr>
            <p:spPr>
              <a:xfrm>
                <a:off x="10404125" y="2400300"/>
                <a:ext cx="851601"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Rp1,49 jt</a:t>
                </a:r>
              </a:p>
            </p:txBody>
          </p:sp>
          <p:sp>
            <p:nvSpPr>
              <p:cNvPr id="31" name="TextBox 31"/>
              <p:cNvSpPr txBox="1"/>
              <p:nvPr/>
            </p:nvSpPr>
            <p:spPr>
              <a:xfrm>
                <a:off x="6987439" y="3086100"/>
                <a:ext cx="807922"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Rp299rb</a:t>
                </a:r>
              </a:p>
            </p:txBody>
          </p:sp>
          <p:sp>
            <p:nvSpPr>
              <p:cNvPr id="32" name="TextBox 32"/>
              <p:cNvSpPr txBox="1"/>
              <p:nvPr/>
            </p:nvSpPr>
            <p:spPr>
              <a:xfrm>
                <a:off x="8701939" y="3086100"/>
                <a:ext cx="807922"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Rp799rb</a:t>
                </a:r>
              </a:p>
            </p:txBody>
          </p:sp>
          <p:sp>
            <p:nvSpPr>
              <p:cNvPr id="33" name="TextBox 33"/>
              <p:cNvSpPr txBox="1"/>
              <p:nvPr/>
            </p:nvSpPr>
            <p:spPr>
              <a:xfrm>
                <a:off x="10404125" y="3086100"/>
                <a:ext cx="851601"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Rp2,99 jt</a:t>
                </a:r>
              </a:p>
            </p:txBody>
          </p:sp>
          <p:sp>
            <p:nvSpPr>
              <p:cNvPr id="34" name="TextBox 34"/>
              <p:cNvSpPr txBox="1"/>
              <p:nvPr/>
            </p:nvSpPr>
            <p:spPr>
              <a:xfrm>
                <a:off x="6987439" y="3771900"/>
                <a:ext cx="807922"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Rp249rb</a:t>
                </a:r>
              </a:p>
            </p:txBody>
          </p:sp>
          <p:sp>
            <p:nvSpPr>
              <p:cNvPr id="35" name="TextBox 35"/>
              <p:cNvSpPr txBox="1"/>
              <p:nvPr/>
            </p:nvSpPr>
            <p:spPr>
              <a:xfrm>
                <a:off x="8701939" y="3771900"/>
                <a:ext cx="807922"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Rp669rb</a:t>
                </a:r>
              </a:p>
            </p:txBody>
          </p:sp>
          <p:sp>
            <p:nvSpPr>
              <p:cNvPr id="36" name="TextBox 36"/>
              <p:cNvSpPr txBox="1"/>
              <p:nvPr/>
            </p:nvSpPr>
            <p:spPr>
              <a:xfrm>
                <a:off x="10404125" y="3771900"/>
                <a:ext cx="851601"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Rp2,49 jt</a:t>
                </a:r>
              </a:p>
            </p:txBody>
          </p:sp>
          <p:sp>
            <p:nvSpPr>
              <p:cNvPr id="37" name="TextBox 37"/>
              <p:cNvSpPr txBox="1"/>
              <p:nvPr/>
            </p:nvSpPr>
            <p:spPr>
              <a:xfrm>
                <a:off x="6987439" y="4457700"/>
                <a:ext cx="807922"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Rp149rb</a:t>
                </a:r>
              </a:p>
            </p:txBody>
          </p:sp>
          <p:sp>
            <p:nvSpPr>
              <p:cNvPr id="38" name="TextBox 38"/>
              <p:cNvSpPr txBox="1"/>
              <p:nvPr/>
            </p:nvSpPr>
            <p:spPr>
              <a:xfrm>
                <a:off x="8701939" y="4457700"/>
                <a:ext cx="807922"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Rp399rb</a:t>
                </a:r>
              </a:p>
            </p:txBody>
          </p:sp>
          <p:sp>
            <p:nvSpPr>
              <p:cNvPr id="39" name="TextBox 39"/>
              <p:cNvSpPr txBox="1"/>
              <p:nvPr/>
            </p:nvSpPr>
            <p:spPr>
              <a:xfrm>
                <a:off x="10404125" y="4457700"/>
                <a:ext cx="851601"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Rp1,49 jt</a:t>
                </a:r>
              </a:p>
            </p:txBody>
          </p:sp>
        </p:grpSp>
      </p:grpSp>
      <p:grpSp>
        <p:nvGrpSpPr>
          <p:cNvPr id="60" name="price-notes"/>
          <p:cNvGrpSpPr/>
          <p:nvPr/>
        </p:nvGrpSpPr>
        <p:grpSpPr>
          <a:xfrm>
            <a:off x="609600" y="5257800"/>
            <a:ext cx="10972800" cy="533400"/>
            <a:chOff x="609600" y="5257800"/>
            <a:chExt cx="10972800" cy="533400"/>
          </a:xfrm>
        </p:grpSpPr>
        <p:sp>
          <p:nvSpPr>
            <p:cNvPr id="42" name="Rectangle 42"/>
            <p:cNvSpPr/>
            <p:nvPr/>
          </p:nvSpPr>
          <p:spPr>
            <a:xfrm>
              <a:off x="609600" y="5257800"/>
              <a:ext cx="3505200" cy="533400"/>
            </a:xfrm>
            <a:prstGeom prst="roundRect">
              <a:avLst>
                <a:gd name="adj" fmla="val 50000"/>
              </a:avLst>
            </a:prstGeom>
            <a:solidFill>
              <a:srgbClr val="FFFFFF"/>
            </a:solidFill>
            <a:ln w="9525">
              <a:solidFill>
                <a:schemeClr val="accent6"/>
              </a:solidFill>
            </a:ln>
          </p:spPr>
        </p:sp>
        <p:grpSp>
          <p:nvGrpSpPr>
            <p:cNvPr id="45" name="Group 45"/>
            <p:cNvGrpSpPr/>
            <p:nvPr/>
          </p:nvGrpSpPr>
          <p:grpSpPr>
            <a:xfrm>
              <a:off x="871538" y="5424488"/>
              <a:ext cx="202659" cy="202659"/>
              <a:chOff x="871538" y="5424488"/>
              <a:chExt cx="202659" cy="202659"/>
            </a:xfrm>
          </p:grpSpPr>
          <p:sp>
            <p:nvSpPr>
              <p:cNvPr id="43" name="Freeform 43"/>
              <p:cNvSpPr/>
              <p:nvPr/>
            </p:nvSpPr>
            <p:spPr>
              <a:xfrm>
                <a:off x="910431" y="5463381"/>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chemeClr val="accent2"/>
                </a:solidFill>
              </a:ln>
            </p:spPr>
          </p:sp>
          <p:sp>
            <p:nvSpPr>
              <p:cNvPr id="44" name="Freeform 44"/>
              <p:cNvSpPr/>
              <p:nvPr/>
            </p:nvSpPr>
            <p:spPr>
              <a:xfrm>
                <a:off x="871538" y="5424488"/>
                <a:ext cx="202659" cy="202659"/>
              </a:xfrm>
              <a:custGeom>
                <a:avLst/>
                <a:gdLst/>
                <a:ahLst/>
                <a:cxnLst/>
                <a:rect l="l" t="t" r="r" b="b"/>
                <a:pathLst>
                  <a:path w="202659" h="202659">
                    <a:moveTo>
                      <a:pt x="0" y="33338"/>
                    </a:moveTo>
                    <a:lnTo>
                      <a:pt x="0" y="90812"/>
                    </a:lnTo>
                    <a:cubicBezTo>
                      <a:pt x="1" y="96706"/>
                      <a:pt x="2344" y="102358"/>
                      <a:pt x="6512" y="106525"/>
                    </a:cubicBezTo>
                    <a:lnTo>
                      <a:pt x="92190" y="192202"/>
                    </a:lnTo>
                    <a:cubicBezTo>
                      <a:pt x="102648" y="202659"/>
                      <a:pt x="119603" y="202659"/>
                      <a:pt x="130061" y="192202"/>
                    </a:cubicBezTo>
                    <a:lnTo>
                      <a:pt x="192202" y="130061"/>
                    </a:lnTo>
                    <a:cubicBezTo>
                      <a:pt x="202659" y="119603"/>
                      <a:pt x="202659" y="102648"/>
                      <a:pt x="192202" y="92190"/>
                    </a:cubicBezTo>
                    <a:lnTo>
                      <a:pt x="106525" y="6512"/>
                    </a:lnTo>
                    <a:cubicBezTo>
                      <a:pt x="102358" y="2344"/>
                      <a:pt x="96706" y="1"/>
                      <a:pt x="90812" y="0"/>
                    </a:cubicBezTo>
                    <a:lnTo>
                      <a:pt x="33338" y="0"/>
                    </a:lnTo>
                    <a:cubicBezTo>
                      <a:pt x="24496" y="0"/>
                      <a:pt x="16016" y="3512"/>
                      <a:pt x="9764" y="9764"/>
                    </a:cubicBezTo>
                    <a:cubicBezTo>
                      <a:pt x="3512" y="16016"/>
                      <a:pt x="0" y="24496"/>
                      <a:pt x="0" y="33338"/>
                    </a:cubicBezTo>
                  </a:path>
                </a:pathLst>
              </a:custGeom>
              <a:noFill/>
              <a:ln w="22225">
                <a:solidFill>
                  <a:schemeClr val="accent2"/>
                </a:solidFill>
              </a:ln>
            </p:spPr>
          </p:sp>
        </p:grpSp>
        <p:sp>
          <p:nvSpPr>
            <p:cNvPr id="46" name="TextBox 46"/>
            <p:cNvSpPr txBox="1"/>
            <p:nvPr/>
          </p:nvSpPr>
          <p:spPr>
            <a:xfrm>
              <a:off x="1211580" y="5413375"/>
              <a:ext cx="1743377"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3 bulan hemat ± 10%</a:t>
              </a:r>
            </a:p>
          </p:txBody>
        </p:sp>
        <p:sp>
          <p:nvSpPr>
            <p:cNvPr id="47" name="Rectangle 47"/>
            <p:cNvSpPr/>
            <p:nvPr/>
          </p:nvSpPr>
          <p:spPr>
            <a:xfrm>
              <a:off x="4343400" y="5257800"/>
              <a:ext cx="3505200" cy="533400"/>
            </a:xfrm>
            <a:prstGeom prst="roundRect">
              <a:avLst>
                <a:gd name="adj" fmla="val 50000"/>
              </a:avLst>
            </a:prstGeom>
            <a:solidFill>
              <a:srgbClr val="FFFFFF"/>
            </a:solidFill>
            <a:ln w="9525">
              <a:solidFill>
                <a:schemeClr val="accent6"/>
              </a:solidFill>
            </a:ln>
          </p:spPr>
        </p:sp>
        <p:grpSp>
          <p:nvGrpSpPr>
            <p:cNvPr id="52" name="Group 52"/>
            <p:cNvGrpSpPr/>
            <p:nvPr/>
          </p:nvGrpSpPr>
          <p:grpSpPr>
            <a:xfrm>
              <a:off x="4605338" y="5424105"/>
              <a:ext cx="200026" cy="200408"/>
              <a:chOff x="4605338" y="5424105"/>
              <a:chExt cx="200026" cy="200408"/>
            </a:xfrm>
          </p:grpSpPr>
          <p:sp>
            <p:nvSpPr>
              <p:cNvPr id="48" name="Freeform 48"/>
              <p:cNvSpPr/>
              <p:nvPr/>
            </p:nvSpPr>
            <p:spPr>
              <a:xfrm>
                <a:off x="4605338" y="5480050"/>
                <a:ext cx="200026" cy="44450"/>
              </a:xfrm>
              <a:custGeom>
                <a:avLst/>
                <a:gdLst/>
                <a:ahLst/>
                <a:cxnLst/>
                <a:rect l="l" t="t" r="r" b="b"/>
                <a:pathLst>
                  <a:path w="200026" h="44450">
                    <a:moveTo>
                      <a:pt x="0" y="11113"/>
                    </a:moveTo>
                    <a:cubicBezTo>
                      <a:pt x="0" y="4975"/>
                      <a:pt x="4975" y="0"/>
                      <a:pt x="11113" y="0"/>
                    </a:cubicBezTo>
                    <a:lnTo>
                      <a:pt x="188913" y="0"/>
                    </a:lnTo>
                    <a:cubicBezTo>
                      <a:pt x="195050" y="0"/>
                      <a:pt x="200026" y="4975"/>
                      <a:pt x="200026" y="11113"/>
                    </a:cubicBezTo>
                    <a:lnTo>
                      <a:pt x="200026" y="33338"/>
                    </a:lnTo>
                    <a:cubicBezTo>
                      <a:pt x="200026" y="39475"/>
                      <a:pt x="195050" y="44450"/>
                      <a:pt x="188913" y="44450"/>
                    </a:cubicBezTo>
                    <a:lnTo>
                      <a:pt x="11113" y="44450"/>
                    </a:lnTo>
                    <a:cubicBezTo>
                      <a:pt x="4975" y="44450"/>
                      <a:pt x="0" y="39475"/>
                      <a:pt x="0" y="33338"/>
                    </a:cubicBezTo>
                    <a:lnTo>
                      <a:pt x="0" y="11113"/>
                    </a:lnTo>
                  </a:path>
                </a:pathLst>
              </a:custGeom>
              <a:noFill/>
              <a:ln w="22225">
                <a:solidFill>
                  <a:schemeClr val="accent2"/>
                </a:solidFill>
              </a:ln>
            </p:spPr>
          </p:sp>
          <p:sp>
            <p:nvSpPr>
              <p:cNvPr id="49" name="Freeform 49"/>
              <p:cNvSpPr/>
              <p:nvPr/>
            </p:nvSpPr>
            <p:spPr>
              <a:xfrm>
                <a:off x="4705350" y="5480050"/>
                <a:ext cx="9525" cy="144463"/>
              </a:xfrm>
              <a:custGeom>
                <a:avLst/>
                <a:gdLst/>
                <a:ahLst/>
                <a:cxnLst/>
                <a:rect l="l" t="t" r="r" b="b"/>
                <a:pathLst>
                  <a:path w="9525" h="144463">
                    <a:moveTo>
                      <a:pt x="0" y="0"/>
                    </a:moveTo>
                    <a:lnTo>
                      <a:pt x="0" y="144463"/>
                    </a:lnTo>
                  </a:path>
                </a:pathLst>
              </a:custGeom>
              <a:noFill/>
              <a:ln w="22225">
                <a:solidFill>
                  <a:schemeClr val="accent2"/>
                </a:solidFill>
              </a:ln>
            </p:spPr>
          </p:sp>
          <p:sp>
            <p:nvSpPr>
              <p:cNvPr id="50" name="Freeform 50"/>
              <p:cNvSpPr/>
              <p:nvPr/>
            </p:nvSpPr>
            <p:spPr>
              <a:xfrm>
                <a:off x="4627563" y="5524500"/>
                <a:ext cx="155575" cy="100013"/>
              </a:xfrm>
              <a:custGeom>
                <a:avLst/>
                <a:gdLst/>
                <a:ahLst/>
                <a:cxnLst/>
                <a:rect l="l" t="t" r="r" b="b"/>
                <a:pathLst>
                  <a:path w="155575" h="100013">
                    <a:moveTo>
                      <a:pt x="155575" y="0"/>
                    </a:moveTo>
                    <a:lnTo>
                      <a:pt x="155575" y="77788"/>
                    </a:lnTo>
                    <a:cubicBezTo>
                      <a:pt x="155575" y="90062"/>
                      <a:pt x="145625" y="100013"/>
                      <a:pt x="133350" y="100013"/>
                    </a:cubicBezTo>
                    <a:lnTo>
                      <a:pt x="22225" y="100013"/>
                    </a:lnTo>
                    <a:cubicBezTo>
                      <a:pt x="9950" y="100013"/>
                      <a:pt x="0" y="90062"/>
                      <a:pt x="0" y="77788"/>
                    </a:cubicBezTo>
                    <a:lnTo>
                      <a:pt x="0" y="0"/>
                    </a:lnTo>
                  </a:path>
                </a:pathLst>
              </a:custGeom>
              <a:noFill/>
              <a:ln w="22225">
                <a:solidFill>
                  <a:schemeClr val="accent2"/>
                </a:solidFill>
              </a:ln>
            </p:spPr>
          </p:sp>
          <p:sp>
            <p:nvSpPr>
              <p:cNvPr id="51" name="Freeform 51"/>
              <p:cNvSpPr/>
              <p:nvPr/>
            </p:nvSpPr>
            <p:spPr>
              <a:xfrm>
                <a:off x="4627563" y="5424105"/>
                <a:ext cx="155575" cy="55945"/>
              </a:xfrm>
              <a:custGeom>
                <a:avLst/>
                <a:gdLst/>
                <a:ahLst/>
                <a:cxnLst/>
                <a:rect l="l" t="t" r="r" b="b"/>
                <a:pathLst>
                  <a:path w="155575" h="55945">
                    <a:moveTo>
                      <a:pt x="27781" y="55945"/>
                    </a:moveTo>
                    <a:cubicBezTo>
                      <a:pt x="12438" y="55945"/>
                      <a:pt x="0" y="43507"/>
                      <a:pt x="0" y="28164"/>
                    </a:cubicBezTo>
                    <a:cubicBezTo>
                      <a:pt x="0" y="12820"/>
                      <a:pt x="12438" y="382"/>
                      <a:pt x="27781" y="382"/>
                    </a:cubicBezTo>
                    <a:cubicBezTo>
                      <a:pt x="49720" y="0"/>
                      <a:pt x="69561" y="22046"/>
                      <a:pt x="77788" y="55945"/>
                    </a:cubicBezTo>
                    <a:cubicBezTo>
                      <a:pt x="86014" y="22046"/>
                      <a:pt x="105855" y="0"/>
                      <a:pt x="127794" y="382"/>
                    </a:cubicBezTo>
                    <a:cubicBezTo>
                      <a:pt x="143137" y="382"/>
                      <a:pt x="155575" y="12820"/>
                      <a:pt x="155575" y="28164"/>
                    </a:cubicBezTo>
                    <a:cubicBezTo>
                      <a:pt x="155575" y="43507"/>
                      <a:pt x="143137" y="55945"/>
                      <a:pt x="127794" y="55945"/>
                    </a:cubicBezTo>
                  </a:path>
                </a:pathLst>
              </a:custGeom>
              <a:noFill/>
              <a:ln w="22225">
                <a:solidFill>
                  <a:schemeClr val="accent2"/>
                </a:solidFill>
              </a:ln>
            </p:spPr>
          </p:sp>
        </p:grpSp>
        <p:sp>
          <p:nvSpPr>
            <p:cNvPr id="53" name="TextBox 53"/>
            <p:cNvSpPr txBox="1"/>
            <p:nvPr/>
          </p:nvSpPr>
          <p:spPr>
            <a:xfrm>
              <a:off x="4945380" y="5413375"/>
              <a:ext cx="2521010"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12 bln = bayar 10 + bonus fitur</a:t>
              </a:r>
            </a:p>
          </p:txBody>
        </p:sp>
        <p:sp>
          <p:nvSpPr>
            <p:cNvPr id="54" name="Rectangle 54"/>
            <p:cNvSpPr/>
            <p:nvPr/>
          </p:nvSpPr>
          <p:spPr>
            <a:xfrm>
              <a:off x="8077200" y="5257800"/>
              <a:ext cx="3505200" cy="533400"/>
            </a:xfrm>
            <a:prstGeom prst="roundRect">
              <a:avLst>
                <a:gd name="adj" fmla="val 50000"/>
              </a:avLst>
            </a:prstGeom>
            <a:solidFill>
              <a:srgbClr val="FFFFFF"/>
            </a:solidFill>
            <a:ln w="9525">
              <a:solidFill>
                <a:schemeClr val="accent6"/>
              </a:solidFill>
            </a:ln>
          </p:spPr>
        </p:sp>
        <p:grpSp>
          <p:nvGrpSpPr>
            <p:cNvPr id="58" name="Group 58"/>
            <p:cNvGrpSpPr/>
            <p:nvPr/>
          </p:nvGrpSpPr>
          <p:grpSpPr>
            <a:xfrm>
              <a:off x="8334510" y="5424488"/>
              <a:ext cx="209281" cy="200026"/>
              <a:chOff x="8334510" y="5424488"/>
              <a:chExt cx="209281" cy="200026"/>
            </a:xfrm>
          </p:grpSpPr>
          <p:sp>
            <p:nvSpPr>
              <p:cNvPr id="55" name="Freeform 55"/>
              <p:cNvSpPr/>
              <p:nvPr/>
            </p:nvSpPr>
            <p:spPr>
              <a:xfrm>
                <a:off x="8334510" y="5424488"/>
                <a:ext cx="209281" cy="200026"/>
              </a:xfrm>
              <a:custGeom>
                <a:avLst/>
                <a:gdLst/>
                <a:ahLst/>
                <a:cxnLst/>
                <a:rect l="l" t="t" r="r" b="b"/>
                <a:pathLst>
                  <a:path w="209281" h="200026">
                    <a:moveTo>
                      <a:pt x="104641" y="0"/>
                    </a:moveTo>
                    <a:cubicBezTo>
                      <a:pt x="130598" y="22965"/>
                      <a:pt x="164476" y="34922"/>
                      <a:pt x="199097" y="33338"/>
                    </a:cubicBezTo>
                    <a:cubicBezTo>
                      <a:pt x="209281" y="67981"/>
                      <a:pt x="204980" y="105274"/>
                      <a:pt x="187178" y="136690"/>
                    </a:cubicBezTo>
                    <a:cubicBezTo>
                      <a:pt x="169375" y="168106"/>
                      <a:pt x="139593" y="190959"/>
                      <a:pt x="104641" y="200026"/>
                    </a:cubicBezTo>
                    <a:cubicBezTo>
                      <a:pt x="69688" y="190959"/>
                      <a:pt x="39906" y="168106"/>
                      <a:pt x="22103" y="136690"/>
                    </a:cubicBezTo>
                    <a:cubicBezTo>
                      <a:pt x="4301" y="105274"/>
                      <a:pt x="0" y="67981"/>
                      <a:pt x="10184" y="33338"/>
                    </a:cubicBezTo>
                    <a:cubicBezTo>
                      <a:pt x="44805" y="34922"/>
                      <a:pt x="78684" y="22965"/>
                      <a:pt x="104641" y="0"/>
                    </a:cubicBezTo>
                  </a:path>
                </a:pathLst>
              </a:custGeom>
              <a:noFill/>
              <a:ln w="22225">
                <a:solidFill>
                  <a:schemeClr val="accent2"/>
                </a:solidFill>
              </a:ln>
            </p:spPr>
          </p:sp>
          <p:sp>
            <p:nvSpPr>
              <p:cNvPr id="56" name="Freeform 56"/>
              <p:cNvSpPr/>
              <p:nvPr/>
            </p:nvSpPr>
            <p:spPr>
              <a:xfrm>
                <a:off x="8428038" y="5502275"/>
                <a:ext cx="22225" cy="22225"/>
              </a:xfrm>
              <a:custGeom>
                <a:avLst/>
                <a:gdLst/>
                <a:ahLst/>
                <a:cxnLst/>
                <a:rect l="l" t="t" r="r" b="b"/>
                <a:pathLst>
                  <a:path w="22225" h="22225">
                    <a:moveTo>
                      <a:pt x="0" y="11113"/>
                    </a:moveTo>
                    <a:cubicBezTo>
                      <a:pt x="0" y="17250"/>
                      <a:pt x="4975" y="22225"/>
                      <a:pt x="11113" y="22225"/>
                    </a:cubicBezTo>
                    <a:cubicBezTo>
                      <a:pt x="17250" y="22225"/>
                      <a:pt x="22225" y="17250"/>
                      <a:pt x="22225" y="11113"/>
                    </a:cubicBezTo>
                    <a:cubicBezTo>
                      <a:pt x="22225" y="4975"/>
                      <a:pt x="17250" y="0"/>
                      <a:pt x="11113" y="0"/>
                    </a:cubicBezTo>
                    <a:cubicBezTo>
                      <a:pt x="4975" y="0"/>
                      <a:pt x="0" y="4975"/>
                      <a:pt x="0" y="11113"/>
                    </a:cubicBezTo>
                  </a:path>
                </a:pathLst>
              </a:custGeom>
              <a:noFill/>
              <a:ln w="22225">
                <a:solidFill>
                  <a:schemeClr val="accent2"/>
                </a:solidFill>
              </a:ln>
            </p:spPr>
          </p:sp>
          <p:sp>
            <p:nvSpPr>
              <p:cNvPr id="57" name="Freeform 57"/>
              <p:cNvSpPr/>
              <p:nvPr/>
            </p:nvSpPr>
            <p:spPr>
              <a:xfrm>
                <a:off x="8439150" y="5524500"/>
                <a:ext cx="9525" cy="27781"/>
              </a:xfrm>
              <a:custGeom>
                <a:avLst/>
                <a:gdLst/>
                <a:ahLst/>
                <a:cxnLst/>
                <a:rect l="l" t="t" r="r" b="b"/>
                <a:pathLst>
                  <a:path w="9525" h="27781">
                    <a:moveTo>
                      <a:pt x="0" y="0"/>
                    </a:moveTo>
                    <a:lnTo>
                      <a:pt x="0" y="27781"/>
                    </a:lnTo>
                  </a:path>
                </a:pathLst>
              </a:custGeom>
              <a:noFill/>
              <a:ln w="22225">
                <a:solidFill>
                  <a:schemeClr val="accent2"/>
                </a:solidFill>
              </a:ln>
            </p:spPr>
          </p:sp>
        </p:grpSp>
        <p:sp>
          <p:nvSpPr>
            <p:cNvPr id="59" name="TextBox 59"/>
            <p:cNvSpPr txBox="1"/>
            <p:nvPr/>
          </p:nvSpPr>
          <p:spPr>
            <a:xfrm>
              <a:off x="8679180" y="5413375"/>
              <a:ext cx="1802071"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Uji coba gratis 15 hari</a:t>
              </a:r>
            </a:p>
          </p:txBody>
        </p:sp>
      </p:grpSp>
      <p:grpSp>
        <p:nvGrpSpPr>
          <p:cNvPr id="62" name="price-caption"/>
          <p:cNvGrpSpPr/>
          <p:nvPr/>
        </p:nvGrpSpPr>
        <p:grpSpPr>
          <a:xfrm>
            <a:off x="603123" y="5981700"/>
            <a:ext cx="5511494" cy="250317"/>
            <a:chOff x="603123" y="5981700"/>
            <a:chExt cx="5511494" cy="250317"/>
          </a:xfrm>
        </p:grpSpPr>
        <p:sp>
          <p:nvSpPr>
            <p:cNvPr id="61" name="TextBox 61"/>
            <p:cNvSpPr txBox="1"/>
            <p:nvPr/>
          </p:nvSpPr>
          <p:spPr>
            <a:xfrm>
              <a:off x="603123" y="5981700"/>
              <a:ext cx="5511494" cy="250317"/>
            </a:xfrm>
            <a:prstGeom prst="rect">
              <a:avLst/>
            </a:prstGeom>
            <a:noFill/>
            <a:ln>
              <a:noFill/>
            </a:ln>
          </p:spPr>
          <p:txBody>
            <a:bodyPr wrap="none" lIns="0" tIns="0" rIns="0" bIns="0" anchor="t" anchorCtr="0">
              <a:spAutoFit/>
            </a:bodyPr>
            <a:lstStyle/>
            <a:p>
              <a:pPr algn="l"/>
              <a:r>
                <a:rPr lang="id-ID" sz="1280" dirty="0">
                  <a:solidFill>
                    <a:schemeClr val="accent5"/>
                  </a:solidFill>
                  <a:latin typeface="+mn-lt"/>
                  <a:ea typeface="+mn-ea"/>
                  <a:cs typeface="+mn-cs"/>
                </a:rPr>
                <a:t>Hingga 31 Desember 2026 berlaku harga promo peluncuran (slide berikutnya).</a:t>
              </a:r>
            </a:p>
          </p:txBody>
        </p:sp>
      </p:grpSp>
      <p:grpSp>
        <p:nvGrpSpPr>
          <p:cNvPr id="65" name="footer"/>
          <p:cNvGrpSpPr/>
          <p:nvPr/>
        </p:nvGrpSpPr>
        <p:grpSpPr>
          <a:xfrm>
            <a:off x="604647" y="6477000"/>
            <a:ext cx="10982706" cy="191643"/>
            <a:chOff x="604647" y="6477000"/>
            <a:chExt cx="10982706" cy="191643"/>
          </a:xfrm>
        </p:grpSpPr>
        <p:sp>
          <p:nvSpPr>
            <p:cNvPr id="63" name="TextBox 63"/>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64" name="TextBox 64"/>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08</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8420068" cy="786003"/>
            <a:chOff x="595122" y="635000"/>
            <a:chExt cx="8420068" cy="786003"/>
          </a:xfrm>
        </p:grpSpPr>
        <p:sp>
          <p:nvSpPr>
            <p:cNvPr id="2" name="TextBox 2"/>
            <p:cNvSpPr txBox="1"/>
            <p:nvPr/>
          </p:nvSpPr>
          <p:spPr>
            <a:xfrm>
              <a:off x="603885" y="635000"/>
              <a:ext cx="1814969" cy="220028"/>
            </a:xfrm>
            <a:prstGeom prst="rect">
              <a:avLst/>
            </a:prstGeom>
            <a:noFill/>
            <a:ln>
              <a:noFill/>
            </a:ln>
          </p:spPr>
          <p:txBody>
            <a:bodyPr wrap="none" lIns="0" tIns="0" rIns="0" bIns="0" anchor="t" anchorCtr="0">
              <a:spAutoFit/>
            </a:bodyPr>
            <a:lstStyle/>
            <a:p>
              <a:pPr algn="l"/>
              <a:r>
                <a:rPr lang="id-ID" sz="1120" b="1" spc="150" dirty="0">
                  <a:solidFill>
                    <a:schemeClr val="accent3"/>
                  </a:solidFill>
                  <a:latin typeface="+mn-lt"/>
                  <a:ea typeface="+mn-ea"/>
                  <a:cs typeface="+mn-cs"/>
                </a:rPr>
                <a:t>PROMO PELUNCURAN</a:t>
              </a:r>
            </a:p>
          </p:txBody>
        </p:sp>
        <p:sp>
          <p:nvSpPr>
            <p:cNvPr id="3" name="TextBox 3"/>
            <p:cNvSpPr txBox="1"/>
            <p:nvPr/>
          </p:nvSpPr>
          <p:spPr>
            <a:xfrm>
              <a:off x="595122" y="863600"/>
              <a:ext cx="8420068" cy="557403"/>
            </a:xfrm>
            <a:prstGeom prst="rect">
              <a:avLst/>
            </a:prstGeom>
            <a:noFill/>
            <a:ln>
              <a:noFill/>
            </a:ln>
          </p:spPr>
          <p:txBody>
            <a:bodyPr wrap="none" lIns="0" tIns="0" rIns="0" bIns="0" anchor="t" anchorCtr="0">
              <a:spAutoFit/>
            </a:bodyPr>
            <a:lstStyle/>
            <a:p>
              <a:pPr algn="l"/>
              <a:r>
                <a:rPr lang="id-ID" sz="2850" b="1" dirty="0">
                  <a:solidFill>
                    <a:srgbClr val="F3F1EA"/>
                  </a:solidFill>
                  <a:latin typeface="+mj-lt"/>
                  <a:ea typeface="+mj-ea"/>
                  <a:cs typeface="+mj-cs"/>
                </a:rPr>
                <a:t>Harga lama berlaku hingga 31 Desember 2026</a:t>
              </a:r>
            </a:p>
          </p:txBody>
        </p:sp>
      </p:grpSp>
      <p:grpSp>
        <p:nvGrpSpPr>
          <p:cNvPr id="14" name="promo-starter"/>
          <p:cNvGrpSpPr/>
          <p:nvPr/>
        </p:nvGrpSpPr>
        <p:grpSpPr>
          <a:xfrm>
            <a:off x="609600" y="1676400"/>
            <a:ext cx="3505200" cy="3105150"/>
            <a:chOff x="609600" y="1676400"/>
            <a:chExt cx="3505200" cy="3105150"/>
          </a:xfrm>
        </p:grpSpPr>
        <p:sp>
          <p:nvSpPr>
            <p:cNvPr id="5" name="Rectangle 5"/>
            <p:cNvSpPr/>
            <p:nvPr/>
          </p:nvSpPr>
          <p:spPr>
            <a:xfrm>
              <a:off x="609600" y="1676400"/>
              <a:ext cx="3505200" cy="3105150"/>
            </a:xfrm>
            <a:prstGeom prst="roundRect">
              <a:avLst>
                <a:gd name="adj" fmla="val 6135"/>
              </a:avLst>
            </a:prstGeom>
            <a:solidFill>
              <a:srgbClr val="242320"/>
            </a:solidFill>
            <a:ln>
              <a:noFill/>
            </a:ln>
          </p:spPr>
        </p:sp>
        <p:sp>
          <p:nvSpPr>
            <p:cNvPr id="6" name="TextBox 6"/>
            <p:cNvSpPr txBox="1"/>
            <p:nvPr/>
          </p:nvSpPr>
          <p:spPr>
            <a:xfrm>
              <a:off x="904494" y="1924050"/>
              <a:ext cx="780416" cy="381381"/>
            </a:xfrm>
            <a:prstGeom prst="rect">
              <a:avLst/>
            </a:prstGeom>
            <a:noFill/>
            <a:ln>
              <a:noFill/>
            </a:ln>
          </p:spPr>
          <p:txBody>
            <a:bodyPr wrap="none" lIns="0" tIns="0" rIns="0" bIns="0" anchor="t" anchorCtr="0">
              <a:spAutoFit/>
            </a:bodyPr>
            <a:lstStyle/>
            <a:p>
              <a:pPr algn="l"/>
              <a:r>
                <a:rPr lang="id-ID" sz="1950" b="1" dirty="0">
                  <a:solidFill>
                    <a:srgbClr val="F3F1EA"/>
                  </a:solidFill>
                  <a:latin typeface="+mn-lt"/>
                  <a:ea typeface="+mn-ea"/>
                  <a:cs typeface="+mn-cs"/>
                </a:rPr>
                <a:t>Starter</a:t>
              </a:r>
            </a:p>
          </p:txBody>
        </p:sp>
        <p:sp>
          <p:nvSpPr>
            <p:cNvPr id="7" name="Rectangle 7"/>
            <p:cNvSpPr/>
            <p:nvPr/>
          </p:nvSpPr>
          <p:spPr>
            <a:xfrm>
              <a:off x="3028950" y="1924050"/>
              <a:ext cx="819150" cy="342900"/>
            </a:xfrm>
            <a:prstGeom prst="roundRect">
              <a:avLst>
                <a:gd name="adj" fmla="val 50000"/>
              </a:avLst>
            </a:prstGeom>
            <a:solidFill>
              <a:schemeClr val="accent3"/>
            </a:solidFill>
            <a:ln>
              <a:noFill/>
            </a:ln>
          </p:spPr>
        </p:sp>
        <p:sp>
          <p:nvSpPr>
            <p:cNvPr id="8" name="TextBox 8"/>
            <p:cNvSpPr txBox="1"/>
            <p:nvPr/>
          </p:nvSpPr>
          <p:spPr>
            <a:xfrm>
              <a:off x="3217129" y="1997075"/>
              <a:ext cx="442792" cy="278702"/>
            </a:xfrm>
            <a:prstGeom prst="rect">
              <a:avLst/>
            </a:prstGeom>
            <a:noFill/>
            <a:ln>
              <a:noFill/>
            </a:ln>
          </p:spPr>
          <p:txBody>
            <a:bodyPr wrap="none" lIns="0" tIns="0" rIns="0" bIns="0" anchor="t" anchorCtr="0">
              <a:spAutoFit/>
            </a:bodyPr>
            <a:lstStyle/>
            <a:p>
              <a:pPr algn="ctr"/>
              <a:r>
                <a:rPr lang="id-ID" sz="1420" b="1" dirty="0">
                  <a:solidFill>
                    <a:schemeClr val="dk1"/>
                  </a:solidFill>
                  <a:latin typeface="+mn-lt"/>
                  <a:ea typeface="+mn-ea"/>
                  <a:cs typeface="+mn-cs"/>
                </a:rPr>
                <a:t>−34%</a:t>
              </a:r>
            </a:p>
          </p:txBody>
        </p:sp>
        <p:sp>
          <p:nvSpPr>
            <p:cNvPr id="9" name="TextBox 9"/>
            <p:cNvSpPr txBox="1"/>
            <p:nvPr/>
          </p:nvSpPr>
          <p:spPr>
            <a:xfrm>
              <a:off x="907542" y="2387600"/>
              <a:ext cx="2277231" cy="264033"/>
            </a:xfrm>
            <a:prstGeom prst="rect">
              <a:avLst/>
            </a:prstGeom>
            <a:noFill/>
            <a:ln>
              <a:noFill/>
            </a:ln>
          </p:spPr>
          <p:txBody>
            <a:bodyPr wrap="none" lIns="0" tIns="0" rIns="0" bIns="0" anchor="t" anchorCtr="0">
              <a:spAutoFit/>
            </a:bodyPr>
            <a:lstStyle/>
            <a:p>
              <a:pPr algn="l"/>
              <a:r>
                <a:rPr lang="id-ID" sz="1350" dirty="0">
                  <a:solidFill>
                    <a:srgbClr val="B9B6AA"/>
                  </a:solidFill>
                  <a:latin typeface="+mn-lt"/>
                  <a:ea typeface="+mn-ea"/>
                  <a:cs typeface="+mn-cs"/>
                </a:rPr>
                <a:t>Normal 2027: Rp149rb / bulan</a:t>
              </a:r>
            </a:p>
          </p:txBody>
        </p:sp>
        <p:sp>
          <p:nvSpPr>
            <p:cNvPr id="10" name="TextBox 10"/>
            <p:cNvSpPr txBox="1"/>
            <p:nvPr/>
          </p:nvSpPr>
          <p:spPr>
            <a:xfrm>
              <a:off x="895350" y="2679700"/>
              <a:ext cx="2785472" cy="876300"/>
            </a:xfrm>
            <a:prstGeom prst="rect">
              <a:avLst/>
            </a:prstGeom>
            <a:noFill/>
            <a:ln>
              <a:noFill/>
            </a:ln>
          </p:spPr>
          <p:txBody>
            <a:bodyPr wrap="none" lIns="0" tIns="0" rIns="0" bIns="0" anchor="t" anchorCtr="0">
              <a:spAutoFit/>
            </a:bodyPr>
            <a:lstStyle/>
            <a:p>
              <a:pPr algn="l"/>
              <a:r>
                <a:rPr lang="id-ID" sz="4500" b="1" dirty="0">
                  <a:solidFill>
                    <a:srgbClr val="F3F1EA"/>
                  </a:solidFill>
                  <a:latin typeface="+mj-lt"/>
                  <a:ea typeface="+mj-ea"/>
                  <a:cs typeface="+mj-cs"/>
                </a:rPr>
                <a:t>Rp99rb</a:t>
              </a:r>
              <a:r>
                <a:rPr lang="id-ID" sz="1500" dirty="0">
                  <a:solidFill>
                    <a:srgbClr val="B9B6AA"/>
                  </a:solidFill>
                  <a:latin typeface="+mn-lt"/>
                  <a:ea typeface="+mn-ea"/>
                  <a:cs typeface="+mn-cs"/>
                </a:rPr>
                <a:t xml:space="preserve"> / bulan</a:t>
              </a:r>
            </a:p>
          </p:txBody>
        </p:sp>
        <p:sp>
          <p:nvSpPr>
            <p:cNvPr id="11" name="Line 11"/>
            <p:cNvSpPr/>
            <p:nvPr/>
          </p:nvSpPr>
          <p:spPr>
            <a:xfrm>
              <a:off x="914400" y="3543300"/>
              <a:ext cx="2895600" cy="9525"/>
            </a:xfrm>
            <a:custGeom>
              <a:avLst/>
              <a:gdLst/>
              <a:ahLst/>
              <a:cxnLst/>
              <a:rect l="l" t="t" r="r" b="b"/>
              <a:pathLst>
                <a:path w="2895600" h="9525">
                  <a:moveTo>
                    <a:pt x="0" y="0"/>
                  </a:moveTo>
                  <a:lnTo>
                    <a:pt x="2895600" y="0"/>
                  </a:lnTo>
                </a:path>
              </a:pathLst>
            </a:custGeom>
            <a:noFill/>
            <a:ln w="9525">
              <a:solidFill>
                <a:srgbClr val="3A3933"/>
              </a:solidFill>
            </a:ln>
          </p:spPr>
        </p:sp>
        <p:sp>
          <p:nvSpPr>
            <p:cNvPr id="12" name="TextBox 12"/>
            <p:cNvSpPr txBox="1"/>
            <p:nvPr/>
          </p:nvSpPr>
          <p:spPr>
            <a:xfrm>
              <a:off x="906018" y="3733800"/>
              <a:ext cx="1528422" cy="322707"/>
            </a:xfrm>
            <a:prstGeom prst="rect">
              <a:avLst/>
            </a:prstGeom>
            <a:noFill/>
            <a:ln>
              <a:noFill/>
            </a:ln>
          </p:spPr>
          <p:txBody>
            <a:bodyPr wrap="none" lIns="0" tIns="0" rIns="0" bIns="0" anchor="t" anchorCtr="0">
              <a:spAutoFit/>
            </a:bodyPr>
            <a:lstStyle/>
            <a:p>
              <a:pPr algn="l"/>
              <a:r>
                <a:rPr lang="id-ID" sz="1650" dirty="0">
                  <a:solidFill>
                    <a:srgbClr val="B9B6AA"/>
                  </a:solidFill>
                  <a:latin typeface="+mn-lt"/>
                  <a:ea typeface="+mn-ea"/>
                  <a:cs typeface="+mn-cs"/>
                </a:rPr>
                <a:t xml:space="preserve">3 bulan </a:t>
              </a:r>
              <a:r>
                <a:rPr lang="id-ID" sz="1650" b="1" dirty="0">
                  <a:solidFill>
                    <a:srgbClr val="F3F1EA"/>
                  </a:solidFill>
                  <a:latin typeface="+mn-lt"/>
                  <a:ea typeface="+mn-ea"/>
                  <a:cs typeface="+mn-cs"/>
                </a:rPr>
                <a:t>Rp269rb</a:t>
              </a:r>
            </a:p>
          </p:txBody>
        </p:sp>
        <p:sp>
          <p:nvSpPr>
            <p:cNvPr id="13" name="TextBox 13"/>
            <p:cNvSpPr txBox="1"/>
            <p:nvPr/>
          </p:nvSpPr>
          <p:spPr>
            <a:xfrm>
              <a:off x="906018" y="4076700"/>
              <a:ext cx="1640994" cy="322707"/>
            </a:xfrm>
            <a:prstGeom prst="rect">
              <a:avLst/>
            </a:prstGeom>
            <a:noFill/>
            <a:ln>
              <a:noFill/>
            </a:ln>
          </p:spPr>
          <p:txBody>
            <a:bodyPr wrap="none" lIns="0" tIns="0" rIns="0" bIns="0" anchor="t" anchorCtr="0">
              <a:spAutoFit/>
            </a:bodyPr>
            <a:lstStyle/>
            <a:p>
              <a:pPr algn="l"/>
              <a:r>
                <a:rPr lang="id-ID" sz="1650" dirty="0">
                  <a:solidFill>
                    <a:srgbClr val="B9B6AA"/>
                  </a:solidFill>
                  <a:latin typeface="+mn-lt"/>
                  <a:ea typeface="+mn-ea"/>
                  <a:cs typeface="+mn-cs"/>
                </a:rPr>
                <a:t xml:space="preserve">12 bulan </a:t>
              </a:r>
              <a:r>
                <a:rPr lang="id-ID" sz="1650" b="1" dirty="0">
                  <a:solidFill>
                    <a:srgbClr val="F3F1EA"/>
                  </a:solidFill>
                  <a:latin typeface="+mn-lt"/>
                  <a:ea typeface="+mn-ea"/>
                  <a:cs typeface="+mn-cs"/>
                </a:rPr>
                <a:t>Rp990rb</a:t>
              </a:r>
            </a:p>
          </p:txBody>
        </p:sp>
      </p:grpSp>
      <p:grpSp>
        <p:nvGrpSpPr>
          <p:cNvPr id="24" name="promo-pro"/>
          <p:cNvGrpSpPr/>
          <p:nvPr/>
        </p:nvGrpSpPr>
        <p:grpSpPr>
          <a:xfrm>
            <a:off x="4343400" y="1676400"/>
            <a:ext cx="3505200" cy="3105150"/>
            <a:chOff x="4343400" y="1676400"/>
            <a:chExt cx="3505200" cy="3105150"/>
          </a:xfrm>
        </p:grpSpPr>
        <p:sp>
          <p:nvSpPr>
            <p:cNvPr id="15" name="Rectangle 15"/>
            <p:cNvSpPr/>
            <p:nvPr/>
          </p:nvSpPr>
          <p:spPr>
            <a:xfrm>
              <a:off x="4343400" y="1676400"/>
              <a:ext cx="3505200" cy="3105150"/>
            </a:xfrm>
            <a:prstGeom prst="roundRect">
              <a:avLst>
                <a:gd name="adj" fmla="val 6135"/>
              </a:avLst>
            </a:prstGeom>
            <a:solidFill>
              <a:schemeClr val="accent3"/>
            </a:solidFill>
            <a:ln>
              <a:noFill/>
            </a:ln>
          </p:spPr>
        </p:sp>
        <p:sp>
          <p:nvSpPr>
            <p:cNvPr id="16" name="TextBox 16"/>
            <p:cNvSpPr txBox="1"/>
            <p:nvPr/>
          </p:nvSpPr>
          <p:spPr>
            <a:xfrm>
              <a:off x="4638294" y="1924050"/>
              <a:ext cx="401026" cy="381381"/>
            </a:xfrm>
            <a:prstGeom prst="rect">
              <a:avLst/>
            </a:prstGeom>
            <a:noFill/>
            <a:ln>
              <a:noFill/>
            </a:ln>
          </p:spPr>
          <p:txBody>
            <a:bodyPr wrap="none" lIns="0" tIns="0" rIns="0" bIns="0" anchor="t" anchorCtr="0">
              <a:spAutoFit/>
            </a:bodyPr>
            <a:lstStyle/>
            <a:p>
              <a:pPr algn="l"/>
              <a:r>
                <a:rPr lang="id-ID" sz="1950" b="1" dirty="0">
                  <a:solidFill>
                    <a:schemeClr val="dk1"/>
                  </a:solidFill>
                  <a:latin typeface="+mn-lt"/>
                  <a:ea typeface="+mn-ea"/>
                  <a:cs typeface="+mn-cs"/>
                </a:rPr>
                <a:t>Pro</a:t>
              </a:r>
            </a:p>
          </p:txBody>
        </p:sp>
        <p:sp>
          <p:nvSpPr>
            <p:cNvPr id="17" name="Rectangle 17"/>
            <p:cNvSpPr/>
            <p:nvPr/>
          </p:nvSpPr>
          <p:spPr>
            <a:xfrm>
              <a:off x="6762750" y="1924050"/>
              <a:ext cx="819150" cy="342900"/>
            </a:xfrm>
            <a:prstGeom prst="roundRect">
              <a:avLst>
                <a:gd name="adj" fmla="val 50000"/>
              </a:avLst>
            </a:prstGeom>
            <a:solidFill>
              <a:schemeClr val="accent1"/>
            </a:solidFill>
            <a:ln>
              <a:noFill/>
            </a:ln>
          </p:spPr>
        </p:sp>
        <p:sp>
          <p:nvSpPr>
            <p:cNvPr id="18" name="TextBox 18"/>
            <p:cNvSpPr txBox="1"/>
            <p:nvPr/>
          </p:nvSpPr>
          <p:spPr>
            <a:xfrm>
              <a:off x="6950929" y="1997075"/>
              <a:ext cx="442792" cy="278702"/>
            </a:xfrm>
            <a:prstGeom prst="rect">
              <a:avLst/>
            </a:prstGeom>
            <a:noFill/>
            <a:ln>
              <a:noFill/>
            </a:ln>
          </p:spPr>
          <p:txBody>
            <a:bodyPr wrap="none" lIns="0" tIns="0" rIns="0" bIns="0" anchor="t" anchorCtr="0">
              <a:spAutoFit/>
            </a:bodyPr>
            <a:lstStyle/>
            <a:p>
              <a:pPr algn="ctr"/>
              <a:r>
                <a:rPr lang="id-ID" sz="1420" b="1" dirty="0">
                  <a:solidFill>
                    <a:schemeClr val="accent3"/>
                  </a:solidFill>
                  <a:latin typeface="+mn-lt"/>
                  <a:ea typeface="+mn-ea"/>
                  <a:cs typeface="+mn-cs"/>
                </a:rPr>
                <a:t>−50%</a:t>
              </a:r>
            </a:p>
          </p:txBody>
        </p:sp>
        <p:sp>
          <p:nvSpPr>
            <p:cNvPr id="19" name="TextBox 19"/>
            <p:cNvSpPr txBox="1"/>
            <p:nvPr/>
          </p:nvSpPr>
          <p:spPr>
            <a:xfrm>
              <a:off x="4641342" y="2387600"/>
              <a:ext cx="2277231" cy="264033"/>
            </a:xfrm>
            <a:prstGeom prst="rect">
              <a:avLst/>
            </a:prstGeom>
            <a:noFill/>
            <a:ln>
              <a:noFill/>
            </a:ln>
          </p:spPr>
          <p:txBody>
            <a:bodyPr wrap="none" lIns="0" tIns="0" rIns="0" bIns="0" anchor="t" anchorCtr="0">
              <a:spAutoFit/>
            </a:bodyPr>
            <a:lstStyle/>
            <a:p>
              <a:pPr algn="l"/>
              <a:r>
                <a:rPr lang="id-ID" sz="1350" dirty="0">
                  <a:solidFill>
                    <a:srgbClr val="2B6B22"/>
                  </a:solidFill>
                  <a:latin typeface="+mn-lt"/>
                  <a:ea typeface="+mn-ea"/>
                  <a:cs typeface="+mn-cs"/>
                </a:rPr>
                <a:t>Normal 2027: Rp299rb / bulan</a:t>
              </a:r>
            </a:p>
          </p:txBody>
        </p:sp>
        <p:sp>
          <p:nvSpPr>
            <p:cNvPr id="20" name="TextBox 20"/>
            <p:cNvSpPr txBox="1"/>
            <p:nvPr/>
          </p:nvSpPr>
          <p:spPr>
            <a:xfrm>
              <a:off x="4629150" y="2679700"/>
              <a:ext cx="3127181"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Rp149rb</a:t>
              </a:r>
              <a:r>
                <a:rPr lang="id-ID" sz="1500" dirty="0">
                  <a:solidFill>
                    <a:srgbClr val="2B6B22"/>
                  </a:solidFill>
                  <a:latin typeface="+mn-lt"/>
                  <a:ea typeface="+mn-ea"/>
                  <a:cs typeface="+mn-cs"/>
                </a:rPr>
                <a:t xml:space="preserve"> / bulan</a:t>
              </a:r>
            </a:p>
          </p:txBody>
        </p:sp>
        <p:sp>
          <p:nvSpPr>
            <p:cNvPr id="21" name="Line 21"/>
            <p:cNvSpPr/>
            <p:nvPr/>
          </p:nvSpPr>
          <p:spPr>
            <a:xfrm>
              <a:off x="4648200" y="3543300"/>
              <a:ext cx="2895600" cy="9525"/>
            </a:xfrm>
            <a:custGeom>
              <a:avLst/>
              <a:gdLst/>
              <a:ahLst/>
              <a:cxnLst/>
              <a:rect l="l" t="t" r="r" b="b"/>
              <a:pathLst>
                <a:path w="2895600" h="9525">
                  <a:moveTo>
                    <a:pt x="0" y="0"/>
                  </a:moveTo>
                  <a:lnTo>
                    <a:pt x="2895600" y="0"/>
                  </a:lnTo>
                </a:path>
              </a:pathLst>
            </a:custGeom>
            <a:noFill/>
            <a:ln w="9525">
              <a:solidFill>
                <a:schemeClr val="accent2"/>
              </a:solidFill>
            </a:ln>
          </p:spPr>
        </p:sp>
        <p:sp>
          <p:nvSpPr>
            <p:cNvPr id="22" name="TextBox 22"/>
            <p:cNvSpPr txBox="1"/>
            <p:nvPr/>
          </p:nvSpPr>
          <p:spPr>
            <a:xfrm>
              <a:off x="4639818" y="3733800"/>
              <a:ext cx="1528422" cy="322707"/>
            </a:xfrm>
            <a:prstGeom prst="rect">
              <a:avLst/>
            </a:prstGeom>
            <a:noFill/>
            <a:ln>
              <a:noFill/>
            </a:ln>
          </p:spPr>
          <p:txBody>
            <a:bodyPr wrap="none" lIns="0" tIns="0" rIns="0" bIns="0" anchor="t" anchorCtr="0">
              <a:spAutoFit/>
            </a:bodyPr>
            <a:lstStyle/>
            <a:p>
              <a:pPr algn="l"/>
              <a:r>
                <a:rPr lang="id-ID" sz="1650" dirty="0">
                  <a:solidFill>
                    <a:srgbClr val="2B6B22"/>
                  </a:solidFill>
                  <a:latin typeface="+mn-lt"/>
                  <a:ea typeface="+mn-ea"/>
                  <a:cs typeface="+mn-cs"/>
                </a:rPr>
                <a:t xml:space="preserve">3 bulan </a:t>
              </a:r>
              <a:r>
                <a:rPr lang="id-ID" sz="1650" b="1" dirty="0">
                  <a:solidFill>
                    <a:schemeClr val="dk1"/>
                  </a:solidFill>
                  <a:latin typeface="+mn-lt"/>
                  <a:ea typeface="+mn-ea"/>
                  <a:cs typeface="+mn-cs"/>
                </a:rPr>
                <a:t>Rp399rb</a:t>
              </a:r>
            </a:p>
          </p:txBody>
        </p:sp>
        <p:sp>
          <p:nvSpPr>
            <p:cNvPr id="23" name="TextBox 23"/>
            <p:cNvSpPr txBox="1"/>
            <p:nvPr/>
          </p:nvSpPr>
          <p:spPr>
            <a:xfrm>
              <a:off x="4639818" y="4076700"/>
              <a:ext cx="1684673" cy="322707"/>
            </a:xfrm>
            <a:prstGeom prst="rect">
              <a:avLst/>
            </a:prstGeom>
            <a:noFill/>
            <a:ln>
              <a:noFill/>
            </a:ln>
          </p:spPr>
          <p:txBody>
            <a:bodyPr wrap="none" lIns="0" tIns="0" rIns="0" bIns="0" anchor="t" anchorCtr="0">
              <a:spAutoFit/>
            </a:bodyPr>
            <a:lstStyle/>
            <a:p>
              <a:pPr algn="l"/>
              <a:r>
                <a:rPr lang="id-ID" sz="1650" dirty="0">
                  <a:solidFill>
                    <a:srgbClr val="2B6B22"/>
                  </a:solidFill>
                  <a:latin typeface="+mn-lt"/>
                  <a:ea typeface="+mn-ea"/>
                  <a:cs typeface="+mn-cs"/>
                </a:rPr>
                <a:t xml:space="preserve">12 bulan </a:t>
              </a:r>
              <a:r>
                <a:rPr lang="id-ID" sz="1650" b="1" dirty="0">
                  <a:solidFill>
                    <a:schemeClr val="dk1"/>
                  </a:solidFill>
                  <a:latin typeface="+mn-lt"/>
                  <a:ea typeface="+mn-ea"/>
                  <a:cs typeface="+mn-cs"/>
                </a:rPr>
                <a:t>Rp1,49 jt</a:t>
              </a:r>
            </a:p>
          </p:txBody>
        </p:sp>
      </p:grpSp>
      <p:grpSp>
        <p:nvGrpSpPr>
          <p:cNvPr id="35" name="promo-multi"/>
          <p:cNvGrpSpPr/>
          <p:nvPr/>
        </p:nvGrpSpPr>
        <p:grpSpPr>
          <a:xfrm>
            <a:off x="8077200" y="1676400"/>
            <a:ext cx="3505200" cy="3105150"/>
            <a:chOff x="8077200" y="1676400"/>
            <a:chExt cx="3505200" cy="3105150"/>
          </a:xfrm>
        </p:grpSpPr>
        <p:sp>
          <p:nvSpPr>
            <p:cNvPr id="25" name="Rectangle 25"/>
            <p:cNvSpPr/>
            <p:nvPr/>
          </p:nvSpPr>
          <p:spPr>
            <a:xfrm>
              <a:off x="8077200" y="1676400"/>
              <a:ext cx="3505200" cy="3105150"/>
            </a:xfrm>
            <a:prstGeom prst="roundRect">
              <a:avLst>
                <a:gd name="adj" fmla="val 6135"/>
              </a:avLst>
            </a:prstGeom>
            <a:solidFill>
              <a:srgbClr val="242320"/>
            </a:solidFill>
            <a:ln>
              <a:noFill/>
            </a:ln>
          </p:spPr>
        </p:sp>
        <p:sp>
          <p:nvSpPr>
            <p:cNvPr id="26" name="TextBox 26"/>
            <p:cNvSpPr txBox="1"/>
            <p:nvPr/>
          </p:nvSpPr>
          <p:spPr>
            <a:xfrm>
              <a:off x="8372094" y="1924050"/>
              <a:ext cx="1286166" cy="381381"/>
            </a:xfrm>
            <a:prstGeom prst="rect">
              <a:avLst/>
            </a:prstGeom>
            <a:noFill/>
            <a:ln>
              <a:noFill/>
            </a:ln>
          </p:spPr>
          <p:txBody>
            <a:bodyPr wrap="none" lIns="0" tIns="0" rIns="0" bIns="0" anchor="t" anchorCtr="0">
              <a:spAutoFit/>
            </a:bodyPr>
            <a:lstStyle/>
            <a:p>
              <a:pPr algn="l"/>
              <a:r>
                <a:rPr lang="id-ID" sz="1950" b="1" dirty="0">
                  <a:solidFill>
                    <a:srgbClr val="F3F1EA"/>
                  </a:solidFill>
                  <a:latin typeface="+mn-lt"/>
                  <a:ea typeface="+mn-ea"/>
                  <a:cs typeface="+mn-cs"/>
                </a:rPr>
                <a:t>Multi Klinik</a:t>
              </a:r>
            </a:p>
          </p:txBody>
        </p:sp>
        <p:sp>
          <p:nvSpPr>
            <p:cNvPr id="27" name="Rectangle 27"/>
            <p:cNvSpPr/>
            <p:nvPr/>
          </p:nvSpPr>
          <p:spPr>
            <a:xfrm>
              <a:off x="10496550" y="1924050"/>
              <a:ext cx="819150" cy="342900"/>
            </a:xfrm>
            <a:prstGeom prst="roundRect">
              <a:avLst>
                <a:gd name="adj" fmla="val 50000"/>
              </a:avLst>
            </a:prstGeom>
            <a:solidFill>
              <a:schemeClr val="accent3"/>
            </a:solidFill>
            <a:ln>
              <a:noFill/>
            </a:ln>
          </p:spPr>
        </p:sp>
        <p:sp>
          <p:nvSpPr>
            <p:cNvPr id="28" name="TextBox 28"/>
            <p:cNvSpPr txBox="1"/>
            <p:nvPr/>
          </p:nvSpPr>
          <p:spPr>
            <a:xfrm>
              <a:off x="10684729" y="1997075"/>
              <a:ext cx="442792" cy="278702"/>
            </a:xfrm>
            <a:prstGeom prst="rect">
              <a:avLst/>
            </a:prstGeom>
            <a:noFill/>
            <a:ln>
              <a:noFill/>
            </a:ln>
          </p:spPr>
          <p:txBody>
            <a:bodyPr wrap="none" lIns="0" tIns="0" rIns="0" bIns="0" anchor="t" anchorCtr="0">
              <a:spAutoFit/>
            </a:bodyPr>
            <a:lstStyle/>
            <a:p>
              <a:pPr algn="ctr"/>
              <a:r>
                <a:rPr lang="id-ID" sz="1420" b="1" dirty="0">
                  <a:solidFill>
                    <a:schemeClr val="dk1"/>
                  </a:solidFill>
                  <a:latin typeface="+mn-lt"/>
                  <a:ea typeface="+mn-ea"/>
                  <a:cs typeface="+mn-cs"/>
                </a:rPr>
                <a:t>−40%</a:t>
              </a:r>
            </a:p>
          </p:txBody>
        </p:sp>
        <p:sp>
          <p:nvSpPr>
            <p:cNvPr id="29" name="TextBox 29"/>
            <p:cNvSpPr txBox="1"/>
            <p:nvPr/>
          </p:nvSpPr>
          <p:spPr>
            <a:xfrm>
              <a:off x="8375142" y="2387600"/>
              <a:ext cx="2246595" cy="264033"/>
            </a:xfrm>
            <a:prstGeom prst="rect">
              <a:avLst/>
            </a:prstGeom>
            <a:noFill/>
            <a:ln>
              <a:noFill/>
            </a:ln>
          </p:spPr>
          <p:txBody>
            <a:bodyPr wrap="none" lIns="0" tIns="0" rIns="0" bIns="0" anchor="t" anchorCtr="0">
              <a:spAutoFit/>
            </a:bodyPr>
            <a:lstStyle/>
            <a:p>
              <a:pPr algn="l"/>
              <a:r>
                <a:rPr lang="id-ID" sz="1350" dirty="0">
                  <a:solidFill>
                    <a:srgbClr val="B9B6AA"/>
                  </a:solidFill>
                  <a:latin typeface="+mn-lt"/>
                  <a:ea typeface="+mn-ea"/>
                  <a:cs typeface="+mn-cs"/>
                </a:rPr>
                <a:t>Normal 2027: Rp249rb / klinik</a:t>
              </a:r>
            </a:p>
          </p:txBody>
        </p:sp>
        <p:sp>
          <p:nvSpPr>
            <p:cNvPr id="30" name="TextBox 30"/>
            <p:cNvSpPr txBox="1"/>
            <p:nvPr/>
          </p:nvSpPr>
          <p:spPr>
            <a:xfrm>
              <a:off x="8362950" y="2679700"/>
              <a:ext cx="3094549" cy="876300"/>
            </a:xfrm>
            <a:prstGeom prst="rect">
              <a:avLst/>
            </a:prstGeom>
            <a:noFill/>
            <a:ln>
              <a:noFill/>
            </a:ln>
          </p:spPr>
          <p:txBody>
            <a:bodyPr wrap="none" lIns="0" tIns="0" rIns="0" bIns="0" anchor="t" anchorCtr="0">
              <a:spAutoFit/>
            </a:bodyPr>
            <a:lstStyle/>
            <a:p>
              <a:pPr algn="l"/>
              <a:r>
                <a:rPr lang="id-ID" sz="4500" b="1" dirty="0">
                  <a:solidFill>
                    <a:srgbClr val="F3F1EA"/>
                  </a:solidFill>
                  <a:latin typeface="+mj-lt"/>
                  <a:ea typeface="+mj-ea"/>
                  <a:cs typeface="+mj-cs"/>
                </a:rPr>
                <a:t>Rp149rb</a:t>
              </a:r>
              <a:r>
                <a:rPr lang="id-ID" sz="1500" dirty="0">
                  <a:solidFill>
                    <a:srgbClr val="B9B6AA"/>
                  </a:solidFill>
                  <a:latin typeface="+mn-lt"/>
                  <a:ea typeface="+mn-ea"/>
                  <a:cs typeface="+mn-cs"/>
                </a:rPr>
                <a:t xml:space="preserve"> / klinik</a:t>
              </a:r>
            </a:p>
          </p:txBody>
        </p:sp>
        <p:sp>
          <p:nvSpPr>
            <p:cNvPr id="31" name="Line 31"/>
            <p:cNvSpPr/>
            <p:nvPr/>
          </p:nvSpPr>
          <p:spPr>
            <a:xfrm>
              <a:off x="8382000" y="3543300"/>
              <a:ext cx="2895600" cy="9525"/>
            </a:xfrm>
            <a:custGeom>
              <a:avLst/>
              <a:gdLst/>
              <a:ahLst/>
              <a:cxnLst/>
              <a:rect l="l" t="t" r="r" b="b"/>
              <a:pathLst>
                <a:path w="2895600" h="9525">
                  <a:moveTo>
                    <a:pt x="0" y="0"/>
                  </a:moveTo>
                  <a:lnTo>
                    <a:pt x="2895600" y="0"/>
                  </a:lnTo>
                </a:path>
              </a:pathLst>
            </a:custGeom>
            <a:noFill/>
            <a:ln w="9525">
              <a:solidFill>
                <a:srgbClr val="3A3933"/>
              </a:solidFill>
            </a:ln>
          </p:spPr>
        </p:sp>
        <p:sp>
          <p:nvSpPr>
            <p:cNvPr id="32" name="TextBox 32"/>
            <p:cNvSpPr txBox="1"/>
            <p:nvPr/>
          </p:nvSpPr>
          <p:spPr>
            <a:xfrm>
              <a:off x="8373618" y="3733800"/>
              <a:ext cx="1528422" cy="322707"/>
            </a:xfrm>
            <a:prstGeom prst="rect">
              <a:avLst/>
            </a:prstGeom>
            <a:noFill/>
            <a:ln>
              <a:noFill/>
            </a:ln>
          </p:spPr>
          <p:txBody>
            <a:bodyPr wrap="none" lIns="0" tIns="0" rIns="0" bIns="0" anchor="t" anchorCtr="0">
              <a:spAutoFit/>
            </a:bodyPr>
            <a:lstStyle/>
            <a:p>
              <a:pPr algn="l"/>
              <a:r>
                <a:rPr lang="id-ID" sz="1650" dirty="0">
                  <a:solidFill>
                    <a:srgbClr val="B9B6AA"/>
                  </a:solidFill>
                  <a:latin typeface="+mn-lt"/>
                  <a:ea typeface="+mn-ea"/>
                  <a:cs typeface="+mn-cs"/>
                </a:rPr>
                <a:t xml:space="preserve">3 bulan </a:t>
              </a:r>
              <a:r>
                <a:rPr lang="id-ID" sz="1650" b="1" dirty="0">
                  <a:solidFill>
                    <a:srgbClr val="F3F1EA"/>
                  </a:solidFill>
                  <a:latin typeface="+mn-lt"/>
                  <a:ea typeface="+mn-ea"/>
                  <a:cs typeface="+mn-cs"/>
                </a:rPr>
                <a:t>Rp399rb</a:t>
              </a:r>
            </a:p>
          </p:txBody>
        </p:sp>
        <p:sp>
          <p:nvSpPr>
            <p:cNvPr id="33" name="TextBox 33"/>
            <p:cNvSpPr txBox="1"/>
            <p:nvPr/>
          </p:nvSpPr>
          <p:spPr>
            <a:xfrm>
              <a:off x="8373618" y="4076700"/>
              <a:ext cx="1684673" cy="322707"/>
            </a:xfrm>
            <a:prstGeom prst="rect">
              <a:avLst/>
            </a:prstGeom>
            <a:noFill/>
            <a:ln>
              <a:noFill/>
            </a:ln>
          </p:spPr>
          <p:txBody>
            <a:bodyPr wrap="none" lIns="0" tIns="0" rIns="0" bIns="0" anchor="t" anchorCtr="0">
              <a:spAutoFit/>
            </a:bodyPr>
            <a:lstStyle/>
            <a:p>
              <a:pPr algn="l"/>
              <a:r>
                <a:rPr lang="id-ID" sz="1650" dirty="0">
                  <a:solidFill>
                    <a:srgbClr val="B9B6AA"/>
                  </a:solidFill>
                  <a:latin typeface="+mn-lt"/>
                  <a:ea typeface="+mn-ea"/>
                  <a:cs typeface="+mn-cs"/>
                </a:rPr>
                <a:t xml:space="preserve">12 bulan </a:t>
              </a:r>
              <a:r>
                <a:rPr lang="id-ID" sz="1650" b="1" dirty="0">
                  <a:solidFill>
                    <a:srgbClr val="F3F1EA"/>
                  </a:solidFill>
                  <a:latin typeface="+mn-lt"/>
                  <a:ea typeface="+mn-ea"/>
                  <a:cs typeface="+mn-cs"/>
                </a:rPr>
                <a:t>Rp1,49 jt</a:t>
              </a:r>
            </a:p>
          </p:txBody>
        </p:sp>
        <p:sp>
          <p:nvSpPr>
            <p:cNvPr id="34" name="TextBox 34"/>
            <p:cNvSpPr txBox="1"/>
            <p:nvPr/>
          </p:nvSpPr>
          <p:spPr>
            <a:xfrm>
              <a:off x="8375523" y="4438650"/>
              <a:ext cx="1609787" cy="250317"/>
            </a:xfrm>
            <a:prstGeom prst="rect">
              <a:avLst/>
            </a:prstGeom>
            <a:noFill/>
            <a:ln>
              <a:noFill/>
            </a:ln>
          </p:spPr>
          <p:txBody>
            <a:bodyPr wrap="none" lIns="0" tIns="0" rIns="0" bIns="0" anchor="t" anchorCtr="0">
              <a:spAutoFit/>
            </a:bodyPr>
            <a:lstStyle/>
            <a:p>
              <a:pPr algn="l"/>
              <a:r>
                <a:rPr lang="id-ID" sz="1280" i="1" dirty="0">
                  <a:solidFill>
                    <a:srgbClr val="B9B6AA"/>
                  </a:solidFill>
                  <a:latin typeface="+mn-lt"/>
                  <a:ea typeface="+mn-ea"/>
                  <a:cs typeface="+mn-cs"/>
                </a:rPr>
                <a:t>+ Rp99rb admin owner</a:t>
              </a:r>
            </a:p>
          </p:txBody>
        </p:sp>
      </p:grpSp>
      <p:grpSp>
        <p:nvGrpSpPr>
          <p:cNvPr id="40" name="promo-urgency"/>
          <p:cNvGrpSpPr/>
          <p:nvPr/>
        </p:nvGrpSpPr>
        <p:grpSpPr>
          <a:xfrm>
            <a:off x="647700" y="5067300"/>
            <a:ext cx="3058796" cy="772033"/>
            <a:chOff x="647700" y="5067300"/>
            <a:chExt cx="3058796" cy="772033"/>
          </a:xfrm>
        </p:grpSpPr>
        <p:sp>
          <p:nvSpPr>
            <p:cNvPr id="36" name="Ellipse 36"/>
            <p:cNvSpPr/>
            <p:nvPr/>
          </p:nvSpPr>
          <p:spPr>
            <a:xfrm>
              <a:off x="647700" y="5067300"/>
              <a:ext cx="457200" cy="457200"/>
            </a:xfrm>
            <a:prstGeom prst="ellipse">
              <a:avLst/>
            </a:prstGeom>
            <a:solidFill>
              <a:srgbClr val="242320"/>
            </a:solidFill>
            <a:ln>
              <a:noFill/>
            </a:ln>
          </p:spPr>
        </p:sp>
        <p:sp>
          <p:nvSpPr>
            <p:cNvPr id="37" name="Freeform 37"/>
            <p:cNvSpPr/>
            <p:nvPr/>
          </p:nvSpPr>
          <p:spPr>
            <a:xfrm>
              <a:off x="798513" y="5195888"/>
              <a:ext cx="155575" cy="200026"/>
            </a:xfrm>
            <a:custGeom>
              <a:avLst/>
              <a:gdLst/>
              <a:ahLst/>
              <a:cxnLst/>
              <a:rect l="l" t="t" r="r" b="b"/>
              <a:pathLst>
                <a:path w="155575" h="200026">
                  <a:moveTo>
                    <a:pt x="88900" y="0"/>
                  </a:moveTo>
                  <a:lnTo>
                    <a:pt x="88900" y="77788"/>
                  </a:lnTo>
                  <a:lnTo>
                    <a:pt x="155575" y="77788"/>
                  </a:lnTo>
                  <a:lnTo>
                    <a:pt x="66675" y="200026"/>
                  </a:lnTo>
                  <a:lnTo>
                    <a:pt x="66675" y="122238"/>
                  </a:lnTo>
                  <a:lnTo>
                    <a:pt x="0" y="122238"/>
                  </a:lnTo>
                  <a:lnTo>
                    <a:pt x="88900" y="0"/>
                  </a:lnTo>
                </a:path>
              </a:pathLst>
            </a:custGeom>
            <a:noFill/>
            <a:ln w="22225">
              <a:solidFill>
                <a:schemeClr val="accent3"/>
              </a:solidFill>
            </a:ln>
          </p:spPr>
        </p:sp>
        <p:sp>
          <p:nvSpPr>
            <p:cNvPr id="38" name="TextBox 38"/>
            <p:cNvSpPr txBox="1"/>
            <p:nvPr/>
          </p:nvSpPr>
          <p:spPr>
            <a:xfrm>
              <a:off x="1229868" y="5067300"/>
              <a:ext cx="1297162" cy="322707"/>
            </a:xfrm>
            <a:prstGeom prst="rect">
              <a:avLst/>
            </a:prstGeom>
            <a:noFill/>
            <a:ln>
              <a:noFill/>
            </a:ln>
          </p:spPr>
          <p:txBody>
            <a:bodyPr wrap="none" lIns="0" tIns="0" rIns="0" bIns="0" anchor="t" anchorCtr="0">
              <a:spAutoFit/>
            </a:bodyPr>
            <a:lstStyle/>
            <a:p>
              <a:pPr algn="l"/>
              <a:r>
                <a:rPr lang="id-ID" sz="1650" b="1" dirty="0">
                  <a:solidFill>
                    <a:srgbClr val="F3F1EA"/>
                  </a:solidFill>
                  <a:latin typeface="+mn-lt"/>
                  <a:ea typeface="+mn-ea"/>
                  <a:cs typeface="+mn-cs"/>
                </a:rPr>
                <a:t>Urgensi nyata</a:t>
              </a:r>
            </a:p>
          </p:txBody>
        </p:sp>
        <p:sp>
          <p:nvSpPr>
            <p:cNvPr id="39" name="TextBox 39"/>
            <p:cNvSpPr txBox="1"/>
            <p:nvPr/>
          </p:nvSpPr>
          <p:spPr>
            <a:xfrm>
              <a:off x="1231392" y="5346700"/>
              <a:ext cx="2475104" cy="492633"/>
            </a:xfrm>
            <a:prstGeom prst="rect">
              <a:avLst/>
            </a:prstGeom>
            <a:noFill/>
            <a:ln>
              <a:noFill/>
            </a:ln>
          </p:spPr>
          <p:txBody>
            <a:bodyPr wrap="none" lIns="0" tIns="0" rIns="0" bIns="0" anchor="t" anchorCtr="0">
              <a:spAutoFit/>
            </a:bodyPr>
            <a:lstStyle/>
            <a:p>
              <a:pPr algn="l">
                <a:lnSpc>
                  <a:spcPts val="1800"/>
                </a:lnSpc>
              </a:pPr>
              <a:r>
                <a:rPr lang="id-ID" sz="1350" dirty="0">
                  <a:solidFill>
                    <a:srgbClr val="B9B6AA"/>
                  </a:solidFill>
                  <a:latin typeface="+mn-lt"/>
                  <a:ea typeface="+mn-ea"/>
                  <a:cs typeface="+mn-cs"/>
                </a:rPr>
                <a:t>Tenggat 1 Januari 2027 mendorong</a:t>
              </a:r>
              <a:br>
                <a:rPr lang="id-ID" sz="1350" dirty="0">
                  <a:solidFill>
                    <a:srgbClr val="B9B6AA"/>
                  </a:solidFill>
                  <a:latin typeface="+mn-lt"/>
                  <a:ea typeface="+mn-ea"/>
                  <a:cs typeface="+mn-cs"/>
                </a:rPr>
              </a:br>
              <a:r>
                <a:rPr lang="id-ID" sz="1350" dirty="0">
                  <a:solidFill>
                    <a:srgbClr val="B9B6AA"/>
                  </a:solidFill>
                  <a:latin typeface="+mn-lt"/>
                  <a:ea typeface="+mn-ea"/>
                  <a:cs typeface="+mn-cs"/>
                </a:rPr>
                <a:t>klinik memutuskan lebih cepat.</a:t>
              </a:r>
            </a:p>
          </p:txBody>
        </p:sp>
      </p:grpSp>
      <p:grpSp>
        <p:nvGrpSpPr>
          <p:cNvPr id="49" name="promo-adopter"/>
          <p:cNvGrpSpPr/>
          <p:nvPr/>
        </p:nvGrpSpPr>
        <p:grpSpPr>
          <a:xfrm>
            <a:off x="4381500" y="5067300"/>
            <a:ext cx="2702231" cy="772033"/>
            <a:chOff x="4381500" y="5067300"/>
            <a:chExt cx="2702231" cy="772033"/>
          </a:xfrm>
        </p:grpSpPr>
        <p:sp>
          <p:nvSpPr>
            <p:cNvPr id="41" name="Ellipse 41"/>
            <p:cNvSpPr/>
            <p:nvPr/>
          </p:nvSpPr>
          <p:spPr>
            <a:xfrm>
              <a:off x="4381500" y="5067300"/>
              <a:ext cx="457200" cy="457200"/>
            </a:xfrm>
            <a:prstGeom prst="ellipse">
              <a:avLst/>
            </a:prstGeom>
            <a:solidFill>
              <a:srgbClr val="242320"/>
            </a:solidFill>
            <a:ln>
              <a:noFill/>
            </a:ln>
          </p:spPr>
        </p:sp>
        <p:grpSp>
          <p:nvGrpSpPr>
            <p:cNvPr id="46" name="Group 46"/>
            <p:cNvGrpSpPr/>
            <p:nvPr/>
          </p:nvGrpSpPr>
          <p:grpSpPr>
            <a:xfrm>
              <a:off x="4510088" y="5195888"/>
              <a:ext cx="200026" cy="200025"/>
              <a:chOff x="4510088" y="5195888"/>
              <a:chExt cx="200026" cy="200025"/>
            </a:xfrm>
          </p:grpSpPr>
          <p:sp>
            <p:nvSpPr>
              <p:cNvPr id="42" name="Freeform 42"/>
              <p:cNvSpPr/>
              <p:nvPr/>
            </p:nvSpPr>
            <p:spPr>
              <a:xfrm>
                <a:off x="4532313" y="5195888"/>
                <a:ext cx="88900" cy="88900"/>
              </a:xfrm>
              <a:custGeom>
                <a:avLst/>
                <a:gdLst/>
                <a:ahLst/>
                <a:cxnLst/>
                <a:rect l="l" t="t" r="r" b="b"/>
                <a:pathLst>
                  <a:path w="88900" h="88900">
                    <a:moveTo>
                      <a:pt x="0" y="44450"/>
                    </a:moveTo>
                    <a:cubicBezTo>
                      <a:pt x="0" y="68999"/>
                      <a:pt x="19901" y="88900"/>
                      <a:pt x="44450" y="88900"/>
                    </a:cubicBezTo>
                    <a:cubicBezTo>
                      <a:pt x="68999" y="88900"/>
                      <a:pt x="88900" y="68999"/>
                      <a:pt x="88900" y="44450"/>
                    </a:cubicBezTo>
                    <a:cubicBezTo>
                      <a:pt x="88900" y="19901"/>
                      <a:pt x="68999" y="0"/>
                      <a:pt x="44450" y="0"/>
                    </a:cubicBezTo>
                    <a:cubicBezTo>
                      <a:pt x="19901" y="0"/>
                      <a:pt x="0" y="19901"/>
                      <a:pt x="0" y="44450"/>
                    </a:cubicBezTo>
                  </a:path>
                </a:pathLst>
              </a:custGeom>
              <a:noFill/>
              <a:ln w="22225">
                <a:solidFill>
                  <a:schemeClr val="accent3"/>
                </a:solidFill>
              </a:ln>
            </p:spPr>
          </p:sp>
          <p:sp>
            <p:nvSpPr>
              <p:cNvPr id="43" name="Freeform 43"/>
              <p:cNvSpPr/>
              <p:nvPr/>
            </p:nvSpPr>
            <p:spPr>
              <a:xfrm>
                <a:off x="4510088" y="5329238"/>
                <a:ext cx="133350" cy="66675"/>
              </a:xfrm>
              <a:custGeom>
                <a:avLst/>
                <a:gdLst/>
                <a:ahLst/>
                <a:cxnLst/>
                <a:rect l="l" t="t" r="r" b="b"/>
                <a:pathLst>
                  <a:path w="133350" h="66675">
                    <a:moveTo>
                      <a:pt x="0" y="66675"/>
                    </a:moveTo>
                    <a:lnTo>
                      <a:pt x="0" y="44450"/>
                    </a:lnTo>
                    <a:cubicBezTo>
                      <a:pt x="0" y="19901"/>
                      <a:pt x="19901" y="0"/>
                      <a:pt x="44450" y="0"/>
                    </a:cubicBezTo>
                    <a:lnTo>
                      <a:pt x="88900" y="0"/>
                    </a:lnTo>
                    <a:cubicBezTo>
                      <a:pt x="113449" y="0"/>
                      <a:pt x="133350" y="19901"/>
                      <a:pt x="133350" y="44450"/>
                    </a:cubicBezTo>
                    <a:lnTo>
                      <a:pt x="133350" y="66675"/>
                    </a:lnTo>
                  </a:path>
                </a:pathLst>
              </a:custGeom>
              <a:noFill/>
              <a:ln w="22225">
                <a:solidFill>
                  <a:schemeClr val="accent3"/>
                </a:solidFill>
              </a:ln>
            </p:spPr>
          </p:sp>
          <p:sp>
            <p:nvSpPr>
              <p:cNvPr id="44" name="Freeform 44"/>
              <p:cNvSpPr/>
              <p:nvPr/>
            </p:nvSpPr>
            <p:spPr>
              <a:xfrm>
                <a:off x="4654551" y="5197332"/>
                <a:ext cx="33425" cy="86122"/>
              </a:xfrm>
              <a:custGeom>
                <a:avLst/>
                <a:gdLst/>
                <a:ahLst/>
                <a:cxnLst/>
                <a:rect l="l" t="t" r="r" b="b"/>
                <a:pathLst>
                  <a:path w="33425" h="86122">
                    <a:moveTo>
                      <a:pt x="0" y="0"/>
                    </a:moveTo>
                    <a:cubicBezTo>
                      <a:pt x="19668" y="5036"/>
                      <a:pt x="33425" y="22758"/>
                      <a:pt x="33425" y="43061"/>
                    </a:cubicBezTo>
                    <a:cubicBezTo>
                      <a:pt x="33425" y="63364"/>
                      <a:pt x="19668" y="81086"/>
                      <a:pt x="0" y="86122"/>
                    </a:cubicBezTo>
                  </a:path>
                </a:pathLst>
              </a:custGeom>
              <a:noFill/>
              <a:ln w="22225">
                <a:solidFill>
                  <a:schemeClr val="accent3"/>
                </a:solidFill>
              </a:ln>
            </p:spPr>
          </p:sp>
          <p:sp>
            <p:nvSpPr>
              <p:cNvPr id="45" name="Freeform 45"/>
              <p:cNvSpPr/>
              <p:nvPr/>
            </p:nvSpPr>
            <p:spPr>
              <a:xfrm>
                <a:off x="4676776" y="5330905"/>
                <a:ext cx="33338" cy="65008"/>
              </a:xfrm>
              <a:custGeom>
                <a:avLst/>
                <a:gdLst/>
                <a:ahLst/>
                <a:cxnLst/>
                <a:rect l="l" t="t" r="r" b="b"/>
                <a:pathLst>
                  <a:path w="33338" h="65008">
                    <a:moveTo>
                      <a:pt x="33338" y="65008"/>
                    </a:moveTo>
                    <a:lnTo>
                      <a:pt x="33338" y="42783"/>
                    </a:lnTo>
                    <a:cubicBezTo>
                      <a:pt x="33222" y="22609"/>
                      <a:pt x="19534" y="5043"/>
                      <a:pt x="0" y="0"/>
                    </a:cubicBezTo>
                  </a:path>
                </a:pathLst>
              </a:custGeom>
              <a:noFill/>
              <a:ln w="22225">
                <a:solidFill>
                  <a:schemeClr val="accent3"/>
                </a:solidFill>
              </a:ln>
            </p:spPr>
          </p:sp>
        </p:grpSp>
        <p:sp>
          <p:nvSpPr>
            <p:cNvPr id="47" name="TextBox 47"/>
            <p:cNvSpPr txBox="1"/>
            <p:nvPr/>
          </p:nvSpPr>
          <p:spPr>
            <a:xfrm>
              <a:off x="4963668" y="5067300"/>
              <a:ext cx="1264824" cy="322707"/>
            </a:xfrm>
            <a:prstGeom prst="rect">
              <a:avLst/>
            </a:prstGeom>
            <a:noFill/>
            <a:ln>
              <a:noFill/>
            </a:ln>
          </p:spPr>
          <p:txBody>
            <a:bodyPr wrap="none" lIns="0" tIns="0" rIns="0" bIns="0" anchor="t" anchorCtr="0">
              <a:spAutoFit/>
            </a:bodyPr>
            <a:lstStyle/>
            <a:p>
              <a:pPr algn="l"/>
              <a:r>
                <a:rPr lang="id-ID" sz="1650" b="1" dirty="0">
                  <a:solidFill>
                    <a:srgbClr val="F3F1EA"/>
                  </a:solidFill>
                  <a:latin typeface="+mn-lt"/>
                  <a:ea typeface="+mn-ea"/>
                  <a:cs typeface="+mn-cs"/>
                </a:rPr>
                <a:t>Early adopter</a:t>
              </a:r>
            </a:p>
          </p:txBody>
        </p:sp>
        <p:sp>
          <p:nvSpPr>
            <p:cNvPr id="48" name="TextBox 48"/>
            <p:cNvSpPr txBox="1"/>
            <p:nvPr/>
          </p:nvSpPr>
          <p:spPr>
            <a:xfrm>
              <a:off x="4965192" y="5346700"/>
              <a:ext cx="2118539" cy="492633"/>
            </a:xfrm>
            <a:prstGeom prst="rect">
              <a:avLst/>
            </a:prstGeom>
            <a:noFill/>
            <a:ln>
              <a:noFill/>
            </a:ln>
          </p:spPr>
          <p:txBody>
            <a:bodyPr wrap="none" lIns="0" tIns="0" rIns="0" bIns="0" anchor="t" anchorCtr="0">
              <a:spAutoFit/>
            </a:bodyPr>
            <a:lstStyle/>
            <a:p>
              <a:pPr algn="l">
                <a:lnSpc>
                  <a:spcPts val="1800"/>
                </a:lnSpc>
              </a:pPr>
              <a:r>
                <a:rPr lang="id-ID" sz="1350" dirty="0">
                  <a:solidFill>
                    <a:srgbClr val="B9B6AA"/>
                  </a:solidFill>
                  <a:latin typeface="+mn-lt"/>
                  <a:ea typeface="+mn-ea"/>
                  <a:cs typeface="+mn-cs"/>
                </a:rPr>
                <a:t>Klinik pertama jadi studi kasus</a:t>
              </a:r>
              <a:br>
                <a:rPr lang="id-ID" sz="1350" dirty="0">
                  <a:solidFill>
                    <a:srgbClr val="B9B6AA"/>
                  </a:solidFill>
                  <a:latin typeface="+mn-lt"/>
                  <a:ea typeface="+mn-ea"/>
                  <a:cs typeface="+mn-cs"/>
                </a:rPr>
              </a:br>
              <a:r>
                <a:rPr lang="id-ID" sz="1350" dirty="0">
                  <a:solidFill>
                    <a:srgbClr val="B9B6AA"/>
                  </a:solidFill>
                  <a:latin typeface="+mn-lt"/>
                  <a:ea typeface="+mn-ea"/>
                  <a:cs typeface="+mn-cs"/>
                </a:rPr>
                <a:t>dan sumber referral.</a:t>
              </a:r>
            </a:p>
          </p:txBody>
        </p:sp>
      </p:grpSp>
      <p:grpSp>
        <p:nvGrpSpPr>
          <p:cNvPr id="56" name="promo-arpu"/>
          <p:cNvGrpSpPr/>
          <p:nvPr/>
        </p:nvGrpSpPr>
        <p:grpSpPr>
          <a:xfrm>
            <a:off x="8115300" y="5067300"/>
            <a:ext cx="2463178" cy="772033"/>
            <a:chOff x="8115300" y="5067300"/>
            <a:chExt cx="2463178" cy="772033"/>
          </a:xfrm>
        </p:grpSpPr>
        <p:sp>
          <p:nvSpPr>
            <p:cNvPr id="50" name="Ellipse 50"/>
            <p:cNvSpPr/>
            <p:nvPr/>
          </p:nvSpPr>
          <p:spPr>
            <a:xfrm>
              <a:off x="8115300" y="5067300"/>
              <a:ext cx="457200" cy="457200"/>
            </a:xfrm>
            <a:prstGeom prst="ellipse">
              <a:avLst/>
            </a:prstGeom>
            <a:solidFill>
              <a:srgbClr val="242320"/>
            </a:solidFill>
            <a:ln>
              <a:noFill/>
            </a:ln>
          </p:spPr>
        </p:sp>
        <p:grpSp>
          <p:nvGrpSpPr>
            <p:cNvPr id="53" name="Group 53"/>
            <p:cNvGrpSpPr/>
            <p:nvPr/>
          </p:nvGrpSpPr>
          <p:grpSpPr>
            <a:xfrm>
              <a:off x="8243888" y="5240338"/>
              <a:ext cx="200026" cy="111125"/>
              <a:chOff x="8243888" y="5240338"/>
              <a:chExt cx="200026" cy="111125"/>
            </a:xfrm>
          </p:grpSpPr>
          <p:sp>
            <p:nvSpPr>
              <p:cNvPr id="51" name="Freeform 51"/>
              <p:cNvSpPr/>
              <p:nvPr/>
            </p:nvSpPr>
            <p:spPr>
              <a:xfrm>
                <a:off x="8243888" y="5240338"/>
                <a:ext cx="200026" cy="111125"/>
              </a:xfrm>
              <a:custGeom>
                <a:avLst/>
                <a:gdLst/>
                <a:ahLst/>
                <a:cxnLst/>
                <a:rect l="l" t="t" r="r" b="b"/>
                <a:pathLst>
                  <a:path w="200026" h="111125">
                    <a:moveTo>
                      <a:pt x="0" y="111125"/>
                    </a:moveTo>
                    <a:lnTo>
                      <a:pt x="66675" y="44450"/>
                    </a:lnTo>
                    <a:lnTo>
                      <a:pt x="111125" y="88900"/>
                    </a:lnTo>
                    <a:lnTo>
                      <a:pt x="200026" y="0"/>
                    </a:lnTo>
                  </a:path>
                </a:pathLst>
              </a:custGeom>
              <a:noFill/>
              <a:ln w="22225">
                <a:solidFill>
                  <a:schemeClr val="accent3"/>
                </a:solidFill>
              </a:ln>
            </p:spPr>
          </p:sp>
          <p:sp>
            <p:nvSpPr>
              <p:cNvPr id="52" name="Freeform 52"/>
              <p:cNvSpPr/>
              <p:nvPr/>
            </p:nvSpPr>
            <p:spPr>
              <a:xfrm>
                <a:off x="8366125" y="5240338"/>
                <a:ext cx="77788" cy="77788"/>
              </a:xfrm>
              <a:custGeom>
                <a:avLst/>
                <a:gdLst/>
                <a:ahLst/>
                <a:cxnLst/>
                <a:rect l="l" t="t" r="r" b="b"/>
                <a:pathLst>
                  <a:path w="77788" h="77788">
                    <a:moveTo>
                      <a:pt x="0" y="0"/>
                    </a:moveTo>
                    <a:lnTo>
                      <a:pt x="77788" y="0"/>
                    </a:lnTo>
                    <a:lnTo>
                      <a:pt x="77788" y="77788"/>
                    </a:lnTo>
                  </a:path>
                </a:pathLst>
              </a:custGeom>
              <a:noFill/>
              <a:ln w="22225">
                <a:solidFill>
                  <a:schemeClr val="accent3"/>
                </a:solidFill>
              </a:ln>
            </p:spPr>
          </p:sp>
        </p:grpSp>
        <p:sp>
          <p:nvSpPr>
            <p:cNvPr id="54" name="TextBox 54"/>
            <p:cNvSpPr txBox="1"/>
            <p:nvPr/>
          </p:nvSpPr>
          <p:spPr>
            <a:xfrm>
              <a:off x="8697468" y="5067300"/>
              <a:ext cx="1316600" cy="322707"/>
            </a:xfrm>
            <a:prstGeom prst="rect">
              <a:avLst/>
            </a:prstGeom>
            <a:noFill/>
            <a:ln>
              <a:noFill/>
            </a:ln>
          </p:spPr>
          <p:txBody>
            <a:bodyPr wrap="none" lIns="0" tIns="0" rIns="0" bIns="0" anchor="t" anchorCtr="0">
              <a:spAutoFit/>
            </a:bodyPr>
            <a:lstStyle/>
            <a:p>
              <a:pPr algn="l"/>
              <a:r>
                <a:rPr lang="id-ID" sz="1650" b="1" dirty="0">
                  <a:solidFill>
                    <a:srgbClr val="F3F1EA"/>
                  </a:solidFill>
                  <a:latin typeface="+mn-lt"/>
                  <a:ea typeface="+mn-ea"/>
                  <a:cs typeface="+mn-cs"/>
                </a:rPr>
                <a:t>Naik otomatis</a:t>
              </a:r>
            </a:p>
          </p:txBody>
        </p:sp>
        <p:sp>
          <p:nvSpPr>
            <p:cNvPr id="55" name="TextBox 55"/>
            <p:cNvSpPr txBox="1"/>
            <p:nvPr/>
          </p:nvSpPr>
          <p:spPr>
            <a:xfrm>
              <a:off x="8698992" y="5346700"/>
              <a:ext cx="1879486" cy="492633"/>
            </a:xfrm>
            <a:prstGeom prst="rect">
              <a:avLst/>
            </a:prstGeom>
            <a:noFill/>
            <a:ln>
              <a:noFill/>
            </a:ln>
          </p:spPr>
          <p:txBody>
            <a:bodyPr wrap="none" lIns="0" tIns="0" rIns="0" bIns="0" anchor="t" anchorCtr="0">
              <a:spAutoFit/>
            </a:bodyPr>
            <a:lstStyle/>
            <a:p>
              <a:pPr algn="l">
                <a:lnSpc>
                  <a:spcPts val="1800"/>
                </a:lnSpc>
              </a:pPr>
              <a:r>
                <a:rPr lang="id-ID" sz="1350" dirty="0">
                  <a:solidFill>
                    <a:srgbClr val="B9B6AA"/>
                  </a:solidFill>
                  <a:latin typeface="+mn-lt"/>
                  <a:ea typeface="+mn-ea"/>
                  <a:cs typeface="+mn-cs"/>
                </a:rPr>
                <a:t>Mulai 2027 ARPU naik ± 2x</a:t>
              </a:r>
              <a:br>
                <a:rPr lang="id-ID" sz="1350" dirty="0">
                  <a:solidFill>
                    <a:srgbClr val="B9B6AA"/>
                  </a:solidFill>
                  <a:latin typeface="+mn-lt"/>
                  <a:ea typeface="+mn-ea"/>
                  <a:cs typeface="+mn-cs"/>
                </a:rPr>
              </a:br>
              <a:r>
                <a:rPr lang="id-ID" sz="1350" dirty="0">
                  <a:solidFill>
                    <a:srgbClr val="B9B6AA"/>
                  </a:solidFill>
                  <a:latin typeface="+mn-lt"/>
                  <a:ea typeface="+mn-ea"/>
                  <a:cs typeface="+mn-cs"/>
                </a:rPr>
                <a:t>tanpa mengubah produk.</a:t>
              </a:r>
            </a:p>
          </p:txBody>
        </p:sp>
      </p:grpSp>
      <p:grpSp>
        <p:nvGrpSpPr>
          <p:cNvPr id="58" name="promo-note"/>
          <p:cNvGrpSpPr/>
          <p:nvPr/>
        </p:nvGrpSpPr>
        <p:grpSpPr>
          <a:xfrm>
            <a:off x="603123" y="6096000"/>
            <a:ext cx="7890241" cy="250317"/>
            <a:chOff x="603123" y="6096000"/>
            <a:chExt cx="7890241" cy="250317"/>
          </a:xfrm>
        </p:grpSpPr>
        <p:sp>
          <p:nvSpPr>
            <p:cNvPr id="57" name="TextBox 57"/>
            <p:cNvSpPr txBox="1"/>
            <p:nvPr/>
          </p:nvSpPr>
          <p:spPr>
            <a:xfrm>
              <a:off x="603123" y="6096000"/>
              <a:ext cx="7890241" cy="250317"/>
            </a:xfrm>
            <a:prstGeom prst="rect">
              <a:avLst/>
            </a:prstGeom>
            <a:noFill/>
            <a:ln>
              <a:noFill/>
            </a:ln>
          </p:spPr>
          <p:txBody>
            <a:bodyPr wrap="none" lIns="0" tIns="0" rIns="0" bIns="0" anchor="t" anchorCtr="0">
              <a:spAutoFit/>
            </a:bodyPr>
            <a:lstStyle/>
            <a:p>
              <a:pPr algn="l"/>
              <a:r>
                <a:rPr lang="id-ID" sz="1280" dirty="0">
                  <a:solidFill>
                    <a:srgbClr val="B9B6AA"/>
                  </a:solidFill>
                  <a:latin typeface="+mn-lt"/>
                  <a:ea typeface="+mn-ea"/>
                  <a:cs typeface="+mn-cs"/>
                </a:rPr>
                <a:t>Berlaku untuk pendaftaran &amp; perpanjangan hingga 31 Desember 2026. Mulai 1 Januari 2027 berlaku harga baru.</a:t>
              </a:r>
            </a:p>
          </p:txBody>
        </p:sp>
      </p:grpSp>
      <p:grpSp>
        <p:nvGrpSpPr>
          <p:cNvPr id="61" name="footer"/>
          <p:cNvGrpSpPr/>
          <p:nvPr/>
        </p:nvGrpSpPr>
        <p:grpSpPr>
          <a:xfrm>
            <a:off x="604647" y="6477000"/>
            <a:ext cx="10982706" cy="191643"/>
            <a:chOff x="604647" y="6477000"/>
            <a:chExt cx="10982706" cy="191643"/>
          </a:xfrm>
        </p:grpSpPr>
        <p:sp>
          <p:nvSpPr>
            <p:cNvPr id="59" name="TextBox 59"/>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rgbClr val="B9B6AA"/>
                  </a:solidFill>
                  <a:latin typeface="+mn-lt"/>
                  <a:ea typeface="+mn-ea"/>
                  <a:cs typeface="+mn-cs"/>
                </a:rPr>
                <a:t>ApexRecord · Pitch Deck 2026</a:t>
              </a:r>
            </a:p>
          </p:txBody>
        </p:sp>
        <p:sp>
          <p:nvSpPr>
            <p:cNvPr id="60" name="TextBox 60"/>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rgbClr val="B9B6AA"/>
                  </a:solidFill>
                  <a:latin typeface="+mn-lt"/>
                  <a:ea typeface="+mn-ea"/>
                  <a:cs typeface="+mn-cs"/>
                </a:rPr>
                <a:t>09</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9379996" cy="786003"/>
            <a:chOff x="595122" y="635000"/>
            <a:chExt cx="9379996" cy="786003"/>
          </a:xfrm>
        </p:grpSpPr>
        <p:sp>
          <p:nvSpPr>
            <p:cNvPr id="2" name="TextBox 2"/>
            <p:cNvSpPr txBox="1"/>
            <p:nvPr/>
          </p:nvSpPr>
          <p:spPr>
            <a:xfrm>
              <a:off x="603885" y="635000"/>
              <a:ext cx="1819589"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LAYANAN TAMBAHAN</a:t>
              </a:r>
            </a:p>
          </p:txBody>
        </p:sp>
        <p:sp>
          <p:nvSpPr>
            <p:cNvPr id="3" name="TextBox 3"/>
            <p:cNvSpPr txBox="1"/>
            <p:nvPr/>
          </p:nvSpPr>
          <p:spPr>
            <a:xfrm>
              <a:off x="595122" y="863600"/>
              <a:ext cx="9379996"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Di luar langganan: website klinik &amp; layanan custom</a:t>
              </a:r>
            </a:p>
          </p:txBody>
        </p:sp>
      </p:grpSp>
      <p:grpSp>
        <p:nvGrpSpPr>
          <p:cNvPr id="27" name="website-service"/>
          <p:cNvGrpSpPr/>
          <p:nvPr/>
        </p:nvGrpSpPr>
        <p:grpSpPr>
          <a:xfrm>
            <a:off x="609600" y="1676400"/>
            <a:ext cx="6096000" cy="4267200"/>
            <a:chOff x="609600" y="1676400"/>
            <a:chExt cx="6096000" cy="4267200"/>
          </a:xfrm>
        </p:grpSpPr>
        <p:sp>
          <p:nvSpPr>
            <p:cNvPr id="5" name="Rectangle 5"/>
            <p:cNvSpPr/>
            <p:nvPr/>
          </p:nvSpPr>
          <p:spPr>
            <a:xfrm>
              <a:off x="609600" y="1676400"/>
              <a:ext cx="6096000" cy="4267200"/>
            </a:xfrm>
            <a:prstGeom prst="roundRect">
              <a:avLst>
                <a:gd name="adj" fmla="val 4464"/>
              </a:avLst>
            </a:prstGeom>
            <a:solidFill>
              <a:schemeClr val="accent1"/>
            </a:solidFill>
            <a:ln>
              <a:noFill/>
            </a:ln>
          </p:spPr>
        </p:sp>
        <p:sp>
          <p:nvSpPr>
            <p:cNvPr id="6" name="Ellipse 6"/>
            <p:cNvSpPr/>
            <p:nvPr/>
          </p:nvSpPr>
          <p:spPr>
            <a:xfrm>
              <a:off x="857250" y="1962150"/>
              <a:ext cx="647700" cy="647700"/>
            </a:xfrm>
            <a:prstGeom prst="ellipse">
              <a:avLst/>
            </a:prstGeom>
            <a:solidFill>
              <a:schemeClr val="accent3"/>
            </a:solidFill>
            <a:ln>
              <a:noFill/>
            </a:ln>
          </p:spPr>
        </p:sp>
        <p:grpSp>
          <p:nvGrpSpPr>
            <p:cNvPr id="12" name="Group 12"/>
            <p:cNvGrpSpPr/>
            <p:nvPr/>
          </p:nvGrpSpPr>
          <p:grpSpPr>
            <a:xfrm>
              <a:off x="1052512" y="2157412"/>
              <a:ext cx="257175" cy="257175"/>
              <a:chOff x="1052512" y="2157412"/>
              <a:chExt cx="257175" cy="257175"/>
            </a:xfrm>
          </p:grpSpPr>
          <p:sp>
            <p:nvSpPr>
              <p:cNvPr id="7" name="Freeform 7"/>
              <p:cNvSpPr/>
              <p:nvPr/>
            </p:nvSpPr>
            <p:spPr>
              <a:xfrm>
                <a:off x="1052512" y="2157412"/>
                <a:ext cx="257175" cy="257175"/>
              </a:xfrm>
              <a:custGeom>
                <a:avLst/>
                <a:gdLst/>
                <a:ahLst/>
                <a:cxnLst/>
                <a:rect l="l" t="t" r="r" b="b"/>
                <a:pathLst>
                  <a:path w="257175" h="257175">
                    <a:moveTo>
                      <a:pt x="0" y="128588"/>
                    </a:moveTo>
                    <a:cubicBezTo>
                      <a:pt x="0" y="199604"/>
                      <a:pt x="57571" y="257175"/>
                      <a:pt x="128588" y="257175"/>
                    </a:cubicBezTo>
                    <a:cubicBezTo>
                      <a:pt x="199604" y="257175"/>
                      <a:pt x="257175" y="199604"/>
                      <a:pt x="257175" y="128588"/>
                    </a:cubicBezTo>
                    <a:cubicBezTo>
                      <a:pt x="257175" y="57571"/>
                      <a:pt x="199604" y="0"/>
                      <a:pt x="128588" y="0"/>
                    </a:cubicBezTo>
                    <a:cubicBezTo>
                      <a:pt x="57571" y="0"/>
                      <a:pt x="0" y="57571"/>
                      <a:pt x="0" y="128588"/>
                    </a:cubicBezTo>
                  </a:path>
                </a:pathLst>
              </a:custGeom>
              <a:noFill/>
              <a:ln w="28575">
                <a:solidFill>
                  <a:schemeClr val="accent1"/>
                </a:solidFill>
              </a:ln>
            </p:spPr>
          </p:sp>
          <p:sp>
            <p:nvSpPr>
              <p:cNvPr id="8" name="Freeform 8"/>
              <p:cNvSpPr/>
              <p:nvPr/>
            </p:nvSpPr>
            <p:spPr>
              <a:xfrm>
                <a:off x="1061085" y="2243138"/>
                <a:ext cx="240030" cy="9525"/>
              </a:xfrm>
              <a:custGeom>
                <a:avLst/>
                <a:gdLst/>
                <a:ahLst/>
                <a:cxnLst/>
                <a:rect l="l" t="t" r="r" b="b"/>
                <a:pathLst>
                  <a:path w="240030" h="9525">
                    <a:moveTo>
                      <a:pt x="0" y="0"/>
                    </a:moveTo>
                    <a:lnTo>
                      <a:pt x="240030" y="0"/>
                    </a:lnTo>
                  </a:path>
                </a:pathLst>
              </a:custGeom>
              <a:noFill/>
              <a:ln w="28575">
                <a:solidFill>
                  <a:schemeClr val="accent1"/>
                </a:solidFill>
              </a:ln>
            </p:spPr>
          </p:sp>
          <p:sp>
            <p:nvSpPr>
              <p:cNvPr id="9" name="Freeform 9"/>
              <p:cNvSpPr/>
              <p:nvPr/>
            </p:nvSpPr>
            <p:spPr>
              <a:xfrm>
                <a:off x="1061085" y="2328862"/>
                <a:ext cx="240030" cy="9525"/>
              </a:xfrm>
              <a:custGeom>
                <a:avLst/>
                <a:gdLst/>
                <a:ahLst/>
                <a:cxnLst/>
                <a:rect l="l" t="t" r="r" b="b"/>
                <a:pathLst>
                  <a:path w="240030" h="9525">
                    <a:moveTo>
                      <a:pt x="0" y="0"/>
                    </a:moveTo>
                    <a:lnTo>
                      <a:pt x="240030" y="0"/>
                    </a:lnTo>
                  </a:path>
                </a:pathLst>
              </a:custGeom>
              <a:noFill/>
              <a:ln w="28575">
                <a:solidFill>
                  <a:schemeClr val="accent1"/>
                </a:solidFill>
              </a:ln>
            </p:spPr>
          </p:sp>
          <p:sp>
            <p:nvSpPr>
              <p:cNvPr id="10" name="Freeform 10"/>
              <p:cNvSpPr/>
              <p:nvPr/>
            </p:nvSpPr>
            <p:spPr>
              <a:xfrm>
                <a:off x="1124849" y="2157412"/>
                <a:ext cx="49107" cy="257175"/>
              </a:xfrm>
              <a:custGeom>
                <a:avLst/>
                <a:gdLst/>
                <a:ahLst/>
                <a:cxnLst/>
                <a:rect l="l" t="t" r="r" b="b"/>
                <a:pathLst>
                  <a:path w="49107" h="257175">
                    <a:moveTo>
                      <a:pt x="49107" y="0"/>
                    </a:moveTo>
                    <a:cubicBezTo>
                      <a:pt x="0" y="78692"/>
                      <a:pt x="0" y="178483"/>
                      <a:pt x="49107" y="257175"/>
                    </a:cubicBezTo>
                  </a:path>
                </a:pathLst>
              </a:custGeom>
              <a:noFill/>
              <a:ln w="28575">
                <a:solidFill>
                  <a:schemeClr val="accent1"/>
                </a:solidFill>
              </a:ln>
            </p:spPr>
          </p:sp>
          <p:sp>
            <p:nvSpPr>
              <p:cNvPr id="11" name="Freeform 11"/>
              <p:cNvSpPr/>
              <p:nvPr/>
            </p:nvSpPr>
            <p:spPr>
              <a:xfrm>
                <a:off x="1188244" y="2157412"/>
                <a:ext cx="49107" cy="257175"/>
              </a:xfrm>
              <a:custGeom>
                <a:avLst/>
                <a:gdLst/>
                <a:ahLst/>
                <a:cxnLst/>
                <a:rect l="l" t="t" r="r" b="b"/>
                <a:pathLst>
                  <a:path w="49107" h="257175">
                    <a:moveTo>
                      <a:pt x="0" y="0"/>
                    </a:moveTo>
                    <a:cubicBezTo>
                      <a:pt x="49107" y="78692"/>
                      <a:pt x="49107" y="178483"/>
                      <a:pt x="0" y="257175"/>
                    </a:cubicBezTo>
                  </a:path>
                </a:pathLst>
              </a:custGeom>
              <a:noFill/>
              <a:ln w="28575">
                <a:solidFill>
                  <a:schemeClr val="accent1"/>
                </a:solidFill>
              </a:ln>
            </p:spPr>
          </p:sp>
        </p:grpSp>
        <p:sp>
          <p:nvSpPr>
            <p:cNvPr id="13" name="TextBox 13"/>
            <p:cNvSpPr txBox="1"/>
            <p:nvPr/>
          </p:nvSpPr>
          <p:spPr>
            <a:xfrm>
              <a:off x="903732" y="2794000"/>
              <a:ext cx="4362784" cy="410718"/>
            </a:xfrm>
            <a:prstGeom prst="rect">
              <a:avLst/>
            </a:prstGeom>
            <a:noFill/>
            <a:ln>
              <a:noFill/>
            </a:ln>
          </p:spPr>
          <p:txBody>
            <a:bodyPr wrap="none" lIns="0" tIns="0" rIns="0" bIns="0" anchor="t" anchorCtr="0">
              <a:spAutoFit/>
            </a:bodyPr>
            <a:lstStyle/>
            <a:p>
              <a:pPr algn="l"/>
              <a:r>
                <a:rPr lang="id-ID" sz="2100" b="1" dirty="0">
                  <a:solidFill>
                    <a:srgbClr val="F3F1EA"/>
                  </a:solidFill>
                  <a:latin typeface="+mj-lt"/>
                  <a:ea typeface="+mj-ea"/>
                  <a:cs typeface="+mj-cs"/>
                </a:rPr>
                <a:t>Pembuatan Landing Page Klinik</a:t>
              </a:r>
            </a:p>
          </p:txBody>
        </p:sp>
        <p:sp>
          <p:nvSpPr>
            <p:cNvPr id="14" name="TextBox 14"/>
            <p:cNvSpPr txBox="1"/>
            <p:nvPr/>
          </p:nvSpPr>
          <p:spPr>
            <a:xfrm>
              <a:off x="906018" y="3232150"/>
              <a:ext cx="3679623" cy="865632"/>
            </a:xfrm>
            <a:prstGeom prst="rect">
              <a:avLst/>
            </a:prstGeom>
            <a:noFill/>
            <a:ln>
              <a:noFill/>
            </a:ln>
          </p:spPr>
          <p:txBody>
            <a:bodyPr wrap="none" lIns="0" tIns="0" rIns="0" bIns="0" anchor="t" anchorCtr="0">
              <a:spAutoFit/>
            </a:bodyPr>
            <a:lstStyle/>
            <a:p>
              <a:pPr algn="l"/>
              <a:r>
                <a:rPr lang="id-ID" sz="1650" dirty="0">
                  <a:solidFill>
                    <a:srgbClr val="B9B6AA"/>
                  </a:solidFill>
                  <a:latin typeface="+mn-lt"/>
                  <a:ea typeface="+mn-ea"/>
                  <a:cs typeface="+mn-cs"/>
                </a:rPr>
                <a:t xml:space="preserve">Mulai </a:t>
              </a:r>
              <a:r>
                <a:rPr lang="id-ID" sz="4500" b="1" dirty="0">
                  <a:solidFill>
                    <a:schemeClr val="accent3"/>
                  </a:solidFill>
                  <a:latin typeface="+mj-lt"/>
                  <a:ea typeface="+mj-ea"/>
                  <a:cs typeface="+mj-cs"/>
                </a:rPr>
                <a:t>Rp1 jt</a:t>
              </a:r>
              <a:r>
                <a:rPr lang="id-ID" sz="1650" dirty="0">
                  <a:solidFill>
                    <a:srgbClr val="B9B6AA"/>
                  </a:solidFill>
                  <a:latin typeface="+mn-lt"/>
                  <a:ea typeface="+mn-ea"/>
                  <a:cs typeface="+mn-cs"/>
                </a:rPr>
                <a:t xml:space="preserve"> · harga custom</a:t>
              </a:r>
            </a:p>
          </p:txBody>
        </p:sp>
        <p:grpSp>
          <p:nvGrpSpPr>
            <p:cNvPr id="21" name="Group 21"/>
            <p:cNvGrpSpPr/>
            <p:nvPr/>
          </p:nvGrpSpPr>
          <p:grpSpPr>
            <a:xfrm>
              <a:off x="933450" y="4117975"/>
              <a:ext cx="5082158" cy="979170"/>
              <a:chOff x="933450" y="4117975"/>
              <a:chExt cx="5082158" cy="979170"/>
            </a:xfrm>
          </p:grpSpPr>
          <p:sp>
            <p:nvSpPr>
              <p:cNvPr id="15" name="Ellipse 15"/>
              <p:cNvSpPr/>
              <p:nvPr/>
            </p:nvSpPr>
            <p:spPr>
              <a:xfrm>
                <a:off x="933450" y="4191000"/>
                <a:ext cx="76200" cy="76200"/>
              </a:xfrm>
              <a:prstGeom prst="ellipse">
                <a:avLst/>
              </a:prstGeom>
              <a:solidFill>
                <a:schemeClr val="accent3"/>
              </a:solidFill>
              <a:ln>
                <a:noFill/>
              </a:ln>
            </p:spPr>
          </p:sp>
          <p:sp>
            <p:nvSpPr>
              <p:cNvPr id="16" name="TextBox 16"/>
              <p:cNvSpPr txBox="1"/>
              <p:nvPr/>
            </p:nvSpPr>
            <p:spPr>
              <a:xfrm>
                <a:off x="1116330" y="4117975"/>
                <a:ext cx="3106492" cy="293370"/>
              </a:xfrm>
              <a:prstGeom prst="rect">
                <a:avLst/>
              </a:prstGeom>
              <a:noFill/>
              <a:ln>
                <a:noFill/>
              </a:ln>
            </p:spPr>
            <p:txBody>
              <a:bodyPr wrap="none" lIns="0" tIns="0" rIns="0" bIns="0" anchor="t" anchorCtr="0">
                <a:spAutoFit/>
              </a:bodyPr>
              <a:lstStyle/>
              <a:p>
                <a:pPr algn="l"/>
                <a:r>
                  <a:rPr lang="id-ID" sz="1500" dirty="0">
                    <a:solidFill>
                      <a:srgbClr val="F3F1EA"/>
                    </a:solidFill>
                    <a:latin typeface="+mn-lt"/>
                    <a:ea typeface="+mn-ea"/>
                    <a:cs typeface="+mn-cs"/>
                  </a:rPr>
                  <a:t>Desain sesuai identitas &amp; warna klinik</a:t>
                </a:r>
              </a:p>
            </p:txBody>
          </p:sp>
          <p:sp>
            <p:nvSpPr>
              <p:cNvPr id="17" name="Ellipse 17"/>
              <p:cNvSpPr/>
              <p:nvPr/>
            </p:nvSpPr>
            <p:spPr>
              <a:xfrm>
                <a:off x="933450" y="4533900"/>
                <a:ext cx="76200" cy="76200"/>
              </a:xfrm>
              <a:prstGeom prst="ellipse">
                <a:avLst/>
              </a:prstGeom>
              <a:solidFill>
                <a:schemeClr val="accent3"/>
              </a:solidFill>
              <a:ln>
                <a:noFill/>
              </a:ln>
            </p:spPr>
          </p:sp>
          <p:sp>
            <p:nvSpPr>
              <p:cNvPr id="18" name="TextBox 18"/>
              <p:cNvSpPr txBox="1"/>
              <p:nvPr/>
            </p:nvSpPr>
            <p:spPr>
              <a:xfrm>
                <a:off x="1116330" y="4460875"/>
                <a:ext cx="4899278" cy="293370"/>
              </a:xfrm>
              <a:prstGeom prst="rect">
                <a:avLst/>
              </a:prstGeom>
              <a:noFill/>
              <a:ln>
                <a:noFill/>
              </a:ln>
            </p:spPr>
            <p:txBody>
              <a:bodyPr wrap="none" lIns="0" tIns="0" rIns="0" bIns="0" anchor="t" anchorCtr="0">
                <a:spAutoFit/>
              </a:bodyPr>
              <a:lstStyle/>
              <a:p>
                <a:pPr algn="l"/>
                <a:r>
                  <a:rPr lang="id-ID" sz="1500" dirty="0">
                    <a:solidFill>
                      <a:srgbClr val="F3F1EA"/>
                    </a:solidFill>
                    <a:latin typeface="+mn-lt"/>
                    <a:ea typeface="+mn-ea"/>
                    <a:cs typeface="+mn-cs"/>
                  </a:rPr>
                  <a:t>Jadwal dokter &amp; reservasi tersinkron lewat API ApexRecord</a:t>
                </a:r>
              </a:p>
            </p:txBody>
          </p:sp>
          <p:sp>
            <p:nvSpPr>
              <p:cNvPr id="19" name="Ellipse 19"/>
              <p:cNvSpPr/>
              <p:nvPr/>
            </p:nvSpPr>
            <p:spPr>
              <a:xfrm>
                <a:off x="933450" y="4876800"/>
                <a:ext cx="76200" cy="76200"/>
              </a:xfrm>
              <a:prstGeom prst="ellipse">
                <a:avLst/>
              </a:prstGeom>
              <a:solidFill>
                <a:schemeClr val="accent3"/>
              </a:solidFill>
              <a:ln>
                <a:noFill/>
              </a:ln>
            </p:spPr>
          </p:sp>
          <p:sp>
            <p:nvSpPr>
              <p:cNvPr id="20" name="TextBox 20"/>
              <p:cNvSpPr txBox="1"/>
              <p:nvPr/>
            </p:nvSpPr>
            <p:spPr>
              <a:xfrm>
                <a:off x="1116330" y="4803775"/>
                <a:ext cx="3354265" cy="293370"/>
              </a:xfrm>
              <a:prstGeom prst="rect">
                <a:avLst/>
              </a:prstGeom>
              <a:noFill/>
              <a:ln>
                <a:noFill/>
              </a:ln>
            </p:spPr>
            <p:txBody>
              <a:bodyPr wrap="none" lIns="0" tIns="0" rIns="0" bIns="0" anchor="t" anchorCtr="0">
                <a:spAutoFit/>
              </a:bodyPr>
              <a:lstStyle/>
              <a:p>
                <a:pPr algn="l"/>
                <a:r>
                  <a:rPr lang="id-ID" sz="1500" dirty="0">
                    <a:solidFill>
                      <a:srgbClr val="F3F1EA"/>
                    </a:solidFill>
                    <a:latin typeface="+mn-lt"/>
                    <a:ea typeface="+mn-ea"/>
                    <a:cs typeface="+mn-cs"/>
                  </a:rPr>
                  <a:t>Harga final setelah konsultasi kebutuhan</a:t>
                </a:r>
              </a:p>
            </p:txBody>
          </p:sp>
        </p:grpSp>
        <p:sp>
          <p:nvSpPr>
            <p:cNvPr id="22" name="Rectangle 22"/>
            <p:cNvSpPr/>
            <p:nvPr/>
          </p:nvSpPr>
          <p:spPr>
            <a:xfrm>
              <a:off x="914400" y="5257800"/>
              <a:ext cx="3733800" cy="419100"/>
            </a:xfrm>
            <a:prstGeom prst="roundRect">
              <a:avLst>
                <a:gd name="adj" fmla="val 50000"/>
              </a:avLst>
            </a:prstGeom>
            <a:solidFill>
              <a:schemeClr val="accent3"/>
            </a:solidFill>
            <a:ln>
              <a:noFill/>
            </a:ln>
          </p:spPr>
        </p:sp>
        <p:grpSp>
          <p:nvGrpSpPr>
            <p:cNvPr id="25" name="Group 25"/>
            <p:cNvGrpSpPr/>
            <p:nvPr/>
          </p:nvGrpSpPr>
          <p:grpSpPr>
            <a:xfrm>
              <a:off x="1108499" y="5358740"/>
              <a:ext cx="222052" cy="220784"/>
              <a:chOff x="1108499" y="5358740"/>
              <a:chExt cx="222052" cy="220784"/>
            </a:xfrm>
          </p:grpSpPr>
          <p:sp>
            <p:nvSpPr>
              <p:cNvPr id="23" name="Freeform 23"/>
              <p:cNvSpPr/>
              <p:nvPr/>
            </p:nvSpPr>
            <p:spPr>
              <a:xfrm>
                <a:off x="1108499" y="5358740"/>
                <a:ext cx="222052" cy="220784"/>
              </a:xfrm>
              <a:custGeom>
                <a:avLst/>
                <a:gdLst/>
                <a:ahLst/>
                <a:cxnLst/>
                <a:rect l="l" t="t" r="r" b="b"/>
                <a:pathLst>
                  <a:path w="222052" h="220784">
                    <a:moveTo>
                      <a:pt x="10688" y="208623"/>
                    </a:moveTo>
                    <a:lnTo>
                      <a:pt x="29024" y="166396"/>
                    </a:lnTo>
                    <a:cubicBezTo>
                      <a:pt x="0" y="125195"/>
                      <a:pt x="6166" y="68836"/>
                      <a:pt x="43411" y="34885"/>
                    </a:cubicBezTo>
                    <a:cubicBezTo>
                      <a:pt x="80657" y="934"/>
                      <a:pt x="137345" y="0"/>
                      <a:pt x="175689" y="32705"/>
                    </a:cubicBezTo>
                    <a:cubicBezTo>
                      <a:pt x="214033" y="65410"/>
                      <a:pt x="222052" y="121536"/>
                      <a:pt x="194402" y="163671"/>
                    </a:cubicBezTo>
                    <a:cubicBezTo>
                      <a:pt x="166751" y="205805"/>
                      <a:pt x="112070" y="220784"/>
                      <a:pt x="66807" y="198622"/>
                    </a:cubicBezTo>
                    <a:lnTo>
                      <a:pt x="10688" y="208623"/>
                    </a:lnTo>
                  </a:path>
                </a:pathLst>
              </a:custGeom>
              <a:noFill/>
              <a:ln w="22225">
                <a:solidFill>
                  <a:schemeClr val="accent1"/>
                </a:solidFill>
              </a:ln>
            </p:spPr>
          </p:sp>
          <p:sp>
            <p:nvSpPr>
              <p:cNvPr id="24" name="Freeform 24"/>
              <p:cNvSpPr/>
              <p:nvPr/>
            </p:nvSpPr>
            <p:spPr>
              <a:xfrm>
                <a:off x="1185863" y="5428457"/>
                <a:ext cx="72231" cy="72231"/>
              </a:xfrm>
              <a:custGeom>
                <a:avLst/>
                <a:gdLst/>
                <a:ahLst/>
                <a:cxnLst/>
                <a:rect l="l" t="t" r="r" b="b"/>
                <a:pathLst>
                  <a:path w="72231" h="72231">
                    <a:moveTo>
                      <a:pt x="0" y="16669"/>
                    </a:moveTo>
                    <a:cubicBezTo>
                      <a:pt x="0" y="19737"/>
                      <a:pt x="2488" y="22225"/>
                      <a:pt x="5556" y="22225"/>
                    </a:cubicBezTo>
                    <a:cubicBezTo>
                      <a:pt x="8625" y="22225"/>
                      <a:pt x="11113" y="19737"/>
                      <a:pt x="11113" y="16669"/>
                    </a:cubicBezTo>
                    <a:lnTo>
                      <a:pt x="11113" y="5556"/>
                    </a:lnTo>
                    <a:cubicBezTo>
                      <a:pt x="11113" y="2488"/>
                      <a:pt x="8625" y="0"/>
                      <a:pt x="5556" y="0"/>
                    </a:cubicBezTo>
                    <a:cubicBezTo>
                      <a:pt x="2488" y="0"/>
                      <a:pt x="0" y="2488"/>
                      <a:pt x="0" y="5556"/>
                    </a:cubicBezTo>
                    <a:lnTo>
                      <a:pt x="0" y="16669"/>
                    </a:lnTo>
                    <a:cubicBezTo>
                      <a:pt x="0" y="47355"/>
                      <a:pt x="24876" y="72231"/>
                      <a:pt x="55563" y="72231"/>
                    </a:cubicBezTo>
                    <a:lnTo>
                      <a:pt x="66675" y="72231"/>
                    </a:lnTo>
                    <a:cubicBezTo>
                      <a:pt x="69744" y="72231"/>
                      <a:pt x="72231" y="69744"/>
                      <a:pt x="72231" y="66675"/>
                    </a:cubicBezTo>
                    <a:cubicBezTo>
                      <a:pt x="72231" y="63607"/>
                      <a:pt x="69744" y="61119"/>
                      <a:pt x="66675" y="61119"/>
                    </a:cubicBezTo>
                    <a:lnTo>
                      <a:pt x="55563" y="61119"/>
                    </a:lnTo>
                    <a:cubicBezTo>
                      <a:pt x="52494" y="61119"/>
                      <a:pt x="50006" y="63607"/>
                      <a:pt x="50006" y="66675"/>
                    </a:cubicBezTo>
                    <a:cubicBezTo>
                      <a:pt x="50006" y="69744"/>
                      <a:pt x="52494" y="72231"/>
                      <a:pt x="55563" y="72231"/>
                    </a:cubicBezTo>
                  </a:path>
                </a:pathLst>
              </a:custGeom>
              <a:noFill/>
              <a:ln w="22225">
                <a:solidFill>
                  <a:schemeClr val="accent1"/>
                </a:solidFill>
              </a:ln>
            </p:spPr>
          </p:sp>
        </p:grpSp>
        <p:sp>
          <p:nvSpPr>
            <p:cNvPr id="26" name="TextBox 26"/>
            <p:cNvSpPr txBox="1"/>
            <p:nvPr/>
          </p:nvSpPr>
          <p:spPr>
            <a:xfrm>
              <a:off x="1440561" y="5368925"/>
              <a:ext cx="2798893" cy="278702"/>
            </a:xfrm>
            <a:prstGeom prst="rect">
              <a:avLst/>
            </a:prstGeom>
            <a:noFill/>
            <a:ln>
              <a:noFill/>
            </a:ln>
          </p:spPr>
          <p:txBody>
            <a:bodyPr wrap="none" lIns="0" tIns="0" rIns="0" bIns="0" anchor="t" anchorCtr="0">
              <a:spAutoFit/>
            </a:bodyPr>
            <a:lstStyle/>
            <a:p>
              <a:pPr algn="l"/>
              <a:r>
                <a:rPr lang="id-ID" sz="1420" b="1" dirty="0">
                  <a:solidFill>
                    <a:schemeClr val="dk1"/>
                  </a:solidFill>
                  <a:latin typeface="+mn-lt"/>
                  <a:ea typeface="+mn-ea"/>
                  <a:cs typeface="+mn-cs"/>
                </a:rPr>
                <a:t>Wajib chat admin: 0823-8769-6487</a:t>
              </a:r>
            </a:p>
          </p:txBody>
        </p:sp>
      </p:grpSp>
      <p:grpSp>
        <p:nvGrpSpPr>
          <p:cNvPr id="36" name="migration-service"/>
          <p:cNvGrpSpPr/>
          <p:nvPr/>
        </p:nvGrpSpPr>
        <p:grpSpPr>
          <a:xfrm>
            <a:off x="6934200" y="1676400"/>
            <a:ext cx="4648200" cy="2019300"/>
            <a:chOff x="6934200" y="1676400"/>
            <a:chExt cx="4648200" cy="2019300"/>
          </a:xfrm>
        </p:grpSpPr>
        <p:sp>
          <p:nvSpPr>
            <p:cNvPr id="28" name="Rectangle 28"/>
            <p:cNvSpPr/>
            <p:nvPr/>
          </p:nvSpPr>
          <p:spPr>
            <a:xfrm>
              <a:off x="6934200" y="1676400"/>
              <a:ext cx="4648200" cy="2019300"/>
            </a:xfrm>
            <a:prstGeom prst="roundRect">
              <a:avLst>
                <a:gd name="adj" fmla="val 9434"/>
              </a:avLst>
            </a:prstGeom>
            <a:solidFill>
              <a:srgbClr val="FFFFFF"/>
            </a:solidFill>
            <a:ln w="9525">
              <a:solidFill>
                <a:schemeClr val="accent6"/>
              </a:solidFill>
            </a:ln>
          </p:spPr>
        </p:sp>
        <p:sp>
          <p:nvSpPr>
            <p:cNvPr id="29" name="Ellipse 29"/>
            <p:cNvSpPr/>
            <p:nvPr/>
          </p:nvSpPr>
          <p:spPr>
            <a:xfrm>
              <a:off x="7200900" y="1981200"/>
              <a:ext cx="533400" cy="533400"/>
            </a:xfrm>
            <a:prstGeom prst="ellipse">
              <a:avLst/>
            </a:prstGeom>
            <a:solidFill>
              <a:srgbClr val="E3F3DA"/>
            </a:solidFill>
            <a:ln>
              <a:noFill/>
            </a:ln>
          </p:spPr>
        </p:sp>
        <p:grpSp>
          <p:nvGrpSpPr>
            <p:cNvPr id="33" name="Group 33"/>
            <p:cNvGrpSpPr/>
            <p:nvPr/>
          </p:nvGrpSpPr>
          <p:grpSpPr>
            <a:xfrm>
              <a:off x="7366000" y="2133600"/>
              <a:ext cx="203199" cy="228600"/>
              <a:chOff x="7366000" y="2133600"/>
              <a:chExt cx="203199" cy="228600"/>
            </a:xfrm>
          </p:grpSpPr>
          <p:sp>
            <p:nvSpPr>
              <p:cNvPr id="30" name="Freeform 30"/>
              <p:cNvSpPr/>
              <p:nvPr/>
            </p:nvSpPr>
            <p:spPr>
              <a:xfrm>
                <a:off x="7366000" y="2133600"/>
                <a:ext cx="203199" cy="76200"/>
              </a:xfrm>
              <a:custGeom>
                <a:avLst/>
                <a:gdLst/>
                <a:ahLst/>
                <a:cxnLst/>
                <a:rect l="l" t="t" r="r" b="b"/>
                <a:pathLst>
                  <a:path w="203199" h="76200">
                    <a:moveTo>
                      <a:pt x="0" y="38100"/>
                    </a:moveTo>
                    <a:cubicBezTo>
                      <a:pt x="0" y="59142"/>
                      <a:pt x="45488" y="76200"/>
                      <a:pt x="101600" y="76200"/>
                    </a:cubicBezTo>
                    <a:cubicBezTo>
                      <a:pt x="157712" y="76200"/>
                      <a:pt x="203199" y="59142"/>
                      <a:pt x="203199" y="38100"/>
                    </a:cubicBezTo>
                    <a:cubicBezTo>
                      <a:pt x="203199" y="17058"/>
                      <a:pt x="157712" y="0"/>
                      <a:pt x="101600" y="0"/>
                    </a:cubicBezTo>
                    <a:cubicBezTo>
                      <a:pt x="45488" y="0"/>
                      <a:pt x="0" y="17058"/>
                      <a:pt x="0" y="38100"/>
                    </a:cubicBezTo>
                  </a:path>
                </a:pathLst>
              </a:custGeom>
              <a:noFill/>
              <a:ln w="25400">
                <a:solidFill>
                  <a:schemeClr val="accent2"/>
                </a:solidFill>
              </a:ln>
            </p:spPr>
          </p:sp>
          <p:sp>
            <p:nvSpPr>
              <p:cNvPr id="31" name="Freeform 31"/>
              <p:cNvSpPr/>
              <p:nvPr/>
            </p:nvSpPr>
            <p:spPr>
              <a:xfrm>
                <a:off x="7366000" y="217170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25400">
                <a:solidFill>
                  <a:schemeClr val="accent2"/>
                </a:solidFill>
              </a:ln>
            </p:spPr>
          </p:sp>
          <p:sp>
            <p:nvSpPr>
              <p:cNvPr id="32" name="Freeform 32"/>
              <p:cNvSpPr/>
              <p:nvPr/>
            </p:nvSpPr>
            <p:spPr>
              <a:xfrm>
                <a:off x="7366000" y="2247900"/>
                <a:ext cx="203199" cy="114300"/>
              </a:xfrm>
              <a:custGeom>
                <a:avLst/>
                <a:gdLst/>
                <a:ahLst/>
                <a:cxnLst/>
                <a:rect l="l" t="t" r="r" b="b"/>
                <a:pathLst>
                  <a:path w="203199" h="114300">
                    <a:moveTo>
                      <a:pt x="0" y="0"/>
                    </a:moveTo>
                    <a:lnTo>
                      <a:pt x="0" y="76200"/>
                    </a:lnTo>
                    <a:cubicBezTo>
                      <a:pt x="0" y="97242"/>
                      <a:pt x="45488" y="114300"/>
                      <a:pt x="101600" y="114300"/>
                    </a:cubicBezTo>
                    <a:cubicBezTo>
                      <a:pt x="157712" y="114300"/>
                      <a:pt x="203199" y="97242"/>
                      <a:pt x="203199" y="76200"/>
                    </a:cubicBezTo>
                    <a:lnTo>
                      <a:pt x="203199" y="0"/>
                    </a:lnTo>
                  </a:path>
                </a:pathLst>
              </a:custGeom>
              <a:noFill/>
              <a:ln w="25400">
                <a:solidFill>
                  <a:schemeClr val="accent2"/>
                </a:solidFill>
              </a:ln>
            </p:spPr>
          </p:sp>
        </p:grpSp>
        <p:sp>
          <p:nvSpPr>
            <p:cNvPr id="34" name="TextBox 34"/>
            <p:cNvSpPr txBox="1"/>
            <p:nvPr/>
          </p:nvSpPr>
          <p:spPr>
            <a:xfrm>
              <a:off x="7915656" y="2108200"/>
              <a:ext cx="1993685"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Migrasi data pasien</a:t>
              </a:r>
            </a:p>
          </p:txBody>
        </p:sp>
        <p:sp>
          <p:nvSpPr>
            <p:cNvPr id="35" name="TextBox 35"/>
            <p:cNvSpPr txBox="1"/>
            <p:nvPr/>
          </p:nvSpPr>
          <p:spPr>
            <a:xfrm>
              <a:off x="7917180" y="2501900"/>
              <a:ext cx="2387994"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Pindahkan data dari Excel atau</a:t>
              </a:r>
              <a:br>
                <a:rPr lang="id-ID" sz="1500" dirty="0">
                  <a:solidFill>
                    <a:srgbClr val="55534A"/>
                  </a:solidFill>
                  <a:latin typeface="+mn-lt"/>
                  <a:ea typeface="+mn-ea"/>
                  <a:cs typeface="+mn-cs"/>
                </a:rPr>
              </a:br>
              <a:r>
                <a:rPr lang="id-ID" sz="1500" dirty="0">
                  <a:solidFill>
                    <a:srgbClr val="55534A"/>
                  </a:solidFill>
                  <a:latin typeface="+mn-lt"/>
                  <a:ea typeface="+mn-ea"/>
                  <a:cs typeface="+mn-cs"/>
                </a:rPr>
                <a:t>sistem lama. Biaya sesuai</a:t>
              </a:r>
              <a:br>
                <a:rPr lang="id-ID" sz="1500" dirty="0">
                  <a:solidFill>
                    <a:srgbClr val="55534A"/>
                  </a:solidFill>
                  <a:latin typeface="+mn-lt"/>
                  <a:ea typeface="+mn-ea"/>
                  <a:cs typeface="+mn-cs"/>
                </a:rPr>
              </a:br>
              <a:r>
                <a:rPr lang="id-ID" sz="1500" dirty="0">
                  <a:solidFill>
                    <a:srgbClr val="55534A"/>
                  </a:solidFill>
                  <a:latin typeface="+mn-lt"/>
                  <a:ea typeface="+mn-ea"/>
                  <a:cs typeface="+mn-cs"/>
                </a:rPr>
                <a:t>volume data.</a:t>
              </a:r>
            </a:p>
          </p:txBody>
        </p:sp>
      </p:grpSp>
      <p:grpSp>
        <p:nvGrpSpPr>
          <p:cNvPr id="45" name="custom-service"/>
          <p:cNvGrpSpPr/>
          <p:nvPr/>
        </p:nvGrpSpPr>
        <p:grpSpPr>
          <a:xfrm>
            <a:off x="6934200" y="3924300"/>
            <a:ext cx="4648200" cy="2019300"/>
            <a:chOff x="6934200" y="3924300"/>
            <a:chExt cx="4648200" cy="2019300"/>
          </a:xfrm>
        </p:grpSpPr>
        <p:sp>
          <p:nvSpPr>
            <p:cNvPr id="37" name="Rectangle 37"/>
            <p:cNvSpPr/>
            <p:nvPr/>
          </p:nvSpPr>
          <p:spPr>
            <a:xfrm>
              <a:off x="6934200" y="3924300"/>
              <a:ext cx="4648200" cy="2019300"/>
            </a:xfrm>
            <a:prstGeom prst="roundRect">
              <a:avLst>
                <a:gd name="adj" fmla="val 9434"/>
              </a:avLst>
            </a:prstGeom>
            <a:solidFill>
              <a:srgbClr val="FFFFFF"/>
            </a:solidFill>
            <a:ln w="9525">
              <a:solidFill>
                <a:schemeClr val="accent6"/>
              </a:solidFill>
            </a:ln>
          </p:spPr>
        </p:sp>
        <p:sp>
          <p:nvSpPr>
            <p:cNvPr id="38" name="Ellipse 38"/>
            <p:cNvSpPr/>
            <p:nvPr/>
          </p:nvSpPr>
          <p:spPr>
            <a:xfrm>
              <a:off x="7200900" y="4229100"/>
              <a:ext cx="533400" cy="533400"/>
            </a:xfrm>
            <a:prstGeom prst="ellipse">
              <a:avLst/>
            </a:prstGeom>
            <a:solidFill>
              <a:srgbClr val="E3F3DA"/>
            </a:solidFill>
            <a:ln>
              <a:noFill/>
            </a:ln>
          </p:spPr>
        </p:sp>
        <p:grpSp>
          <p:nvGrpSpPr>
            <p:cNvPr id="42" name="Group 42"/>
            <p:cNvGrpSpPr/>
            <p:nvPr/>
          </p:nvGrpSpPr>
          <p:grpSpPr>
            <a:xfrm>
              <a:off x="7353300" y="4394200"/>
              <a:ext cx="228599" cy="203199"/>
              <a:chOff x="7353300" y="4394200"/>
              <a:chExt cx="228599" cy="203199"/>
            </a:xfrm>
          </p:grpSpPr>
          <p:sp>
            <p:nvSpPr>
              <p:cNvPr id="39" name="Freeform 39"/>
              <p:cNvSpPr/>
              <p:nvPr/>
            </p:nvSpPr>
            <p:spPr>
              <a:xfrm>
                <a:off x="7353300" y="4445000"/>
                <a:ext cx="50800" cy="101600"/>
              </a:xfrm>
              <a:custGeom>
                <a:avLst/>
                <a:gdLst/>
                <a:ahLst/>
                <a:cxnLst/>
                <a:rect l="l" t="t" r="r" b="b"/>
                <a:pathLst>
                  <a:path w="50800" h="101600">
                    <a:moveTo>
                      <a:pt x="50800" y="0"/>
                    </a:moveTo>
                    <a:lnTo>
                      <a:pt x="0" y="50800"/>
                    </a:lnTo>
                    <a:lnTo>
                      <a:pt x="50800" y="101600"/>
                    </a:lnTo>
                  </a:path>
                </a:pathLst>
              </a:custGeom>
              <a:noFill/>
              <a:ln w="25400">
                <a:solidFill>
                  <a:schemeClr val="accent2"/>
                </a:solidFill>
              </a:ln>
            </p:spPr>
          </p:sp>
          <p:sp>
            <p:nvSpPr>
              <p:cNvPr id="40" name="Freeform 40"/>
              <p:cNvSpPr/>
              <p:nvPr/>
            </p:nvSpPr>
            <p:spPr>
              <a:xfrm>
                <a:off x="7531099" y="4445000"/>
                <a:ext cx="50800" cy="101600"/>
              </a:xfrm>
              <a:custGeom>
                <a:avLst/>
                <a:gdLst/>
                <a:ahLst/>
                <a:cxnLst/>
                <a:rect l="l" t="t" r="r" b="b"/>
                <a:pathLst>
                  <a:path w="50800" h="101600">
                    <a:moveTo>
                      <a:pt x="0" y="0"/>
                    </a:moveTo>
                    <a:lnTo>
                      <a:pt x="50800" y="50800"/>
                    </a:lnTo>
                    <a:lnTo>
                      <a:pt x="0" y="101600"/>
                    </a:lnTo>
                  </a:path>
                </a:pathLst>
              </a:custGeom>
              <a:noFill/>
              <a:ln w="25400">
                <a:solidFill>
                  <a:schemeClr val="accent2"/>
                </a:solidFill>
              </a:ln>
            </p:spPr>
          </p:sp>
          <p:sp>
            <p:nvSpPr>
              <p:cNvPr id="41" name="Freeform 41"/>
              <p:cNvSpPr/>
              <p:nvPr/>
            </p:nvSpPr>
            <p:spPr>
              <a:xfrm>
                <a:off x="7442200" y="4394200"/>
                <a:ext cx="50800" cy="203199"/>
              </a:xfrm>
              <a:custGeom>
                <a:avLst/>
                <a:gdLst/>
                <a:ahLst/>
                <a:cxnLst/>
                <a:rect l="l" t="t" r="r" b="b"/>
                <a:pathLst>
                  <a:path w="50800" h="203199">
                    <a:moveTo>
                      <a:pt x="50800" y="0"/>
                    </a:moveTo>
                    <a:lnTo>
                      <a:pt x="0" y="203199"/>
                    </a:lnTo>
                  </a:path>
                </a:pathLst>
              </a:custGeom>
              <a:noFill/>
              <a:ln w="25400">
                <a:solidFill>
                  <a:schemeClr val="accent2"/>
                </a:solidFill>
              </a:ln>
            </p:spPr>
          </p:sp>
        </p:grpSp>
        <p:sp>
          <p:nvSpPr>
            <p:cNvPr id="43" name="TextBox 43"/>
            <p:cNvSpPr txBox="1"/>
            <p:nvPr/>
          </p:nvSpPr>
          <p:spPr>
            <a:xfrm>
              <a:off x="7915656" y="4356100"/>
              <a:ext cx="1290003"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Fitur custom</a:t>
              </a:r>
            </a:p>
          </p:txBody>
        </p:sp>
        <p:sp>
          <p:nvSpPr>
            <p:cNvPr id="44" name="TextBox 44"/>
            <p:cNvSpPr txBox="1"/>
            <p:nvPr/>
          </p:nvSpPr>
          <p:spPr>
            <a:xfrm>
              <a:off x="7917180" y="4749800"/>
              <a:ext cx="2369439"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Fitur khusus sesuai alur klinik.</a:t>
              </a:r>
              <a:br>
                <a:rPr lang="id-ID" sz="1500" dirty="0">
                  <a:solidFill>
                    <a:srgbClr val="55534A"/>
                  </a:solidFill>
                  <a:latin typeface="+mn-lt"/>
                  <a:ea typeface="+mn-ea"/>
                  <a:cs typeface="+mn-cs"/>
                </a:rPr>
              </a:br>
              <a:r>
                <a:rPr lang="id-ID" sz="1500" dirty="0">
                  <a:solidFill>
                    <a:srgbClr val="55534A"/>
                  </a:solidFill>
                  <a:latin typeface="+mn-lt"/>
                  <a:ea typeface="+mn-ea"/>
                  <a:cs typeface="+mn-cs"/>
                </a:rPr>
                <a:t>Gratis 1 tahun untuk paket</a:t>
              </a:r>
              <a:br>
                <a:rPr lang="id-ID" sz="1500" dirty="0">
                  <a:solidFill>
                    <a:srgbClr val="55534A"/>
                  </a:solidFill>
                  <a:latin typeface="+mn-lt"/>
                  <a:ea typeface="+mn-ea"/>
                  <a:cs typeface="+mn-cs"/>
                </a:rPr>
              </a:br>
              <a:r>
                <a:rPr lang="id-ID" sz="1500" dirty="0">
                  <a:solidFill>
                    <a:srgbClr val="55534A"/>
                  </a:solidFill>
                  <a:latin typeface="+mn-lt"/>
                  <a:ea typeface="+mn-ea"/>
                  <a:cs typeface="+mn-cs"/>
                </a:rPr>
                <a:t>tahunan, selebihnya berbayar.</a:t>
              </a:r>
            </a:p>
          </p:txBody>
        </p:sp>
      </p:grpSp>
      <p:grpSp>
        <p:nvGrpSpPr>
          <p:cNvPr id="48" name="footer"/>
          <p:cNvGrpSpPr/>
          <p:nvPr/>
        </p:nvGrpSpPr>
        <p:grpSpPr>
          <a:xfrm>
            <a:off x="604647" y="6477000"/>
            <a:ext cx="10982706" cy="191643"/>
            <a:chOff x="604647" y="6477000"/>
            <a:chExt cx="10982706" cy="191643"/>
          </a:xfrm>
        </p:grpSpPr>
        <p:sp>
          <p:nvSpPr>
            <p:cNvPr id="46" name="TextBox 46"/>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47" name="TextBox 47"/>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10</a:t>
              </a:r>
            </a:p>
          </p:txBody>
        </p:sp>
      </p:gr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8143591" cy="786003"/>
            <a:chOff x="595122" y="635000"/>
            <a:chExt cx="8143591" cy="786003"/>
          </a:xfrm>
        </p:grpSpPr>
        <p:sp>
          <p:nvSpPr>
            <p:cNvPr id="2" name="TextBox 2"/>
            <p:cNvSpPr txBox="1"/>
            <p:nvPr/>
          </p:nvSpPr>
          <p:spPr>
            <a:xfrm>
              <a:off x="603885" y="635000"/>
              <a:ext cx="1439979"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STRUKTUR BIAYA</a:t>
              </a:r>
            </a:p>
          </p:txBody>
        </p:sp>
        <p:sp>
          <p:nvSpPr>
            <p:cNvPr id="3" name="TextBox 3"/>
            <p:cNvSpPr txBox="1"/>
            <p:nvPr/>
          </p:nvSpPr>
          <p:spPr>
            <a:xfrm>
              <a:off x="595122" y="863600"/>
              <a:ext cx="8143591"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Biaya ringan: balik modal cukup dari 4 klinik</a:t>
              </a:r>
            </a:p>
          </p:txBody>
        </p:sp>
      </p:grpSp>
      <p:grpSp>
        <p:nvGrpSpPr>
          <p:cNvPr id="22" name="cost-receipt"/>
          <p:cNvGrpSpPr/>
          <p:nvPr/>
        </p:nvGrpSpPr>
        <p:grpSpPr>
          <a:xfrm>
            <a:off x="609600" y="1676400"/>
            <a:ext cx="5334000" cy="4267200"/>
            <a:chOff x="609600" y="1676400"/>
            <a:chExt cx="5334000" cy="4267200"/>
          </a:xfrm>
        </p:grpSpPr>
        <p:sp>
          <p:nvSpPr>
            <p:cNvPr id="5" name="Rectangle 5"/>
            <p:cNvSpPr/>
            <p:nvPr/>
          </p:nvSpPr>
          <p:spPr>
            <a:xfrm>
              <a:off x="609600" y="1676400"/>
              <a:ext cx="5334000" cy="4267200"/>
            </a:xfrm>
            <a:prstGeom prst="roundRect">
              <a:avLst>
                <a:gd name="adj" fmla="val 4464"/>
              </a:avLst>
            </a:prstGeom>
            <a:solidFill>
              <a:srgbClr val="FFFFFF"/>
            </a:solidFill>
            <a:ln w="9525">
              <a:solidFill>
                <a:schemeClr val="accent6"/>
              </a:solidFill>
            </a:ln>
          </p:spPr>
        </p:sp>
        <p:sp>
          <p:nvSpPr>
            <p:cNvPr id="6" name="TextBox 6"/>
            <p:cNvSpPr txBox="1"/>
            <p:nvPr/>
          </p:nvSpPr>
          <p:spPr>
            <a:xfrm>
              <a:off x="946023" y="1981200"/>
              <a:ext cx="2198610" cy="250317"/>
            </a:xfrm>
            <a:prstGeom prst="rect">
              <a:avLst/>
            </a:prstGeom>
            <a:noFill/>
            <a:ln>
              <a:noFill/>
            </a:ln>
          </p:spPr>
          <p:txBody>
            <a:bodyPr wrap="none" lIns="0" tIns="0" rIns="0" bIns="0" anchor="t" anchorCtr="0">
              <a:spAutoFit/>
            </a:bodyPr>
            <a:lstStyle/>
            <a:p>
              <a:pPr algn="l"/>
              <a:r>
                <a:rPr lang="id-ID" sz="1280" b="1" spc="75" dirty="0">
                  <a:solidFill>
                    <a:schemeClr val="accent5"/>
                  </a:solidFill>
                  <a:latin typeface="+mn-lt"/>
                  <a:ea typeface="+mn-ea"/>
                  <a:cs typeface="+mn-cs"/>
                </a:rPr>
                <a:t>BIAYA BULANAN SAAT INI</a:t>
              </a:r>
            </a:p>
          </p:txBody>
        </p:sp>
        <p:grpSp>
          <p:nvGrpSpPr>
            <p:cNvPr id="10" name="Group 10"/>
            <p:cNvGrpSpPr/>
            <p:nvPr/>
          </p:nvGrpSpPr>
          <p:grpSpPr>
            <a:xfrm>
              <a:off x="944118" y="2495550"/>
              <a:ext cx="2706977" cy="1503807"/>
              <a:chOff x="944118" y="2495550"/>
              <a:chExt cx="2706977" cy="1503807"/>
            </a:xfrm>
          </p:grpSpPr>
          <p:sp>
            <p:nvSpPr>
              <p:cNvPr id="7" name="TextBox 7"/>
              <p:cNvSpPr txBox="1"/>
              <p:nvPr/>
            </p:nvSpPr>
            <p:spPr>
              <a:xfrm>
                <a:off x="944118" y="2495550"/>
                <a:ext cx="600539" cy="322707"/>
              </a:xfrm>
              <a:prstGeom prst="rect">
                <a:avLst/>
              </a:prstGeom>
              <a:noFill/>
              <a:ln>
                <a:noFill/>
              </a:ln>
            </p:spPr>
            <p:txBody>
              <a:bodyPr wrap="none" lIns="0" tIns="0" rIns="0" bIns="0" anchor="t" anchorCtr="0">
                <a:spAutoFit/>
              </a:bodyPr>
              <a:lstStyle/>
              <a:p>
                <a:pPr algn="l"/>
                <a:r>
                  <a:rPr lang="id-ID" sz="1650" dirty="0">
                    <a:solidFill>
                      <a:schemeClr val="dk1"/>
                    </a:solidFill>
                    <a:latin typeface="+mn-lt"/>
                    <a:ea typeface="+mn-ea"/>
                    <a:cs typeface="+mn-cs"/>
                  </a:rPr>
                  <a:t>Server</a:t>
                </a:r>
              </a:p>
            </p:txBody>
          </p:sp>
          <p:sp>
            <p:nvSpPr>
              <p:cNvPr id="8" name="TextBox 8"/>
              <p:cNvSpPr txBox="1"/>
              <p:nvPr/>
            </p:nvSpPr>
            <p:spPr>
              <a:xfrm>
                <a:off x="944118" y="3086100"/>
                <a:ext cx="2411216" cy="322707"/>
              </a:xfrm>
              <a:prstGeom prst="rect">
                <a:avLst/>
              </a:prstGeom>
              <a:noFill/>
              <a:ln>
                <a:noFill/>
              </a:ln>
            </p:spPr>
            <p:txBody>
              <a:bodyPr wrap="none" lIns="0" tIns="0" rIns="0" bIns="0" anchor="t" anchorCtr="0">
                <a:spAutoFit/>
              </a:bodyPr>
              <a:lstStyle/>
              <a:p>
                <a:pPr algn="l"/>
                <a:r>
                  <a:rPr lang="id-ID" sz="1650" dirty="0">
                    <a:solidFill>
                      <a:schemeClr val="dk1"/>
                    </a:solidFill>
                    <a:latin typeface="+mn-lt"/>
                    <a:ea typeface="+mn-ea"/>
                    <a:cs typeface="+mn-cs"/>
                  </a:rPr>
                  <a:t>Domain (Rp100rb / tahun)</a:t>
                </a:r>
              </a:p>
            </p:txBody>
          </p:sp>
          <p:sp>
            <p:nvSpPr>
              <p:cNvPr id="9" name="TextBox 9"/>
              <p:cNvSpPr txBox="1"/>
              <p:nvPr/>
            </p:nvSpPr>
            <p:spPr>
              <a:xfrm>
                <a:off x="944118" y="3676650"/>
                <a:ext cx="2706977" cy="322707"/>
              </a:xfrm>
              <a:prstGeom prst="rect">
                <a:avLst/>
              </a:prstGeom>
              <a:noFill/>
              <a:ln>
                <a:noFill/>
              </a:ln>
            </p:spPr>
            <p:txBody>
              <a:bodyPr wrap="none" lIns="0" tIns="0" rIns="0" bIns="0" anchor="t" anchorCtr="0">
                <a:spAutoFit/>
              </a:bodyPr>
              <a:lstStyle/>
              <a:p>
                <a:pPr algn="l"/>
                <a:r>
                  <a:rPr lang="id-ID" sz="1650" dirty="0">
                    <a:solidFill>
                      <a:schemeClr val="dk1"/>
                    </a:solidFill>
                    <a:latin typeface="+mn-lt"/>
                    <a:ea typeface="+mn-ea"/>
                    <a:cs typeface="+mn-cs"/>
                  </a:rPr>
                  <a:t>Claude (R&amp;D pengembangan)</a:t>
                </a:r>
              </a:p>
            </p:txBody>
          </p:sp>
        </p:grpSp>
        <p:grpSp>
          <p:nvGrpSpPr>
            <p:cNvPr id="14" name="Group 14"/>
            <p:cNvGrpSpPr/>
            <p:nvPr/>
          </p:nvGrpSpPr>
          <p:grpSpPr>
            <a:xfrm>
              <a:off x="4585603" y="2495550"/>
              <a:ext cx="1023479" cy="1503807"/>
              <a:chOff x="4585603" y="2495550"/>
              <a:chExt cx="1023479" cy="1503807"/>
            </a:xfrm>
          </p:grpSpPr>
          <p:sp>
            <p:nvSpPr>
              <p:cNvPr id="11" name="TextBox 11"/>
              <p:cNvSpPr txBox="1"/>
              <p:nvPr/>
            </p:nvSpPr>
            <p:spPr>
              <a:xfrm>
                <a:off x="4585603" y="2495550"/>
                <a:ext cx="1023479" cy="322707"/>
              </a:xfrm>
              <a:prstGeom prst="rect">
                <a:avLst/>
              </a:prstGeom>
              <a:noFill/>
              <a:ln>
                <a:noFill/>
              </a:ln>
            </p:spPr>
            <p:txBody>
              <a:bodyPr wrap="none" lIns="0" tIns="0" rIns="0" bIns="0" anchor="t" anchorCtr="0">
                <a:spAutoFit/>
              </a:bodyPr>
              <a:lstStyle/>
              <a:p>
                <a:pPr algn="r"/>
                <a:r>
                  <a:rPr lang="id-ID" sz="1650" b="1" dirty="0">
                    <a:solidFill>
                      <a:schemeClr val="dk1"/>
                    </a:solidFill>
                    <a:latin typeface="+mn-lt"/>
                    <a:ea typeface="+mn-ea"/>
                    <a:cs typeface="+mn-cs"/>
                  </a:rPr>
                  <a:t>Rp150.000</a:t>
                </a:r>
              </a:p>
            </p:txBody>
          </p:sp>
          <p:sp>
            <p:nvSpPr>
              <p:cNvPr id="12" name="TextBox 12"/>
              <p:cNvSpPr txBox="1"/>
              <p:nvPr/>
            </p:nvSpPr>
            <p:spPr>
              <a:xfrm>
                <a:off x="4817119" y="3086100"/>
                <a:ext cx="791963" cy="322707"/>
              </a:xfrm>
              <a:prstGeom prst="rect">
                <a:avLst/>
              </a:prstGeom>
              <a:noFill/>
              <a:ln>
                <a:noFill/>
              </a:ln>
            </p:spPr>
            <p:txBody>
              <a:bodyPr wrap="none" lIns="0" tIns="0" rIns="0" bIns="0" anchor="t" anchorCtr="0">
                <a:spAutoFit/>
              </a:bodyPr>
              <a:lstStyle/>
              <a:p>
                <a:pPr algn="r"/>
                <a:r>
                  <a:rPr lang="id-ID" sz="1650" b="1" dirty="0">
                    <a:solidFill>
                      <a:schemeClr val="dk1"/>
                    </a:solidFill>
                    <a:latin typeface="+mn-lt"/>
                    <a:ea typeface="+mn-ea"/>
                    <a:cs typeface="+mn-cs"/>
                  </a:rPr>
                  <a:t>Rp8.300</a:t>
                </a:r>
              </a:p>
            </p:txBody>
          </p:sp>
          <p:sp>
            <p:nvSpPr>
              <p:cNvPr id="13" name="TextBox 13"/>
              <p:cNvSpPr txBox="1"/>
              <p:nvPr/>
            </p:nvSpPr>
            <p:spPr>
              <a:xfrm>
                <a:off x="4585603" y="3676650"/>
                <a:ext cx="1023479" cy="322707"/>
              </a:xfrm>
              <a:prstGeom prst="rect">
                <a:avLst/>
              </a:prstGeom>
              <a:noFill/>
              <a:ln>
                <a:noFill/>
              </a:ln>
            </p:spPr>
            <p:txBody>
              <a:bodyPr wrap="none" lIns="0" tIns="0" rIns="0" bIns="0" anchor="t" anchorCtr="0">
                <a:spAutoFit/>
              </a:bodyPr>
              <a:lstStyle/>
              <a:p>
                <a:pPr algn="r"/>
                <a:r>
                  <a:rPr lang="id-ID" sz="1650" b="1" dirty="0">
                    <a:solidFill>
                      <a:schemeClr val="dk1"/>
                    </a:solidFill>
                    <a:latin typeface="+mn-lt"/>
                    <a:ea typeface="+mn-ea"/>
                    <a:cs typeface="+mn-cs"/>
                  </a:rPr>
                  <a:t>Rp400.000</a:t>
                </a:r>
              </a:p>
            </p:txBody>
          </p:sp>
        </p:grpSp>
        <p:grpSp>
          <p:nvGrpSpPr>
            <p:cNvPr id="17" name="Group 17"/>
            <p:cNvGrpSpPr/>
            <p:nvPr/>
          </p:nvGrpSpPr>
          <p:grpSpPr>
            <a:xfrm>
              <a:off x="952500" y="2895600"/>
              <a:ext cx="4648200" cy="600075"/>
              <a:chOff x="952500" y="2895600"/>
              <a:chExt cx="4648200" cy="600075"/>
            </a:xfrm>
          </p:grpSpPr>
          <p:sp>
            <p:nvSpPr>
              <p:cNvPr id="15" name="Line 15"/>
              <p:cNvSpPr/>
              <p:nvPr/>
            </p:nvSpPr>
            <p:spPr>
              <a:xfrm>
                <a:off x="952500" y="2895600"/>
                <a:ext cx="4648200" cy="9525"/>
              </a:xfrm>
              <a:custGeom>
                <a:avLst/>
                <a:gdLst/>
                <a:ahLst/>
                <a:cxnLst/>
                <a:rect l="l" t="t" r="r" b="b"/>
                <a:pathLst>
                  <a:path w="4648200" h="9525">
                    <a:moveTo>
                      <a:pt x="0" y="0"/>
                    </a:moveTo>
                    <a:lnTo>
                      <a:pt x="4648200" y="0"/>
                    </a:lnTo>
                  </a:path>
                </a:pathLst>
              </a:custGeom>
              <a:noFill/>
              <a:ln w="9525">
                <a:solidFill>
                  <a:schemeClr val="accent6"/>
                </a:solidFill>
              </a:ln>
            </p:spPr>
          </p:sp>
          <p:sp>
            <p:nvSpPr>
              <p:cNvPr id="16" name="Line 16"/>
              <p:cNvSpPr/>
              <p:nvPr/>
            </p:nvSpPr>
            <p:spPr>
              <a:xfrm>
                <a:off x="952500" y="3486150"/>
                <a:ext cx="4648200" cy="9525"/>
              </a:xfrm>
              <a:custGeom>
                <a:avLst/>
                <a:gdLst/>
                <a:ahLst/>
                <a:cxnLst/>
                <a:rect l="l" t="t" r="r" b="b"/>
                <a:pathLst>
                  <a:path w="4648200" h="9525">
                    <a:moveTo>
                      <a:pt x="0" y="0"/>
                    </a:moveTo>
                    <a:lnTo>
                      <a:pt x="4648200" y="0"/>
                    </a:lnTo>
                  </a:path>
                </a:pathLst>
              </a:custGeom>
              <a:noFill/>
              <a:ln w="9525">
                <a:solidFill>
                  <a:schemeClr val="accent6"/>
                </a:solidFill>
              </a:ln>
            </p:spPr>
          </p:sp>
        </p:grpSp>
        <p:sp>
          <p:nvSpPr>
            <p:cNvPr id="18" name="Line 18"/>
            <p:cNvSpPr/>
            <p:nvPr/>
          </p:nvSpPr>
          <p:spPr>
            <a:xfrm>
              <a:off x="952500" y="4133850"/>
              <a:ext cx="4648200" cy="9525"/>
            </a:xfrm>
            <a:custGeom>
              <a:avLst/>
              <a:gdLst/>
              <a:ahLst/>
              <a:cxnLst/>
              <a:rect l="l" t="t" r="r" b="b"/>
              <a:pathLst>
                <a:path w="4648200" h="9525">
                  <a:moveTo>
                    <a:pt x="0" y="0"/>
                  </a:moveTo>
                  <a:lnTo>
                    <a:pt x="4648200" y="0"/>
                  </a:lnTo>
                </a:path>
              </a:pathLst>
            </a:custGeom>
            <a:noFill/>
            <a:ln w="19050">
              <a:solidFill>
                <a:schemeClr val="accent1"/>
              </a:solidFill>
            </a:ln>
          </p:spPr>
        </p:sp>
        <p:sp>
          <p:nvSpPr>
            <p:cNvPr id="19" name="TextBox 19"/>
            <p:cNvSpPr txBox="1"/>
            <p:nvPr/>
          </p:nvSpPr>
          <p:spPr>
            <a:xfrm>
              <a:off x="943356" y="4603750"/>
              <a:ext cx="537495"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Total</a:t>
              </a:r>
            </a:p>
          </p:txBody>
        </p:sp>
        <p:sp>
          <p:nvSpPr>
            <p:cNvPr id="20" name="TextBox 20"/>
            <p:cNvSpPr txBox="1"/>
            <p:nvPr/>
          </p:nvSpPr>
          <p:spPr>
            <a:xfrm>
              <a:off x="2615385" y="4318000"/>
              <a:ext cx="3004365" cy="876300"/>
            </a:xfrm>
            <a:prstGeom prst="rect">
              <a:avLst/>
            </a:prstGeom>
            <a:noFill/>
            <a:ln>
              <a:noFill/>
            </a:ln>
          </p:spPr>
          <p:txBody>
            <a:bodyPr wrap="none" lIns="0" tIns="0" rIns="0" bIns="0" anchor="t" anchorCtr="0">
              <a:spAutoFit/>
            </a:bodyPr>
            <a:lstStyle/>
            <a:p>
              <a:pPr algn="r"/>
              <a:r>
                <a:rPr lang="id-ID" sz="4500" b="1" dirty="0">
                  <a:solidFill>
                    <a:schemeClr val="accent2"/>
                  </a:solidFill>
                  <a:latin typeface="+mj-lt"/>
                  <a:ea typeface="+mj-ea"/>
                  <a:cs typeface="+mj-cs"/>
                </a:rPr>
                <a:t>± Rp558rb</a:t>
              </a:r>
            </a:p>
          </p:txBody>
        </p:sp>
        <p:sp>
          <p:nvSpPr>
            <p:cNvPr id="21" name="TextBox 21"/>
            <p:cNvSpPr txBox="1"/>
            <p:nvPr/>
          </p:nvSpPr>
          <p:spPr>
            <a:xfrm>
              <a:off x="946023" y="5353050"/>
              <a:ext cx="3224312" cy="250317"/>
            </a:xfrm>
            <a:prstGeom prst="rect">
              <a:avLst/>
            </a:prstGeom>
            <a:noFill/>
            <a:ln>
              <a:noFill/>
            </a:ln>
          </p:spPr>
          <p:txBody>
            <a:bodyPr wrap="none" lIns="0" tIns="0" rIns="0" bIns="0" anchor="t" anchorCtr="0">
              <a:spAutoFit/>
            </a:bodyPr>
            <a:lstStyle/>
            <a:p>
              <a:pPr algn="l"/>
              <a:r>
                <a:rPr lang="id-ID" sz="1280" i="1" dirty="0">
                  <a:solidFill>
                    <a:schemeClr val="accent5"/>
                  </a:solidFill>
                  <a:latin typeface="+mn-lt"/>
                  <a:ea typeface="+mn-ea"/>
                  <a:cs typeface="+mn-cs"/>
                </a:rPr>
                <a:t>± Rp6,7 jt per tahun · belum termasuk gaji tim</a:t>
              </a:r>
            </a:p>
          </p:txBody>
        </p:sp>
      </p:grpSp>
      <p:grpSp>
        <p:nvGrpSpPr>
          <p:cNvPr id="26" name="breakeven-starter"/>
          <p:cNvGrpSpPr/>
          <p:nvPr/>
        </p:nvGrpSpPr>
        <p:grpSpPr>
          <a:xfrm>
            <a:off x="6172200" y="1676400"/>
            <a:ext cx="2590800" cy="2019300"/>
            <a:chOff x="6172200" y="1676400"/>
            <a:chExt cx="2590800" cy="2019300"/>
          </a:xfrm>
        </p:grpSpPr>
        <p:sp>
          <p:nvSpPr>
            <p:cNvPr id="23" name="Rectangle 23"/>
            <p:cNvSpPr/>
            <p:nvPr/>
          </p:nvSpPr>
          <p:spPr>
            <a:xfrm>
              <a:off x="6172200" y="1676400"/>
              <a:ext cx="2590800" cy="2019300"/>
            </a:xfrm>
            <a:prstGeom prst="roundRect">
              <a:avLst>
                <a:gd name="adj" fmla="val 9434"/>
              </a:avLst>
            </a:prstGeom>
            <a:solidFill>
              <a:schemeClr val="lt2"/>
            </a:solidFill>
            <a:ln>
              <a:noFill/>
            </a:ln>
          </p:spPr>
        </p:sp>
        <p:sp>
          <p:nvSpPr>
            <p:cNvPr id="24" name="TextBox 24"/>
            <p:cNvSpPr txBox="1"/>
            <p:nvPr/>
          </p:nvSpPr>
          <p:spPr>
            <a:xfrm>
              <a:off x="6419850" y="1898650"/>
              <a:ext cx="971017"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4</a:t>
              </a:r>
              <a:r>
                <a:rPr lang="id-ID" sz="1800" b="1" dirty="0">
                  <a:solidFill>
                    <a:srgbClr val="55534A"/>
                  </a:solidFill>
                  <a:latin typeface="+mn-lt"/>
                  <a:ea typeface="+mn-ea"/>
                  <a:cs typeface="+mn-cs"/>
                </a:rPr>
                <a:t xml:space="preserve"> klinik</a:t>
              </a:r>
            </a:p>
          </p:txBody>
        </p:sp>
        <p:sp>
          <p:nvSpPr>
            <p:cNvPr id="25" name="TextBox 25"/>
            <p:cNvSpPr txBox="1"/>
            <p:nvPr/>
          </p:nvSpPr>
          <p:spPr>
            <a:xfrm>
              <a:off x="6432042" y="2736850"/>
              <a:ext cx="1666460" cy="492633"/>
            </a:xfrm>
            <a:prstGeom prst="rect">
              <a:avLst/>
            </a:prstGeom>
            <a:noFill/>
            <a:ln>
              <a:noFill/>
            </a:ln>
          </p:spPr>
          <p:txBody>
            <a:bodyPr wrap="none" lIns="0" tIns="0" rIns="0" bIns="0" anchor="t" anchorCtr="0">
              <a:spAutoFit/>
            </a:bodyPr>
            <a:lstStyle/>
            <a:p>
              <a:pPr algn="l">
                <a:lnSpc>
                  <a:spcPts val="1800"/>
                </a:lnSpc>
              </a:pPr>
              <a:r>
                <a:rPr lang="id-ID" sz="1350" dirty="0">
                  <a:solidFill>
                    <a:srgbClr val="55534A"/>
                  </a:solidFill>
                  <a:latin typeface="+mn-lt"/>
                  <a:ea typeface="+mn-ea"/>
                  <a:cs typeface="+mn-cs"/>
                </a:rPr>
                <a:t>Starter (Rp149rb)</a:t>
              </a:r>
              <a:br>
                <a:rPr lang="id-ID" sz="1350" dirty="0">
                  <a:solidFill>
                    <a:srgbClr val="55534A"/>
                  </a:solidFill>
                  <a:latin typeface="+mn-lt"/>
                  <a:ea typeface="+mn-ea"/>
                  <a:cs typeface="+mn-cs"/>
                </a:rPr>
              </a:br>
              <a:r>
                <a:rPr lang="id-ID" sz="1350" dirty="0">
                  <a:solidFill>
                    <a:srgbClr val="55534A"/>
                  </a:solidFill>
                  <a:latin typeface="+mn-lt"/>
                  <a:ea typeface="+mn-ea"/>
                  <a:cs typeface="+mn-cs"/>
                </a:rPr>
                <a:t>menutup biaya bulanan</a:t>
              </a:r>
            </a:p>
          </p:txBody>
        </p:sp>
      </p:grpSp>
      <p:grpSp>
        <p:nvGrpSpPr>
          <p:cNvPr id="30" name="breakeven-pro"/>
          <p:cNvGrpSpPr/>
          <p:nvPr/>
        </p:nvGrpSpPr>
        <p:grpSpPr>
          <a:xfrm>
            <a:off x="8991600" y="1676400"/>
            <a:ext cx="2590800" cy="2019300"/>
            <a:chOff x="8991600" y="1676400"/>
            <a:chExt cx="2590800" cy="2019300"/>
          </a:xfrm>
        </p:grpSpPr>
        <p:sp>
          <p:nvSpPr>
            <p:cNvPr id="27" name="Rectangle 27"/>
            <p:cNvSpPr/>
            <p:nvPr/>
          </p:nvSpPr>
          <p:spPr>
            <a:xfrm>
              <a:off x="8991600" y="1676400"/>
              <a:ext cx="2590800" cy="2019300"/>
            </a:xfrm>
            <a:prstGeom prst="roundRect">
              <a:avLst>
                <a:gd name="adj" fmla="val 9434"/>
              </a:avLst>
            </a:prstGeom>
            <a:solidFill>
              <a:schemeClr val="lt2"/>
            </a:solidFill>
            <a:ln>
              <a:noFill/>
            </a:ln>
          </p:spPr>
        </p:sp>
        <p:sp>
          <p:nvSpPr>
            <p:cNvPr id="28" name="TextBox 28"/>
            <p:cNvSpPr txBox="1"/>
            <p:nvPr/>
          </p:nvSpPr>
          <p:spPr>
            <a:xfrm>
              <a:off x="9239250" y="1898650"/>
              <a:ext cx="971017"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2</a:t>
              </a:r>
              <a:r>
                <a:rPr lang="id-ID" sz="1800" b="1" dirty="0">
                  <a:solidFill>
                    <a:srgbClr val="55534A"/>
                  </a:solidFill>
                  <a:latin typeface="+mn-lt"/>
                  <a:ea typeface="+mn-ea"/>
                  <a:cs typeface="+mn-cs"/>
                </a:rPr>
                <a:t xml:space="preserve"> klinik</a:t>
              </a:r>
            </a:p>
          </p:txBody>
        </p:sp>
        <p:sp>
          <p:nvSpPr>
            <p:cNvPr id="29" name="TextBox 29"/>
            <p:cNvSpPr txBox="1"/>
            <p:nvPr/>
          </p:nvSpPr>
          <p:spPr>
            <a:xfrm>
              <a:off x="9251442" y="2736850"/>
              <a:ext cx="1447072" cy="492633"/>
            </a:xfrm>
            <a:prstGeom prst="rect">
              <a:avLst/>
            </a:prstGeom>
            <a:noFill/>
            <a:ln>
              <a:noFill/>
            </a:ln>
          </p:spPr>
          <p:txBody>
            <a:bodyPr wrap="none" lIns="0" tIns="0" rIns="0" bIns="0" anchor="t" anchorCtr="0">
              <a:spAutoFit/>
            </a:bodyPr>
            <a:lstStyle/>
            <a:p>
              <a:pPr algn="l">
                <a:lnSpc>
                  <a:spcPts val="1800"/>
                </a:lnSpc>
              </a:pPr>
              <a:r>
                <a:rPr lang="id-ID" sz="1350" dirty="0">
                  <a:solidFill>
                    <a:srgbClr val="55534A"/>
                  </a:solidFill>
                  <a:latin typeface="+mn-lt"/>
                  <a:ea typeface="+mn-ea"/>
                  <a:cs typeface="+mn-cs"/>
                </a:rPr>
                <a:t>Pro (Rp299rb) sudah</a:t>
              </a:r>
              <a:br>
                <a:rPr lang="id-ID" sz="1350" dirty="0">
                  <a:solidFill>
                    <a:srgbClr val="55534A"/>
                  </a:solidFill>
                  <a:latin typeface="+mn-lt"/>
                  <a:ea typeface="+mn-ea"/>
                  <a:cs typeface="+mn-cs"/>
                </a:rPr>
              </a:br>
              <a:r>
                <a:rPr lang="id-ID" sz="1350" dirty="0">
                  <a:solidFill>
                    <a:srgbClr val="55534A"/>
                  </a:solidFill>
                  <a:latin typeface="+mn-lt"/>
                  <a:ea typeface="+mn-ea"/>
                  <a:cs typeface="+mn-cs"/>
                </a:rPr>
                <a:t>balik modal</a:t>
              </a:r>
            </a:p>
          </p:txBody>
        </p:sp>
      </p:grpSp>
      <p:grpSp>
        <p:nvGrpSpPr>
          <p:cNvPr id="34" name="breakeven-promo"/>
          <p:cNvGrpSpPr/>
          <p:nvPr/>
        </p:nvGrpSpPr>
        <p:grpSpPr>
          <a:xfrm>
            <a:off x="6172200" y="3924300"/>
            <a:ext cx="2590800" cy="2019300"/>
            <a:chOff x="6172200" y="3924300"/>
            <a:chExt cx="2590800" cy="2019300"/>
          </a:xfrm>
        </p:grpSpPr>
        <p:sp>
          <p:nvSpPr>
            <p:cNvPr id="31" name="Rectangle 31"/>
            <p:cNvSpPr/>
            <p:nvPr/>
          </p:nvSpPr>
          <p:spPr>
            <a:xfrm>
              <a:off x="6172200" y="3924300"/>
              <a:ext cx="2590800" cy="2019300"/>
            </a:xfrm>
            <a:prstGeom prst="roundRect">
              <a:avLst>
                <a:gd name="adj" fmla="val 9434"/>
              </a:avLst>
            </a:prstGeom>
            <a:solidFill>
              <a:schemeClr val="lt2"/>
            </a:solidFill>
            <a:ln>
              <a:noFill/>
            </a:ln>
          </p:spPr>
        </p:sp>
        <p:sp>
          <p:nvSpPr>
            <p:cNvPr id="32" name="TextBox 32"/>
            <p:cNvSpPr txBox="1"/>
            <p:nvPr/>
          </p:nvSpPr>
          <p:spPr>
            <a:xfrm>
              <a:off x="6419850" y="4146550"/>
              <a:ext cx="971017"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6</a:t>
              </a:r>
              <a:r>
                <a:rPr lang="id-ID" sz="1800" b="1" dirty="0">
                  <a:solidFill>
                    <a:srgbClr val="55534A"/>
                  </a:solidFill>
                  <a:latin typeface="+mn-lt"/>
                  <a:ea typeface="+mn-ea"/>
                  <a:cs typeface="+mn-cs"/>
                </a:rPr>
                <a:t xml:space="preserve"> klinik</a:t>
              </a:r>
            </a:p>
          </p:txBody>
        </p:sp>
        <p:sp>
          <p:nvSpPr>
            <p:cNvPr id="33" name="TextBox 33"/>
            <p:cNvSpPr txBox="1"/>
            <p:nvPr/>
          </p:nvSpPr>
          <p:spPr>
            <a:xfrm>
              <a:off x="6432042" y="4984750"/>
              <a:ext cx="1825891" cy="492633"/>
            </a:xfrm>
            <a:prstGeom prst="rect">
              <a:avLst/>
            </a:prstGeom>
            <a:noFill/>
            <a:ln>
              <a:noFill/>
            </a:ln>
          </p:spPr>
          <p:txBody>
            <a:bodyPr wrap="none" lIns="0" tIns="0" rIns="0" bIns="0" anchor="t" anchorCtr="0">
              <a:spAutoFit/>
            </a:bodyPr>
            <a:lstStyle/>
            <a:p>
              <a:pPr algn="l">
                <a:lnSpc>
                  <a:spcPts val="1800"/>
                </a:lnSpc>
              </a:pPr>
              <a:r>
                <a:rPr lang="id-ID" sz="1350" dirty="0">
                  <a:solidFill>
                    <a:srgbClr val="55534A"/>
                  </a:solidFill>
                  <a:latin typeface="+mn-lt"/>
                  <a:ea typeface="+mn-ea"/>
                  <a:cs typeface="+mn-cs"/>
                </a:rPr>
                <a:t>selama promo harga lama</a:t>
              </a:r>
              <a:br>
                <a:rPr lang="id-ID" sz="1350" dirty="0">
                  <a:solidFill>
                    <a:srgbClr val="55534A"/>
                  </a:solidFill>
                  <a:latin typeface="+mn-lt"/>
                  <a:ea typeface="+mn-ea"/>
                  <a:cs typeface="+mn-cs"/>
                </a:rPr>
              </a:br>
              <a:r>
                <a:rPr lang="id-ID" sz="1350" dirty="0">
                  <a:solidFill>
                    <a:srgbClr val="55534A"/>
                  </a:solidFill>
                  <a:latin typeface="+mn-lt"/>
                  <a:ea typeface="+mn-ea"/>
                  <a:cs typeface="+mn-cs"/>
                </a:rPr>
                <a:t>Rp99rb di 2026</a:t>
              </a:r>
            </a:p>
          </p:txBody>
        </p:sp>
      </p:grpSp>
      <p:grpSp>
        <p:nvGrpSpPr>
          <p:cNvPr id="38" name="gross-margin"/>
          <p:cNvGrpSpPr/>
          <p:nvPr/>
        </p:nvGrpSpPr>
        <p:grpSpPr>
          <a:xfrm>
            <a:off x="8991600" y="3924300"/>
            <a:ext cx="2590800" cy="2019300"/>
            <a:chOff x="8991600" y="3924300"/>
            <a:chExt cx="2590800" cy="2019300"/>
          </a:xfrm>
        </p:grpSpPr>
        <p:sp>
          <p:nvSpPr>
            <p:cNvPr id="35" name="Rectangle 35"/>
            <p:cNvSpPr/>
            <p:nvPr/>
          </p:nvSpPr>
          <p:spPr>
            <a:xfrm>
              <a:off x="8991600" y="3924300"/>
              <a:ext cx="2590800" cy="2019300"/>
            </a:xfrm>
            <a:prstGeom prst="roundRect">
              <a:avLst>
                <a:gd name="adj" fmla="val 9434"/>
              </a:avLst>
            </a:prstGeom>
            <a:solidFill>
              <a:srgbClr val="E3F3DA"/>
            </a:solidFill>
            <a:ln>
              <a:noFill/>
            </a:ln>
          </p:spPr>
        </p:sp>
        <p:sp>
          <p:nvSpPr>
            <p:cNvPr id="36" name="TextBox 36"/>
            <p:cNvSpPr txBox="1"/>
            <p:nvPr/>
          </p:nvSpPr>
          <p:spPr>
            <a:xfrm>
              <a:off x="9239250" y="4146550"/>
              <a:ext cx="1772719" cy="876300"/>
            </a:xfrm>
            <a:prstGeom prst="rect">
              <a:avLst/>
            </a:prstGeom>
            <a:noFill/>
            <a:ln>
              <a:noFill/>
            </a:ln>
          </p:spPr>
          <p:txBody>
            <a:bodyPr wrap="none" lIns="0" tIns="0" rIns="0" bIns="0" anchor="t" anchorCtr="0">
              <a:spAutoFit/>
            </a:bodyPr>
            <a:lstStyle/>
            <a:p>
              <a:pPr algn="l"/>
              <a:r>
                <a:rPr lang="id-ID" sz="4500" b="1" dirty="0">
                  <a:solidFill>
                    <a:srgbClr val="2B6B22"/>
                  </a:solidFill>
                  <a:latin typeface="+mj-lt"/>
                  <a:ea typeface="+mj-ea"/>
                  <a:cs typeface="+mj-cs"/>
                </a:rPr>
                <a:t>&gt; 85%</a:t>
              </a:r>
            </a:p>
          </p:txBody>
        </p:sp>
        <p:sp>
          <p:nvSpPr>
            <p:cNvPr id="37" name="TextBox 37"/>
            <p:cNvSpPr txBox="1"/>
            <p:nvPr/>
          </p:nvSpPr>
          <p:spPr>
            <a:xfrm>
              <a:off x="9251442" y="4984750"/>
              <a:ext cx="1705619" cy="721233"/>
            </a:xfrm>
            <a:prstGeom prst="rect">
              <a:avLst/>
            </a:prstGeom>
            <a:noFill/>
            <a:ln>
              <a:noFill/>
            </a:ln>
          </p:spPr>
          <p:txBody>
            <a:bodyPr wrap="none" lIns="0" tIns="0" rIns="0" bIns="0" anchor="t" anchorCtr="0">
              <a:spAutoFit/>
            </a:bodyPr>
            <a:lstStyle/>
            <a:p>
              <a:pPr algn="l">
                <a:lnSpc>
                  <a:spcPts val="1800"/>
                </a:lnSpc>
              </a:pPr>
              <a:r>
                <a:rPr lang="id-ID" sz="1350" dirty="0">
                  <a:solidFill>
                    <a:schemeClr val="dk1"/>
                  </a:solidFill>
                  <a:latin typeface="+mn-lt"/>
                  <a:ea typeface="+mn-ea"/>
                  <a:cs typeface="+mn-cs"/>
                </a:rPr>
                <a:t>margin kotor (asumsi:</a:t>
              </a:r>
              <a:br>
                <a:rPr lang="id-ID" sz="1350" dirty="0">
                  <a:solidFill>
                    <a:schemeClr val="dk1"/>
                  </a:solidFill>
                  <a:latin typeface="+mn-lt"/>
                  <a:ea typeface="+mn-ea"/>
                  <a:cs typeface="+mn-cs"/>
                </a:rPr>
              </a:br>
              <a:r>
                <a:rPr lang="id-ID" sz="1350" dirty="0">
                  <a:solidFill>
                    <a:schemeClr val="dk1"/>
                  </a:solidFill>
                  <a:latin typeface="+mn-lt"/>
                  <a:ea typeface="+mn-ea"/>
                  <a:cs typeface="+mn-cs"/>
                </a:rPr>
                <a:t>server bertambah ± tiap</a:t>
              </a:r>
              <a:br>
                <a:rPr lang="id-ID" sz="1350" dirty="0">
                  <a:solidFill>
                    <a:schemeClr val="dk1"/>
                  </a:solidFill>
                  <a:latin typeface="+mn-lt"/>
                  <a:ea typeface="+mn-ea"/>
                  <a:cs typeface="+mn-cs"/>
                </a:rPr>
              </a:br>
              <a:r>
                <a:rPr lang="id-ID" sz="1350" dirty="0">
                  <a:solidFill>
                    <a:schemeClr val="dk1"/>
                  </a:solidFill>
                  <a:latin typeface="+mn-lt"/>
                  <a:ea typeface="+mn-ea"/>
                  <a:cs typeface="+mn-cs"/>
                </a:rPr>
                <a:t>50 klinik) · data skenario</a:t>
              </a:r>
            </a:p>
          </p:txBody>
        </p:sp>
      </p:grpSp>
      <p:grpSp>
        <p:nvGrpSpPr>
          <p:cNvPr id="41" name="footer"/>
          <p:cNvGrpSpPr/>
          <p:nvPr/>
        </p:nvGrpSpPr>
        <p:grpSpPr>
          <a:xfrm>
            <a:off x="604647" y="6477000"/>
            <a:ext cx="10982706" cy="191643"/>
            <a:chOff x="604647" y="6477000"/>
            <a:chExt cx="10982706" cy="191643"/>
          </a:xfrm>
        </p:grpSpPr>
        <p:sp>
          <p:nvSpPr>
            <p:cNvPr id="39" name="TextBox 39"/>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40" name="TextBox 40"/>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11</a:t>
              </a:r>
            </a:p>
          </p:txBody>
        </p:sp>
      </p:gr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9505218" cy="786003"/>
            <a:chOff x="595122" y="635000"/>
            <a:chExt cx="9505218" cy="786003"/>
          </a:xfrm>
        </p:grpSpPr>
        <p:sp>
          <p:nvSpPr>
            <p:cNvPr id="2" name="TextBox 2"/>
            <p:cNvSpPr txBox="1"/>
            <p:nvPr/>
          </p:nvSpPr>
          <p:spPr>
            <a:xfrm>
              <a:off x="603885" y="635000"/>
              <a:ext cx="917838"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KOMPETISI</a:t>
              </a:r>
            </a:p>
          </p:txBody>
        </p:sp>
        <p:sp>
          <p:nvSpPr>
            <p:cNvPr id="3" name="TextBox 3"/>
            <p:cNvSpPr txBox="1"/>
            <p:nvPr/>
          </p:nvSpPr>
          <p:spPr>
            <a:xfrm>
              <a:off x="595122" y="863600"/>
              <a:ext cx="9505218"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Lengkap seperti SIMRS, harga seperti aplikasi kasir</a:t>
              </a:r>
            </a:p>
          </p:txBody>
        </p:sp>
      </p:grpSp>
      <p:grpSp>
        <p:nvGrpSpPr>
          <p:cNvPr id="53" name="competition-matrix"/>
          <p:cNvGrpSpPr/>
          <p:nvPr/>
        </p:nvGrpSpPr>
        <p:grpSpPr>
          <a:xfrm>
            <a:off x="609600" y="1676400"/>
            <a:ext cx="10972800" cy="4314825"/>
            <a:chOff x="609600" y="1676400"/>
            <a:chExt cx="10972800" cy="4314825"/>
          </a:xfrm>
        </p:grpSpPr>
        <p:sp>
          <p:nvSpPr>
            <p:cNvPr id="5" name="Rectangle 5"/>
            <p:cNvSpPr/>
            <p:nvPr/>
          </p:nvSpPr>
          <p:spPr>
            <a:xfrm>
              <a:off x="3467100" y="1676400"/>
              <a:ext cx="2028825" cy="4305300"/>
            </a:xfrm>
            <a:prstGeom prst="rect">
              <a:avLst/>
            </a:prstGeom>
            <a:solidFill>
              <a:srgbClr val="E3F3DA"/>
            </a:solidFill>
            <a:ln>
              <a:noFill/>
            </a:ln>
          </p:spPr>
        </p:sp>
        <p:sp>
          <p:nvSpPr>
            <p:cNvPr id="6" name="Line 6"/>
            <p:cNvSpPr/>
            <p:nvPr/>
          </p:nvSpPr>
          <p:spPr>
            <a:xfrm>
              <a:off x="609600" y="2209800"/>
              <a:ext cx="10972800" cy="9525"/>
            </a:xfrm>
            <a:custGeom>
              <a:avLst/>
              <a:gdLst/>
              <a:ahLst/>
              <a:cxnLst/>
              <a:rect l="l" t="t" r="r" b="b"/>
              <a:pathLst>
                <a:path w="10972800" h="9525">
                  <a:moveTo>
                    <a:pt x="0" y="0"/>
                  </a:moveTo>
                  <a:lnTo>
                    <a:pt x="10972800" y="0"/>
                  </a:lnTo>
                </a:path>
              </a:pathLst>
            </a:custGeom>
            <a:noFill/>
            <a:ln w="19050">
              <a:solidFill>
                <a:schemeClr val="accent1"/>
              </a:solidFill>
            </a:ln>
          </p:spPr>
        </p:sp>
        <p:grpSp>
          <p:nvGrpSpPr>
            <p:cNvPr id="13" name="Group 13"/>
            <p:cNvGrpSpPr/>
            <p:nvPr/>
          </p:nvGrpSpPr>
          <p:grpSpPr>
            <a:xfrm>
              <a:off x="609600" y="2838450"/>
              <a:ext cx="10972800" cy="3152775"/>
              <a:chOff x="609600" y="2838450"/>
              <a:chExt cx="10972800" cy="3152775"/>
            </a:xfrm>
          </p:grpSpPr>
          <p:sp>
            <p:nvSpPr>
              <p:cNvPr id="7" name="Line 7"/>
              <p:cNvSpPr/>
              <p:nvPr/>
            </p:nvSpPr>
            <p:spPr>
              <a:xfrm>
                <a:off x="609600" y="283845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8" name="Line 8"/>
              <p:cNvSpPr/>
              <p:nvPr/>
            </p:nvSpPr>
            <p:spPr>
              <a:xfrm>
                <a:off x="609600" y="346710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9" name="Line 9"/>
              <p:cNvSpPr/>
              <p:nvPr/>
            </p:nvSpPr>
            <p:spPr>
              <a:xfrm>
                <a:off x="609600" y="409575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10" name="Line 10"/>
              <p:cNvSpPr/>
              <p:nvPr/>
            </p:nvSpPr>
            <p:spPr>
              <a:xfrm>
                <a:off x="609600" y="472440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11" name="Line 11"/>
              <p:cNvSpPr/>
              <p:nvPr/>
            </p:nvSpPr>
            <p:spPr>
              <a:xfrm>
                <a:off x="609600" y="5353050"/>
                <a:ext cx="10972800" cy="9525"/>
              </a:xfrm>
              <a:custGeom>
                <a:avLst/>
                <a:gdLst/>
                <a:ahLst/>
                <a:cxnLst/>
                <a:rect l="l" t="t" r="r" b="b"/>
                <a:pathLst>
                  <a:path w="10972800" h="9525">
                    <a:moveTo>
                      <a:pt x="0" y="0"/>
                    </a:moveTo>
                    <a:lnTo>
                      <a:pt x="10972800" y="0"/>
                    </a:lnTo>
                  </a:path>
                </a:pathLst>
              </a:custGeom>
              <a:noFill/>
              <a:ln w="9525">
                <a:solidFill>
                  <a:schemeClr val="accent6"/>
                </a:solidFill>
              </a:ln>
            </p:spPr>
          </p:sp>
          <p:sp>
            <p:nvSpPr>
              <p:cNvPr id="12" name="Line 12"/>
              <p:cNvSpPr/>
              <p:nvPr/>
            </p:nvSpPr>
            <p:spPr>
              <a:xfrm>
                <a:off x="609600" y="5981700"/>
                <a:ext cx="10972800" cy="9525"/>
              </a:xfrm>
              <a:custGeom>
                <a:avLst/>
                <a:gdLst/>
                <a:ahLst/>
                <a:cxnLst/>
                <a:rect l="l" t="t" r="r" b="b"/>
                <a:pathLst>
                  <a:path w="10972800" h="9525">
                    <a:moveTo>
                      <a:pt x="0" y="0"/>
                    </a:moveTo>
                    <a:lnTo>
                      <a:pt x="10972800" y="0"/>
                    </a:lnTo>
                  </a:path>
                </a:pathLst>
              </a:custGeom>
              <a:noFill/>
              <a:ln w="9525">
                <a:solidFill>
                  <a:schemeClr val="accent6"/>
                </a:solidFill>
              </a:ln>
            </p:spPr>
          </p:sp>
        </p:grpSp>
        <p:grpSp>
          <p:nvGrpSpPr>
            <p:cNvPr id="18" name="Group 18"/>
            <p:cNvGrpSpPr/>
            <p:nvPr/>
          </p:nvGrpSpPr>
          <p:grpSpPr>
            <a:xfrm>
              <a:off x="4008559" y="1844675"/>
              <a:ext cx="7317080" cy="264033"/>
              <a:chOff x="4008559" y="1844675"/>
              <a:chExt cx="7317080" cy="264033"/>
            </a:xfrm>
          </p:grpSpPr>
          <p:sp>
            <p:nvSpPr>
              <p:cNvPr id="14" name="TextBox 14"/>
              <p:cNvSpPr txBox="1"/>
              <p:nvPr/>
            </p:nvSpPr>
            <p:spPr>
              <a:xfrm>
                <a:off x="4008559" y="1844675"/>
                <a:ext cx="936382" cy="264033"/>
              </a:xfrm>
              <a:prstGeom prst="rect">
                <a:avLst/>
              </a:prstGeom>
              <a:noFill/>
              <a:ln>
                <a:noFill/>
              </a:ln>
            </p:spPr>
            <p:txBody>
              <a:bodyPr wrap="none" lIns="0" tIns="0" rIns="0" bIns="0" anchor="t" anchorCtr="0">
                <a:spAutoFit/>
              </a:bodyPr>
              <a:lstStyle/>
              <a:p>
                <a:pPr algn="ctr"/>
                <a:r>
                  <a:rPr lang="id-ID" sz="1350" b="1" dirty="0">
                    <a:solidFill>
                      <a:srgbClr val="2B6B22"/>
                    </a:solidFill>
                    <a:latin typeface="+mn-lt"/>
                    <a:ea typeface="+mn-ea"/>
                    <a:cs typeface="+mn-cs"/>
                  </a:rPr>
                  <a:t>ApexRecord</a:t>
                </a:r>
              </a:p>
            </p:txBody>
          </p:sp>
          <p:sp>
            <p:nvSpPr>
              <p:cNvPr id="15" name="TextBox 15"/>
              <p:cNvSpPr txBox="1"/>
              <p:nvPr/>
            </p:nvSpPr>
            <p:spPr>
              <a:xfrm>
                <a:off x="5835758" y="1844675"/>
                <a:ext cx="1339634" cy="264033"/>
              </a:xfrm>
              <a:prstGeom prst="rect">
                <a:avLst/>
              </a:prstGeom>
              <a:noFill/>
              <a:ln>
                <a:noFill/>
              </a:ln>
            </p:spPr>
            <p:txBody>
              <a:bodyPr wrap="none" lIns="0" tIns="0" rIns="0" bIns="0" anchor="t" anchorCtr="0">
                <a:spAutoFit/>
              </a:bodyPr>
              <a:lstStyle/>
              <a:p>
                <a:pPr algn="ctr"/>
                <a:r>
                  <a:rPr lang="id-ID" sz="1350" b="1" dirty="0">
                    <a:solidFill>
                      <a:schemeClr val="dk1"/>
                    </a:solidFill>
                    <a:latin typeface="+mn-lt"/>
                    <a:ea typeface="+mn-ea"/>
                    <a:cs typeface="+mn-cs"/>
                  </a:rPr>
                  <a:t>SIMRS enterprise</a:t>
                </a:r>
              </a:p>
            </p:txBody>
          </p:sp>
          <p:sp>
            <p:nvSpPr>
              <p:cNvPr id="16" name="TextBox 16"/>
              <p:cNvSpPr txBox="1"/>
              <p:nvPr/>
            </p:nvSpPr>
            <p:spPr>
              <a:xfrm>
                <a:off x="7788934" y="1844675"/>
                <a:ext cx="1490932" cy="264033"/>
              </a:xfrm>
              <a:prstGeom prst="rect">
                <a:avLst/>
              </a:prstGeom>
              <a:noFill/>
              <a:ln>
                <a:noFill/>
              </a:ln>
            </p:spPr>
            <p:txBody>
              <a:bodyPr wrap="none" lIns="0" tIns="0" rIns="0" bIns="0" anchor="t" anchorCtr="0">
                <a:spAutoFit/>
              </a:bodyPr>
              <a:lstStyle/>
              <a:p>
                <a:pPr algn="ctr"/>
                <a:r>
                  <a:rPr lang="id-ID" sz="1350" b="1" dirty="0">
                    <a:solidFill>
                      <a:schemeClr val="dk1"/>
                    </a:solidFill>
                    <a:latin typeface="+mn-lt"/>
                    <a:ea typeface="+mn-ea"/>
                    <a:cs typeface="+mn-cs"/>
                  </a:rPr>
                  <a:t>Aplikasi kasir / POS</a:t>
                </a:r>
              </a:p>
            </p:txBody>
          </p:sp>
          <p:sp>
            <p:nvSpPr>
              <p:cNvPr id="17" name="TextBox 17"/>
              <p:cNvSpPr txBox="1"/>
              <p:nvPr/>
            </p:nvSpPr>
            <p:spPr>
              <a:xfrm>
                <a:off x="9800810" y="1844675"/>
                <a:ext cx="1524829" cy="264033"/>
              </a:xfrm>
              <a:prstGeom prst="rect">
                <a:avLst/>
              </a:prstGeom>
              <a:noFill/>
              <a:ln>
                <a:noFill/>
              </a:ln>
            </p:spPr>
            <p:txBody>
              <a:bodyPr wrap="none" lIns="0" tIns="0" rIns="0" bIns="0" anchor="t" anchorCtr="0">
                <a:spAutoFit/>
              </a:bodyPr>
              <a:lstStyle/>
              <a:p>
                <a:pPr algn="ctr"/>
                <a:r>
                  <a:rPr lang="id-ID" sz="1350" b="1" dirty="0">
                    <a:solidFill>
                      <a:schemeClr val="dk1"/>
                    </a:solidFill>
                    <a:latin typeface="+mn-lt"/>
                    <a:ea typeface="+mn-ea"/>
                    <a:cs typeface="+mn-cs"/>
                  </a:rPr>
                  <a:t>Kertas + Excel + WA</a:t>
                </a:r>
              </a:p>
            </p:txBody>
          </p:sp>
        </p:grpSp>
        <p:grpSp>
          <p:nvGrpSpPr>
            <p:cNvPr id="25" name="Group 25"/>
            <p:cNvGrpSpPr/>
            <p:nvPr/>
          </p:nvGrpSpPr>
          <p:grpSpPr>
            <a:xfrm>
              <a:off x="716661" y="2425700"/>
              <a:ext cx="2827582" cy="3421952"/>
              <a:chOff x="716661" y="2425700"/>
              <a:chExt cx="2827582" cy="3421952"/>
            </a:xfrm>
          </p:grpSpPr>
          <p:sp>
            <p:nvSpPr>
              <p:cNvPr id="19" name="TextBox 19"/>
              <p:cNvSpPr txBox="1"/>
              <p:nvPr/>
            </p:nvSpPr>
            <p:spPr>
              <a:xfrm>
                <a:off x="716661" y="2425700"/>
                <a:ext cx="1290212" cy="278702"/>
              </a:xfrm>
              <a:prstGeom prst="rect">
                <a:avLst/>
              </a:prstGeom>
              <a:noFill/>
              <a:ln>
                <a:noFill/>
              </a:ln>
            </p:spPr>
            <p:txBody>
              <a:bodyPr wrap="none" lIns="0" tIns="0" rIns="0" bIns="0" anchor="t" anchorCtr="0">
                <a:spAutoFit/>
              </a:bodyPr>
              <a:lstStyle/>
              <a:p>
                <a:pPr algn="l"/>
                <a:r>
                  <a:rPr lang="id-ID" sz="1420" b="1" dirty="0">
                    <a:solidFill>
                      <a:schemeClr val="dk1"/>
                    </a:solidFill>
                    <a:latin typeface="+mn-lt"/>
                    <a:ea typeface="+mn-ea"/>
                    <a:cs typeface="+mn-cs"/>
                  </a:rPr>
                  <a:t>Harga per bulan</a:t>
                </a:r>
              </a:p>
            </p:txBody>
          </p:sp>
          <p:sp>
            <p:nvSpPr>
              <p:cNvPr id="20" name="TextBox 20"/>
              <p:cNvSpPr txBox="1"/>
              <p:nvPr/>
            </p:nvSpPr>
            <p:spPr>
              <a:xfrm>
                <a:off x="716661" y="3054350"/>
                <a:ext cx="1035574" cy="278702"/>
              </a:xfrm>
              <a:prstGeom prst="rect">
                <a:avLst/>
              </a:prstGeom>
              <a:noFill/>
              <a:ln>
                <a:noFill/>
              </a:ln>
            </p:spPr>
            <p:txBody>
              <a:bodyPr wrap="none" lIns="0" tIns="0" rIns="0" bIns="0" anchor="t" anchorCtr="0">
                <a:spAutoFit/>
              </a:bodyPr>
              <a:lstStyle/>
              <a:p>
                <a:pPr algn="l"/>
                <a:r>
                  <a:rPr lang="id-ID" sz="1420" b="1" dirty="0">
                    <a:solidFill>
                      <a:schemeClr val="dk1"/>
                    </a:solidFill>
                    <a:latin typeface="+mn-lt"/>
                    <a:ea typeface="+mn-ea"/>
                    <a:cs typeface="+mn-cs"/>
                  </a:rPr>
                  <a:t>Waktu setup</a:t>
                </a:r>
              </a:p>
            </p:txBody>
          </p:sp>
          <p:sp>
            <p:nvSpPr>
              <p:cNvPr id="21" name="TextBox 21"/>
              <p:cNvSpPr txBox="1"/>
              <p:nvPr/>
            </p:nvSpPr>
            <p:spPr>
              <a:xfrm>
                <a:off x="716661" y="3683000"/>
                <a:ext cx="2256886" cy="278702"/>
              </a:xfrm>
              <a:prstGeom prst="rect">
                <a:avLst/>
              </a:prstGeom>
              <a:noFill/>
              <a:ln>
                <a:noFill/>
              </a:ln>
            </p:spPr>
            <p:txBody>
              <a:bodyPr wrap="none" lIns="0" tIns="0" rIns="0" bIns="0" anchor="t" anchorCtr="0">
                <a:spAutoFit/>
              </a:bodyPr>
              <a:lstStyle/>
              <a:p>
                <a:pPr algn="l"/>
                <a:r>
                  <a:rPr lang="id-ID" sz="1420" b="1" dirty="0">
                    <a:solidFill>
                      <a:schemeClr val="dk1"/>
                    </a:solidFill>
                    <a:latin typeface="+mn-lt"/>
                    <a:ea typeface="+mn-ea"/>
                    <a:cs typeface="+mn-cs"/>
                  </a:rPr>
                  <a:t>Rekam medis + odontogram</a:t>
                </a:r>
              </a:p>
            </p:txBody>
          </p:sp>
          <p:sp>
            <p:nvSpPr>
              <p:cNvPr id="22" name="TextBox 22"/>
              <p:cNvSpPr txBox="1"/>
              <p:nvPr/>
            </p:nvSpPr>
            <p:spPr>
              <a:xfrm>
                <a:off x="716661" y="4311650"/>
                <a:ext cx="1742945" cy="278702"/>
              </a:xfrm>
              <a:prstGeom prst="rect">
                <a:avLst/>
              </a:prstGeom>
              <a:noFill/>
              <a:ln>
                <a:noFill/>
              </a:ln>
            </p:spPr>
            <p:txBody>
              <a:bodyPr wrap="none" lIns="0" tIns="0" rIns="0" bIns="0" anchor="t" anchorCtr="0">
                <a:spAutoFit/>
              </a:bodyPr>
              <a:lstStyle/>
              <a:p>
                <a:pPr algn="l"/>
                <a:r>
                  <a:rPr lang="id-ID" sz="1420" b="1" dirty="0">
                    <a:solidFill>
                      <a:schemeClr val="dk1"/>
                    </a:solidFill>
                    <a:latin typeface="+mn-lt"/>
                    <a:ea typeface="+mn-ea"/>
                    <a:cs typeface="+mn-cs"/>
                  </a:rPr>
                  <a:t>Integrasi SATUSEHAT</a:t>
                </a:r>
              </a:p>
            </p:txBody>
          </p:sp>
          <p:sp>
            <p:nvSpPr>
              <p:cNvPr id="23" name="TextBox 23"/>
              <p:cNvSpPr txBox="1"/>
              <p:nvPr/>
            </p:nvSpPr>
            <p:spPr>
              <a:xfrm>
                <a:off x="716661" y="4940300"/>
                <a:ext cx="2827582" cy="278702"/>
              </a:xfrm>
              <a:prstGeom prst="rect">
                <a:avLst/>
              </a:prstGeom>
              <a:noFill/>
              <a:ln>
                <a:noFill/>
              </a:ln>
            </p:spPr>
            <p:txBody>
              <a:bodyPr wrap="none" lIns="0" tIns="0" rIns="0" bIns="0" anchor="t" anchorCtr="0">
                <a:spAutoFit/>
              </a:bodyPr>
              <a:lstStyle/>
              <a:p>
                <a:pPr algn="l"/>
                <a:r>
                  <a:rPr lang="id-ID" sz="1420" b="1" dirty="0">
                    <a:solidFill>
                      <a:schemeClr val="dk1"/>
                    </a:solidFill>
                    <a:latin typeface="+mn-lt"/>
                    <a:ea typeface="+mn-ea"/>
                    <a:cs typeface="+mn-cs"/>
                  </a:rPr>
                  <a:t>Analitik bisnis (LTV, CAC, heatmap)</a:t>
                </a:r>
              </a:p>
            </p:txBody>
          </p:sp>
          <p:sp>
            <p:nvSpPr>
              <p:cNvPr id="24" name="TextBox 24"/>
              <p:cNvSpPr txBox="1"/>
              <p:nvPr/>
            </p:nvSpPr>
            <p:spPr>
              <a:xfrm>
                <a:off x="716661" y="5568950"/>
                <a:ext cx="2444637" cy="278702"/>
              </a:xfrm>
              <a:prstGeom prst="rect">
                <a:avLst/>
              </a:prstGeom>
              <a:noFill/>
              <a:ln>
                <a:noFill/>
              </a:ln>
            </p:spPr>
            <p:txBody>
              <a:bodyPr wrap="none" lIns="0" tIns="0" rIns="0" bIns="0" anchor="t" anchorCtr="0">
                <a:spAutoFit/>
              </a:bodyPr>
              <a:lstStyle/>
              <a:p>
                <a:pPr algn="l"/>
                <a:r>
                  <a:rPr lang="id-ID" sz="1420" b="1" dirty="0">
                    <a:solidFill>
                      <a:schemeClr val="dk1"/>
                    </a:solidFill>
                    <a:latin typeface="+mn-lt"/>
                    <a:ea typeface="+mn-ea"/>
                    <a:cs typeface="+mn-cs"/>
                  </a:rPr>
                  <a:t>API website &amp; reservasi online</a:t>
                </a:r>
              </a:p>
            </p:txBody>
          </p:sp>
        </p:grpSp>
        <p:grpSp>
          <p:nvGrpSpPr>
            <p:cNvPr id="32" name="Group 32"/>
            <p:cNvGrpSpPr/>
            <p:nvPr/>
          </p:nvGrpSpPr>
          <p:grpSpPr>
            <a:xfrm>
              <a:off x="3875876" y="2425700"/>
              <a:ext cx="1201747" cy="3421952"/>
              <a:chOff x="3875876" y="2425700"/>
              <a:chExt cx="1201747" cy="3421952"/>
            </a:xfrm>
          </p:grpSpPr>
          <p:sp>
            <p:nvSpPr>
              <p:cNvPr id="26" name="TextBox 26"/>
              <p:cNvSpPr txBox="1"/>
              <p:nvPr/>
            </p:nvSpPr>
            <p:spPr>
              <a:xfrm>
                <a:off x="3875876" y="2425700"/>
                <a:ext cx="1201747" cy="278702"/>
              </a:xfrm>
              <a:prstGeom prst="rect">
                <a:avLst/>
              </a:prstGeom>
              <a:noFill/>
              <a:ln>
                <a:noFill/>
              </a:ln>
            </p:spPr>
            <p:txBody>
              <a:bodyPr wrap="none" lIns="0" tIns="0" rIns="0" bIns="0" anchor="t" anchorCtr="0">
                <a:spAutoFit/>
              </a:bodyPr>
              <a:lstStyle/>
              <a:p>
                <a:pPr algn="ctr"/>
                <a:r>
                  <a:rPr lang="id-ID" sz="1420" b="1" dirty="0">
                    <a:solidFill>
                      <a:srgbClr val="2B6B22"/>
                    </a:solidFill>
                    <a:latin typeface="+mn-lt"/>
                    <a:ea typeface="+mn-ea"/>
                    <a:cs typeface="+mn-cs"/>
                  </a:rPr>
                  <a:t>Mulai Rp149rb</a:t>
                </a:r>
              </a:p>
            </p:txBody>
          </p:sp>
          <p:sp>
            <p:nvSpPr>
              <p:cNvPr id="27" name="TextBox 27"/>
              <p:cNvSpPr txBox="1"/>
              <p:nvPr/>
            </p:nvSpPr>
            <p:spPr>
              <a:xfrm>
                <a:off x="4048041" y="3054350"/>
                <a:ext cx="857419" cy="278702"/>
              </a:xfrm>
              <a:prstGeom prst="rect">
                <a:avLst/>
              </a:prstGeom>
              <a:noFill/>
              <a:ln>
                <a:noFill/>
              </a:ln>
            </p:spPr>
            <p:txBody>
              <a:bodyPr wrap="none" lIns="0" tIns="0" rIns="0" bIns="0" anchor="t" anchorCtr="0">
                <a:spAutoFit/>
              </a:bodyPr>
              <a:lstStyle/>
              <a:p>
                <a:pPr algn="ctr"/>
                <a:r>
                  <a:rPr lang="id-ID" sz="1420" b="1" dirty="0">
                    <a:solidFill>
                      <a:srgbClr val="2B6B22"/>
                    </a:solidFill>
                    <a:latin typeface="+mn-lt"/>
                    <a:ea typeface="+mn-ea"/>
                    <a:cs typeface="+mn-cs"/>
                  </a:rPr>
                  <a:t>&lt; 10 menit</a:t>
                </a:r>
              </a:p>
            </p:txBody>
          </p:sp>
          <p:sp>
            <p:nvSpPr>
              <p:cNvPr id="28" name="TextBox 28"/>
              <p:cNvSpPr txBox="1"/>
              <p:nvPr/>
            </p:nvSpPr>
            <p:spPr>
              <a:xfrm>
                <a:off x="4369928" y="3683000"/>
                <a:ext cx="213643" cy="278702"/>
              </a:xfrm>
              <a:prstGeom prst="rect">
                <a:avLst/>
              </a:prstGeom>
              <a:noFill/>
              <a:ln>
                <a:noFill/>
              </a:ln>
            </p:spPr>
            <p:txBody>
              <a:bodyPr wrap="none" lIns="0" tIns="0" rIns="0" bIns="0" anchor="t" anchorCtr="0">
                <a:spAutoFit/>
              </a:bodyPr>
              <a:lstStyle/>
              <a:p>
                <a:pPr algn="ctr"/>
                <a:r>
                  <a:rPr lang="id-ID" sz="1420" b="1" dirty="0">
                    <a:solidFill>
                      <a:srgbClr val="2B6B22"/>
                    </a:solidFill>
                    <a:latin typeface="+mn-lt"/>
                    <a:ea typeface="+mn-ea"/>
                    <a:cs typeface="+mn-cs"/>
                  </a:rPr>
                  <a:t>Ya</a:t>
                </a:r>
              </a:p>
            </p:txBody>
          </p:sp>
          <p:sp>
            <p:nvSpPr>
              <p:cNvPr id="29" name="TextBox 29"/>
              <p:cNvSpPr txBox="1"/>
              <p:nvPr/>
            </p:nvSpPr>
            <p:spPr>
              <a:xfrm>
                <a:off x="4369928" y="4311650"/>
                <a:ext cx="213643" cy="278702"/>
              </a:xfrm>
              <a:prstGeom prst="rect">
                <a:avLst/>
              </a:prstGeom>
              <a:noFill/>
              <a:ln>
                <a:noFill/>
              </a:ln>
            </p:spPr>
            <p:txBody>
              <a:bodyPr wrap="none" lIns="0" tIns="0" rIns="0" bIns="0" anchor="t" anchorCtr="0">
                <a:spAutoFit/>
              </a:bodyPr>
              <a:lstStyle/>
              <a:p>
                <a:pPr algn="ctr"/>
                <a:r>
                  <a:rPr lang="id-ID" sz="1420" b="1" dirty="0">
                    <a:solidFill>
                      <a:srgbClr val="2B6B22"/>
                    </a:solidFill>
                    <a:latin typeface="+mn-lt"/>
                    <a:ea typeface="+mn-ea"/>
                    <a:cs typeface="+mn-cs"/>
                  </a:rPr>
                  <a:t>Ya</a:t>
                </a:r>
              </a:p>
            </p:txBody>
          </p:sp>
          <p:sp>
            <p:nvSpPr>
              <p:cNvPr id="30" name="TextBox 30"/>
              <p:cNvSpPr txBox="1"/>
              <p:nvPr/>
            </p:nvSpPr>
            <p:spPr>
              <a:xfrm>
                <a:off x="4369928" y="4940300"/>
                <a:ext cx="213643" cy="278702"/>
              </a:xfrm>
              <a:prstGeom prst="rect">
                <a:avLst/>
              </a:prstGeom>
              <a:noFill/>
              <a:ln>
                <a:noFill/>
              </a:ln>
            </p:spPr>
            <p:txBody>
              <a:bodyPr wrap="none" lIns="0" tIns="0" rIns="0" bIns="0" anchor="t" anchorCtr="0">
                <a:spAutoFit/>
              </a:bodyPr>
              <a:lstStyle/>
              <a:p>
                <a:pPr algn="ctr"/>
                <a:r>
                  <a:rPr lang="id-ID" sz="1420" b="1" dirty="0">
                    <a:solidFill>
                      <a:srgbClr val="2B6B22"/>
                    </a:solidFill>
                    <a:latin typeface="+mn-lt"/>
                    <a:ea typeface="+mn-ea"/>
                    <a:cs typeface="+mn-cs"/>
                  </a:rPr>
                  <a:t>Ya</a:t>
                </a:r>
              </a:p>
            </p:txBody>
          </p:sp>
          <p:sp>
            <p:nvSpPr>
              <p:cNvPr id="31" name="TextBox 31"/>
              <p:cNvSpPr txBox="1"/>
              <p:nvPr/>
            </p:nvSpPr>
            <p:spPr>
              <a:xfrm>
                <a:off x="4369928" y="5568950"/>
                <a:ext cx="213643" cy="278702"/>
              </a:xfrm>
              <a:prstGeom prst="rect">
                <a:avLst/>
              </a:prstGeom>
              <a:noFill/>
              <a:ln>
                <a:noFill/>
              </a:ln>
            </p:spPr>
            <p:txBody>
              <a:bodyPr wrap="none" lIns="0" tIns="0" rIns="0" bIns="0" anchor="t" anchorCtr="0">
                <a:spAutoFit/>
              </a:bodyPr>
              <a:lstStyle/>
              <a:p>
                <a:pPr algn="ctr"/>
                <a:r>
                  <a:rPr lang="id-ID" sz="1420" b="1" dirty="0">
                    <a:solidFill>
                      <a:srgbClr val="2B6B22"/>
                    </a:solidFill>
                    <a:latin typeface="+mn-lt"/>
                    <a:ea typeface="+mn-ea"/>
                    <a:cs typeface="+mn-cs"/>
                  </a:rPr>
                  <a:t>Ya</a:t>
                </a:r>
              </a:p>
            </p:txBody>
          </p:sp>
        </p:grpSp>
        <p:grpSp>
          <p:nvGrpSpPr>
            <p:cNvPr id="43" name="Group 43"/>
            <p:cNvGrpSpPr/>
            <p:nvPr/>
          </p:nvGrpSpPr>
          <p:grpSpPr>
            <a:xfrm>
              <a:off x="5621027" y="2425700"/>
              <a:ext cx="5263110" cy="3421952"/>
              <a:chOff x="5621027" y="2425700"/>
              <a:chExt cx="5263110" cy="3421952"/>
            </a:xfrm>
          </p:grpSpPr>
          <p:sp>
            <p:nvSpPr>
              <p:cNvPr id="33" name="TextBox 33"/>
              <p:cNvSpPr txBox="1"/>
              <p:nvPr/>
            </p:nvSpPr>
            <p:spPr>
              <a:xfrm>
                <a:off x="5621027" y="2425700"/>
                <a:ext cx="1769096" cy="278702"/>
              </a:xfrm>
              <a:prstGeom prst="rect">
                <a:avLst/>
              </a:prstGeom>
              <a:noFill/>
              <a:ln>
                <a:noFill/>
              </a:ln>
            </p:spPr>
            <p:txBody>
              <a:bodyPr wrap="none" lIns="0" tIns="0" rIns="0" bIns="0" anchor="t" anchorCtr="0">
                <a:spAutoFit/>
              </a:bodyPr>
              <a:lstStyle/>
              <a:p>
                <a:pPr algn="ctr"/>
                <a:r>
                  <a:rPr lang="id-ID" sz="1420" dirty="0">
                    <a:solidFill>
                      <a:schemeClr val="dk1"/>
                    </a:solidFill>
                    <a:latin typeface="+mn-lt"/>
                    <a:ea typeface="+mn-ea"/>
                    <a:cs typeface="+mn-cs"/>
                  </a:rPr>
                  <a:t>Jutaan + implementasi</a:t>
                </a:r>
              </a:p>
            </p:txBody>
          </p:sp>
          <p:sp>
            <p:nvSpPr>
              <p:cNvPr id="34" name="TextBox 34"/>
              <p:cNvSpPr txBox="1"/>
              <p:nvPr/>
            </p:nvSpPr>
            <p:spPr>
              <a:xfrm>
                <a:off x="8262944" y="2425700"/>
                <a:ext cx="542911" cy="278702"/>
              </a:xfrm>
              <a:prstGeom prst="rect">
                <a:avLst/>
              </a:prstGeom>
              <a:noFill/>
              <a:ln>
                <a:noFill/>
              </a:ln>
            </p:spPr>
            <p:txBody>
              <a:bodyPr wrap="none" lIns="0" tIns="0" rIns="0" bIns="0" anchor="t" anchorCtr="0">
                <a:spAutoFit/>
              </a:bodyPr>
              <a:lstStyle/>
              <a:p>
                <a:pPr algn="ctr"/>
                <a:r>
                  <a:rPr lang="id-ID" sz="1420" dirty="0">
                    <a:solidFill>
                      <a:schemeClr val="dk1"/>
                    </a:solidFill>
                    <a:latin typeface="+mn-lt"/>
                    <a:ea typeface="+mn-ea"/>
                    <a:cs typeface="+mn-cs"/>
                  </a:rPr>
                  <a:t>Murah</a:t>
                </a:r>
              </a:p>
            </p:txBody>
          </p:sp>
          <p:sp>
            <p:nvSpPr>
              <p:cNvPr id="35" name="TextBox 35"/>
              <p:cNvSpPr txBox="1"/>
              <p:nvPr/>
            </p:nvSpPr>
            <p:spPr>
              <a:xfrm>
                <a:off x="10242314" y="2425700"/>
                <a:ext cx="641823" cy="278702"/>
              </a:xfrm>
              <a:prstGeom prst="rect">
                <a:avLst/>
              </a:prstGeom>
              <a:noFill/>
              <a:ln>
                <a:noFill/>
              </a:ln>
            </p:spPr>
            <p:txBody>
              <a:bodyPr wrap="none" lIns="0" tIns="0" rIns="0" bIns="0" anchor="t" anchorCtr="0">
                <a:spAutoFit/>
              </a:bodyPr>
              <a:lstStyle/>
              <a:p>
                <a:pPr algn="ctr"/>
                <a:r>
                  <a:rPr lang="id-ID" sz="1420" dirty="0">
                    <a:solidFill>
                      <a:schemeClr val="dk1"/>
                    </a:solidFill>
                    <a:latin typeface="+mn-lt"/>
                    <a:ea typeface="+mn-ea"/>
                    <a:cs typeface="+mn-cs"/>
                  </a:rPr>
                  <a:t>“Gratis”</a:t>
                </a:r>
              </a:p>
            </p:txBody>
          </p:sp>
          <p:sp>
            <p:nvSpPr>
              <p:cNvPr id="36" name="TextBox 36"/>
              <p:cNvSpPr txBox="1"/>
              <p:nvPr/>
            </p:nvSpPr>
            <p:spPr>
              <a:xfrm>
                <a:off x="5756003" y="3054350"/>
                <a:ext cx="1499144" cy="278702"/>
              </a:xfrm>
              <a:prstGeom prst="rect">
                <a:avLst/>
              </a:prstGeom>
              <a:noFill/>
              <a:ln>
                <a:noFill/>
              </a:ln>
            </p:spPr>
            <p:txBody>
              <a:bodyPr wrap="none" lIns="0" tIns="0" rIns="0" bIns="0" anchor="t" anchorCtr="0">
                <a:spAutoFit/>
              </a:bodyPr>
              <a:lstStyle/>
              <a:p>
                <a:pPr algn="ctr"/>
                <a:r>
                  <a:rPr lang="id-ID" sz="1420" dirty="0">
                    <a:solidFill>
                      <a:schemeClr val="dk1"/>
                    </a:solidFill>
                    <a:latin typeface="+mn-lt"/>
                    <a:ea typeface="+mn-ea"/>
                    <a:cs typeface="+mn-cs"/>
                  </a:rPr>
                  <a:t>Berminggu-minggu</a:t>
                </a:r>
              </a:p>
            </p:txBody>
          </p:sp>
          <p:sp>
            <p:nvSpPr>
              <p:cNvPr id="37" name="TextBox 37"/>
              <p:cNvSpPr txBox="1"/>
              <p:nvPr/>
            </p:nvSpPr>
            <p:spPr>
              <a:xfrm>
                <a:off x="8298052" y="3054350"/>
                <a:ext cx="472696" cy="278702"/>
              </a:xfrm>
              <a:prstGeom prst="rect">
                <a:avLst/>
              </a:prstGeom>
              <a:noFill/>
              <a:ln>
                <a:noFill/>
              </a:ln>
            </p:spPr>
            <p:txBody>
              <a:bodyPr wrap="none" lIns="0" tIns="0" rIns="0" bIns="0" anchor="t" anchorCtr="0">
                <a:spAutoFit/>
              </a:bodyPr>
              <a:lstStyle/>
              <a:p>
                <a:pPr algn="ctr"/>
                <a:r>
                  <a:rPr lang="id-ID" sz="1420" dirty="0">
                    <a:solidFill>
                      <a:schemeClr val="dk1"/>
                    </a:solidFill>
                    <a:latin typeface="+mn-lt"/>
                    <a:ea typeface="+mn-ea"/>
                    <a:cs typeface="+mn-cs"/>
                  </a:rPr>
                  <a:t>Cepat</a:t>
                </a:r>
              </a:p>
            </p:txBody>
          </p:sp>
          <p:sp>
            <p:nvSpPr>
              <p:cNvPr id="38" name="TextBox 38"/>
              <p:cNvSpPr txBox="1"/>
              <p:nvPr/>
            </p:nvSpPr>
            <p:spPr>
              <a:xfrm>
                <a:off x="10469457" y="3054350"/>
                <a:ext cx="187536" cy="278702"/>
              </a:xfrm>
              <a:prstGeom prst="rect">
                <a:avLst/>
              </a:prstGeom>
              <a:noFill/>
              <a:ln>
                <a:noFill/>
              </a:ln>
            </p:spPr>
            <p:txBody>
              <a:bodyPr wrap="none" lIns="0" tIns="0" rIns="0" bIns="0" anchor="t" anchorCtr="0">
                <a:spAutoFit/>
              </a:bodyPr>
              <a:lstStyle/>
              <a:p>
                <a:pPr algn="ctr"/>
                <a:r>
                  <a:rPr lang="id-ID" sz="1420" dirty="0">
                    <a:solidFill>
                      <a:schemeClr val="dk1"/>
                    </a:solidFill>
                    <a:latin typeface="+mn-lt"/>
                    <a:ea typeface="+mn-ea"/>
                    <a:cs typeface="+mn-cs"/>
                  </a:rPr>
                  <a:t>—</a:t>
                </a:r>
              </a:p>
            </p:txBody>
          </p:sp>
          <p:sp>
            <p:nvSpPr>
              <p:cNvPr id="39" name="TextBox 39"/>
              <p:cNvSpPr txBox="1"/>
              <p:nvPr/>
            </p:nvSpPr>
            <p:spPr>
              <a:xfrm>
                <a:off x="6398753" y="3683000"/>
                <a:ext cx="213643" cy="278702"/>
              </a:xfrm>
              <a:prstGeom prst="rect">
                <a:avLst/>
              </a:prstGeom>
              <a:noFill/>
              <a:ln>
                <a:noFill/>
              </a:ln>
            </p:spPr>
            <p:txBody>
              <a:bodyPr wrap="none" lIns="0" tIns="0" rIns="0" bIns="0" anchor="t" anchorCtr="0">
                <a:spAutoFit/>
              </a:bodyPr>
              <a:lstStyle/>
              <a:p>
                <a:pPr algn="ctr"/>
                <a:r>
                  <a:rPr lang="id-ID" sz="1420" b="1" dirty="0">
                    <a:solidFill>
                      <a:schemeClr val="accent2"/>
                    </a:solidFill>
                    <a:latin typeface="+mn-lt"/>
                    <a:ea typeface="+mn-ea"/>
                    <a:cs typeface="+mn-cs"/>
                  </a:rPr>
                  <a:t>Ya</a:t>
                </a:r>
              </a:p>
            </p:txBody>
          </p:sp>
          <p:sp>
            <p:nvSpPr>
              <p:cNvPr id="40" name="TextBox 40"/>
              <p:cNvSpPr txBox="1"/>
              <p:nvPr/>
            </p:nvSpPr>
            <p:spPr>
              <a:xfrm>
                <a:off x="6398753" y="4311650"/>
                <a:ext cx="213643" cy="278702"/>
              </a:xfrm>
              <a:prstGeom prst="rect">
                <a:avLst/>
              </a:prstGeom>
              <a:noFill/>
              <a:ln>
                <a:noFill/>
              </a:ln>
            </p:spPr>
            <p:txBody>
              <a:bodyPr wrap="none" lIns="0" tIns="0" rIns="0" bIns="0" anchor="t" anchorCtr="0">
                <a:spAutoFit/>
              </a:bodyPr>
              <a:lstStyle/>
              <a:p>
                <a:pPr algn="ctr"/>
                <a:r>
                  <a:rPr lang="id-ID" sz="1420" b="1" dirty="0">
                    <a:solidFill>
                      <a:schemeClr val="accent2"/>
                    </a:solidFill>
                    <a:latin typeface="+mn-lt"/>
                    <a:ea typeface="+mn-ea"/>
                    <a:cs typeface="+mn-cs"/>
                  </a:rPr>
                  <a:t>Ya</a:t>
                </a:r>
              </a:p>
            </p:txBody>
          </p:sp>
          <p:sp>
            <p:nvSpPr>
              <p:cNvPr id="41" name="TextBox 41"/>
              <p:cNvSpPr txBox="1"/>
              <p:nvPr/>
            </p:nvSpPr>
            <p:spPr>
              <a:xfrm>
                <a:off x="6145450" y="4940300"/>
                <a:ext cx="720250" cy="278702"/>
              </a:xfrm>
              <a:prstGeom prst="rect">
                <a:avLst/>
              </a:prstGeom>
              <a:noFill/>
              <a:ln>
                <a:noFill/>
              </a:ln>
            </p:spPr>
            <p:txBody>
              <a:bodyPr wrap="none" lIns="0" tIns="0" rIns="0" bIns="0" anchor="t" anchorCtr="0">
                <a:spAutoFit/>
              </a:bodyPr>
              <a:lstStyle/>
              <a:p>
                <a:pPr algn="ctr"/>
                <a:r>
                  <a:rPr lang="id-ID" sz="1420" dirty="0">
                    <a:solidFill>
                      <a:schemeClr val="accent5"/>
                    </a:solidFill>
                    <a:latin typeface="+mn-lt"/>
                    <a:ea typeface="+mn-ea"/>
                    <a:cs typeface="+mn-cs"/>
                  </a:rPr>
                  <a:t>Sebagian</a:t>
                </a:r>
              </a:p>
            </p:txBody>
          </p:sp>
          <p:sp>
            <p:nvSpPr>
              <p:cNvPr id="42" name="TextBox 42"/>
              <p:cNvSpPr txBox="1"/>
              <p:nvPr/>
            </p:nvSpPr>
            <p:spPr>
              <a:xfrm>
                <a:off x="6145450" y="5568950"/>
                <a:ext cx="720250" cy="278702"/>
              </a:xfrm>
              <a:prstGeom prst="rect">
                <a:avLst/>
              </a:prstGeom>
              <a:noFill/>
              <a:ln>
                <a:noFill/>
              </a:ln>
            </p:spPr>
            <p:txBody>
              <a:bodyPr wrap="none" lIns="0" tIns="0" rIns="0" bIns="0" anchor="t" anchorCtr="0">
                <a:spAutoFit/>
              </a:bodyPr>
              <a:lstStyle/>
              <a:p>
                <a:pPr algn="ctr"/>
                <a:r>
                  <a:rPr lang="id-ID" sz="1420" dirty="0">
                    <a:solidFill>
                      <a:schemeClr val="accent5"/>
                    </a:solidFill>
                    <a:latin typeface="+mn-lt"/>
                    <a:ea typeface="+mn-ea"/>
                    <a:cs typeface="+mn-cs"/>
                  </a:rPr>
                  <a:t>Sebagian</a:t>
                </a:r>
              </a:p>
            </p:txBody>
          </p:sp>
        </p:grpSp>
        <p:grpSp>
          <p:nvGrpSpPr>
            <p:cNvPr id="52" name="Group 52"/>
            <p:cNvGrpSpPr/>
            <p:nvPr/>
          </p:nvGrpSpPr>
          <p:grpSpPr>
            <a:xfrm>
              <a:off x="8316843" y="3683000"/>
              <a:ext cx="2463938" cy="2164652"/>
              <a:chOff x="8316843" y="3683000"/>
              <a:chExt cx="2463938" cy="2164652"/>
            </a:xfrm>
          </p:grpSpPr>
          <p:sp>
            <p:nvSpPr>
              <p:cNvPr id="44" name="TextBox 44"/>
              <p:cNvSpPr txBox="1"/>
              <p:nvPr/>
            </p:nvSpPr>
            <p:spPr>
              <a:xfrm>
                <a:off x="8316843" y="3683000"/>
                <a:ext cx="435113" cy="278702"/>
              </a:xfrm>
              <a:prstGeom prst="rect">
                <a:avLst/>
              </a:prstGeom>
              <a:noFill/>
              <a:ln>
                <a:noFill/>
              </a:ln>
            </p:spPr>
            <p:txBody>
              <a:bodyPr wrap="none" lIns="0" tIns="0" rIns="0" bIns="0" anchor="t" anchorCtr="0">
                <a:spAutoFit/>
              </a:bodyPr>
              <a:lstStyle/>
              <a:p>
                <a:pPr algn="ctr"/>
                <a:r>
                  <a:rPr lang="id-ID" sz="1420" dirty="0">
                    <a:solidFill>
                      <a:srgbClr val="C1381F"/>
                    </a:solidFill>
                    <a:latin typeface="+mn-lt"/>
                    <a:ea typeface="+mn-ea"/>
                    <a:cs typeface="+mn-cs"/>
                  </a:rPr>
                  <a:t>Tidak</a:t>
                </a:r>
              </a:p>
            </p:txBody>
          </p:sp>
          <p:sp>
            <p:nvSpPr>
              <p:cNvPr id="45" name="TextBox 45"/>
              <p:cNvSpPr txBox="1"/>
              <p:nvPr/>
            </p:nvSpPr>
            <p:spPr>
              <a:xfrm>
                <a:off x="10345668" y="3683000"/>
                <a:ext cx="435113" cy="278702"/>
              </a:xfrm>
              <a:prstGeom prst="rect">
                <a:avLst/>
              </a:prstGeom>
              <a:noFill/>
              <a:ln>
                <a:noFill/>
              </a:ln>
            </p:spPr>
            <p:txBody>
              <a:bodyPr wrap="none" lIns="0" tIns="0" rIns="0" bIns="0" anchor="t" anchorCtr="0">
                <a:spAutoFit/>
              </a:bodyPr>
              <a:lstStyle/>
              <a:p>
                <a:pPr algn="ctr"/>
                <a:r>
                  <a:rPr lang="id-ID" sz="1420" dirty="0">
                    <a:solidFill>
                      <a:srgbClr val="C1381F"/>
                    </a:solidFill>
                    <a:latin typeface="+mn-lt"/>
                    <a:ea typeface="+mn-ea"/>
                    <a:cs typeface="+mn-cs"/>
                  </a:rPr>
                  <a:t>Tidak</a:t>
                </a:r>
              </a:p>
            </p:txBody>
          </p:sp>
          <p:sp>
            <p:nvSpPr>
              <p:cNvPr id="46" name="TextBox 46"/>
              <p:cNvSpPr txBox="1"/>
              <p:nvPr/>
            </p:nvSpPr>
            <p:spPr>
              <a:xfrm>
                <a:off x="8316843" y="4311650"/>
                <a:ext cx="435113" cy="278702"/>
              </a:xfrm>
              <a:prstGeom prst="rect">
                <a:avLst/>
              </a:prstGeom>
              <a:noFill/>
              <a:ln>
                <a:noFill/>
              </a:ln>
            </p:spPr>
            <p:txBody>
              <a:bodyPr wrap="none" lIns="0" tIns="0" rIns="0" bIns="0" anchor="t" anchorCtr="0">
                <a:spAutoFit/>
              </a:bodyPr>
              <a:lstStyle/>
              <a:p>
                <a:pPr algn="ctr"/>
                <a:r>
                  <a:rPr lang="id-ID" sz="1420" dirty="0">
                    <a:solidFill>
                      <a:srgbClr val="C1381F"/>
                    </a:solidFill>
                    <a:latin typeface="+mn-lt"/>
                    <a:ea typeface="+mn-ea"/>
                    <a:cs typeface="+mn-cs"/>
                  </a:rPr>
                  <a:t>Tidak</a:t>
                </a:r>
              </a:p>
            </p:txBody>
          </p:sp>
          <p:sp>
            <p:nvSpPr>
              <p:cNvPr id="47" name="TextBox 47"/>
              <p:cNvSpPr txBox="1"/>
              <p:nvPr/>
            </p:nvSpPr>
            <p:spPr>
              <a:xfrm>
                <a:off x="10345668" y="4311650"/>
                <a:ext cx="435113" cy="278702"/>
              </a:xfrm>
              <a:prstGeom prst="rect">
                <a:avLst/>
              </a:prstGeom>
              <a:noFill/>
              <a:ln>
                <a:noFill/>
              </a:ln>
            </p:spPr>
            <p:txBody>
              <a:bodyPr wrap="none" lIns="0" tIns="0" rIns="0" bIns="0" anchor="t" anchorCtr="0">
                <a:spAutoFit/>
              </a:bodyPr>
              <a:lstStyle/>
              <a:p>
                <a:pPr algn="ctr"/>
                <a:r>
                  <a:rPr lang="id-ID" sz="1420" dirty="0">
                    <a:solidFill>
                      <a:srgbClr val="C1381F"/>
                    </a:solidFill>
                    <a:latin typeface="+mn-lt"/>
                    <a:ea typeface="+mn-ea"/>
                    <a:cs typeface="+mn-cs"/>
                  </a:rPr>
                  <a:t>Tidak</a:t>
                </a:r>
              </a:p>
            </p:txBody>
          </p:sp>
          <p:sp>
            <p:nvSpPr>
              <p:cNvPr id="48" name="TextBox 48"/>
              <p:cNvSpPr txBox="1"/>
              <p:nvPr/>
            </p:nvSpPr>
            <p:spPr>
              <a:xfrm>
                <a:off x="8316843" y="4940300"/>
                <a:ext cx="435113" cy="278702"/>
              </a:xfrm>
              <a:prstGeom prst="rect">
                <a:avLst/>
              </a:prstGeom>
              <a:noFill/>
              <a:ln>
                <a:noFill/>
              </a:ln>
            </p:spPr>
            <p:txBody>
              <a:bodyPr wrap="none" lIns="0" tIns="0" rIns="0" bIns="0" anchor="t" anchorCtr="0">
                <a:spAutoFit/>
              </a:bodyPr>
              <a:lstStyle/>
              <a:p>
                <a:pPr algn="ctr"/>
                <a:r>
                  <a:rPr lang="id-ID" sz="1420" dirty="0">
                    <a:solidFill>
                      <a:srgbClr val="C1381F"/>
                    </a:solidFill>
                    <a:latin typeface="+mn-lt"/>
                    <a:ea typeface="+mn-ea"/>
                    <a:cs typeface="+mn-cs"/>
                  </a:rPr>
                  <a:t>Tidak</a:t>
                </a:r>
              </a:p>
            </p:txBody>
          </p:sp>
          <p:sp>
            <p:nvSpPr>
              <p:cNvPr id="49" name="TextBox 49"/>
              <p:cNvSpPr txBox="1"/>
              <p:nvPr/>
            </p:nvSpPr>
            <p:spPr>
              <a:xfrm>
                <a:off x="10345668" y="4940300"/>
                <a:ext cx="435113" cy="278702"/>
              </a:xfrm>
              <a:prstGeom prst="rect">
                <a:avLst/>
              </a:prstGeom>
              <a:noFill/>
              <a:ln>
                <a:noFill/>
              </a:ln>
            </p:spPr>
            <p:txBody>
              <a:bodyPr wrap="none" lIns="0" tIns="0" rIns="0" bIns="0" anchor="t" anchorCtr="0">
                <a:spAutoFit/>
              </a:bodyPr>
              <a:lstStyle/>
              <a:p>
                <a:pPr algn="ctr"/>
                <a:r>
                  <a:rPr lang="id-ID" sz="1420" dirty="0">
                    <a:solidFill>
                      <a:srgbClr val="C1381F"/>
                    </a:solidFill>
                    <a:latin typeface="+mn-lt"/>
                    <a:ea typeface="+mn-ea"/>
                    <a:cs typeface="+mn-cs"/>
                  </a:rPr>
                  <a:t>Tidak</a:t>
                </a:r>
              </a:p>
            </p:txBody>
          </p:sp>
          <p:sp>
            <p:nvSpPr>
              <p:cNvPr id="50" name="TextBox 50"/>
              <p:cNvSpPr txBox="1"/>
              <p:nvPr/>
            </p:nvSpPr>
            <p:spPr>
              <a:xfrm>
                <a:off x="8316843" y="5568950"/>
                <a:ext cx="435113" cy="278702"/>
              </a:xfrm>
              <a:prstGeom prst="rect">
                <a:avLst/>
              </a:prstGeom>
              <a:noFill/>
              <a:ln>
                <a:noFill/>
              </a:ln>
            </p:spPr>
            <p:txBody>
              <a:bodyPr wrap="none" lIns="0" tIns="0" rIns="0" bIns="0" anchor="t" anchorCtr="0">
                <a:spAutoFit/>
              </a:bodyPr>
              <a:lstStyle/>
              <a:p>
                <a:pPr algn="ctr"/>
                <a:r>
                  <a:rPr lang="id-ID" sz="1420" dirty="0">
                    <a:solidFill>
                      <a:srgbClr val="C1381F"/>
                    </a:solidFill>
                    <a:latin typeface="+mn-lt"/>
                    <a:ea typeface="+mn-ea"/>
                    <a:cs typeface="+mn-cs"/>
                  </a:rPr>
                  <a:t>Tidak</a:t>
                </a:r>
              </a:p>
            </p:txBody>
          </p:sp>
          <p:sp>
            <p:nvSpPr>
              <p:cNvPr id="51" name="TextBox 51"/>
              <p:cNvSpPr txBox="1"/>
              <p:nvPr/>
            </p:nvSpPr>
            <p:spPr>
              <a:xfrm>
                <a:off x="10345668" y="5568950"/>
                <a:ext cx="435113" cy="278702"/>
              </a:xfrm>
              <a:prstGeom prst="rect">
                <a:avLst/>
              </a:prstGeom>
              <a:noFill/>
              <a:ln>
                <a:noFill/>
              </a:ln>
            </p:spPr>
            <p:txBody>
              <a:bodyPr wrap="none" lIns="0" tIns="0" rIns="0" bIns="0" anchor="t" anchorCtr="0">
                <a:spAutoFit/>
              </a:bodyPr>
              <a:lstStyle/>
              <a:p>
                <a:pPr algn="ctr"/>
                <a:r>
                  <a:rPr lang="id-ID" sz="1420" dirty="0">
                    <a:solidFill>
                      <a:srgbClr val="C1381F"/>
                    </a:solidFill>
                    <a:latin typeface="+mn-lt"/>
                    <a:ea typeface="+mn-ea"/>
                    <a:cs typeface="+mn-cs"/>
                  </a:rPr>
                  <a:t>Tidak</a:t>
                </a:r>
              </a:p>
            </p:txBody>
          </p:sp>
        </p:grpSp>
      </p:grpSp>
      <p:grpSp>
        <p:nvGrpSpPr>
          <p:cNvPr id="55" name="matrix-note"/>
          <p:cNvGrpSpPr/>
          <p:nvPr/>
        </p:nvGrpSpPr>
        <p:grpSpPr>
          <a:xfrm>
            <a:off x="604647" y="6115050"/>
            <a:ext cx="3050656" cy="191643"/>
            <a:chOff x="604647" y="6115050"/>
            <a:chExt cx="3050656" cy="191643"/>
          </a:xfrm>
        </p:grpSpPr>
        <p:sp>
          <p:nvSpPr>
            <p:cNvPr id="54" name="TextBox 54"/>
            <p:cNvSpPr txBox="1"/>
            <p:nvPr/>
          </p:nvSpPr>
          <p:spPr>
            <a:xfrm>
              <a:off x="604647" y="6115050"/>
              <a:ext cx="3050656"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Perbandingan per kategori solusi, bukan merek tertentu.</a:t>
              </a:r>
            </a:p>
          </p:txBody>
        </p:sp>
      </p:grpSp>
      <p:grpSp>
        <p:nvGrpSpPr>
          <p:cNvPr id="58" name="footer"/>
          <p:cNvGrpSpPr/>
          <p:nvPr/>
        </p:nvGrpSpPr>
        <p:grpSpPr>
          <a:xfrm>
            <a:off x="604647" y="6477000"/>
            <a:ext cx="10982706" cy="191643"/>
            <a:chOff x="604647" y="6477000"/>
            <a:chExt cx="10982706" cy="191643"/>
          </a:xfrm>
        </p:grpSpPr>
        <p:sp>
          <p:nvSpPr>
            <p:cNvPr id="56" name="TextBox 56"/>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57" name="TextBox 57"/>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12</a:t>
              </a:r>
            </a:p>
          </p:txBody>
        </p:sp>
      </p:gr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8099578" cy="786003"/>
            <a:chOff x="595122" y="635000"/>
            <a:chExt cx="8099578" cy="786003"/>
          </a:xfrm>
        </p:grpSpPr>
        <p:sp>
          <p:nvSpPr>
            <p:cNvPr id="2" name="TextBox 2"/>
            <p:cNvSpPr txBox="1"/>
            <p:nvPr/>
          </p:nvSpPr>
          <p:spPr>
            <a:xfrm>
              <a:off x="603885" y="635000"/>
              <a:ext cx="588119" cy="220028"/>
            </a:xfrm>
            <a:prstGeom prst="rect">
              <a:avLst/>
            </a:prstGeom>
            <a:noFill/>
            <a:ln>
              <a:noFill/>
            </a:ln>
          </p:spPr>
          <p:txBody>
            <a:bodyPr wrap="none" lIns="0" tIns="0" rIns="0" bIns="0" anchor="t" anchorCtr="0">
              <a:spAutoFit/>
            </a:bodyPr>
            <a:lstStyle/>
            <a:p>
              <a:pPr algn="l"/>
              <a:r>
                <a:rPr lang="id-ID" sz="1120" b="1" spc="150" dirty="0">
                  <a:solidFill>
                    <a:schemeClr val="accent3"/>
                  </a:solidFill>
                  <a:latin typeface="+mn-lt"/>
                  <a:ea typeface="+mn-ea"/>
                  <a:cs typeface="+mn-cs"/>
                </a:rPr>
                <a:t>TRAKSI</a:t>
              </a:r>
            </a:p>
          </p:txBody>
        </p:sp>
        <p:sp>
          <p:nvSpPr>
            <p:cNvPr id="3" name="TextBox 3"/>
            <p:cNvSpPr txBox="1"/>
            <p:nvPr/>
          </p:nvSpPr>
          <p:spPr>
            <a:xfrm>
              <a:off x="595122" y="863600"/>
              <a:ext cx="8099578" cy="557403"/>
            </a:xfrm>
            <a:prstGeom prst="rect">
              <a:avLst/>
            </a:prstGeom>
            <a:noFill/>
            <a:ln>
              <a:noFill/>
            </a:ln>
          </p:spPr>
          <p:txBody>
            <a:bodyPr wrap="none" lIns="0" tIns="0" rIns="0" bIns="0" anchor="t" anchorCtr="0">
              <a:spAutoFit/>
            </a:bodyPr>
            <a:lstStyle/>
            <a:p>
              <a:pPr algn="l"/>
              <a:r>
                <a:rPr lang="id-ID" sz="2850" b="1" dirty="0">
                  <a:solidFill>
                    <a:srgbClr val="F3F1EA"/>
                  </a:solidFill>
                  <a:latin typeface="+mj-lt"/>
                  <a:ea typeface="+mj-ea"/>
                  <a:cs typeface="+mj-cs"/>
                </a:rPr>
                <a:t>Sudah dipakai setiap hari di klinik pilot kami</a:t>
              </a:r>
            </a:p>
          </p:txBody>
        </p:sp>
      </p:grpSp>
      <p:grpSp>
        <p:nvGrpSpPr>
          <p:cNvPr id="9" name="hero-patients"/>
          <p:cNvGrpSpPr/>
          <p:nvPr/>
        </p:nvGrpSpPr>
        <p:grpSpPr>
          <a:xfrm>
            <a:off x="609600" y="1676400"/>
            <a:ext cx="4191000" cy="2895600"/>
            <a:chOff x="609600" y="1676400"/>
            <a:chExt cx="4191000" cy="2895600"/>
          </a:xfrm>
        </p:grpSpPr>
        <p:sp>
          <p:nvSpPr>
            <p:cNvPr id="5" name="Rectangle 5"/>
            <p:cNvSpPr/>
            <p:nvPr/>
          </p:nvSpPr>
          <p:spPr>
            <a:xfrm>
              <a:off x="609600" y="1676400"/>
              <a:ext cx="4191000" cy="2895600"/>
            </a:xfrm>
            <a:prstGeom prst="roundRect">
              <a:avLst>
                <a:gd name="adj" fmla="val 6579"/>
              </a:avLst>
            </a:prstGeom>
            <a:solidFill>
              <a:schemeClr val="accent3"/>
            </a:solidFill>
            <a:ln>
              <a:noFill/>
            </a:ln>
          </p:spPr>
        </p:sp>
        <p:sp>
          <p:nvSpPr>
            <p:cNvPr id="6" name="TextBox 6"/>
            <p:cNvSpPr txBox="1"/>
            <p:nvPr/>
          </p:nvSpPr>
          <p:spPr>
            <a:xfrm>
              <a:off x="946023" y="2038350"/>
              <a:ext cx="2285108" cy="250317"/>
            </a:xfrm>
            <a:prstGeom prst="rect">
              <a:avLst/>
            </a:prstGeom>
            <a:noFill/>
            <a:ln>
              <a:noFill/>
            </a:ln>
          </p:spPr>
          <p:txBody>
            <a:bodyPr wrap="none" lIns="0" tIns="0" rIns="0" bIns="0" anchor="t" anchorCtr="0">
              <a:spAutoFit/>
            </a:bodyPr>
            <a:lstStyle/>
            <a:p>
              <a:pPr algn="l"/>
              <a:r>
                <a:rPr lang="id-ID" sz="1280" b="1" spc="75" dirty="0">
                  <a:solidFill>
                    <a:srgbClr val="2B6B22"/>
                  </a:solidFill>
                  <a:latin typeface="+mn-lt"/>
                  <a:ea typeface="+mn-ea"/>
                  <a:cs typeface="+mn-cs"/>
                </a:rPr>
                <a:t>PILOT · 2 BULAN TERAKHIR</a:t>
              </a:r>
            </a:p>
          </p:txBody>
        </p:sp>
        <p:sp>
          <p:nvSpPr>
            <p:cNvPr id="7" name="TextBox 7"/>
            <p:cNvSpPr txBox="1"/>
            <p:nvPr/>
          </p:nvSpPr>
          <p:spPr>
            <a:xfrm>
              <a:off x="895350" y="2235200"/>
              <a:ext cx="2059742" cy="1733550"/>
            </a:xfrm>
            <a:prstGeom prst="rect">
              <a:avLst/>
            </a:prstGeom>
            <a:noFill/>
            <a:ln>
              <a:noFill/>
            </a:ln>
          </p:spPr>
          <p:txBody>
            <a:bodyPr wrap="none" lIns="0" tIns="0" rIns="0" bIns="0" anchor="t" anchorCtr="0">
              <a:spAutoFit/>
            </a:bodyPr>
            <a:lstStyle/>
            <a:p>
              <a:pPr algn="l"/>
              <a:r>
                <a:rPr lang="id-ID" sz="9000" b="1" dirty="0">
                  <a:solidFill>
                    <a:schemeClr val="dk1"/>
                  </a:solidFill>
                  <a:latin typeface="+mj-lt"/>
                  <a:ea typeface="+mj-ea"/>
                  <a:cs typeface="+mj-cs"/>
                </a:rPr>
                <a:t>110</a:t>
              </a:r>
            </a:p>
          </p:txBody>
        </p:sp>
        <p:sp>
          <p:nvSpPr>
            <p:cNvPr id="8" name="TextBox 8"/>
            <p:cNvSpPr txBox="1"/>
            <p:nvPr/>
          </p:nvSpPr>
          <p:spPr>
            <a:xfrm>
              <a:off x="944118" y="3632200"/>
              <a:ext cx="2857005" cy="608457"/>
            </a:xfrm>
            <a:prstGeom prst="rect">
              <a:avLst/>
            </a:prstGeom>
            <a:noFill/>
            <a:ln>
              <a:noFill/>
            </a:ln>
          </p:spPr>
          <p:txBody>
            <a:bodyPr wrap="none" lIns="0" tIns="0" rIns="0" bIns="0" anchor="t" anchorCtr="0">
              <a:spAutoFit/>
            </a:bodyPr>
            <a:lstStyle/>
            <a:p>
              <a:pPr algn="l">
                <a:lnSpc>
                  <a:spcPts val="2250"/>
                </a:lnSpc>
              </a:pPr>
              <a:r>
                <a:rPr lang="id-ID" sz="1650" dirty="0">
                  <a:solidFill>
                    <a:schemeClr val="dk1"/>
                  </a:solidFill>
                  <a:latin typeface="+mn-lt"/>
                  <a:ea typeface="+mn-ea"/>
                  <a:cs typeface="+mn-cs"/>
                </a:rPr>
                <a:t>pasien tercatat di klinik pilot</a:t>
              </a:r>
              <a:br>
                <a:rPr lang="id-ID" sz="1650" dirty="0">
                  <a:solidFill>
                    <a:schemeClr val="dk1"/>
                  </a:solidFill>
                  <a:latin typeface="+mn-lt"/>
                  <a:ea typeface="+mn-ea"/>
                  <a:cs typeface="+mn-cs"/>
                </a:rPr>
              </a:br>
              <a:r>
                <a:rPr lang="id-ID" sz="1650" b="1" dirty="0">
                  <a:solidFill>
                    <a:schemeClr val="dk1"/>
                  </a:solidFill>
                  <a:latin typeface="+mn-lt"/>
                  <a:ea typeface="+mn-ea"/>
                  <a:cs typeface="+mn-cs"/>
                </a:rPr>
                <a:t>Zanak Dental Care</a:t>
              </a:r>
              <a:r>
                <a:rPr lang="id-ID" sz="1650" dirty="0">
                  <a:solidFill>
                    <a:schemeClr val="dk1"/>
                  </a:solidFill>
                  <a:latin typeface="+mn-lt"/>
                  <a:ea typeface="+mn-ea"/>
                  <a:cs typeface="+mn-cs"/>
                </a:rPr>
                <a:t xml:space="preserve"> dalam 2 bulan</a:t>
              </a:r>
            </a:p>
          </p:txBody>
        </p:sp>
      </p:grpSp>
      <p:grpSp>
        <p:nvGrpSpPr>
          <p:cNvPr id="13" name="kpi-clinic"/>
          <p:cNvGrpSpPr/>
          <p:nvPr/>
        </p:nvGrpSpPr>
        <p:grpSpPr>
          <a:xfrm>
            <a:off x="5029200" y="1676400"/>
            <a:ext cx="2028825" cy="1333500"/>
            <a:chOff x="5029200" y="1676400"/>
            <a:chExt cx="2028825" cy="1333500"/>
          </a:xfrm>
        </p:grpSpPr>
        <p:sp>
          <p:nvSpPr>
            <p:cNvPr id="10" name="Rectangle 10"/>
            <p:cNvSpPr/>
            <p:nvPr/>
          </p:nvSpPr>
          <p:spPr>
            <a:xfrm>
              <a:off x="5029200" y="1676400"/>
              <a:ext cx="2028825" cy="1333500"/>
            </a:xfrm>
            <a:prstGeom prst="roundRect">
              <a:avLst>
                <a:gd name="adj" fmla="val 14286"/>
              </a:avLst>
            </a:prstGeom>
            <a:solidFill>
              <a:srgbClr val="242320"/>
            </a:solidFill>
            <a:ln>
              <a:noFill/>
            </a:ln>
          </p:spPr>
        </p:sp>
        <p:sp>
          <p:nvSpPr>
            <p:cNvPr id="11" name="TextBox 11"/>
            <p:cNvSpPr txBox="1"/>
            <p:nvPr/>
          </p:nvSpPr>
          <p:spPr>
            <a:xfrm>
              <a:off x="5238750" y="1784350"/>
              <a:ext cx="375040" cy="876300"/>
            </a:xfrm>
            <a:prstGeom prst="rect">
              <a:avLst/>
            </a:prstGeom>
            <a:noFill/>
            <a:ln>
              <a:noFill/>
            </a:ln>
          </p:spPr>
          <p:txBody>
            <a:bodyPr wrap="none" lIns="0" tIns="0" rIns="0" bIns="0" anchor="t" anchorCtr="0">
              <a:spAutoFit/>
            </a:bodyPr>
            <a:lstStyle/>
            <a:p>
              <a:pPr algn="l"/>
              <a:r>
                <a:rPr lang="id-ID" sz="4500" b="1" dirty="0">
                  <a:solidFill>
                    <a:schemeClr val="accent3"/>
                  </a:solidFill>
                  <a:latin typeface="+mj-lt"/>
                  <a:ea typeface="+mj-ea"/>
                  <a:cs typeface="+mj-cs"/>
                </a:rPr>
                <a:t>1</a:t>
              </a:r>
            </a:p>
          </p:txBody>
        </p:sp>
        <p:sp>
          <p:nvSpPr>
            <p:cNvPr id="12" name="TextBox 12"/>
            <p:cNvSpPr txBox="1"/>
            <p:nvPr/>
          </p:nvSpPr>
          <p:spPr>
            <a:xfrm>
              <a:off x="5250942" y="2597150"/>
              <a:ext cx="1145083" cy="264033"/>
            </a:xfrm>
            <a:prstGeom prst="rect">
              <a:avLst/>
            </a:prstGeom>
            <a:noFill/>
            <a:ln>
              <a:noFill/>
            </a:ln>
          </p:spPr>
          <p:txBody>
            <a:bodyPr wrap="none" lIns="0" tIns="0" rIns="0" bIns="0" anchor="t" anchorCtr="0">
              <a:spAutoFit/>
            </a:bodyPr>
            <a:lstStyle/>
            <a:p>
              <a:pPr algn="l"/>
              <a:r>
                <a:rPr lang="id-ID" sz="1350" dirty="0">
                  <a:solidFill>
                    <a:srgbClr val="B9B6AA"/>
                  </a:solidFill>
                  <a:latin typeface="+mn-lt"/>
                  <a:ea typeface="+mn-ea"/>
                  <a:cs typeface="+mn-cs"/>
                </a:rPr>
                <a:t>klinik pilot aktif</a:t>
              </a:r>
            </a:p>
          </p:txBody>
        </p:sp>
      </p:grpSp>
      <p:grpSp>
        <p:nvGrpSpPr>
          <p:cNvPr id="17" name="kpi-modules"/>
          <p:cNvGrpSpPr/>
          <p:nvPr/>
        </p:nvGrpSpPr>
        <p:grpSpPr>
          <a:xfrm>
            <a:off x="7286625" y="1676400"/>
            <a:ext cx="2028825" cy="1333500"/>
            <a:chOff x="7286625" y="1676400"/>
            <a:chExt cx="2028825" cy="1333500"/>
          </a:xfrm>
        </p:grpSpPr>
        <p:sp>
          <p:nvSpPr>
            <p:cNvPr id="14" name="Rectangle 14"/>
            <p:cNvSpPr/>
            <p:nvPr/>
          </p:nvSpPr>
          <p:spPr>
            <a:xfrm>
              <a:off x="7286625" y="1676400"/>
              <a:ext cx="2028825" cy="1333500"/>
            </a:xfrm>
            <a:prstGeom prst="roundRect">
              <a:avLst>
                <a:gd name="adj" fmla="val 14286"/>
              </a:avLst>
            </a:prstGeom>
            <a:solidFill>
              <a:srgbClr val="242320"/>
            </a:solidFill>
            <a:ln>
              <a:noFill/>
            </a:ln>
          </p:spPr>
        </p:sp>
        <p:sp>
          <p:nvSpPr>
            <p:cNvPr id="15" name="TextBox 15"/>
            <p:cNvSpPr txBox="1"/>
            <p:nvPr/>
          </p:nvSpPr>
          <p:spPr>
            <a:xfrm>
              <a:off x="7496175" y="1784350"/>
              <a:ext cx="711981" cy="876300"/>
            </a:xfrm>
            <a:prstGeom prst="rect">
              <a:avLst/>
            </a:prstGeom>
            <a:noFill/>
            <a:ln>
              <a:noFill/>
            </a:ln>
          </p:spPr>
          <p:txBody>
            <a:bodyPr wrap="none" lIns="0" tIns="0" rIns="0" bIns="0" anchor="t" anchorCtr="0">
              <a:spAutoFit/>
            </a:bodyPr>
            <a:lstStyle/>
            <a:p>
              <a:pPr algn="l"/>
              <a:r>
                <a:rPr lang="id-ID" sz="4500" b="1" dirty="0">
                  <a:solidFill>
                    <a:schemeClr val="accent3"/>
                  </a:solidFill>
                  <a:latin typeface="+mj-lt"/>
                  <a:ea typeface="+mj-ea"/>
                  <a:cs typeface="+mj-cs"/>
                </a:rPr>
                <a:t>47</a:t>
              </a:r>
            </a:p>
          </p:txBody>
        </p:sp>
        <p:sp>
          <p:nvSpPr>
            <p:cNvPr id="16" name="TextBox 16"/>
            <p:cNvSpPr txBox="1"/>
            <p:nvPr/>
          </p:nvSpPr>
          <p:spPr>
            <a:xfrm>
              <a:off x="7508367" y="2597150"/>
              <a:ext cx="1448929" cy="264033"/>
            </a:xfrm>
            <a:prstGeom prst="rect">
              <a:avLst/>
            </a:prstGeom>
            <a:noFill/>
            <a:ln>
              <a:noFill/>
            </a:ln>
          </p:spPr>
          <p:txBody>
            <a:bodyPr wrap="none" lIns="0" tIns="0" rIns="0" bIns="0" anchor="t" anchorCtr="0">
              <a:spAutoFit/>
            </a:bodyPr>
            <a:lstStyle/>
            <a:p>
              <a:pPr algn="l"/>
              <a:r>
                <a:rPr lang="id-ID" sz="1350" dirty="0">
                  <a:solidFill>
                    <a:srgbClr val="B9B6AA"/>
                  </a:solidFill>
                  <a:latin typeface="+mn-lt"/>
                  <a:ea typeface="+mn-ea"/>
                  <a:cs typeface="+mn-cs"/>
                </a:rPr>
                <a:t>modul backend live</a:t>
              </a:r>
            </a:p>
          </p:txBody>
        </p:sp>
      </p:grpSp>
      <p:grpSp>
        <p:nvGrpSpPr>
          <p:cNvPr id="21" name="kpi-pages"/>
          <p:cNvGrpSpPr/>
          <p:nvPr/>
        </p:nvGrpSpPr>
        <p:grpSpPr>
          <a:xfrm>
            <a:off x="9544050" y="1676400"/>
            <a:ext cx="2038350" cy="1333500"/>
            <a:chOff x="9544050" y="1676400"/>
            <a:chExt cx="2038350" cy="1333500"/>
          </a:xfrm>
        </p:grpSpPr>
        <p:sp>
          <p:nvSpPr>
            <p:cNvPr id="18" name="Rectangle 18"/>
            <p:cNvSpPr/>
            <p:nvPr/>
          </p:nvSpPr>
          <p:spPr>
            <a:xfrm>
              <a:off x="9544050" y="1676400"/>
              <a:ext cx="2038350" cy="1333500"/>
            </a:xfrm>
            <a:prstGeom prst="roundRect">
              <a:avLst>
                <a:gd name="adj" fmla="val 14286"/>
              </a:avLst>
            </a:prstGeom>
            <a:solidFill>
              <a:srgbClr val="242320"/>
            </a:solidFill>
            <a:ln>
              <a:noFill/>
            </a:ln>
          </p:spPr>
        </p:sp>
        <p:sp>
          <p:nvSpPr>
            <p:cNvPr id="19" name="TextBox 19"/>
            <p:cNvSpPr txBox="1"/>
            <p:nvPr/>
          </p:nvSpPr>
          <p:spPr>
            <a:xfrm>
              <a:off x="9753600" y="1784350"/>
              <a:ext cx="1065762" cy="876300"/>
            </a:xfrm>
            <a:prstGeom prst="rect">
              <a:avLst/>
            </a:prstGeom>
            <a:noFill/>
            <a:ln>
              <a:noFill/>
            </a:ln>
          </p:spPr>
          <p:txBody>
            <a:bodyPr wrap="none" lIns="0" tIns="0" rIns="0" bIns="0" anchor="t" anchorCtr="0">
              <a:spAutoFit/>
            </a:bodyPr>
            <a:lstStyle/>
            <a:p>
              <a:pPr algn="l"/>
              <a:r>
                <a:rPr lang="id-ID" sz="4500" b="1" dirty="0">
                  <a:solidFill>
                    <a:schemeClr val="accent3"/>
                  </a:solidFill>
                  <a:latin typeface="+mj-lt"/>
                  <a:ea typeface="+mj-ea"/>
                  <a:cs typeface="+mj-cs"/>
                </a:rPr>
                <a:t>60+</a:t>
              </a:r>
            </a:p>
          </p:txBody>
        </p:sp>
        <p:sp>
          <p:nvSpPr>
            <p:cNvPr id="20" name="TextBox 20"/>
            <p:cNvSpPr txBox="1"/>
            <p:nvPr/>
          </p:nvSpPr>
          <p:spPr>
            <a:xfrm>
              <a:off x="9765792" y="2597150"/>
              <a:ext cx="1599135" cy="264033"/>
            </a:xfrm>
            <a:prstGeom prst="rect">
              <a:avLst/>
            </a:prstGeom>
            <a:noFill/>
            <a:ln>
              <a:noFill/>
            </a:ln>
          </p:spPr>
          <p:txBody>
            <a:bodyPr wrap="none" lIns="0" tIns="0" rIns="0" bIns="0" anchor="t" anchorCtr="0">
              <a:spAutoFit/>
            </a:bodyPr>
            <a:lstStyle/>
            <a:p>
              <a:pPr algn="l"/>
              <a:r>
                <a:rPr lang="id-ID" sz="1350" dirty="0">
                  <a:solidFill>
                    <a:srgbClr val="B9B6AA"/>
                  </a:solidFill>
                  <a:latin typeface="+mn-lt"/>
                  <a:ea typeface="+mn-ea"/>
                  <a:cs typeface="+mn-cs"/>
                </a:rPr>
                <a:t>halaman aplikasi web</a:t>
              </a:r>
            </a:p>
          </p:txBody>
        </p:sp>
      </p:grpSp>
      <p:grpSp>
        <p:nvGrpSpPr>
          <p:cNvPr id="30" name="shipped-list"/>
          <p:cNvGrpSpPr/>
          <p:nvPr/>
        </p:nvGrpSpPr>
        <p:grpSpPr>
          <a:xfrm>
            <a:off x="5076825" y="3311525"/>
            <a:ext cx="4827704" cy="1250252"/>
            <a:chOff x="5076825" y="3311525"/>
            <a:chExt cx="4827704" cy="1250252"/>
          </a:xfrm>
        </p:grpSpPr>
        <p:sp>
          <p:nvSpPr>
            <p:cNvPr id="22" name="Freeform 22"/>
            <p:cNvSpPr/>
            <p:nvPr/>
          </p:nvSpPr>
          <p:spPr>
            <a:xfrm>
              <a:off x="5076825" y="3362325"/>
              <a:ext cx="142875" cy="95250"/>
            </a:xfrm>
            <a:custGeom>
              <a:avLst/>
              <a:gdLst/>
              <a:ahLst/>
              <a:cxnLst/>
              <a:rect l="l" t="t" r="r" b="b"/>
              <a:pathLst>
                <a:path w="142875" h="95250">
                  <a:moveTo>
                    <a:pt x="0" y="47625"/>
                  </a:moveTo>
                  <a:lnTo>
                    <a:pt x="47625" y="95250"/>
                  </a:lnTo>
                  <a:lnTo>
                    <a:pt x="142875" y="0"/>
                  </a:lnTo>
                </a:path>
              </a:pathLst>
            </a:custGeom>
            <a:noFill/>
            <a:ln w="19050">
              <a:solidFill>
                <a:schemeClr val="accent3"/>
              </a:solidFill>
            </a:ln>
          </p:spPr>
        </p:sp>
        <p:sp>
          <p:nvSpPr>
            <p:cNvPr id="23" name="TextBox 23"/>
            <p:cNvSpPr txBox="1"/>
            <p:nvPr/>
          </p:nvSpPr>
          <p:spPr>
            <a:xfrm>
              <a:off x="5364861" y="3311525"/>
              <a:ext cx="4539668" cy="278702"/>
            </a:xfrm>
            <a:prstGeom prst="rect">
              <a:avLst/>
            </a:prstGeom>
            <a:noFill/>
            <a:ln>
              <a:noFill/>
            </a:ln>
          </p:spPr>
          <p:txBody>
            <a:bodyPr wrap="none" lIns="0" tIns="0" rIns="0" bIns="0" anchor="t" anchorCtr="0">
              <a:spAutoFit/>
            </a:bodyPr>
            <a:lstStyle/>
            <a:p>
              <a:pPr algn="l"/>
              <a:r>
                <a:rPr lang="id-ID" sz="1420" dirty="0">
                  <a:solidFill>
                    <a:srgbClr val="F3F1EA"/>
                  </a:solidFill>
                  <a:latin typeface="+mn-lt"/>
                  <a:ea typeface="+mn-ea"/>
                  <a:cs typeface="+mn-cs"/>
                </a:rPr>
                <a:t>Rekam medis, odontogram, billing, farmasi, gudang — live</a:t>
              </a:r>
            </a:p>
          </p:txBody>
        </p:sp>
        <p:sp>
          <p:nvSpPr>
            <p:cNvPr id="24" name="Freeform 24"/>
            <p:cNvSpPr/>
            <p:nvPr/>
          </p:nvSpPr>
          <p:spPr>
            <a:xfrm>
              <a:off x="5076825" y="3686175"/>
              <a:ext cx="142875" cy="95250"/>
            </a:xfrm>
            <a:custGeom>
              <a:avLst/>
              <a:gdLst/>
              <a:ahLst/>
              <a:cxnLst/>
              <a:rect l="l" t="t" r="r" b="b"/>
              <a:pathLst>
                <a:path w="142875" h="95250">
                  <a:moveTo>
                    <a:pt x="0" y="47625"/>
                  </a:moveTo>
                  <a:lnTo>
                    <a:pt x="47625" y="95250"/>
                  </a:lnTo>
                  <a:lnTo>
                    <a:pt x="142875" y="0"/>
                  </a:lnTo>
                </a:path>
              </a:pathLst>
            </a:custGeom>
            <a:noFill/>
            <a:ln w="19050">
              <a:solidFill>
                <a:schemeClr val="accent3"/>
              </a:solidFill>
            </a:ln>
          </p:spPr>
        </p:sp>
        <p:sp>
          <p:nvSpPr>
            <p:cNvPr id="25" name="TextBox 25"/>
            <p:cNvSpPr txBox="1"/>
            <p:nvPr/>
          </p:nvSpPr>
          <p:spPr>
            <a:xfrm>
              <a:off x="5364861" y="3635375"/>
              <a:ext cx="3791471" cy="278702"/>
            </a:xfrm>
            <a:prstGeom prst="rect">
              <a:avLst/>
            </a:prstGeom>
            <a:noFill/>
            <a:ln>
              <a:noFill/>
            </a:ln>
          </p:spPr>
          <p:txBody>
            <a:bodyPr wrap="none" lIns="0" tIns="0" rIns="0" bIns="0" anchor="t" anchorCtr="0">
              <a:spAutoFit/>
            </a:bodyPr>
            <a:lstStyle/>
            <a:p>
              <a:pPr algn="l"/>
              <a:r>
                <a:rPr lang="id-ID" sz="1420" dirty="0">
                  <a:solidFill>
                    <a:srgbClr val="F3F1EA"/>
                  </a:solidFill>
                  <a:latin typeface="+mn-lt"/>
                  <a:ea typeface="+mn-ea"/>
                  <a:cs typeface="+mn-cs"/>
                </a:rPr>
                <a:t>SATUSEHAT: onboarding, KYC, sinkronisasi FHIR</a:t>
              </a:r>
            </a:p>
          </p:txBody>
        </p:sp>
        <p:sp>
          <p:nvSpPr>
            <p:cNvPr id="26" name="Freeform 26"/>
            <p:cNvSpPr/>
            <p:nvPr/>
          </p:nvSpPr>
          <p:spPr>
            <a:xfrm>
              <a:off x="5076825" y="4010025"/>
              <a:ext cx="142875" cy="95250"/>
            </a:xfrm>
            <a:custGeom>
              <a:avLst/>
              <a:gdLst/>
              <a:ahLst/>
              <a:cxnLst/>
              <a:rect l="l" t="t" r="r" b="b"/>
              <a:pathLst>
                <a:path w="142875" h="95250">
                  <a:moveTo>
                    <a:pt x="0" y="47625"/>
                  </a:moveTo>
                  <a:lnTo>
                    <a:pt x="47625" y="95250"/>
                  </a:lnTo>
                  <a:lnTo>
                    <a:pt x="142875" y="0"/>
                  </a:lnTo>
                </a:path>
              </a:pathLst>
            </a:custGeom>
            <a:noFill/>
            <a:ln w="19050">
              <a:solidFill>
                <a:schemeClr val="accent3"/>
              </a:solidFill>
            </a:ln>
          </p:spPr>
        </p:sp>
        <p:sp>
          <p:nvSpPr>
            <p:cNvPr id="27" name="TextBox 27"/>
            <p:cNvSpPr txBox="1"/>
            <p:nvPr/>
          </p:nvSpPr>
          <p:spPr>
            <a:xfrm>
              <a:off x="5364861" y="3959225"/>
              <a:ext cx="3746184" cy="278702"/>
            </a:xfrm>
            <a:prstGeom prst="rect">
              <a:avLst/>
            </a:prstGeom>
            <a:noFill/>
            <a:ln>
              <a:noFill/>
            </a:ln>
          </p:spPr>
          <p:txBody>
            <a:bodyPr wrap="none" lIns="0" tIns="0" rIns="0" bIns="0" anchor="t" anchorCtr="0">
              <a:spAutoFit/>
            </a:bodyPr>
            <a:lstStyle/>
            <a:p>
              <a:pPr algn="l"/>
              <a:r>
                <a:rPr lang="id-ID" sz="1420" dirty="0">
                  <a:solidFill>
                    <a:srgbClr val="F3F1EA"/>
                  </a:solidFill>
                  <a:latin typeface="+mn-lt"/>
                  <a:ea typeface="+mn-ea"/>
                  <a:cs typeface="+mn-cs"/>
                </a:rPr>
                <a:t>Langganan &amp; pembayaran otomatis, multi-klinik</a:t>
              </a:r>
            </a:p>
          </p:txBody>
        </p:sp>
        <p:sp>
          <p:nvSpPr>
            <p:cNvPr id="28" name="Freeform 28"/>
            <p:cNvSpPr/>
            <p:nvPr/>
          </p:nvSpPr>
          <p:spPr>
            <a:xfrm>
              <a:off x="5076825" y="4333875"/>
              <a:ext cx="142875" cy="95250"/>
            </a:xfrm>
            <a:custGeom>
              <a:avLst/>
              <a:gdLst/>
              <a:ahLst/>
              <a:cxnLst/>
              <a:rect l="l" t="t" r="r" b="b"/>
              <a:pathLst>
                <a:path w="142875" h="95250">
                  <a:moveTo>
                    <a:pt x="0" y="47625"/>
                  </a:moveTo>
                  <a:lnTo>
                    <a:pt x="47625" y="95250"/>
                  </a:lnTo>
                  <a:lnTo>
                    <a:pt x="142875" y="0"/>
                  </a:lnTo>
                </a:path>
              </a:pathLst>
            </a:custGeom>
            <a:noFill/>
            <a:ln w="19050">
              <a:solidFill>
                <a:schemeClr val="accent3"/>
              </a:solidFill>
            </a:ln>
          </p:spPr>
        </p:sp>
        <p:sp>
          <p:nvSpPr>
            <p:cNvPr id="29" name="TextBox 29"/>
            <p:cNvSpPr txBox="1"/>
            <p:nvPr/>
          </p:nvSpPr>
          <p:spPr>
            <a:xfrm>
              <a:off x="5364861" y="4283075"/>
              <a:ext cx="4108359" cy="278702"/>
            </a:xfrm>
            <a:prstGeom prst="rect">
              <a:avLst/>
            </a:prstGeom>
            <a:noFill/>
            <a:ln>
              <a:noFill/>
            </a:ln>
          </p:spPr>
          <p:txBody>
            <a:bodyPr wrap="none" lIns="0" tIns="0" rIns="0" bIns="0" anchor="t" anchorCtr="0">
              <a:spAutoFit/>
            </a:bodyPr>
            <a:lstStyle/>
            <a:p>
              <a:pPr algn="l"/>
              <a:r>
                <a:rPr lang="id-ID" sz="1420" dirty="0">
                  <a:solidFill>
                    <a:srgbClr val="F3F1EA"/>
                  </a:solidFill>
                  <a:latin typeface="+mn-lt"/>
                  <a:ea typeface="+mn-ea"/>
                  <a:cs typeface="+mn-cs"/>
                </a:rPr>
                <a:t>Keamanan: enkripsi NIK, audit log, RBAC, kunci login</a:t>
              </a:r>
            </a:p>
          </p:txBody>
        </p:sp>
      </p:grpSp>
      <p:grpSp>
        <p:nvGrpSpPr>
          <p:cNvPr id="36" name="next-step"/>
          <p:cNvGrpSpPr/>
          <p:nvPr/>
        </p:nvGrpSpPr>
        <p:grpSpPr>
          <a:xfrm>
            <a:off x="609600" y="4800600"/>
            <a:ext cx="10972800" cy="685800"/>
            <a:chOff x="609600" y="4800600"/>
            <a:chExt cx="10972800" cy="685800"/>
          </a:xfrm>
        </p:grpSpPr>
        <p:sp>
          <p:nvSpPr>
            <p:cNvPr id="31" name="Rectangle 31"/>
            <p:cNvSpPr/>
            <p:nvPr/>
          </p:nvSpPr>
          <p:spPr>
            <a:xfrm>
              <a:off x="609600" y="4800600"/>
              <a:ext cx="10972800" cy="685800"/>
            </a:xfrm>
            <a:prstGeom prst="roundRect">
              <a:avLst>
                <a:gd name="adj" fmla="val 27778"/>
              </a:avLst>
            </a:prstGeom>
            <a:solidFill>
              <a:srgbClr val="242320"/>
            </a:solidFill>
            <a:ln>
              <a:noFill/>
            </a:ln>
          </p:spPr>
        </p:sp>
        <p:grpSp>
          <p:nvGrpSpPr>
            <p:cNvPr id="34" name="Group 34"/>
            <p:cNvGrpSpPr/>
            <p:nvPr/>
          </p:nvGrpSpPr>
          <p:grpSpPr>
            <a:xfrm>
              <a:off x="977900" y="5030397"/>
              <a:ext cx="177800" cy="227403"/>
              <a:chOff x="977900" y="5030397"/>
              <a:chExt cx="177800" cy="227403"/>
            </a:xfrm>
          </p:grpSpPr>
          <p:sp>
            <p:nvSpPr>
              <p:cNvPr id="32" name="Freeform 32"/>
              <p:cNvSpPr/>
              <p:nvPr/>
            </p:nvSpPr>
            <p:spPr>
              <a:xfrm>
                <a:off x="977900" y="5030397"/>
                <a:ext cx="177800" cy="162705"/>
              </a:xfrm>
              <a:custGeom>
                <a:avLst/>
                <a:gdLst/>
                <a:ahLst/>
                <a:cxnLst/>
                <a:rect l="l" t="t" r="r" b="b"/>
                <a:pathLst>
                  <a:path w="177800" h="162705">
                    <a:moveTo>
                      <a:pt x="0" y="24203"/>
                    </a:moveTo>
                    <a:cubicBezTo>
                      <a:pt x="24692" y="0"/>
                      <a:pt x="64208" y="0"/>
                      <a:pt x="88900" y="24203"/>
                    </a:cubicBezTo>
                    <a:cubicBezTo>
                      <a:pt x="113591" y="48405"/>
                      <a:pt x="153108" y="48405"/>
                      <a:pt x="177800" y="24203"/>
                    </a:cubicBezTo>
                    <a:lnTo>
                      <a:pt x="177800" y="138502"/>
                    </a:lnTo>
                    <a:cubicBezTo>
                      <a:pt x="153108" y="162705"/>
                      <a:pt x="113591" y="162705"/>
                      <a:pt x="88900" y="138502"/>
                    </a:cubicBezTo>
                    <a:cubicBezTo>
                      <a:pt x="64208" y="114300"/>
                      <a:pt x="24692" y="114300"/>
                      <a:pt x="0" y="138502"/>
                    </a:cubicBezTo>
                    <a:lnTo>
                      <a:pt x="0" y="24203"/>
                    </a:lnTo>
                  </a:path>
                </a:pathLst>
              </a:custGeom>
              <a:noFill/>
              <a:ln w="25400">
                <a:solidFill>
                  <a:schemeClr val="accent3"/>
                </a:solidFill>
              </a:ln>
            </p:spPr>
          </p:sp>
          <p:sp>
            <p:nvSpPr>
              <p:cNvPr id="33" name="Freeform 33"/>
              <p:cNvSpPr/>
              <p:nvPr/>
            </p:nvSpPr>
            <p:spPr>
              <a:xfrm>
                <a:off x="977900" y="5168900"/>
                <a:ext cx="9525" cy="88900"/>
              </a:xfrm>
              <a:custGeom>
                <a:avLst/>
                <a:gdLst/>
                <a:ahLst/>
                <a:cxnLst/>
                <a:rect l="l" t="t" r="r" b="b"/>
                <a:pathLst>
                  <a:path w="9525" h="88900">
                    <a:moveTo>
                      <a:pt x="0" y="88900"/>
                    </a:moveTo>
                    <a:lnTo>
                      <a:pt x="0" y="0"/>
                    </a:lnTo>
                  </a:path>
                </a:pathLst>
              </a:custGeom>
              <a:noFill/>
              <a:ln w="25400">
                <a:solidFill>
                  <a:schemeClr val="accent3"/>
                </a:solidFill>
              </a:ln>
            </p:spPr>
          </p:sp>
        </p:grpSp>
        <p:sp>
          <p:nvSpPr>
            <p:cNvPr id="35" name="TextBox 35"/>
            <p:cNvSpPr txBox="1"/>
            <p:nvPr/>
          </p:nvSpPr>
          <p:spPr>
            <a:xfrm>
              <a:off x="1401318" y="5029200"/>
              <a:ext cx="6386247" cy="322707"/>
            </a:xfrm>
            <a:prstGeom prst="rect">
              <a:avLst/>
            </a:prstGeom>
            <a:noFill/>
            <a:ln>
              <a:noFill/>
            </a:ln>
          </p:spPr>
          <p:txBody>
            <a:bodyPr wrap="none" lIns="0" tIns="0" rIns="0" bIns="0" anchor="t" anchorCtr="0">
              <a:spAutoFit/>
            </a:bodyPr>
            <a:lstStyle/>
            <a:p>
              <a:pPr algn="l"/>
              <a:r>
                <a:rPr lang="id-ID" sz="1650" b="1" dirty="0">
                  <a:solidFill>
                    <a:schemeClr val="accent3"/>
                  </a:solidFill>
                  <a:latin typeface="+mn-lt"/>
                  <a:ea typeface="+mn-ea"/>
                  <a:cs typeface="+mn-cs"/>
                </a:rPr>
                <a:t>Langkah berikut:</a:t>
              </a:r>
              <a:r>
                <a:rPr lang="id-ID" sz="1650" dirty="0">
                  <a:solidFill>
                    <a:srgbClr val="F3F1EA"/>
                  </a:solidFill>
                  <a:latin typeface="+mn-lt"/>
                  <a:ea typeface="+mn-ea"/>
                  <a:cs typeface="+mn-cs"/>
                </a:rPr>
                <a:t xml:space="preserve"> 3–5 klinik eksternal ikut uji coba sebelum akhir 2026.</a:t>
              </a:r>
            </a:p>
          </p:txBody>
        </p:sp>
      </p:grpSp>
      <p:grpSp>
        <p:nvGrpSpPr>
          <p:cNvPr id="38" name="pilot-note"/>
          <p:cNvGrpSpPr/>
          <p:nvPr/>
        </p:nvGrpSpPr>
        <p:grpSpPr>
          <a:xfrm>
            <a:off x="603123" y="5753100"/>
            <a:ext cx="6620298" cy="250317"/>
            <a:chOff x="603123" y="5753100"/>
            <a:chExt cx="6620298" cy="250317"/>
          </a:xfrm>
        </p:grpSpPr>
        <p:sp>
          <p:nvSpPr>
            <p:cNvPr id="37" name="TextBox 37"/>
            <p:cNvSpPr txBox="1"/>
            <p:nvPr/>
          </p:nvSpPr>
          <p:spPr>
            <a:xfrm>
              <a:off x="603123" y="5753100"/>
              <a:ext cx="6620298" cy="250317"/>
            </a:xfrm>
            <a:prstGeom prst="rect">
              <a:avLst/>
            </a:prstGeom>
            <a:noFill/>
            <a:ln>
              <a:noFill/>
            </a:ln>
          </p:spPr>
          <p:txBody>
            <a:bodyPr wrap="none" lIns="0" tIns="0" rIns="0" bIns="0" anchor="t" anchorCtr="0">
              <a:spAutoFit/>
            </a:bodyPr>
            <a:lstStyle/>
            <a:p>
              <a:pPr algn="l"/>
              <a:r>
                <a:rPr lang="id-ID" sz="1280" dirty="0">
                  <a:solidFill>
                    <a:srgbClr val="B9B6AA"/>
                  </a:solidFill>
                  <a:latin typeface="+mn-lt"/>
                  <a:ea typeface="+mn-ea"/>
                  <a:cs typeface="+mn-cs"/>
                </a:rPr>
                <a:t>Catatan: klinik pilot adalah klinik milik tim founder, dipakai setiap hari selama 2 bulan terakhir.</a:t>
              </a:r>
            </a:p>
          </p:txBody>
        </p:sp>
      </p:grpSp>
      <p:grpSp>
        <p:nvGrpSpPr>
          <p:cNvPr id="41" name="footer"/>
          <p:cNvGrpSpPr/>
          <p:nvPr/>
        </p:nvGrpSpPr>
        <p:grpSpPr>
          <a:xfrm>
            <a:off x="604647" y="6477000"/>
            <a:ext cx="10982706" cy="191643"/>
            <a:chOff x="604647" y="6477000"/>
            <a:chExt cx="10982706" cy="191643"/>
          </a:xfrm>
        </p:grpSpPr>
        <p:sp>
          <p:nvSpPr>
            <p:cNvPr id="39" name="TextBox 39"/>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rgbClr val="B9B6AA"/>
                  </a:solidFill>
                  <a:latin typeface="+mn-lt"/>
                  <a:ea typeface="+mn-ea"/>
                  <a:cs typeface="+mn-cs"/>
                </a:rPr>
                <a:t>ApexRecord · Pitch Deck 2026</a:t>
              </a:r>
            </a:p>
          </p:txBody>
        </p:sp>
        <p:sp>
          <p:nvSpPr>
            <p:cNvPr id="40" name="TextBox 40"/>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rgbClr val="B9B6AA"/>
                  </a:solidFill>
                  <a:latin typeface="+mn-lt"/>
                  <a:ea typeface="+mn-ea"/>
                  <a:cs typeface="+mn-cs"/>
                </a:rPr>
                <a:t>13</a:t>
              </a:r>
            </a:p>
          </p:txBody>
        </p:sp>
      </p:gr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8418637" cy="786003"/>
            <a:chOff x="595122" y="635000"/>
            <a:chExt cx="8418637" cy="786003"/>
          </a:xfrm>
        </p:grpSpPr>
        <p:sp>
          <p:nvSpPr>
            <p:cNvPr id="2" name="TextBox 2"/>
            <p:cNvSpPr txBox="1"/>
            <p:nvPr/>
          </p:nvSpPr>
          <p:spPr>
            <a:xfrm>
              <a:off x="603885" y="635000"/>
              <a:ext cx="1308732"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GO-TO-MARKET</a:t>
              </a:r>
            </a:p>
          </p:txBody>
        </p:sp>
        <p:sp>
          <p:nvSpPr>
            <p:cNvPr id="3" name="TextBox 3"/>
            <p:cNvSpPr txBox="1"/>
            <p:nvPr/>
          </p:nvSpPr>
          <p:spPr>
            <a:xfrm>
              <a:off x="595122" y="863600"/>
              <a:ext cx="8418637"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Mulai dari klinik gigi, tumbuh lewat komunitas</a:t>
              </a:r>
            </a:p>
          </p:txBody>
        </p:sp>
      </p:grpSp>
      <p:sp>
        <p:nvSpPr>
          <p:cNvPr id="5" name="Freeform 5"/>
          <p:cNvSpPr/>
          <p:nvPr/>
        </p:nvSpPr>
        <p:spPr>
          <a:xfrm>
            <a:off x="609600" y="1714500"/>
            <a:ext cx="914400" cy="876300"/>
          </a:xfrm>
          <a:prstGeom prst="homePlate">
            <a:avLst/>
          </a:prstGeom>
          <a:solidFill>
            <a:schemeClr val="accent1"/>
          </a:solidFill>
          <a:ln>
            <a:noFill/>
          </a:ln>
        </p:spPr>
      </p:sp>
      <p:sp>
        <p:nvSpPr>
          <p:cNvPr id="6" name="Freeform 6"/>
          <p:cNvSpPr/>
          <p:nvPr/>
        </p:nvSpPr>
        <p:spPr>
          <a:xfrm>
            <a:off x="990600" y="2819400"/>
            <a:ext cx="914400" cy="876300"/>
          </a:xfrm>
          <a:prstGeom prst="homePlate">
            <a:avLst/>
          </a:prstGeom>
          <a:solidFill>
            <a:schemeClr val="accent1"/>
          </a:solidFill>
          <a:ln>
            <a:noFill/>
          </a:ln>
        </p:spPr>
      </p:sp>
      <p:sp>
        <p:nvSpPr>
          <p:cNvPr id="7" name="Freeform 7"/>
          <p:cNvSpPr/>
          <p:nvPr/>
        </p:nvSpPr>
        <p:spPr>
          <a:xfrm>
            <a:off x="1371600" y="3924300"/>
            <a:ext cx="914400" cy="876300"/>
          </a:xfrm>
          <a:prstGeom prst="homePlate">
            <a:avLst/>
          </a:prstGeom>
          <a:solidFill>
            <a:schemeClr val="accent1"/>
          </a:solidFill>
          <a:ln>
            <a:noFill/>
          </a:ln>
        </p:spPr>
      </p:sp>
      <p:sp>
        <p:nvSpPr>
          <p:cNvPr id="8" name="Freeform 8"/>
          <p:cNvSpPr/>
          <p:nvPr/>
        </p:nvSpPr>
        <p:spPr>
          <a:xfrm>
            <a:off x="1752600" y="5029200"/>
            <a:ext cx="914400" cy="876300"/>
          </a:xfrm>
          <a:prstGeom prst="homePlate">
            <a:avLst/>
          </a:prstGeom>
          <a:solidFill>
            <a:schemeClr val="accent2"/>
          </a:solidFill>
          <a:ln>
            <a:noFill/>
          </a:ln>
        </p:spPr>
      </p:sp>
      <p:grpSp>
        <p:nvGrpSpPr>
          <p:cNvPr id="16" name="gtm-beachhead"/>
          <p:cNvGrpSpPr/>
          <p:nvPr/>
        </p:nvGrpSpPr>
        <p:grpSpPr>
          <a:xfrm>
            <a:off x="894935" y="1714500"/>
            <a:ext cx="10687465" cy="876300"/>
            <a:chOff x="894935" y="1714500"/>
            <a:chExt cx="10687465" cy="876300"/>
          </a:xfrm>
        </p:grpSpPr>
        <p:sp>
          <p:nvSpPr>
            <p:cNvPr id="9" name="TextBox 9"/>
            <p:cNvSpPr txBox="1"/>
            <p:nvPr/>
          </p:nvSpPr>
          <p:spPr>
            <a:xfrm>
              <a:off x="894935" y="1987550"/>
              <a:ext cx="191330" cy="440055"/>
            </a:xfrm>
            <a:prstGeom prst="rect">
              <a:avLst/>
            </a:prstGeom>
            <a:noFill/>
            <a:ln>
              <a:noFill/>
            </a:ln>
          </p:spPr>
          <p:txBody>
            <a:bodyPr wrap="none" lIns="0" tIns="0" rIns="0" bIns="0" anchor="t" anchorCtr="0">
              <a:spAutoFit/>
            </a:bodyPr>
            <a:lstStyle/>
            <a:p>
              <a:pPr algn="ctr"/>
              <a:r>
                <a:rPr lang="id-ID" sz="2250" b="1" dirty="0">
                  <a:solidFill>
                    <a:schemeClr val="accent3"/>
                  </a:solidFill>
                  <a:latin typeface="+mj-lt"/>
                  <a:ea typeface="+mj-ea"/>
                  <a:cs typeface="+mj-cs"/>
                </a:rPr>
                <a:t>1</a:t>
              </a:r>
            </a:p>
          </p:txBody>
        </p:sp>
        <p:sp>
          <p:nvSpPr>
            <p:cNvPr id="10" name="Rectangle 10"/>
            <p:cNvSpPr/>
            <p:nvPr/>
          </p:nvSpPr>
          <p:spPr>
            <a:xfrm>
              <a:off x="1638300" y="1714500"/>
              <a:ext cx="9944100" cy="876300"/>
            </a:xfrm>
            <a:prstGeom prst="roundRect">
              <a:avLst>
                <a:gd name="adj" fmla="val 21739"/>
              </a:avLst>
            </a:prstGeom>
            <a:solidFill>
              <a:srgbClr val="FFFFFF"/>
            </a:solidFill>
            <a:ln w="9525">
              <a:solidFill>
                <a:schemeClr val="accent6"/>
              </a:solidFill>
            </a:ln>
          </p:spPr>
        </p:sp>
        <p:grpSp>
          <p:nvGrpSpPr>
            <p:cNvPr id="13" name="Group 13"/>
            <p:cNvGrpSpPr/>
            <p:nvPr/>
          </p:nvGrpSpPr>
          <p:grpSpPr>
            <a:xfrm>
              <a:off x="1955800" y="2051050"/>
              <a:ext cx="203199" cy="206921"/>
              <a:chOff x="1955800" y="2051050"/>
              <a:chExt cx="203199" cy="206921"/>
            </a:xfrm>
          </p:grpSpPr>
          <p:sp>
            <p:nvSpPr>
              <p:cNvPr id="11" name="Freeform 11"/>
              <p:cNvSpPr/>
              <p:nvPr/>
            </p:nvSpPr>
            <p:spPr>
              <a:xfrm>
                <a:off x="1955800" y="2051050"/>
                <a:ext cx="203199" cy="206921"/>
              </a:xfrm>
              <a:custGeom>
                <a:avLst/>
                <a:gdLst/>
                <a:ahLst/>
                <a:cxnLst/>
                <a:rect l="l" t="t" r="r" b="b"/>
                <a:pathLst>
                  <a:path w="203199" h="206921">
                    <a:moveTo>
                      <a:pt x="101600" y="19050"/>
                    </a:moveTo>
                    <a:cubicBezTo>
                      <a:pt x="87960" y="11608"/>
                      <a:pt x="68796" y="0"/>
                      <a:pt x="50800" y="0"/>
                    </a:cubicBezTo>
                    <a:cubicBezTo>
                      <a:pt x="24130" y="0"/>
                      <a:pt x="0" y="15837"/>
                      <a:pt x="0" y="63500"/>
                    </a:cubicBezTo>
                    <a:cubicBezTo>
                      <a:pt x="0" y="125717"/>
                      <a:pt x="13411" y="170307"/>
                      <a:pt x="33922" y="197319"/>
                    </a:cubicBezTo>
                    <a:cubicBezTo>
                      <a:pt x="41199" y="206921"/>
                      <a:pt x="58941" y="203936"/>
                      <a:pt x="66522" y="194322"/>
                    </a:cubicBezTo>
                    <a:cubicBezTo>
                      <a:pt x="71577" y="187909"/>
                      <a:pt x="76924" y="176047"/>
                      <a:pt x="82550" y="158750"/>
                    </a:cubicBezTo>
                    <a:cubicBezTo>
                      <a:pt x="86258" y="148958"/>
                      <a:pt x="93878" y="139649"/>
                      <a:pt x="101600" y="139700"/>
                    </a:cubicBezTo>
                    <a:cubicBezTo>
                      <a:pt x="109245" y="139700"/>
                      <a:pt x="116967" y="149060"/>
                      <a:pt x="120650" y="158750"/>
                    </a:cubicBezTo>
                    <a:cubicBezTo>
                      <a:pt x="126276" y="176047"/>
                      <a:pt x="131622" y="187896"/>
                      <a:pt x="136677" y="194310"/>
                    </a:cubicBezTo>
                    <a:cubicBezTo>
                      <a:pt x="144259" y="203949"/>
                      <a:pt x="162077" y="206921"/>
                      <a:pt x="169278" y="197319"/>
                    </a:cubicBezTo>
                    <a:cubicBezTo>
                      <a:pt x="189788" y="170307"/>
                      <a:pt x="203199" y="125730"/>
                      <a:pt x="203199" y="63500"/>
                    </a:cubicBezTo>
                    <a:cubicBezTo>
                      <a:pt x="203199" y="16002"/>
                      <a:pt x="178968" y="0"/>
                      <a:pt x="152400" y="0"/>
                    </a:cubicBezTo>
                    <a:cubicBezTo>
                      <a:pt x="134328" y="0"/>
                      <a:pt x="115316" y="11570"/>
                      <a:pt x="101600" y="19050"/>
                    </a:cubicBezTo>
                  </a:path>
                </a:pathLst>
              </a:custGeom>
              <a:noFill/>
              <a:ln w="25400">
                <a:solidFill>
                  <a:schemeClr val="accent2"/>
                </a:solidFill>
              </a:ln>
            </p:spPr>
          </p:sp>
          <p:sp>
            <p:nvSpPr>
              <p:cNvPr id="12" name="Freeform 12"/>
              <p:cNvSpPr/>
              <p:nvPr/>
            </p:nvSpPr>
            <p:spPr>
              <a:xfrm>
                <a:off x="2057400" y="2070100"/>
                <a:ext cx="38100" cy="19050"/>
              </a:xfrm>
              <a:custGeom>
                <a:avLst/>
                <a:gdLst/>
                <a:ahLst/>
                <a:cxnLst/>
                <a:rect l="l" t="t" r="r" b="b"/>
                <a:pathLst>
                  <a:path w="38100" h="19050">
                    <a:moveTo>
                      <a:pt x="0" y="0"/>
                    </a:moveTo>
                    <a:lnTo>
                      <a:pt x="38100" y="19050"/>
                    </a:lnTo>
                  </a:path>
                </a:pathLst>
              </a:custGeom>
              <a:noFill/>
              <a:ln w="25400">
                <a:solidFill>
                  <a:schemeClr val="accent2"/>
                </a:solidFill>
              </a:ln>
            </p:spPr>
          </p:sp>
        </p:grpSp>
        <p:sp>
          <p:nvSpPr>
            <p:cNvPr id="14" name="TextBox 14"/>
            <p:cNvSpPr txBox="1"/>
            <p:nvPr/>
          </p:nvSpPr>
          <p:spPr>
            <a:xfrm>
              <a:off x="2391156" y="1860550"/>
              <a:ext cx="2201716"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Beachhead: klinik gigi</a:t>
              </a:r>
            </a:p>
          </p:txBody>
        </p:sp>
        <p:sp>
          <p:nvSpPr>
            <p:cNvPr id="15" name="TextBox 15"/>
            <p:cNvSpPr txBox="1"/>
            <p:nvPr/>
          </p:nvSpPr>
          <p:spPr>
            <a:xfrm>
              <a:off x="2393061" y="2216150"/>
              <a:ext cx="7923518" cy="278702"/>
            </a:xfrm>
            <a:prstGeom prst="rect">
              <a:avLst/>
            </a:prstGeom>
            <a:noFill/>
            <a:ln>
              <a:noFill/>
            </a:ln>
          </p:spPr>
          <p:txBody>
            <a:bodyPr wrap="none" lIns="0" tIns="0" rIns="0" bIns="0" anchor="t" anchorCtr="0">
              <a:spAutoFit/>
            </a:bodyPr>
            <a:lstStyle/>
            <a:p>
              <a:pPr algn="l"/>
              <a:r>
                <a:rPr lang="id-ID" sz="1420" dirty="0">
                  <a:solidFill>
                    <a:srgbClr val="55534A"/>
                  </a:solidFill>
                  <a:latin typeface="+mn-lt"/>
                  <a:ea typeface="+mn-ea"/>
                  <a:cs typeface="+mn-cs"/>
                </a:rPr>
                <a:t>Odontogram &amp; fee share dokter jadi pembeda tajam; mulai di Sumatera Barat, lalu seluruh Sumatera.</a:t>
              </a:r>
            </a:p>
          </p:txBody>
        </p:sp>
      </p:grpSp>
      <p:grpSp>
        <p:nvGrpSpPr>
          <p:cNvPr id="26" name="gtm-community"/>
          <p:cNvGrpSpPr/>
          <p:nvPr/>
        </p:nvGrpSpPr>
        <p:grpSpPr>
          <a:xfrm>
            <a:off x="1275935" y="2819400"/>
            <a:ext cx="10306465" cy="876300"/>
            <a:chOff x="1275935" y="2819400"/>
            <a:chExt cx="10306465" cy="876300"/>
          </a:xfrm>
        </p:grpSpPr>
        <p:sp>
          <p:nvSpPr>
            <p:cNvPr id="17" name="TextBox 17"/>
            <p:cNvSpPr txBox="1"/>
            <p:nvPr/>
          </p:nvSpPr>
          <p:spPr>
            <a:xfrm>
              <a:off x="1275935" y="3092450"/>
              <a:ext cx="191330" cy="440055"/>
            </a:xfrm>
            <a:prstGeom prst="rect">
              <a:avLst/>
            </a:prstGeom>
            <a:noFill/>
            <a:ln>
              <a:noFill/>
            </a:ln>
          </p:spPr>
          <p:txBody>
            <a:bodyPr wrap="none" lIns="0" tIns="0" rIns="0" bIns="0" anchor="t" anchorCtr="0">
              <a:spAutoFit/>
            </a:bodyPr>
            <a:lstStyle/>
            <a:p>
              <a:pPr algn="ctr"/>
              <a:r>
                <a:rPr lang="id-ID" sz="2250" b="1" dirty="0">
                  <a:solidFill>
                    <a:schemeClr val="accent3"/>
                  </a:solidFill>
                  <a:latin typeface="+mj-lt"/>
                  <a:ea typeface="+mj-ea"/>
                  <a:cs typeface="+mj-cs"/>
                </a:rPr>
                <a:t>2</a:t>
              </a:r>
            </a:p>
          </p:txBody>
        </p:sp>
        <p:sp>
          <p:nvSpPr>
            <p:cNvPr id="18" name="Rectangle 18"/>
            <p:cNvSpPr/>
            <p:nvPr/>
          </p:nvSpPr>
          <p:spPr>
            <a:xfrm>
              <a:off x="2019300" y="2819400"/>
              <a:ext cx="9563100" cy="876300"/>
            </a:xfrm>
            <a:prstGeom prst="roundRect">
              <a:avLst>
                <a:gd name="adj" fmla="val 21739"/>
              </a:avLst>
            </a:prstGeom>
            <a:solidFill>
              <a:srgbClr val="FFFFFF"/>
            </a:solidFill>
            <a:ln w="9525">
              <a:solidFill>
                <a:schemeClr val="accent6"/>
              </a:solidFill>
            </a:ln>
          </p:spPr>
        </p:sp>
        <p:grpSp>
          <p:nvGrpSpPr>
            <p:cNvPr id="23" name="Group 23"/>
            <p:cNvGrpSpPr/>
            <p:nvPr/>
          </p:nvGrpSpPr>
          <p:grpSpPr>
            <a:xfrm>
              <a:off x="2324100" y="3143250"/>
              <a:ext cx="228599" cy="228600"/>
              <a:chOff x="2324100" y="3143250"/>
              <a:chExt cx="228599" cy="228600"/>
            </a:xfrm>
          </p:grpSpPr>
          <p:sp>
            <p:nvSpPr>
              <p:cNvPr id="19" name="Freeform 19"/>
              <p:cNvSpPr/>
              <p:nvPr/>
            </p:nvSpPr>
            <p:spPr>
              <a:xfrm>
                <a:off x="2349500" y="3143250"/>
                <a:ext cx="101600" cy="101600"/>
              </a:xfrm>
              <a:custGeom>
                <a:avLst/>
                <a:gdLst/>
                <a:ahLst/>
                <a:cxnLst/>
                <a:rect l="l" t="t" r="r" b="b"/>
                <a:pathLst>
                  <a:path w="101600" h="101600">
                    <a:moveTo>
                      <a:pt x="0" y="50800"/>
                    </a:moveTo>
                    <a:cubicBezTo>
                      <a:pt x="0" y="78856"/>
                      <a:pt x="22744" y="101600"/>
                      <a:pt x="50800" y="101600"/>
                    </a:cubicBezTo>
                    <a:cubicBezTo>
                      <a:pt x="78856" y="101600"/>
                      <a:pt x="101600" y="78856"/>
                      <a:pt x="101600" y="50800"/>
                    </a:cubicBezTo>
                    <a:cubicBezTo>
                      <a:pt x="101600" y="22744"/>
                      <a:pt x="78856" y="0"/>
                      <a:pt x="50800" y="0"/>
                    </a:cubicBezTo>
                    <a:cubicBezTo>
                      <a:pt x="22744" y="0"/>
                      <a:pt x="0" y="22744"/>
                      <a:pt x="0" y="50800"/>
                    </a:cubicBezTo>
                  </a:path>
                </a:pathLst>
              </a:custGeom>
              <a:noFill/>
              <a:ln w="25400">
                <a:solidFill>
                  <a:schemeClr val="accent2"/>
                </a:solidFill>
              </a:ln>
            </p:spPr>
          </p:sp>
          <p:sp>
            <p:nvSpPr>
              <p:cNvPr id="20" name="Freeform 20"/>
              <p:cNvSpPr/>
              <p:nvPr/>
            </p:nvSpPr>
            <p:spPr>
              <a:xfrm>
                <a:off x="2324100" y="3295650"/>
                <a:ext cx="152400" cy="76200"/>
              </a:xfrm>
              <a:custGeom>
                <a:avLst/>
                <a:gdLst/>
                <a:ahLst/>
                <a:cxnLst/>
                <a:rect l="l" t="t" r="r" b="b"/>
                <a:pathLst>
                  <a:path w="152400" h="76200">
                    <a:moveTo>
                      <a:pt x="0" y="76200"/>
                    </a:moveTo>
                    <a:lnTo>
                      <a:pt x="0" y="50800"/>
                    </a:lnTo>
                    <a:cubicBezTo>
                      <a:pt x="0" y="22744"/>
                      <a:pt x="22744" y="0"/>
                      <a:pt x="50800" y="0"/>
                    </a:cubicBezTo>
                    <a:lnTo>
                      <a:pt x="101600" y="0"/>
                    </a:lnTo>
                    <a:cubicBezTo>
                      <a:pt x="129656" y="0"/>
                      <a:pt x="152400" y="22744"/>
                      <a:pt x="152400" y="50800"/>
                    </a:cubicBezTo>
                    <a:lnTo>
                      <a:pt x="152400" y="76200"/>
                    </a:lnTo>
                  </a:path>
                </a:pathLst>
              </a:custGeom>
              <a:noFill/>
              <a:ln w="25400">
                <a:solidFill>
                  <a:schemeClr val="accent2"/>
                </a:solidFill>
              </a:ln>
            </p:spPr>
          </p:sp>
          <p:sp>
            <p:nvSpPr>
              <p:cNvPr id="21" name="Freeform 21"/>
              <p:cNvSpPr/>
              <p:nvPr/>
            </p:nvSpPr>
            <p:spPr>
              <a:xfrm>
                <a:off x="2489199" y="3144901"/>
                <a:ext cx="38200" cy="98425"/>
              </a:xfrm>
              <a:custGeom>
                <a:avLst/>
                <a:gdLst/>
                <a:ahLst/>
                <a:cxnLst/>
                <a:rect l="l" t="t" r="r" b="b"/>
                <a:pathLst>
                  <a:path w="38200" h="98425">
                    <a:moveTo>
                      <a:pt x="0" y="0"/>
                    </a:moveTo>
                    <a:cubicBezTo>
                      <a:pt x="22478" y="5755"/>
                      <a:pt x="38200" y="26009"/>
                      <a:pt x="38200" y="49212"/>
                    </a:cubicBezTo>
                    <a:cubicBezTo>
                      <a:pt x="38200" y="72415"/>
                      <a:pt x="22478" y="92670"/>
                      <a:pt x="0" y="98425"/>
                    </a:cubicBezTo>
                  </a:path>
                </a:pathLst>
              </a:custGeom>
              <a:noFill/>
              <a:ln w="25400">
                <a:solidFill>
                  <a:schemeClr val="accent2"/>
                </a:solidFill>
              </a:ln>
            </p:spPr>
          </p:sp>
          <p:sp>
            <p:nvSpPr>
              <p:cNvPr id="22" name="Freeform 22"/>
              <p:cNvSpPr/>
              <p:nvPr/>
            </p:nvSpPr>
            <p:spPr>
              <a:xfrm>
                <a:off x="2514599" y="3297555"/>
                <a:ext cx="38100" cy="74295"/>
              </a:xfrm>
              <a:custGeom>
                <a:avLst/>
                <a:gdLst/>
                <a:ahLst/>
                <a:cxnLst/>
                <a:rect l="l" t="t" r="r" b="b"/>
                <a:pathLst>
                  <a:path w="38100" h="74295">
                    <a:moveTo>
                      <a:pt x="38100" y="74295"/>
                    </a:moveTo>
                    <a:lnTo>
                      <a:pt x="38100" y="48895"/>
                    </a:lnTo>
                    <a:cubicBezTo>
                      <a:pt x="37967" y="25839"/>
                      <a:pt x="22324" y="5764"/>
                      <a:pt x="0" y="0"/>
                    </a:cubicBezTo>
                  </a:path>
                </a:pathLst>
              </a:custGeom>
              <a:noFill/>
              <a:ln w="25400">
                <a:solidFill>
                  <a:schemeClr val="accent2"/>
                </a:solidFill>
              </a:ln>
            </p:spPr>
          </p:sp>
        </p:grpSp>
        <p:sp>
          <p:nvSpPr>
            <p:cNvPr id="24" name="TextBox 24"/>
            <p:cNvSpPr txBox="1"/>
            <p:nvPr/>
          </p:nvSpPr>
          <p:spPr>
            <a:xfrm>
              <a:off x="2772156" y="2965450"/>
              <a:ext cx="1860617"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Komunitas profesi</a:t>
              </a:r>
            </a:p>
          </p:txBody>
        </p:sp>
        <p:sp>
          <p:nvSpPr>
            <p:cNvPr id="25" name="TextBox 25"/>
            <p:cNvSpPr txBox="1"/>
            <p:nvPr/>
          </p:nvSpPr>
          <p:spPr>
            <a:xfrm>
              <a:off x="2774061" y="3321050"/>
              <a:ext cx="6702124" cy="278702"/>
            </a:xfrm>
            <a:prstGeom prst="rect">
              <a:avLst/>
            </a:prstGeom>
            <a:noFill/>
            <a:ln>
              <a:noFill/>
            </a:ln>
          </p:spPr>
          <p:txBody>
            <a:bodyPr wrap="none" lIns="0" tIns="0" rIns="0" bIns="0" anchor="t" anchorCtr="0">
              <a:spAutoFit/>
            </a:bodyPr>
            <a:lstStyle/>
            <a:p>
              <a:pPr algn="l"/>
              <a:r>
                <a:rPr lang="id-ID" sz="1420" dirty="0">
                  <a:solidFill>
                    <a:srgbClr val="55534A"/>
                  </a:solidFill>
                  <a:latin typeface="+mn-lt"/>
                  <a:ea typeface="+mn-ea"/>
                  <a:cs typeface="+mn-cs"/>
                </a:rPr>
                <a:t>Kemitraan dengan PDGI/IDI cabang, seminar SATUSEHAT &amp; RME, webinar akreditasi.</a:t>
              </a:r>
            </a:p>
          </p:txBody>
        </p:sp>
      </p:grpSp>
      <p:grpSp>
        <p:nvGrpSpPr>
          <p:cNvPr id="36" name="gtm-referral"/>
          <p:cNvGrpSpPr/>
          <p:nvPr/>
        </p:nvGrpSpPr>
        <p:grpSpPr>
          <a:xfrm>
            <a:off x="1656935" y="3924300"/>
            <a:ext cx="9925465" cy="876300"/>
            <a:chOff x="1656935" y="3924300"/>
            <a:chExt cx="9925465" cy="876300"/>
          </a:xfrm>
        </p:grpSpPr>
        <p:sp>
          <p:nvSpPr>
            <p:cNvPr id="27" name="TextBox 27"/>
            <p:cNvSpPr txBox="1"/>
            <p:nvPr/>
          </p:nvSpPr>
          <p:spPr>
            <a:xfrm>
              <a:off x="1656935" y="4197350"/>
              <a:ext cx="191330" cy="440055"/>
            </a:xfrm>
            <a:prstGeom prst="rect">
              <a:avLst/>
            </a:prstGeom>
            <a:noFill/>
            <a:ln>
              <a:noFill/>
            </a:ln>
          </p:spPr>
          <p:txBody>
            <a:bodyPr wrap="none" lIns="0" tIns="0" rIns="0" bIns="0" anchor="t" anchorCtr="0">
              <a:spAutoFit/>
            </a:bodyPr>
            <a:lstStyle/>
            <a:p>
              <a:pPr algn="ctr"/>
              <a:r>
                <a:rPr lang="id-ID" sz="2250" b="1" dirty="0">
                  <a:solidFill>
                    <a:schemeClr val="accent3"/>
                  </a:solidFill>
                  <a:latin typeface="+mj-lt"/>
                  <a:ea typeface="+mj-ea"/>
                  <a:cs typeface="+mj-cs"/>
                </a:rPr>
                <a:t>3</a:t>
              </a:r>
            </a:p>
          </p:txBody>
        </p:sp>
        <p:sp>
          <p:nvSpPr>
            <p:cNvPr id="28" name="Rectangle 28"/>
            <p:cNvSpPr/>
            <p:nvPr/>
          </p:nvSpPr>
          <p:spPr>
            <a:xfrm>
              <a:off x="2400300" y="3924300"/>
              <a:ext cx="9182100" cy="876300"/>
            </a:xfrm>
            <a:prstGeom prst="roundRect">
              <a:avLst>
                <a:gd name="adj" fmla="val 21739"/>
              </a:avLst>
            </a:prstGeom>
            <a:solidFill>
              <a:srgbClr val="FFFFFF"/>
            </a:solidFill>
            <a:ln w="9525">
              <a:solidFill>
                <a:schemeClr val="accent6"/>
              </a:solidFill>
            </a:ln>
          </p:spPr>
        </p:sp>
        <p:grpSp>
          <p:nvGrpSpPr>
            <p:cNvPr id="33" name="Group 33"/>
            <p:cNvGrpSpPr/>
            <p:nvPr/>
          </p:nvGrpSpPr>
          <p:grpSpPr>
            <a:xfrm>
              <a:off x="2700702" y="4257592"/>
              <a:ext cx="237165" cy="206458"/>
              <a:chOff x="2700702" y="4257592"/>
              <a:chExt cx="237165" cy="206458"/>
            </a:xfrm>
          </p:grpSpPr>
          <p:sp>
            <p:nvSpPr>
              <p:cNvPr id="29" name="Freeform 29"/>
              <p:cNvSpPr/>
              <p:nvPr/>
            </p:nvSpPr>
            <p:spPr>
              <a:xfrm>
                <a:off x="2700702" y="4257592"/>
                <a:ext cx="237165" cy="206458"/>
              </a:xfrm>
              <a:custGeom>
                <a:avLst/>
                <a:gdLst/>
                <a:ahLst/>
                <a:cxnLst/>
                <a:rect l="l" t="t" r="r" b="b"/>
                <a:pathLst>
                  <a:path w="237165" h="206458">
                    <a:moveTo>
                      <a:pt x="213947" y="112122"/>
                    </a:moveTo>
                    <a:lnTo>
                      <a:pt x="118697" y="206458"/>
                    </a:lnTo>
                    <a:lnTo>
                      <a:pt x="23448" y="112122"/>
                    </a:lnTo>
                    <a:cubicBezTo>
                      <a:pt x="6319" y="95455"/>
                      <a:pt x="0" y="70581"/>
                      <a:pt x="7096" y="47759"/>
                    </a:cubicBezTo>
                    <a:cubicBezTo>
                      <a:pt x="14192" y="24937"/>
                      <a:pt x="33502" y="8033"/>
                      <a:pt x="57061" y="4016"/>
                    </a:cubicBezTo>
                    <a:cubicBezTo>
                      <a:pt x="80621" y="0"/>
                      <a:pt x="104441" y="9552"/>
                      <a:pt x="118697" y="28734"/>
                    </a:cubicBezTo>
                    <a:cubicBezTo>
                      <a:pt x="133014" y="9694"/>
                      <a:pt x="156782" y="269"/>
                      <a:pt x="180257" y="4323"/>
                    </a:cubicBezTo>
                    <a:cubicBezTo>
                      <a:pt x="203731" y="8376"/>
                      <a:pt x="222962" y="25228"/>
                      <a:pt x="230063" y="47966"/>
                    </a:cubicBezTo>
                    <a:cubicBezTo>
                      <a:pt x="237165" y="70705"/>
                      <a:pt x="230942" y="95506"/>
                      <a:pt x="213947" y="112198"/>
                    </a:cubicBezTo>
                  </a:path>
                </a:pathLst>
              </a:custGeom>
              <a:noFill/>
              <a:ln w="25400">
                <a:solidFill>
                  <a:schemeClr val="accent2"/>
                </a:solidFill>
              </a:ln>
            </p:spPr>
          </p:sp>
          <p:sp>
            <p:nvSpPr>
              <p:cNvPr id="30" name="Freeform 30"/>
              <p:cNvSpPr/>
              <p:nvPr/>
            </p:nvSpPr>
            <p:spPr>
              <a:xfrm>
                <a:off x="2772621" y="4286250"/>
                <a:ext cx="142029" cy="82550"/>
              </a:xfrm>
              <a:custGeom>
                <a:avLst/>
                <a:gdLst/>
                <a:ahLst/>
                <a:cxnLst/>
                <a:rect l="l" t="t" r="r" b="b"/>
                <a:pathLst>
                  <a:path w="142029" h="82550">
                    <a:moveTo>
                      <a:pt x="46779" y="0"/>
                    </a:moveTo>
                    <a:lnTo>
                      <a:pt x="4958" y="41821"/>
                    </a:lnTo>
                    <a:cubicBezTo>
                      <a:pt x="0" y="46780"/>
                      <a:pt x="0" y="54819"/>
                      <a:pt x="4958" y="59779"/>
                    </a:cubicBezTo>
                    <a:lnTo>
                      <a:pt x="11854" y="66675"/>
                    </a:lnTo>
                    <a:cubicBezTo>
                      <a:pt x="20617" y="75438"/>
                      <a:pt x="34841" y="75438"/>
                      <a:pt x="43604" y="66675"/>
                    </a:cubicBezTo>
                    <a:lnTo>
                      <a:pt x="56304" y="53975"/>
                    </a:lnTo>
                    <a:cubicBezTo>
                      <a:pt x="72085" y="38194"/>
                      <a:pt x="97672" y="38194"/>
                      <a:pt x="113454" y="53975"/>
                    </a:cubicBezTo>
                    <a:lnTo>
                      <a:pt x="142029" y="82550"/>
                    </a:lnTo>
                  </a:path>
                </a:pathLst>
              </a:custGeom>
              <a:noFill/>
              <a:ln w="25400">
                <a:solidFill>
                  <a:schemeClr val="accent2"/>
                </a:solidFill>
              </a:ln>
            </p:spPr>
          </p:sp>
          <p:sp>
            <p:nvSpPr>
              <p:cNvPr id="31" name="Freeform 31"/>
              <p:cNvSpPr/>
              <p:nvPr/>
            </p:nvSpPr>
            <p:spPr>
              <a:xfrm>
                <a:off x="2825750" y="4406900"/>
                <a:ext cx="25400" cy="25400"/>
              </a:xfrm>
              <a:custGeom>
                <a:avLst/>
                <a:gdLst/>
                <a:ahLst/>
                <a:cxnLst/>
                <a:rect l="l" t="t" r="r" b="b"/>
                <a:pathLst>
                  <a:path w="25400" h="25400">
                    <a:moveTo>
                      <a:pt x="0" y="0"/>
                    </a:moveTo>
                    <a:lnTo>
                      <a:pt x="25400" y="25400"/>
                    </a:lnTo>
                  </a:path>
                </a:pathLst>
              </a:custGeom>
              <a:noFill/>
              <a:ln w="25400">
                <a:solidFill>
                  <a:schemeClr val="accent2"/>
                </a:solidFill>
              </a:ln>
            </p:spPr>
          </p:sp>
          <p:sp>
            <p:nvSpPr>
              <p:cNvPr id="32" name="Freeform 32"/>
              <p:cNvSpPr/>
              <p:nvPr/>
            </p:nvSpPr>
            <p:spPr>
              <a:xfrm>
                <a:off x="2857500" y="4375150"/>
                <a:ext cx="25400" cy="25400"/>
              </a:xfrm>
              <a:custGeom>
                <a:avLst/>
                <a:gdLst/>
                <a:ahLst/>
                <a:cxnLst/>
                <a:rect l="l" t="t" r="r" b="b"/>
                <a:pathLst>
                  <a:path w="25400" h="25400">
                    <a:moveTo>
                      <a:pt x="0" y="0"/>
                    </a:moveTo>
                    <a:lnTo>
                      <a:pt x="25400" y="25400"/>
                    </a:lnTo>
                  </a:path>
                </a:pathLst>
              </a:custGeom>
              <a:noFill/>
              <a:ln w="25400">
                <a:solidFill>
                  <a:schemeClr val="accent2"/>
                </a:solidFill>
              </a:ln>
            </p:spPr>
          </p:sp>
        </p:grpSp>
        <p:sp>
          <p:nvSpPr>
            <p:cNvPr id="34" name="TextBox 34"/>
            <p:cNvSpPr txBox="1"/>
            <p:nvPr/>
          </p:nvSpPr>
          <p:spPr>
            <a:xfrm>
              <a:off x="3153156" y="4070350"/>
              <a:ext cx="1867523"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Referral &amp; reseller</a:t>
              </a:r>
            </a:p>
          </p:txBody>
        </p:sp>
        <p:sp>
          <p:nvSpPr>
            <p:cNvPr id="35" name="TextBox 35"/>
            <p:cNvSpPr txBox="1"/>
            <p:nvPr/>
          </p:nvSpPr>
          <p:spPr>
            <a:xfrm>
              <a:off x="3155061" y="4425950"/>
              <a:ext cx="6119871" cy="278702"/>
            </a:xfrm>
            <a:prstGeom prst="rect">
              <a:avLst/>
            </a:prstGeom>
            <a:noFill/>
            <a:ln>
              <a:noFill/>
            </a:ln>
          </p:spPr>
          <p:txBody>
            <a:bodyPr wrap="none" lIns="0" tIns="0" rIns="0" bIns="0" anchor="t" anchorCtr="0">
              <a:spAutoFit/>
            </a:bodyPr>
            <a:lstStyle/>
            <a:p>
              <a:pPr algn="l"/>
              <a:r>
                <a:rPr lang="id-ID" sz="1420" dirty="0">
                  <a:solidFill>
                    <a:srgbClr val="55534A"/>
                  </a:solidFill>
                  <a:latin typeface="+mn-lt"/>
                  <a:ea typeface="+mn-ea"/>
                  <a:cs typeface="+mn-cs"/>
                </a:rPr>
                <a:t>Program referral antar-klinik (modulnya sudah ada) dan reseller lokal per kota.</a:t>
              </a:r>
            </a:p>
          </p:txBody>
        </p:sp>
      </p:grpSp>
      <p:grpSp>
        <p:nvGrpSpPr>
          <p:cNvPr id="45" name="gtm-promo"/>
          <p:cNvGrpSpPr/>
          <p:nvPr/>
        </p:nvGrpSpPr>
        <p:grpSpPr>
          <a:xfrm>
            <a:off x="2037935" y="5029200"/>
            <a:ext cx="9544465" cy="876300"/>
            <a:chOff x="2037935" y="5029200"/>
            <a:chExt cx="9544465" cy="876300"/>
          </a:xfrm>
        </p:grpSpPr>
        <p:sp>
          <p:nvSpPr>
            <p:cNvPr id="37" name="TextBox 37"/>
            <p:cNvSpPr txBox="1"/>
            <p:nvPr/>
          </p:nvSpPr>
          <p:spPr>
            <a:xfrm>
              <a:off x="2037935" y="5302250"/>
              <a:ext cx="191330" cy="440055"/>
            </a:xfrm>
            <a:prstGeom prst="rect">
              <a:avLst/>
            </a:prstGeom>
            <a:noFill/>
            <a:ln>
              <a:noFill/>
            </a:ln>
          </p:spPr>
          <p:txBody>
            <a:bodyPr wrap="none" lIns="0" tIns="0" rIns="0" bIns="0" anchor="t" anchorCtr="0">
              <a:spAutoFit/>
            </a:bodyPr>
            <a:lstStyle/>
            <a:p>
              <a:pPr algn="ctr"/>
              <a:r>
                <a:rPr lang="id-ID" sz="2250" b="1" dirty="0">
                  <a:solidFill>
                    <a:srgbClr val="FFFFFF"/>
                  </a:solidFill>
                  <a:latin typeface="+mj-lt"/>
                  <a:ea typeface="+mj-ea"/>
                  <a:cs typeface="+mj-cs"/>
                </a:rPr>
                <a:t>4</a:t>
              </a:r>
            </a:p>
          </p:txBody>
        </p:sp>
        <p:sp>
          <p:nvSpPr>
            <p:cNvPr id="38" name="Rectangle 38"/>
            <p:cNvSpPr/>
            <p:nvPr/>
          </p:nvSpPr>
          <p:spPr>
            <a:xfrm>
              <a:off x="2781300" y="5029200"/>
              <a:ext cx="8801100" cy="876300"/>
            </a:xfrm>
            <a:prstGeom prst="roundRect">
              <a:avLst>
                <a:gd name="adj" fmla="val 21739"/>
              </a:avLst>
            </a:prstGeom>
            <a:solidFill>
              <a:srgbClr val="E3F3DA"/>
            </a:solidFill>
            <a:ln>
              <a:noFill/>
            </a:ln>
          </p:spPr>
        </p:sp>
        <p:grpSp>
          <p:nvGrpSpPr>
            <p:cNvPr id="42" name="Group 42"/>
            <p:cNvGrpSpPr/>
            <p:nvPr/>
          </p:nvGrpSpPr>
          <p:grpSpPr>
            <a:xfrm>
              <a:off x="3086100" y="5365221"/>
              <a:ext cx="228599" cy="203729"/>
              <a:chOff x="3086100" y="5365221"/>
              <a:chExt cx="228599" cy="203729"/>
            </a:xfrm>
          </p:grpSpPr>
          <p:sp>
            <p:nvSpPr>
              <p:cNvPr id="39" name="Freeform 39"/>
              <p:cNvSpPr/>
              <p:nvPr/>
            </p:nvSpPr>
            <p:spPr>
              <a:xfrm>
                <a:off x="3276599" y="5416550"/>
                <a:ext cx="38100" cy="76200"/>
              </a:xfrm>
              <a:custGeom>
                <a:avLst/>
                <a:gdLst/>
                <a:ahLst/>
                <a:cxnLst/>
                <a:rect l="l" t="t" r="r" b="b"/>
                <a:pathLst>
                  <a:path w="38100" h="76200">
                    <a:moveTo>
                      <a:pt x="0" y="0"/>
                    </a:moveTo>
                    <a:cubicBezTo>
                      <a:pt x="21042" y="0"/>
                      <a:pt x="38100" y="17058"/>
                      <a:pt x="38100" y="38100"/>
                    </a:cubicBezTo>
                    <a:cubicBezTo>
                      <a:pt x="38100" y="59142"/>
                      <a:pt x="21042" y="76200"/>
                      <a:pt x="0" y="76200"/>
                    </a:cubicBezTo>
                  </a:path>
                </a:pathLst>
              </a:custGeom>
              <a:noFill/>
              <a:ln w="25400">
                <a:solidFill>
                  <a:schemeClr val="accent2"/>
                </a:solidFill>
              </a:ln>
            </p:spPr>
          </p:sp>
          <p:sp>
            <p:nvSpPr>
              <p:cNvPr id="40" name="Freeform 40"/>
              <p:cNvSpPr/>
              <p:nvPr/>
            </p:nvSpPr>
            <p:spPr>
              <a:xfrm>
                <a:off x="3136900" y="5416550"/>
                <a:ext cx="38100" cy="152400"/>
              </a:xfrm>
              <a:custGeom>
                <a:avLst/>
                <a:gdLst/>
                <a:ahLst/>
                <a:cxnLst/>
                <a:rect l="l" t="t" r="r" b="b"/>
                <a:pathLst>
                  <a:path w="38100" h="152400">
                    <a:moveTo>
                      <a:pt x="38100" y="0"/>
                    </a:moveTo>
                    <a:lnTo>
                      <a:pt x="38100" y="139700"/>
                    </a:lnTo>
                    <a:cubicBezTo>
                      <a:pt x="38100" y="146714"/>
                      <a:pt x="32414" y="152400"/>
                      <a:pt x="25400" y="152400"/>
                    </a:cubicBezTo>
                    <a:lnTo>
                      <a:pt x="12700" y="152400"/>
                    </a:lnTo>
                    <a:cubicBezTo>
                      <a:pt x="5686" y="152400"/>
                      <a:pt x="0" y="146714"/>
                      <a:pt x="0" y="139700"/>
                    </a:cubicBezTo>
                    <a:lnTo>
                      <a:pt x="0" y="76200"/>
                    </a:lnTo>
                  </a:path>
                </a:pathLst>
              </a:custGeom>
              <a:noFill/>
              <a:ln w="25400">
                <a:solidFill>
                  <a:schemeClr val="accent2"/>
                </a:solidFill>
              </a:ln>
            </p:spPr>
          </p:sp>
          <p:sp>
            <p:nvSpPr>
              <p:cNvPr id="41" name="Freeform 41"/>
              <p:cNvSpPr/>
              <p:nvPr/>
            </p:nvSpPr>
            <p:spPr>
              <a:xfrm>
                <a:off x="3086100" y="5365221"/>
                <a:ext cx="190502" cy="178856"/>
              </a:xfrm>
              <a:custGeom>
                <a:avLst/>
                <a:gdLst/>
                <a:ahLst/>
                <a:cxnLst/>
                <a:rect l="l" t="t" r="r" b="b"/>
                <a:pathLst>
                  <a:path w="190502" h="178856">
                    <a:moveTo>
                      <a:pt x="114300" y="51328"/>
                    </a:moveTo>
                    <a:lnTo>
                      <a:pt x="171754" y="3449"/>
                    </a:lnTo>
                    <a:cubicBezTo>
                      <a:pt x="175163" y="611"/>
                      <a:pt x="179905" y="0"/>
                      <a:pt x="183922" y="1883"/>
                    </a:cubicBezTo>
                    <a:cubicBezTo>
                      <a:pt x="187938" y="3766"/>
                      <a:pt x="190502" y="7802"/>
                      <a:pt x="190500" y="12238"/>
                    </a:cubicBezTo>
                    <a:lnTo>
                      <a:pt x="190500" y="166619"/>
                    </a:lnTo>
                    <a:cubicBezTo>
                      <a:pt x="190502" y="171054"/>
                      <a:pt x="187938" y="175091"/>
                      <a:pt x="183922" y="176974"/>
                    </a:cubicBezTo>
                    <a:cubicBezTo>
                      <a:pt x="179905" y="178856"/>
                      <a:pt x="175163" y="178246"/>
                      <a:pt x="171754" y="175407"/>
                    </a:cubicBezTo>
                    <a:lnTo>
                      <a:pt x="114300" y="127528"/>
                    </a:lnTo>
                    <a:lnTo>
                      <a:pt x="12700" y="127528"/>
                    </a:lnTo>
                    <a:cubicBezTo>
                      <a:pt x="5686" y="127528"/>
                      <a:pt x="0" y="121842"/>
                      <a:pt x="0" y="114828"/>
                    </a:cubicBezTo>
                    <a:lnTo>
                      <a:pt x="0" y="64028"/>
                    </a:lnTo>
                    <a:cubicBezTo>
                      <a:pt x="0" y="57014"/>
                      <a:pt x="5686" y="51328"/>
                      <a:pt x="12700" y="51328"/>
                    </a:cubicBezTo>
                    <a:lnTo>
                      <a:pt x="114300" y="51328"/>
                    </a:lnTo>
                  </a:path>
                </a:pathLst>
              </a:custGeom>
              <a:noFill/>
              <a:ln w="25400">
                <a:solidFill>
                  <a:schemeClr val="accent2"/>
                </a:solidFill>
              </a:ln>
            </p:spPr>
          </p:sp>
        </p:grpSp>
        <p:sp>
          <p:nvSpPr>
            <p:cNvPr id="43" name="TextBox 43"/>
            <p:cNvSpPr txBox="1"/>
            <p:nvPr/>
          </p:nvSpPr>
          <p:spPr>
            <a:xfrm>
              <a:off x="3534156" y="5175250"/>
              <a:ext cx="1692564"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Promo &amp; konten</a:t>
              </a:r>
            </a:p>
          </p:txBody>
        </p:sp>
        <p:sp>
          <p:nvSpPr>
            <p:cNvPr id="44" name="TextBox 44"/>
            <p:cNvSpPr txBox="1"/>
            <p:nvPr/>
          </p:nvSpPr>
          <p:spPr>
            <a:xfrm>
              <a:off x="3536061" y="5530850"/>
              <a:ext cx="6832386" cy="278702"/>
            </a:xfrm>
            <a:prstGeom prst="rect">
              <a:avLst/>
            </a:prstGeom>
            <a:noFill/>
            <a:ln>
              <a:noFill/>
            </a:ln>
          </p:spPr>
          <p:txBody>
            <a:bodyPr wrap="none" lIns="0" tIns="0" rIns="0" bIns="0" anchor="t" anchorCtr="0">
              <a:spAutoFit/>
            </a:bodyPr>
            <a:lstStyle/>
            <a:p>
              <a:pPr algn="l"/>
              <a:r>
                <a:rPr lang="id-ID" sz="1420" dirty="0">
                  <a:solidFill>
                    <a:srgbClr val="55534A"/>
                  </a:solidFill>
                  <a:latin typeface="+mn-lt"/>
                  <a:ea typeface="+mn-ea"/>
                  <a:cs typeface="+mn-cs"/>
                </a:rPr>
                <a:t>Harga lama s.d. 31 Des 2026, demo gratis, uji coba 15 hari, konten edukasi owner klinik.</a:t>
              </a:r>
            </a:p>
          </p:txBody>
        </p:sp>
      </p:grpSp>
      <p:grpSp>
        <p:nvGrpSpPr>
          <p:cNvPr id="48" name="footer"/>
          <p:cNvGrpSpPr/>
          <p:nvPr/>
        </p:nvGrpSpPr>
        <p:grpSpPr>
          <a:xfrm>
            <a:off x="604647" y="6477000"/>
            <a:ext cx="10982706" cy="191643"/>
            <a:chOff x="604647" y="6477000"/>
            <a:chExt cx="10982706" cy="191643"/>
          </a:xfrm>
        </p:grpSpPr>
        <p:sp>
          <p:nvSpPr>
            <p:cNvPr id="46" name="TextBox 46"/>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47" name="TextBox 47"/>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14</a:t>
              </a:r>
            </a:p>
          </p:txBody>
        </p:sp>
      </p:gr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9114649" cy="786003"/>
            <a:chOff x="595122" y="635000"/>
            <a:chExt cx="9114649" cy="786003"/>
          </a:xfrm>
        </p:grpSpPr>
        <p:sp>
          <p:nvSpPr>
            <p:cNvPr id="2" name="TextBox 2"/>
            <p:cNvSpPr txBox="1"/>
            <p:nvPr/>
          </p:nvSpPr>
          <p:spPr>
            <a:xfrm>
              <a:off x="603885" y="635000"/>
              <a:ext cx="808372"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PROYEKSI</a:t>
              </a:r>
            </a:p>
          </p:txBody>
        </p:sp>
        <p:sp>
          <p:nvSpPr>
            <p:cNvPr id="3" name="TextBox 3"/>
            <p:cNvSpPr txBox="1"/>
            <p:nvPr/>
          </p:nvSpPr>
          <p:spPr>
            <a:xfrm>
              <a:off x="595122" y="863600"/>
              <a:ext cx="9114649"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Target tahun ke-3: 1.000 fasyankes, Rp2,2 M ARR</a:t>
              </a:r>
            </a:p>
          </p:txBody>
        </p:sp>
      </p:grpSp>
      <p:grpSp>
        <p:nvGrpSpPr>
          <p:cNvPr id="25" name="facilities-growth"/>
          <p:cNvGrpSpPr/>
          <p:nvPr/>
        </p:nvGrpSpPr>
        <p:grpSpPr>
          <a:xfrm>
            <a:off x="1231392" y="1797050"/>
            <a:ext cx="5817108" cy="4012502"/>
            <a:chOff x="1231392" y="1797050"/>
            <a:chExt cx="5817108" cy="4012502"/>
          </a:xfrm>
        </p:grpSpPr>
        <p:sp>
          <p:nvSpPr>
            <p:cNvPr id="5" name="TextBox 5"/>
            <p:cNvSpPr txBox="1"/>
            <p:nvPr/>
          </p:nvSpPr>
          <p:spPr>
            <a:xfrm>
              <a:off x="1231392" y="1797050"/>
              <a:ext cx="2535923" cy="264033"/>
            </a:xfrm>
            <a:prstGeom prst="rect">
              <a:avLst/>
            </a:prstGeom>
            <a:noFill/>
            <a:ln>
              <a:noFill/>
            </a:ln>
          </p:spPr>
          <p:txBody>
            <a:bodyPr wrap="none" lIns="0" tIns="0" rIns="0" bIns="0" anchor="t" anchorCtr="0">
              <a:spAutoFit/>
            </a:bodyPr>
            <a:lstStyle/>
            <a:p>
              <a:pPr algn="l"/>
              <a:r>
                <a:rPr lang="id-ID" sz="1350" b="1" dirty="0">
                  <a:solidFill>
                    <a:schemeClr val="dk1"/>
                  </a:solidFill>
                  <a:latin typeface="+mn-lt"/>
                  <a:ea typeface="+mn-ea"/>
                  <a:cs typeface="+mn-cs"/>
                </a:rPr>
                <a:t>Fasyankes berbayar (akhir tahun)</a:t>
              </a:r>
            </a:p>
          </p:txBody>
        </p:sp>
        <p:grpSp>
          <p:nvGrpSpPr>
            <p:cNvPr id="24" name="facilities-growth-chartArea"/>
            <p:cNvGrpSpPr/>
            <p:nvPr/>
          </p:nvGrpSpPr>
          <p:grpSpPr>
            <a:xfrm>
              <a:off x="1238250" y="2190750"/>
              <a:ext cx="5810250" cy="3618802"/>
              <a:chOff x="1238250" y="2190750"/>
              <a:chExt cx="5810250" cy="3618802"/>
            </a:xfrm>
          </p:grpSpPr>
          <p:grpSp>
            <p:nvGrpSpPr>
              <p:cNvPr id="10" name="Group 10"/>
              <p:cNvGrpSpPr/>
              <p:nvPr/>
            </p:nvGrpSpPr>
            <p:grpSpPr>
              <a:xfrm>
                <a:off x="1238250" y="2190750"/>
                <a:ext cx="5810250" cy="2438400"/>
                <a:chOff x="1238250" y="2190750"/>
                <a:chExt cx="5810250" cy="2438400"/>
              </a:xfrm>
            </p:grpSpPr>
            <p:sp>
              <p:nvSpPr>
                <p:cNvPr id="6" name="Line 6"/>
                <p:cNvSpPr/>
                <p:nvPr/>
              </p:nvSpPr>
              <p:spPr>
                <a:xfrm>
                  <a:off x="1238250" y="2190750"/>
                  <a:ext cx="5810250" cy="9525"/>
                </a:xfrm>
                <a:custGeom>
                  <a:avLst/>
                  <a:gdLst/>
                  <a:ahLst/>
                  <a:cxnLst/>
                  <a:rect l="l" t="t" r="r" b="b"/>
                  <a:pathLst>
                    <a:path w="5810250" h="9525">
                      <a:moveTo>
                        <a:pt x="0" y="0"/>
                      </a:moveTo>
                      <a:lnTo>
                        <a:pt x="5810250" y="0"/>
                      </a:lnTo>
                    </a:path>
                  </a:pathLst>
                </a:custGeom>
                <a:noFill/>
                <a:ln w="9525">
                  <a:solidFill>
                    <a:schemeClr val="accent6"/>
                  </a:solidFill>
                </a:ln>
              </p:spPr>
            </p:sp>
            <p:sp>
              <p:nvSpPr>
                <p:cNvPr id="7" name="Line 7"/>
                <p:cNvSpPr/>
                <p:nvPr/>
              </p:nvSpPr>
              <p:spPr>
                <a:xfrm>
                  <a:off x="1238250" y="3000375"/>
                  <a:ext cx="5810250" cy="9525"/>
                </a:xfrm>
                <a:custGeom>
                  <a:avLst/>
                  <a:gdLst/>
                  <a:ahLst/>
                  <a:cxnLst/>
                  <a:rect l="l" t="t" r="r" b="b"/>
                  <a:pathLst>
                    <a:path w="5810250" h="9525">
                      <a:moveTo>
                        <a:pt x="0" y="0"/>
                      </a:moveTo>
                      <a:lnTo>
                        <a:pt x="5810250" y="0"/>
                      </a:lnTo>
                    </a:path>
                  </a:pathLst>
                </a:custGeom>
                <a:noFill/>
                <a:ln w="9525">
                  <a:solidFill>
                    <a:schemeClr val="accent6"/>
                  </a:solidFill>
                </a:ln>
              </p:spPr>
            </p:sp>
            <p:sp>
              <p:nvSpPr>
                <p:cNvPr id="8" name="Line 8"/>
                <p:cNvSpPr/>
                <p:nvPr/>
              </p:nvSpPr>
              <p:spPr>
                <a:xfrm>
                  <a:off x="1238250" y="3810000"/>
                  <a:ext cx="5810250" cy="9525"/>
                </a:xfrm>
                <a:custGeom>
                  <a:avLst/>
                  <a:gdLst/>
                  <a:ahLst/>
                  <a:cxnLst/>
                  <a:rect l="l" t="t" r="r" b="b"/>
                  <a:pathLst>
                    <a:path w="5810250" h="9525">
                      <a:moveTo>
                        <a:pt x="0" y="0"/>
                      </a:moveTo>
                      <a:lnTo>
                        <a:pt x="5810250" y="0"/>
                      </a:lnTo>
                    </a:path>
                  </a:pathLst>
                </a:custGeom>
                <a:noFill/>
                <a:ln w="9525">
                  <a:solidFill>
                    <a:schemeClr val="accent6"/>
                  </a:solidFill>
                </a:ln>
              </p:spPr>
            </p:sp>
            <p:sp>
              <p:nvSpPr>
                <p:cNvPr id="9" name="Line 9"/>
                <p:cNvSpPr/>
                <p:nvPr/>
              </p:nvSpPr>
              <p:spPr>
                <a:xfrm>
                  <a:off x="1238250" y="4619625"/>
                  <a:ext cx="5810250" cy="9525"/>
                </a:xfrm>
                <a:custGeom>
                  <a:avLst/>
                  <a:gdLst/>
                  <a:ahLst/>
                  <a:cxnLst/>
                  <a:rect l="l" t="t" r="r" b="b"/>
                  <a:pathLst>
                    <a:path w="5810250" h="9525">
                      <a:moveTo>
                        <a:pt x="0" y="0"/>
                      </a:moveTo>
                      <a:lnTo>
                        <a:pt x="5810250" y="0"/>
                      </a:lnTo>
                    </a:path>
                  </a:pathLst>
                </a:custGeom>
                <a:noFill/>
                <a:ln w="9525">
                  <a:solidFill>
                    <a:schemeClr val="accent6"/>
                  </a:solidFill>
                </a:ln>
              </p:spPr>
            </p:sp>
          </p:grpSp>
          <p:sp>
            <p:nvSpPr>
              <p:cNvPr id="11" name="Line 11"/>
              <p:cNvSpPr/>
              <p:nvPr/>
            </p:nvSpPr>
            <p:spPr>
              <a:xfrm>
                <a:off x="1238250" y="5429250"/>
                <a:ext cx="5810250" cy="9525"/>
              </a:xfrm>
              <a:custGeom>
                <a:avLst/>
                <a:gdLst/>
                <a:ahLst/>
                <a:cxnLst/>
                <a:rect l="l" t="t" r="r" b="b"/>
                <a:pathLst>
                  <a:path w="5810250" h="9525">
                    <a:moveTo>
                      <a:pt x="0" y="0"/>
                    </a:moveTo>
                    <a:lnTo>
                      <a:pt x="5810250" y="0"/>
                    </a:lnTo>
                  </a:path>
                </a:pathLst>
              </a:custGeom>
              <a:noFill/>
              <a:ln w="14288">
                <a:solidFill>
                  <a:srgbClr val="B9B6AA"/>
                </a:solidFill>
              </a:ln>
            </p:spPr>
          </p:sp>
          <p:grpSp>
            <p:nvGrpSpPr>
              <p:cNvPr id="15" name="Group 15"/>
              <p:cNvGrpSpPr/>
              <p:nvPr/>
            </p:nvGrpSpPr>
            <p:grpSpPr>
              <a:xfrm>
                <a:off x="1673257" y="2730532"/>
                <a:ext cx="4940236" cy="2698718"/>
                <a:chOff x="1673257" y="2730532"/>
                <a:chExt cx="4940236" cy="2698718"/>
              </a:xfrm>
            </p:grpSpPr>
            <p:sp>
              <p:nvSpPr>
                <p:cNvPr id="12" name="Rectangle 12"/>
                <p:cNvSpPr/>
                <p:nvPr/>
              </p:nvSpPr>
              <p:spPr>
                <a:xfrm>
                  <a:off x="1673257" y="5159407"/>
                  <a:ext cx="1066800" cy="269843"/>
                </a:xfrm>
                <a:prstGeom prst="rect">
                  <a:avLst/>
                </a:prstGeom>
                <a:solidFill>
                  <a:schemeClr val="accent2"/>
                </a:solidFill>
                <a:ln>
                  <a:noFill/>
                </a:ln>
              </p:spPr>
            </p:sp>
            <p:sp>
              <p:nvSpPr>
                <p:cNvPr id="13" name="Rectangle 13"/>
                <p:cNvSpPr/>
                <p:nvPr/>
              </p:nvSpPr>
              <p:spPr>
                <a:xfrm>
                  <a:off x="3609975" y="4349782"/>
                  <a:ext cx="1066800" cy="1079468"/>
                </a:xfrm>
                <a:prstGeom prst="rect">
                  <a:avLst/>
                </a:prstGeom>
                <a:solidFill>
                  <a:schemeClr val="accent2"/>
                </a:solidFill>
                <a:ln>
                  <a:noFill/>
                </a:ln>
              </p:spPr>
            </p:sp>
            <p:sp>
              <p:nvSpPr>
                <p:cNvPr id="14" name="Rectangle 14"/>
                <p:cNvSpPr/>
                <p:nvPr/>
              </p:nvSpPr>
              <p:spPr>
                <a:xfrm>
                  <a:off x="5546693" y="2730532"/>
                  <a:ext cx="1066800" cy="2698718"/>
                </a:xfrm>
                <a:prstGeom prst="rect">
                  <a:avLst/>
                </a:prstGeom>
                <a:solidFill>
                  <a:schemeClr val="accent2"/>
                </a:solidFill>
                <a:ln>
                  <a:noFill/>
                </a:ln>
              </p:spPr>
            </p:sp>
          </p:grpSp>
          <p:grpSp>
            <p:nvGrpSpPr>
              <p:cNvPr id="19" name="Group 19"/>
              <p:cNvGrpSpPr/>
              <p:nvPr/>
            </p:nvGrpSpPr>
            <p:grpSpPr>
              <a:xfrm>
                <a:off x="2029417" y="2419350"/>
                <a:ext cx="4313867" cy="2751582"/>
                <a:chOff x="2029417" y="2419350"/>
                <a:chExt cx="4313867" cy="2751582"/>
              </a:xfrm>
            </p:grpSpPr>
            <p:sp>
              <p:nvSpPr>
                <p:cNvPr id="16" name="TextBox 16"/>
                <p:cNvSpPr txBox="1"/>
                <p:nvPr/>
              </p:nvSpPr>
              <p:spPr>
                <a:xfrm>
                  <a:off x="2029417" y="4848225"/>
                  <a:ext cx="354480"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100</a:t>
                  </a:r>
                </a:p>
              </p:txBody>
            </p:sp>
            <p:sp>
              <p:nvSpPr>
                <p:cNvPr id="17" name="TextBox 17"/>
                <p:cNvSpPr txBox="1"/>
                <p:nvPr/>
              </p:nvSpPr>
              <p:spPr>
                <a:xfrm>
                  <a:off x="3966135" y="4038600"/>
                  <a:ext cx="354480"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400</a:t>
                  </a:r>
                </a:p>
              </p:txBody>
            </p:sp>
            <p:sp>
              <p:nvSpPr>
                <p:cNvPr id="18" name="TextBox 18"/>
                <p:cNvSpPr txBox="1"/>
                <p:nvPr/>
              </p:nvSpPr>
              <p:spPr>
                <a:xfrm>
                  <a:off x="5816903" y="2419350"/>
                  <a:ext cx="526381" cy="322707"/>
                </a:xfrm>
                <a:prstGeom prst="rect">
                  <a:avLst/>
                </a:prstGeom>
                <a:noFill/>
                <a:ln>
                  <a:noFill/>
                </a:ln>
              </p:spPr>
              <p:txBody>
                <a:bodyPr wrap="none" lIns="0" tIns="0" rIns="0" bIns="0" anchor="t" anchorCtr="0">
                  <a:spAutoFit/>
                </a:bodyPr>
                <a:lstStyle/>
                <a:p>
                  <a:pPr algn="ctr"/>
                  <a:r>
                    <a:rPr lang="id-ID" sz="1650" b="1" dirty="0">
                      <a:solidFill>
                        <a:schemeClr val="dk1"/>
                      </a:solidFill>
                      <a:latin typeface="+mn-lt"/>
                      <a:ea typeface="+mn-ea"/>
                      <a:cs typeface="+mn-cs"/>
                    </a:rPr>
                    <a:t>1.000</a:t>
                  </a:r>
                </a:p>
              </p:txBody>
            </p:sp>
          </p:grpSp>
          <p:grpSp>
            <p:nvGrpSpPr>
              <p:cNvPr id="23" name="Group 23"/>
              <p:cNvGrpSpPr/>
              <p:nvPr/>
            </p:nvGrpSpPr>
            <p:grpSpPr>
              <a:xfrm>
                <a:off x="1882810" y="5530850"/>
                <a:ext cx="4521130" cy="278702"/>
                <a:chOff x="1882810" y="5530850"/>
                <a:chExt cx="4521130" cy="278702"/>
              </a:xfrm>
            </p:grpSpPr>
            <p:sp>
              <p:nvSpPr>
                <p:cNvPr id="20" name="TextBox 20"/>
                <p:cNvSpPr txBox="1"/>
                <p:nvPr/>
              </p:nvSpPr>
              <p:spPr>
                <a:xfrm>
                  <a:off x="1882810" y="5530850"/>
                  <a:ext cx="647693" cy="278702"/>
                </a:xfrm>
                <a:prstGeom prst="rect">
                  <a:avLst/>
                </a:prstGeom>
                <a:noFill/>
                <a:ln>
                  <a:noFill/>
                </a:ln>
              </p:spPr>
              <p:txBody>
                <a:bodyPr wrap="none" lIns="0" tIns="0" rIns="0" bIns="0" anchor="t" anchorCtr="0">
                  <a:spAutoFit/>
                </a:bodyPr>
                <a:lstStyle/>
                <a:p>
                  <a:pPr algn="ctr"/>
                  <a:r>
                    <a:rPr lang="id-ID" sz="1420" dirty="0">
                      <a:solidFill>
                        <a:srgbClr val="55534A"/>
                      </a:solidFill>
                      <a:latin typeface="+mn-lt"/>
                      <a:ea typeface="+mn-ea"/>
                      <a:cs typeface="+mn-cs"/>
                    </a:rPr>
                    <a:t>Tahun 1</a:t>
                  </a:r>
                </a:p>
              </p:txBody>
            </p:sp>
            <p:sp>
              <p:nvSpPr>
                <p:cNvPr id="21" name="TextBox 21"/>
                <p:cNvSpPr txBox="1"/>
                <p:nvPr/>
              </p:nvSpPr>
              <p:spPr>
                <a:xfrm>
                  <a:off x="3819528" y="5530850"/>
                  <a:ext cx="647693" cy="278702"/>
                </a:xfrm>
                <a:prstGeom prst="rect">
                  <a:avLst/>
                </a:prstGeom>
                <a:noFill/>
                <a:ln>
                  <a:noFill/>
                </a:ln>
              </p:spPr>
              <p:txBody>
                <a:bodyPr wrap="none" lIns="0" tIns="0" rIns="0" bIns="0" anchor="t" anchorCtr="0">
                  <a:spAutoFit/>
                </a:bodyPr>
                <a:lstStyle/>
                <a:p>
                  <a:pPr algn="ctr"/>
                  <a:r>
                    <a:rPr lang="id-ID" sz="1420" dirty="0">
                      <a:solidFill>
                        <a:srgbClr val="55534A"/>
                      </a:solidFill>
                      <a:latin typeface="+mn-lt"/>
                      <a:ea typeface="+mn-ea"/>
                      <a:cs typeface="+mn-cs"/>
                    </a:rPr>
                    <a:t>Tahun 2</a:t>
                  </a:r>
                </a:p>
              </p:txBody>
            </p:sp>
            <p:sp>
              <p:nvSpPr>
                <p:cNvPr id="22" name="TextBox 22"/>
                <p:cNvSpPr txBox="1"/>
                <p:nvPr/>
              </p:nvSpPr>
              <p:spPr>
                <a:xfrm>
                  <a:off x="5756247" y="5530850"/>
                  <a:ext cx="647693" cy="278702"/>
                </a:xfrm>
                <a:prstGeom prst="rect">
                  <a:avLst/>
                </a:prstGeom>
                <a:noFill/>
                <a:ln>
                  <a:noFill/>
                </a:ln>
              </p:spPr>
              <p:txBody>
                <a:bodyPr wrap="none" lIns="0" tIns="0" rIns="0" bIns="0" anchor="t" anchorCtr="0">
                  <a:spAutoFit/>
                </a:bodyPr>
                <a:lstStyle/>
                <a:p>
                  <a:pPr algn="ctr"/>
                  <a:r>
                    <a:rPr lang="id-ID" sz="1420" dirty="0">
                      <a:solidFill>
                        <a:srgbClr val="55534A"/>
                      </a:solidFill>
                      <a:latin typeface="+mn-lt"/>
                      <a:ea typeface="+mn-ea"/>
                      <a:cs typeface="+mn-cs"/>
                    </a:rPr>
                    <a:t>Tahun 3</a:t>
                  </a:r>
                </a:p>
              </p:txBody>
            </p:sp>
          </p:grpSp>
        </p:grpSp>
      </p:grpSp>
      <p:grpSp>
        <p:nvGrpSpPr>
          <p:cNvPr id="32" name="arr-figures"/>
          <p:cNvGrpSpPr/>
          <p:nvPr/>
        </p:nvGrpSpPr>
        <p:grpSpPr>
          <a:xfrm>
            <a:off x="7791450" y="1689100"/>
            <a:ext cx="2797999" cy="3093720"/>
            <a:chOff x="7791450" y="1689100"/>
            <a:chExt cx="2797999" cy="3093720"/>
          </a:xfrm>
        </p:grpSpPr>
        <p:sp>
          <p:nvSpPr>
            <p:cNvPr id="26" name="TextBox 26"/>
            <p:cNvSpPr txBox="1"/>
            <p:nvPr/>
          </p:nvSpPr>
          <p:spPr>
            <a:xfrm>
              <a:off x="7791450" y="1689100"/>
              <a:ext cx="2797999"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Rp0,22 M</a:t>
              </a:r>
            </a:p>
          </p:txBody>
        </p:sp>
        <p:sp>
          <p:nvSpPr>
            <p:cNvPr id="27" name="TextBox 27"/>
            <p:cNvSpPr txBox="1"/>
            <p:nvPr/>
          </p:nvSpPr>
          <p:spPr>
            <a:xfrm>
              <a:off x="7802880" y="2393950"/>
              <a:ext cx="2348496" cy="293370"/>
            </a:xfrm>
            <a:prstGeom prst="rect">
              <a:avLst/>
            </a:prstGeom>
            <a:noFill/>
            <a:ln>
              <a:noFill/>
            </a:ln>
          </p:spPr>
          <p:txBody>
            <a:bodyPr wrap="none" lIns="0" tIns="0" rIns="0" bIns="0" anchor="t" anchorCtr="0">
              <a:spAutoFit/>
            </a:bodyPr>
            <a:lstStyle/>
            <a:p>
              <a:pPr algn="l"/>
              <a:r>
                <a:rPr lang="id-ID" sz="1500" dirty="0">
                  <a:solidFill>
                    <a:srgbClr val="55534A"/>
                  </a:solidFill>
                  <a:latin typeface="+mn-lt"/>
                  <a:ea typeface="+mn-ea"/>
                  <a:cs typeface="+mn-cs"/>
                </a:rPr>
                <a:t>ARR tahun 1 · 100 fasyankes</a:t>
              </a:r>
            </a:p>
          </p:txBody>
        </p:sp>
        <p:sp>
          <p:nvSpPr>
            <p:cNvPr id="28" name="TextBox 28"/>
            <p:cNvSpPr txBox="1"/>
            <p:nvPr/>
          </p:nvSpPr>
          <p:spPr>
            <a:xfrm>
              <a:off x="7791450" y="2736850"/>
              <a:ext cx="2797999"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Rp0,88 M</a:t>
              </a:r>
            </a:p>
          </p:txBody>
        </p:sp>
        <p:sp>
          <p:nvSpPr>
            <p:cNvPr id="29" name="TextBox 29"/>
            <p:cNvSpPr txBox="1"/>
            <p:nvPr/>
          </p:nvSpPr>
          <p:spPr>
            <a:xfrm>
              <a:off x="7802880" y="3441700"/>
              <a:ext cx="2348496" cy="293370"/>
            </a:xfrm>
            <a:prstGeom prst="rect">
              <a:avLst/>
            </a:prstGeom>
            <a:noFill/>
            <a:ln>
              <a:noFill/>
            </a:ln>
          </p:spPr>
          <p:txBody>
            <a:bodyPr wrap="none" lIns="0" tIns="0" rIns="0" bIns="0" anchor="t" anchorCtr="0">
              <a:spAutoFit/>
            </a:bodyPr>
            <a:lstStyle/>
            <a:p>
              <a:pPr algn="l"/>
              <a:r>
                <a:rPr lang="id-ID" sz="1500" dirty="0">
                  <a:solidFill>
                    <a:srgbClr val="55534A"/>
                  </a:solidFill>
                  <a:latin typeface="+mn-lt"/>
                  <a:ea typeface="+mn-ea"/>
                  <a:cs typeface="+mn-cs"/>
                </a:rPr>
                <a:t>ARR tahun 2 · 400 fasyankes</a:t>
              </a:r>
            </a:p>
          </p:txBody>
        </p:sp>
        <p:sp>
          <p:nvSpPr>
            <p:cNvPr id="30" name="TextBox 30"/>
            <p:cNvSpPr txBox="1"/>
            <p:nvPr/>
          </p:nvSpPr>
          <p:spPr>
            <a:xfrm>
              <a:off x="7791450" y="3784600"/>
              <a:ext cx="2448344" cy="876300"/>
            </a:xfrm>
            <a:prstGeom prst="rect">
              <a:avLst/>
            </a:prstGeom>
            <a:noFill/>
            <a:ln>
              <a:noFill/>
            </a:ln>
          </p:spPr>
          <p:txBody>
            <a:bodyPr wrap="none" lIns="0" tIns="0" rIns="0" bIns="0" anchor="t" anchorCtr="0">
              <a:spAutoFit/>
            </a:bodyPr>
            <a:lstStyle/>
            <a:p>
              <a:pPr algn="l"/>
              <a:r>
                <a:rPr lang="id-ID" sz="4500" b="1" dirty="0">
                  <a:solidFill>
                    <a:schemeClr val="accent2"/>
                  </a:solidFill>
                  <a:latin typeface="+mj-lt"/>
                  <a:ea typeface="+mj-ea"/>
                  <a:cs typeface="+mj-cs"/>
                </a:rPr>
                <a:t>Rp2,2 M</a:t>
              </a:r>
            </a:p>
          </p:txBody>
        </p:sp>
        <p:sp>
          <p:nvSpPr>
            <p:cNvPr id="31" name="TextBox 31"/>
            <p:cNvSpPr txBox="1"/>
            <p:nvPr/>
          </p:nvSpPr>
          <p:spPr>
            <a:xfrm>
              <a:off x="7802880" y="4489450"/>
              <a:ext cx="2503333" cy="293370"/>
            </a:xfrm>
            <a:prstGeom prst="rect">
              <a:avLst/>
            </a:prstGeom>
            <a:noFill/>
            <a:ln>
              <a:noFill/>
            </a:ln>
          </p:spPr>
          <p:txBody>
            <a:bodyPr wrap="none" lIns="0" tIns="0" rIns="0" bIns="0" anchor="t" anchorCtr="0">
              <a:spAutoFit/>
            </a:bodyPr>
            <a:lstStyle/>
            <a:p>
              <a:pPr algn="l"/>
              <a:r>
                <a:rPr lang="id-ID" sz="1500" dirty="0">
                  <a:solidFill>
                    <a:srgbClr val="55534A"/>
                  </a:solidFill>
                  <a:latin typeface="+mn-lt"/>
                  <a:ea typeface="+mn-ea"/>
                  <a:cs typeface="+mn-cs"/>
                </a:rPr>
                <a:t>ARR tahun 3 · 1.000 fasyankes</a:t>
              </a:r>
            </a:p>
          </p:txBody>
        </p:sp>
      </p:grpSp>
      <p:grpSp>
        <p:nvGrpSpPr>
          <p:cNvPr id="36" name="projection-assumption"/>
          <p:cNvGrpSpPr/>
          <p:nvPr/>
        </p:nvGrpSpPr>
        <p:grpSpPr>
          <a:xfrm>
            <a:off x="7804023" y="4914900"/>
            <a:ext cx="2670550" cy="1056767"/>
            <a:chOff x="7804023" y="4914900"/>
            <a:chExt cx="2670550" cy="1056767"/>
          </a:xfrm>
        </p:grpSpPr>
        <p:sp>
          <p:nvSpPr>
            <p:cNvPr id="33" name="Rectangle 33"/>
            <p:cNvSpPr/>
            <p:nvPr/>
          </p:nvSpPr>
          <p:spPr>
            <a:xfrm>
              <a:off x="7810500" y="4914900"/>
              <a:ext cx="1866900" cy="285750"/>
            </a:xfrm>
            <a:prstGeom prst="roundRect">
              <a:avLst>
                <a:gd name="adj" fmla="val 50000"/>
              </a:avLst>
            </a:prstGeom>
            <a:solidFill>
              <a:srgbClr val="FCEACB"/>
            </a:solidFill>
            <a:ln>
              <a:noFill/>
            </a:ln>
          </p:spPr>
        </p:sp>
        <p:sp>
          <p:nvSpPr>
            <p:cNvPr id="34" name="TextBox 34"/>
            <p:cNvSpPr txBox="1"/>
            <p:nvPr/>
          </p:nvSpPr>
          <p:spPr>
            <a:xfrm>
              <a:off x="7957185" y="4987925"/>
              <a:ext cx="1101357" cy="220028"/>
            </a:xfrm>
            <a:prstGeom prst="rect">
              <a:avLst/>
            </a:prstGeom>
            <a:noFill/>
            <a:ln>
              <a:noFill/>
            </a:ln>
          </p:spPr>
          <p:txBody>
            <a:bodyPr wrap="none" lIns="0" tIns="0" rIns="0" bIns="0" anchor="t" anchorCtr="0">
              <a:spAutoFit/>
            </a:bodyPr>
            <a:lstStyle/>
            <a:p>
              <a:pPr algn="l"/>
              <a:r>
                <a:rPr lang="id-ID" sz="1120" b="1" dirty="0">
                  <a:solidFill>
                    <a:srgbClr val="8A5A00"/>
                  </a:solidFill>
                  <a:latin typeface="+mn-lt"/>
                  <a:ea typeface="+mn-ea"/>
                  <a:cs typeface="+mn-cs"/>
                </a:rPr>
                <a:t>DATA SKENARIO</a:t>
              </a:r>
            </a:p>
          </p:txBody>
        </p:sp>
        <p:sp>
          <p:nvSpPr>
            <p:cNvPr id="35" name="TextBox 35"/>
            <p:cNvSpPr txBox="1"/>
            <p:nvPr/>
          </p:nvSpPr>
          <p:spPr>
            <a:xfrm>
              <a:off x="7804023" y="5302250"/>
              <a:ext cx="2670550" cy="669417"/>
            </a:xfrm>
            <a:prstGeom prst="rect">
              <a:avLst/>
            </a:prstGeom>
            <a:noFill/>
            <a:ln>
              <a:noFill/>
            </a:ln>
          </p:spPr>
          <p:txBody>
            <a:bodyPr wrap="none" lIns="0" tIns="0" rIns="0" bIns="0" anchor="t" anchorCtr="0">
              <a:spAutoFit/>
            </a:bodyPr>
            <a:lstStyle/>
            <a:p>
              <a:pPr algn="l">
                <a:lnSpc>
                  <a:spcPts val="1650"/>
                </a:lnSpc>
              </a:pPr>
              <a:r>
                <a:rPr lang="id-ID" sz="1280" dirty="0">
                  <a:solidFill>
                    <a:schemeClr val="accent5"/>
                  </a:solidFill>
                  <a:latin typeface="+mn-lt"/>
                  <a:ea typeface="+mn-ea"/>
                  <a:cs typeface="+mn-cs"/>
                </a:rPr>
                <a:t>Asumsi: ARPU blended ± Rp2,2 jt/tahun,</a:t>
              </a:r>
              <a:br>
                <a:rPr lang="id-ID" sz="1280" dirty="0">
                  <a:solidFill>
                    <a:schemeClr val="accent5"/>
                  </a:solidFill>
                  <a:latin typeface="+mn-lt"/>
                  <a:ea typeface="+mn-ea"/>
                  <a:cs typeface="+mn-cs"/>
                </a:rPr>
              </a:br>
              <a:r>
                <a:rPr lang="id-ID" sz="1280" dirty="0">
                  <a:solidFill>
                    <a:schemeClr val="accent5"/>
                  </a:solidFill>
                  <a:latin typeface="+mn-lt"/>
                  <a:ea typeface="+mn-ea"/>
                  <a:cs typeface="+mn-cs"/>
                </a:rPr>
                <a:t>churn &lt; 15%/tahun; belum termasuk</a:t>
              </a:r>
              <a:br>
                <a:rPr lang="id-ID" sz="1280" dirty="0">
                  <a:solidFill>
                    <a:schemeClr val="accent5"/>
                  </a:solidFill>
                  <a:latin typeface="+mn-lt"/>
                  <a:ea typeface="+mn-ea"/>
                  <a:cs typeface="+mn-cs"/>
                </a:rPr>
              </a:br>
              <a:r>
                <a:rPr lang="id-ID" sz="1280" dirty="0">
                  <a:solidFill>
                    <a:schemeClr val="accent5"/>
                  </a:solidFill>
                  <a:latin typeface="+mn-lt"/>
                  <a:ea typeface="+mn-ea"/>
                  <a:cs typeface="+mn-cs"/>
                </a:rPr>
                <a:t>website klinik &amp; layanan custom.</a:t>
              </a:r>
            </a:p>
          </p:txBody>
        </p:sp>
      </p:grpSp>
      <p:grpSp>
        <p:nvGrpSpPr>
          <p:cNvPr id="39" name="footer"/>
          <p:cNvGrpSpPr/>
          <p:nvPr/>
        </p:nvGrpSpPr>
        <p:grpSpPr>
          <a:xfrm>
            <a:off x="604647" y="6477000"/>
            <a:ext cx="10982706" cy="191643"/>
            <a:chOff x="604647" y="6477000"/>
            <a:chExt cx="10982706" cy="191643"/>
          </a:xfrm>
        </p:grpSpPr>
        <p:sp>
          <p:nvSpPr>
            <p:cNvPr id="37" name="TextBox 37"/>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38" name="TextBox 38"/>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15</a:t>
              </a:r>
            </a:p>
          </p:txBody>
        </p:sp>
      </p:gr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9572999" cy="786003"/>
            <a:chOff x="595122" y="635000"/>
            <a:chExt cx="9572999" cy="786003"/>
          </a:xfrm>
        </p:grpSpPr>
        <p:sp>
          <p:nvSpPr>
            <p:cNvPr id="2" name="TextBox 2"/>
            <p:cNvSpPr txBox="1"/>
            <p:nvPr/>
          </p:nvSpPr>
          <p:spPr>
            <a:xfrm>
              <a:off x="603885" y="635000"/>
              <a:ext cx="854408"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ROADMAP</a:t>
              </a:r>
            </a:p>
          </p:txBody>
        </p:sp>
        <p:sp>
          <p:nvSpPr>
            <p:cNvPr id="3" name="TextBox 3"/>
            <p:cNvSpPr txBox="1"/>
            <p:nvPr/>
          </p:nvSpPr>
          <p:spPr>
            <a:xfrm>
              <a:off x="595122" y="863600"/>
              <a:ext cx="9572999"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Dari sistem klinik menjadi ekosistem layanan primer</a:t>
              </a:r>
            </a:p>
          </p:txBody>
        </p:sp>
      </p:grpSp>
      <p:sp>
        <p:nvSpPr>
          <p:cNvPr id="5" name="Freeform 5"/>
          <p:cNvSpPr/>
          <p:nvPr/>
        </p:nvSpPr>
        <p:spPr>
          <a:xfrm>
            <a:off x="609600" y="1676400"/>
            <a:ext cx="3771900" cy="609600"/>
          </a:xfrm>
          <a:prstGeom prst="homePlate">
            <a:avLst>
              <a:gd name="adj" fmla="val 50000"/>
            </a:avLst>
          </a:prstGeom>
          <a:solidFill>
            <a:schemeClr val="accent1"/>
          </a:solidFill>
          <a:ln>
            <a:noFill/>
          </a:ln>
        </p:spPr>
      </p:sp>
      <p:sp>
        <p:nvSpPr>
          <p:cNvPr id="6" name="Freeform 6"/>
          <p:cNvSpPr/>
          <p:nvPr/>
        </p:nvSpPr>
        <p:spPr>
          <a:xfrm>
            <a:off x="4381500" y="1676400"/>
            <a:ext cx="3771900" cy="609600"/>
          </a:xfrm>
          <a:prstGeom prst="chevron">
            <a:avLst>
              <a:gd name="adj" fmla="val 50000"/>
            </a:avLst>
          </a:prstGeom>
          <a:solidFill>
            <a:schemeClr val="accent2"/>
          </a:solidFill>
          <a:ln>
            <a:noFill/>
          </a:ln>
        </p:spPr>
      </p:sp>
      <p:sp>
        <p:nvSpPr>
          <p:cNvPr id="7" name="Freeform 7"/>
          <p:cNvSpPr/>
          <p:nvPr/>
        </p:nvSpPr>
        <p:spPr>
          <a:xfrm>
            <a:off x="8153400" y="1676400"/>
            <a:ext cx="3429000" cy="609600"/>
          </a:xfrm>
          <a:prstGeom prst="chevron">
            <a:avLst>
              <a:gd name="adj" fmla="val 50000"/>
            </a:avLst>
          </a:prstGeom>
          <a:solidFill>
            <a:schemeClr val="accent3"/>
          </a:solidFill>
          <a:ln>
            <a:noFill/>
          </a:ln>
        </p:spPr>
      </p:sp>
      <p:grpSp>
        <p:nvGrpSpPr>
          <p:cNvPr id="11" name="phase-periods"/>
          <p:cNvGrpSpPr/>
          <p:nvPr/>
        </p:nvGrpSpPr>
        <p:grpSpPr>
          <a:xfrm>
            <a:off x="1498903" y="1870075"/>
            <a:ext cx="9061876" cy="293370"/>
            <a:chOff x="1498903" y="1870075"/>
            <a:chExt cx="9061876" cy="293370"/>
          </a:xfrm>
        </p:grpSpPr>
        <p:sp>
          <p:nvSpPr>
            <p:cNvPr id="8" name="TextBox 8"/>
            <p:cNvSpPr txBox="1"/>
            <p:nvPr/>
          </p:nvSpPr>
          <p:spPr>
            <a:xfrm>
              <a:off x="1498903" y="1870075"/>
              <a:ext cx="1688494" cy="293370"/>
            </a:xfrm>
            <a:prstGeom prst="rect">
              <a:avLst/>
            </a:prstGeom>
            <a:noFill/>
            <a:ln>
              <a:noFill/>
            </a:ln>
          </p:spPr>
          <p:txBody>
            <a:bodyPr wrap="none" lIns="0" tIns="0" rIns="0" bIns="0" anchor="t" anchorCtr="0">
              <a:spAutoFit/>
            </a:bodyPr>
            <a:lstStyle/>
            <a:p>
              <a:pPr algn="ctr"/>
              <a:r>
                <a:rPr lang="id-ID" sz="1500" b="1" dirty="0">
                  <a:solidFill>
                    <a:srgbClr val="FFFFFF"/>
                  </a:solidFill>
                  <a:latin typeface="+mn-lt"/>
                  <a:ea typeface="+mn-ea"/>
                  <a:cs typeface="+mn-cs"/>
                </a:rPr>
                <a:t>Q4 2026 – Q1 2027</a:t>
              </a:r>
            </a:p>
          </p:txBody>
        </p:sp>
        <p:sp>
          <p:nvSpPr>
            <p:cNvPr id="9" name="TextBox 9"/>
            <p:cNvSpPr txBox="1"/>
            <p:nvPr/>
          </p:nvSpPr>
          <p:spPr>
            <a:xfrm>
              <a:off x="5663585" y="1870075"/>
              <a:ext cx="1207730" cy="293370"/>
            </a:xfrm>
            <a:prstGeom prst="rect">
              <a:avLst/>
            </a:prstGeom>
            <a:noFill/>
            <a:ln>
              <a:noFill/>
            </a:ln>
          </p:spPr>
          <p:txBody>
            <a:bodyPr wrap="none" lIns="0" tIns="0" rIns="0" bIns="0" anchor="t" anchorCtr="0">
              <a:spAutoFit/>
            </a:bodyPr>
            <a:lstStyle/>
            <a:p>
              <a:pPr algn="ctr"/>
              <a:r>
                <a:rPr lang="id-ID" sz="1500" b="1" dirty="0">
                  <a:solidFill>
                    <a:srgbClr val="FFFFFF"/>
                  </a:solidFill>
                  <a:latin typeface="+mn-lt"/>
                  <a:ea typeface="+mn-ea"/>
                  <a:cs typeface="+mn-cs"/>
                </a:rPr>
                <a:t>Q2 – Q3 2027</a:t>
              </a:r>
            </a:p>
          </p:txBody>
        </p:sp>
        <p:sp>
          <p:nvSpPr>
            <p:cNvPr id="10" name="TextBox 10"/>
            <p:cNvSpPr txBox="1"/>
            <p:nvPr/>
          </p:nvSpPr>
          <p:spPr>
            <a:xfrm>
              <a:off x="9175021" y="1870075"/>
              <a:ext cx="1385758" cy="293370"/>
            </a:xfrm>
            <a:prstGeom prst="rect">
              <a:avLst/>
            </a:prstGeom>
            <a:noFill/>
            <a:ln>
              <a:noFill/>
            </a:ln>
          </p:spPr>
          <p:txBody>
            <a:bodyPr wrap="none" lIns="0" tIns="0" rIns="0" bIns="0" anchor="t" anchorCtr="0">
              <a:spAutoFit/>
            </a:bodyPr>
            <a:lstStyle/>
            <a:p>
              <a:pPr algn="ctr"/>
              <a:r>
                <a:rPr lang="id-ID" sz="1500" b="1" dirty="0">
                  <a:solidFill>
                    <a:schemeClr val="dk1"/>
                  </a:solidFill>
                  <a:latin typeface="+mn-lt"/>
                  <a:ea typeface="+mn-ea"/>
                  <a:cs typeface="+mn-cs"/>
                </a:rPr>
                <a:t>Q4 2027 – 2028</a:t>
              </a:r>
            </a:p>
          </p:txBody>
        </p:sp>
      </p:grpSp>
      <p:grpSp>
        <p:nvGrpSpPr>
          <p:cNvPr id="22" name="phase-core"/>
          <p:cNvGrpSpPr/>
          <p:nvPr/>
        </p:nvGrpSpPr>
        <p:grpSpPr>
          <a:xfrm>
            <a:off x="609600" y="2514600"/>
            <a:ext cx="3429000" cy="2895600"/>
            <a:chOff x="609600" y="2514600"/>
            <a:chExt cx="3429000" cy="2895600"/>
          </a:xfrm>
        </p:grpSpPr>
        <p:sp>
          <p:nvSpPr>
            <p:cNvPr id="12" name="Rectangle 12"/>
            <p:cNvSpPr/>
            <p:nvPr/>
          </p:nvSpPr>
          <p:spPr>
            <a:xfrm>
              <a:off x="609600" y="2514600"/>
              <a:ext cx="3429000" cy="2895600"/>
            </a:xfrm>
            <a:prstGeom prst="roundRect">
              <a:avLst>
                <a:gd name="adj" fmla="val 6579"/>
              </a:avLst>
            </a:prstGeom>
            <a:solidFill>
              <a:schemeClr val="accent1"/>
            </a:solidFill>
            <a:ln>
              <a:noFill/>
            </a:ln>
          </p:spPr>
        </p:sp>
        <p:sp>
          <p:nvSpPr>
            <p:cNvPr id="13" name="TextBox 13"/>
            <p:cNvSpPr txBox="1"/>
            <p:nvPr/>
          </p:nvSpPr>
          <p:spPr>
            <a:xfrm>
              <a:off x="903732" y="2832100"/>
              <a:ext cx="1568797" cy="410718"/>
            </a:xfrm>
            <a:prstGeom prst="rect">
              <a:avLst/>
            </a:prstGeom>
            <a:noFill/>
            <a:ln>
              <a:noFill/>
            </a:ln>
          </p:spPr>
          <p:txBody>
            <a:bodyPr wrap="none" lIns="0" tIns="0" rIns="0" bIns="0" anchor="t" anchorCtr="0">
              <a:spAutoFit/>
            </a:bodyPr>
            <a:lstStyle/>
            <a:p>
              <a:pPr algn="l"/>
              <a:r>
                <a:rPr lang="id-ID" sz="2100" b="1" dirty="0">
                  <a:solidFill>
                    <a:srgbClr val="F3F1EA"/>
                  </a:solidFill>
                  <a:latin typeface="+mj-lt"/>
                  <a:ea typeface="+mj-ea"/>
                  <a:cs typeface="+mj-cs"/>
                </a:rPr>
                <a:t>Perkuat inti</a:t>
              </a:r>
            </a:p>
          </p:txBody>
        </p:sp>
        <p:grpSp>
          <p:nvGrpSpPr>
            <p:cNvPr id="17" name="Group 17"/>
            <p:cNvGrpSpPr/>
            <p:nvPr/>
          </p:nvGrpSpPr>
          <p:grpSpPr>
            <a:xfrm>
              <a:off x="933450" y="3562350"/>
              <a:ext cx="76200" cy="914400"/>
              <a:chOff x="933450" y="3562350"/>
              <a:chExt cx="76200" cy="914400"/>
            </a:xfrm>
          </p:grpSpPr>
          <p:sp>
            <p:nvSpPr>
              <p:cNvPr id="14" name="Ellipse 14"/>
              <p:cNvSpPr/>
              <p:nvPr/>
            </p:nvSpPr>
            <p:spPr>
              <a:xfrm>
                <a:off x="933450" y="3562350"/>
                <a:ext cx="76200" cy="76200"/>
              </a:xfrm>
              <a:prstGeom prst="ellipse">
                <a:avLst/>
              </a:prstGeom>
              <a:solidFill>
                <a:schemeClr val="accent3"/>
              </a:solidFill>
              <a:ln>
                <a:noFill/>
              </a:ln>
            </p:spPr>
          </p:sp>
          <p:sp>
            <p:nvSpPr>
              <p:cNvPr id="15" name="Ellipse 15"/>
              <p:cNvSpPr/>
              <p:nvPr/>
            </p:nvSpPr>
            <p:spPr>
              <a:xfrm>
                <a:off x="933450" y="3981450"/>
                <a:ext cx="76200" cy="76200"/>
              </a:xfrm>
              <a:prstGeom prst="ellipse">
                <a:avLst/>
              </a:prstGeom>
              <a:solidFill>
                <a:schemeClr val="accent3"/>
              </a:solidFill>
              <a:ln>
                <a:noFill/>
              </a:ln>
            </p:spPr>
          </p:sp>
          <p:sp>
            <p:nvSpPr>
              <p:cNvPr id="16" name="Ellipse 16"/>
              <p:cNvSpPr/>
              <p:nvPr/>
            </p:nvSpPr>
            <p:spPr>
              <a:xfrm>
                <a:off x="933450" y="4400550"/>
                <a:ext cx="76200" cy="76200"/>
              </a:xfrm>
              <a:prstGeom prst="ellipse">
                <a:avLst/>
              </a:prstGeom>
              <a:solidFill>
                <a:schemeClr val="accent3"/>
              </a:solidFill>
              <a:ln>
                <a:noFill/>
              </a:ln>
            </p:spPr>
          </p:sp>
        </p:grpSp>
        <p:grpSp>
          <p:nvGrpSpPr>
            <p:cNvPr id="21" name="Group 21"/>
            <p:cNvGrpSpPr/>
            <p:nvPr/>
          </p:nvGrpSpPr>
          <p:grpSpPr>
            <a:xfrm>
              <a:off x="1116330" y="3489325"/>
              <a:ext cx="2602963" cy="1131570"/>
              <a:chOff x="1116330" y="3489325"/>
              <a:chExt cx="2602963" cy="1131570"/>
            </a:xfrm>
          </p:grpSpPr>
          <p:sp>
            <p:nvSpPr>
              <p:cNvPr id="18" name="TextBox 18"/>
              <p:cNvSpPr txBox="1"/>
              <p:nvPr/>
            </p:nvSpPr>
            <p:spPr>
              <a:xfrm>
                <a:off x="1116330" y="3489325"/>
                <a:ext cx="2018002" cy="293370"/>
              </a:xfrm>
              <a:prstGeom prst="rect">
                <a:avLst/>
              </a:prstGeom>
              <a:noFill/>
              <a:ln>
                <a:noFill/>
              </a:ln>
            </p:spPr>
            <p:txBody>
              <a:bodyPr wrap="none" lIns="0" tIns="0" rIns="0" bIns="0" anchor="t" anchorCtr="0">
                <a:spAutoFit/>
              </a:bodyPr>
              <a:lstStyle/>
              <a:p>
                <a:pPr algn="l"/>
                <a:r>
                  <a:rPr lang="id-ID" sz="1500" dirty="0">
                    <a:solidFill>
                      <a:srgbClr val="F3F1EA"/>
                    </a:solidFill>
                    <a:latin typeface="+mn-lt"/>
                    <a:ea typeface="+mn-ea"/>
                    <a:cs typeface="+mn-cs"/>
                  </a:rPr>
                  <a:t>3–5 klinik pilot eksternal</a:t>
                </a:r>
              </a:p>
            </p:txBody>
          </p:sp>
          <p:sp>
            <p:nvSpPr>
              <p:cNvPr id="19" name="TextBox 19"/>
              <p:cNvSpPr txBox="1"/>
              <p:nvPr/>
            </p:nvSpPr>
            <p:spPr>
              <a:xfrm>
                <a:off x="1116330" y="3908425"/>
                <a:ext cx="1967800" cy="293370"/>
              </a:xfrm>
              <a:prstGeom prst="rect">
                <a:avLst/>
              </a:prstGeom>
              <a:noFill/>
              <a:ln>
                <a:noFill/>
              </a:ln>
            </p:spPr>
            <p:txBody>
              <a:bodyPr wrap="none" lIns="0" tIns="0" rIns="0" bIns="0" anchor="t" anchorCtr="0">
                <a:spAutoFit/>
              </a:bodyPr>
              <a:lstStyle/>
              <a:p>
                <a:pPr algn="l"/>
                <a:r>
                  <a:rPr lang="id-ID" sz="1500" dirty="0">
                    <a:solidFill>
                      <a:srgbClr val="F3F1EA"/>
                    </a:solidFill>
                    <a:latin typeface="+mn-lt"/>
                    <a:ea typeface="+mn-ea"/>
                    <a:cs typeface="+mn-cs"/>
                  </a:rPr>
                  <a:t>Peralihan ke harga baru</a:t>
                </a:r>
              </a:p>
            </p:txBody>
          </p:sp>
          <p:sp>
            <p:nvSpPr>
              <p:cNvPr id="20" name="TextBox 20"/>
              <p:cNvSpPr txBox="1"/>
              <p:nvPr/>
            </p:nvSpPr>
            <p:spPr>
              <a:xfrm>
                <a:off x="1116330" y="4327525"/>
                <a:ext cx="2602963" cy="293370"/>
              </a:xfrm>
              <a:prstGeom prst="rect">
                <a:avLst/>
              </a:prstGeom>
              <a:noFill/>
              <a:ln>
                <a:noFill/>
              </a:ln>
            </p:spPr>
            <p:txBody>
              <a:bodyPr wrap="none" lIns="0" tIns="0" rIns="0" bIns="0" anchor="t" anchorCtr="0">
                <a:spAutoFit/>
              </a:bodyPr>
              <a:lstStyle/>
              <a:p>
                <a:pPr algn="l"/>
                <a:r>
                  <a:rPr lang="id-ID" sz="1500" dirty="0">
                    <a:solidFill>
                      <a:srgbClr val="F3F1EA"/>
                    </a:solidFill>
                    <a:latin typeface="+mn-lt"/>
                    <a:ea typeface="+mn-ea"/>
                    <a:cs typeface="+mn-cs"/>
                  </a:rPr>
                  <a:t>Audit keamanan &amp; migrasi data</a:t>
                </a:r>
              </a:p>
            </p:txBody>
          </p:sp>
        </p:grpSp>
      </p:grpSp>
      <p:grpSp>
        <p:nvGrpSpPr>
          <p:cNvPr id="33" name="phase-grow"/>
          <p:cNvGrpSpPr/>
          <p:nvPr/>
        </p:nvGrpSpPr>
        <p:grpSpPr>
          <a:xfrm>
            <a:off x="4381500" y="2514600"/>
            <a:ext cx="3429000" cy="2895600"/>
            <a:chOff x="4381500" y="2514600"/>
            <a:chExt cx="3429000" cy="2895600"/>
          </a:xfrm>
        </p:grpSpPr>
        <p:sp>
          <p:nvSpPr>
            <p:cNvPr id="23" name="Rectangle 23"/>
            <p:cNvSpPr/>
            <p:nvPr/>
          </p:nvSpPr>
          <p:spPr>
            <a:xfrm>
              <a:off x="4381500" y="2514600"/>
              <a:ext cx="3429000" cy="2895600"/>
            </a:xfrm>
            <a:prstGeom prst="roundRect">
              <a:avLst>
                <a:gd name="adj" fmla="val 6579"/>
              </a:avLst>
            </a:prstGeom>
            <a:solidFill>
              <a:srgbClr val="FFFFFF"/>
            </a:solidFill>
            <a:ln w="9525">
              <a:solidFill>
                <a:schemeClr val="accent6"/>
              </a:solidFill>
            </a:ln>
          </p:spPr>
        </p:sp>
        <p:sp>
          <p:nvSpPr>
            <p:cNvPr id="24" name="TextBox 24"/>
            <p:cNvSpPr txBox="1"/>
            <p:nvPr/>
          </p:nvSpPr>
          <p:spPr>
            <a:xfrm>
              <a:off x="4675632" y="2832100"/>
              <a:ext cx="1146603" cy="410718"/>
            </a:xfrm>
            <a:prstGeom prst="rect">
              <a:avLst/>
            </a:prstGeom>
            <a:noFill/>
            <a:ln>
              <a:noFill/>
            </a:ln>
          </p:spPr>
          <p:txBody>
            <a:bodyPr wrap="none" lIns="0" tIns="0" rIns="0" bIns="0" anchor="t" anchorCtr="0">
              <a:spAutoFit/>
            </a:bodyPr>
            <a:lstStyle/>
            <a:p>
              <a:pPr algn="l"/>
              <a:r>
                <a:rPr lang="id-ID" sz="2100" b="1" dirty="0">
                  <a:solidFill>
                    <a:schemeClr val="dk1"/>
                  </a:solidFill>
                  <a:latin typeface="+mj-lt"/>
                  <a:ea typeface="+mj-ea"/>
                  <a:cs typeface="+mj-cs"/>
                </a:rPr>
                <a:t>Tumbuh</a:t>
              </a:r>
            </a:p>
          </p:txBody>
        </p:sp>
        <p:grpSp>
          <p:nvGrpSpPr>
            <p:cNvPr id="28" name="Group 28"/>
            <p:cNvGrpSpPr/>
            <p:nvPr/>
          </p:nvGrpSpPr>
          <p:grpSpPr>
            <a:xfrm>
              <a:off x="4705350" y="3562350"/>
              <a:ext cx="76200" cy="914400"/>
              <a:chOff x="4705350" y="3562350"/>
              <a:chExt cx="76200" cy="914400"/>
            </a:xfrm>
          </p:grpSpPr>
          <p:sp>
            <p:nvSpPr>
              <p:cNvPr id="25" name="Ellipse 25"/>
              <p:cNvSpPr/>
              <p:nvPr/>
            </p:nvSpPr>
            <p:spPr>
              <a:xfrm>
                <a:off x="4705350" y="3562350"/>
                <a:ext cx="76200" cy="76200"/>
              </a:xfrm>
              <a:prstGeom prst="ellipse">
                <a:avLst/>
              </a:prstGeom>
              <a:solidFill>
                <a:schemeClr val="accent2"/>
              </a:solidFill>
              <a:ln>
                <a:noFill/>
              </a:ln>
            </p:spPr>
          </p:sp>
          <p:sp>
            <p:nvSpPr>
              <p:cNvPr id="26" name="Ellipse 26"/>
              <p:cNvSpPr/>
              <p:nvPr/>
            </p:nvSpPr>
            <p:spPr>
              <a:xfrm>
                <a:off x="4705350" y="3981450"/>
                <a:ext cx="76200" cy="76200"/>
              </a:xfrm>
              <a:prstGeom prst="ellipse">
                <a:avLst/>
              </a:prstGeom>
              <a:solidFill>
                <a:schemeClr val="accent2"/>
              </a:solidFill>
              <a:ln>
                <a:noFill/>
              </a:ln>
            </p:spPr>
          </p:sp>
          <p:sp>
            <p:nvSpPr>
              <p:cNvPr id="27" name="Ellipse 27"/>
              <p:cNvSpPr/>
              <p:nvPr/>
            </p:nvSpPr>
            <p:spPr>
              <a:xfrm>
                <a:off x="4705350" y="4400550"/>
                <a:ext cx="76200" cy="76200"/>
              </a:xfrm>
              <a:prstGeom prst="ellipse">
                <a:avLst/>
              </a:prstGeom>
              <a:solidFill>
                <a:schemeClr val="accent2"/>
              </a:solidFill>
              <a:ln>
                <a:noFill/>
              </a:ln>
            </p:spPr>
          </p:sp>
        </p:grpSp>
        <p:grpSp>
          <p:nvGrpSpPr>
            <p:cNvPr id="32" name="Group 32"/>
            <p:cNvGrpSpPr/>
            <p:nvPr/>
          </p:nvGrpSpPr>
          <p:grpSpPr>
            <a:xfrm>
              <a:off x="4888230" y="3489325"/>
              <a:ext cx="2465763" cy="1131570"/>
              <a:chOff x="4888230" y="3489325"/>
              <a:chExt cx="2465763" cy="1131570"/>
            </a:xfrm>
          </p:grpSpPr>
          <p:sp>
            <p:nvSpPr>
              <p:cNvPr id="29" name="TextBox 29"/>
              <p:cNvSpPr txBox="1"/>
              <p:nvPr/>
            </p:nvSpPr>
            <p:spPr>
              <a:xfrm>
                <a:off x="4888230" y="3489325"/>
                <a:ext cx="1894821"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Integrasi BPJS (P-Care)</a:t>
                </a:r>
              </a:p>
            </p:txBody>
          </p:sp>
          <p:sp>
            <p:nvSpPr>
              <p:cNvPr id="30" name="TextBox 30"/>
              <p:cNvSpPr txBox="1"/>
              <p:nvPr/>
            </p:nvSpPr>
            <p:spPr>
              <a:xfrm>
                <a:off x="4888230" y="3908425"/>
                <a:ext cx="1851119"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Aplikasi mobile dokter</a:t>
                </a:r>
              </a:p>
            </p:txBody>
          </p:sp>
          <p:sp>
            <p:nvSpPr>
              <p:cNvPr id="31" name="TextBox 31"/>
              <p:cNvSpPr txBox="1"/>
              <p:nvPr/>
            </p:nvSpPr>
            <p:spPr>
              <a:xfrm>
                <a:off x="4888230" y="4327525"/>
                <a:ext cx="2465763"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Ekspansi ke seluruh Sumatera</a:t>
                </a:r>
              </a:p>
            </p:txBody>
          </p:sp>
        </p:grpSp>
      </p:grpSp>
      <p:grpSp>
        <p:nvGrpSpPr>
          <p:cNvPr id="44" name="phase-ecosystem"/>
          <p:cNvGrpSpPr/>
          <p:nvPr/>
        </p:nvGrpSpPr>
        <p:grpSpPr>
          <a:xfrm>
            <a:off x="8153400" y="2514600"/>
            <a:ext cx="3429000" cy="2895600"/>
            <a:chOff x="8153400" y="2514600"/>
            <a:chExt cx="3429000" cy="2895600"/>
          </a:xfrm>
        </p:grpSpPr>
        <p:sp>
          <p:nvSpPr>
            <p:cNvPr id="34" name="Rectangle 34"/>
            <p:cNvSpPr/>
            <p:nvPr/>
          </p:nvSpPr>
          <p:spPr>
            <a:xfrm>
              <a:off x="8153400" y="2514600"/>
              <a:ext cx="3429000" cy="2895600"/>
            </a:xfrm>
            <a:prstGeom prst="roundRect">
              <a:avLst>
                <a:gd name="adj" fmla="val 6579"/>
              </a:avLst>
            </a:prstGeom>
            <a:solidFill>
              <a:srgbClr val="FFFFFF"/>
            </a:solidFill>
            <a:ln w="9525">
              <a:solidFill>
                <a:schemeClr val="accent6"/>
              </a:solidFill>
            </a:ln>
          </p:spPr>
        </p:sp>
        <p:sp>
          <p:nvSpPr>
            <p:cNvPr id="35" name="TextBox 35"/>
            <p:cNvSpPr txBox="1"/>
            <p:nvPr/>
          </p:nvSpPr>
          <p:spPr>
            <a:xfrm>
              <a:off x="8447532" y="2832100"/>
              <a:ext cx="1444476" cy="410718"/>
            </a:xfrm>
            <a:prstGeom prst="rect">
              <a:avLst/>
            </a:prstGeom>
            <a:noFill/>
            <a:ln>
              <a:noFill/>
            </a:ln>
          </p:spPr>
          <p:txBody>
            <a:bodyPr wrap="none" lIns="0" tIns="0" rIns="0" bIns="0" anchor="t" anchorCtr="0">
              <a:spAutoFit/>
            </a:bodyPr>
            <a:lstStyle/>
            <a:p>
              <a:pPr algn="l"/>
              <a:r>
                <a:rPr lang="id-ID" sz="2100" b="1" dirty="0">
                  <a:solidFill>
                    <a:schemeClr val="dk1"/>
                  </a:solidFill>
                  <a:latin typeface="+mj-lt"/>
                  <a:ea typeface="+mj-ea"/>
                  <a:cs typeface="+mj-cs"/>
                </a:rPr>
                <a:t>Ekosistem</a:t>
              </a:r>
            </a:p>
          </p:txBody>
        </p:sp>
        <p:grpSp>
          <p:nvGrpSpPr>
            <p:cNvPr id="39" name="Group 39"/>
            <p:cNvGrpSpPr/>
            <p:nvPr/>
          </p:nvGrpSpPr>
          <p:grpSpPr>
            <a:xfrm>
              <a:off x="8477250" y="3562350"/>
              <a:ext cx="76200" cy="914400"/>
              <a:chOff x="8477250" y="3562350"/>
              <a:chExt cx="76200" cy="914400"/>
            </a:xfrm>
          </p:grpSpPr>
          <p:sp>
            <p:nvSpPr>
              <p:cNvPr id="36" name="Ellipse 36"/>
              <p:cNvSpPr/>
              <p:nvPr/>
            </p:nvSpPr>
            <p:spPr>
              <a:xfrm>
                <a:off x="8477250" y="3562350"/>
                <a:ext cx="76200" cy="76200"/>
              </a:xfrm>
              <a:prstGeom prst="ellipse">
                <a:avLst/>
              </a:prstGeom>
              <a:solidFill>
                <a:schemeClr val="accent2"/>
              </a:solidFill>
              <a:ln>
                <a:noFill/>
              </a:ln>
            </p:spPr>
          </p:sp>
          <p:sp>
            <p:nvSpPr>
              <p:cNvPr id="37" name="Ellipse 37"/>
              <p:cNvSpPr/>
              <p:nvPr/>
            </p:nvSpPr>
            <p:spPr>
              <a:xfrm>
                <a:off x="8477250" y="3981450"/>
                <a:ext cx="76200" cy="76200"/>
              </a:xfrm>
              <a:prstGeom prst="ellipse">
                <a:avLst/>
              </a:prstGeom>
              <a:solidFill>
                <a:schemeClr val="accent2"/>
              </a:solidFill>
              <a:ln>
                <a:noFill/>
              </a:ln>
            </p:spPr>
          </p:sp>
          <p:sp>
            <p:nvSpPr>
              <p:cNvPr id="38" name="Ellipse 38"/>
              <p:cNvSpPr/>
              <p:nvPr/>
            </p:nvSpPr>
            <p:spPr>
              <a:xfrm>
                <a:off x="8477250" y="4400550"/>
                <a:ext cx="76200" cy="76200"/>
              </a:xfrm>
              <a:prstGeom prst="ellipse">
                <a:avLst/>
              </a:prstGeom>
              <a:solidFill>
                <a:schemeClr val="accent2"/>
              </a:solidFill>
              <a:ln>
                <a:noFill/>
              </a:ln>
            </p:spPr>
          </p:sp>
        </p:grpSp>
        <p:grpSp>
          <p:nvGrpSpPr>
            <p:cNvPr id="43" name="Group 43"/>
            <p:cNvGrpSpPr/>
            <p:nvPr/>
          </p:nvGrpSpPr>
          <p:grpSpPr>
            <a:xfrm>
              <a:off x="8660130" y="3489325"/>
              <a:ext cx="2658072" cy="1131570"/>
              <a:chOff x="8660130" y="3489325"/>
              <a:chExt cx="2658072" cy="1131570"/>
            </a:xfrm>
          </p:grpSpPr>
          <p:sp>
            <p:nvSpPr>
              <p:cNvPr id="40" name="TextBox 40"/>
              <p:cNvSpPr txBox="1"/>
              <p:nvPr/>
            </p:nvSpPr>
            <p:spPr>
              <a:xfrm>
                <a:off x="8660130" y="3489325"/>
                <a:ext cx="1931309"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Portal &amp; aplikasi pasien</a:t>
                </a:r>
              </a:p>
            </p:txBody>
          </p:sp>
          <p:sp>
            <p:nvSpPr>
              <p:cNvPr id="41" name="TextBox 41"/>
              <p:cNvSpPr txBox="1"/>
              <p:nvPr/>
            </p:nvSpPr>
            <p:spPr>
              <a:xfrm>
                <a:off x="8660130" y="3908425"/>
                <a:ext cx="2658072"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Asisten AI untuk SOAP &amp; coding</a:t>
                </a:r>
              </a:p>
            </p:txBody>
          </p:sp>
          <p:sp>
            <p:nvSpPr>
              <p:cNvPr id="42" name="TextBox 42"/>
              <p:cNvSpPr txBox="1"/>
              <p:nvPr/>
            </p:nvSpPr>
            <p:spPr>
              <a:xfrm>
                <a:off x="8660130" y="4327525"/>
                <a:ext cx="2151951"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Marketplace bahan medis</a:t>
                </a:r>
              </a:p>
            </p:txBody>
          </p:sp>
        </p:grpSp>
      </p:grpSp>
      <p:grpSp>
        <p:nvGrpSpPr>
          <p:cNvPr id="47" name="footer"/>
          <p:cNvGrpSpPr/>
          <p:nvPr/>
        </p:nvGrpSpPr>
        <p:grpSpPr>
          <a:xfrm>
            <a:off x="604647" y="6477000"/>
            <a:ext cx="10982706" cy="191643"/>
            <a:chOff x="604647" y="6477000"/>
            <a:chExt cx="10982706" cy="191643"/>
          </a:xfrm>
        </p:grpSpPr>
        <p:sp>
          <p:nvSpPr>
            <p:cNvPr id="45" name="TextBox 45"/>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46" name="TextBox 46"/>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16</a:t>
              </a:r>
            </a:p>
          </p:txBody>
        </p:sp>
      </p:grpSp>
    </p:spTree>
  </p:cSld>
  <p:clrMapOvr>
    <a:masterClrMapping/>
  </p:clrMapOvr>
  <p:transition xmlns:p14="http://schemas.microsoft.com/office/powerpoint/2010/main" p14:dur="400">
    <p:fade/>
  </p:transition>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8717717" cy="786003"/>
            <a:chOff x="595122" y="635000"/>
            <a:chExt cx="8717717" cy="786003"/>
          </a:xfrm>
        </p:grpSpPr>
        <p:sp>
          <p:nvSpPr>
            <p:cNvPr id="2" name="TextBox 2"/>
            <p:cNvSpPr txBox="1"/>
            <p:nvPr/>
          </p:nvSpPr>
          <p:spPr>
            <a:xfrm>
              <a:off x="603885" y="635000"/>
              <a:ext cx="314683"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TIM</a:t>
              </a:r>
            </a:p>
          </p:txBody>
        </p:sp>
        <p:sp>
          <p:nvSpPr>
            <p:cNvPr id="3" name="TextBox 3"/>
            <p:cNvSpPr txBox="1"/>
            <p:nvPr/>
          </p:nvSpPr>
          <p:spPr>
            <a:xfrm>
              <a:off x="595122" y="863600"/>
              <a:ext cx="8717717"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Dokter gigi dan engineer — klinik dan teknologi</a:t>
              </a:r>
            </a:p>
          </p:txBody>
        </p:sp>
      </p:grpSp>
      <p:grpSp>
        <p:nvGrpSpPr>
          <p:cNvPr id="13" name="founder-ceo"/>
          <p:cNvGrpSpPr/>
          <p:nvPr/>
        </p:nvGrpSpPr>
        <p:grpSpPr>
          <a:xfrm>
            <a:off x="609600" y="1676400"/>
            <a:ext cx="5372100" cy="2857500"/>
            <a:chOff x="609600" y="1676400"/>
            <a:chExt cx="5372100" cy="2857500"/>
          </a:xfrm>
        </p:grpSpPr>
        <p:sp>
          <p:nvSpPr>
            <p:cNvPr id="5" name="Rectangle 5"/>
            <p:cNvSpPr/>
            <p:nvPr/>
          </p:nvSpPr>
          <p:spPr>
            <a:xfrm>
              <a:off x="609600" y="1676400"/>
              <a:ext cx="5372100" cy="2857500"/>
            </a:xfrm>
            <a:prstGeom prst="roundRect">
              <a:avLst>
                <a:gd name="adj" fmla="val 6667"/>
              </a:avLst>
            </a:prstGeom>
            <a:solidFill>
              <a:srgbClr val="FFFFFF"/>
            </a:solidFill>
            <a:ln w="9525">
              <a:solidFill>
                <a:schemeClr val="accent6"/>
              </a:solidFill>
            </a:ln>
          </p:spPr>
        </p:sp>
        <p:sp>
          <p:nvSpPr>
            <p:cNvPr id="6" name="Ellipse 6"/>
            <p:cNvSpPr/>
            <p:nvPr/>
          </p:nvSpPr>
          <p:spPr>
            <a:xfrm>
              <a:off x="914400" y="2019300"/>
              <a:ext cx="1066800" cy="1066800"/>
            </a:xfrm>
            <a:prstGeom prst="ellipse">
              <a:avLst/>
            </a:prstGeom>
            <a:solidFill>
              <a:schemeClr val="accent1"/>
            </a:solidFill>
            <a:ln>
              <a:noFill/>
            </a:ln>
          </p:spPr>
        </p:sp>
        <p:grpSp>
          <p:nvGrpSpPr>
            <p:cNvPr id="9" name="Group 9"/>
            <p:cNvGrpSpPr/>
            <p:nvPr/>
          </p:nvGrpSpPr>
          <p:grpSpPr>
            <a:xfrm>
              <a:off x="1270000" y="2374900"/>
              <a:ext cx="355599" cy="362111"/>
              <a:chOff x="1270000" y="2374900"/>
              <a:chExt cx="355599" cy="362111"/>
            </a:xfrm>
          </p:grpSpPr>
          <p:sp>
            <p:nvSpPr>
              <p:cNvPr id="7" name="Freeform 7"/>
              <p:cNvSpPr/>
              <p:nvPr/>
            </p:nvSpPr>
            <p:spPr>
              <a:xfrm>
                <a:off x="1270000" y="2374900"/>
                <a:ext cx="355599" cy="362111"/>
              </a:xfrm>
              <a:custGeom>
                <a:avLst/>
                <a:gdLst/>
                <a:ahLst/>
                <a:cxnLst/>
                <a:rect l="l" t="t" r="r" b="b"/>
                <a:pathLst>
                  <a:path w="355599" h="362111">
                    <a:moveTo>
                      <a:pt x="177800" y="33337"/>
                    </a:moveTo>
                    <a:cubicBezTo>
                      <a:pt x="153930" y="20314"/>
                      <a:pt x="120393" y="0"/>
                      <a:pt x="88900" y="0"/>
                    </a:cubicBezTo>
                    <a:cubicBezTo>
                      <a:pt x="42227" y="0"/>
                      <a:pt x="0" y="27715"/>
                      <a:pt x="0" y="111125"/>
                    </a:cubicBezTo>
                    <a:cubicBezTo>
                      <a:pt x="0" y="220005"/>
                      <a:pt x="23470" y="298037"/>
                      <a:pt x="59363" y="345309"/>
                    </a:cubicBezTo>
                    <a:cubicBezTo>
                      <a:pt x="72098" y="362111"/>
                      <a:pt x="103146" y="356889"/>
                      <a:pt x="116414" y="340064"/>
                    </a:cubicBezTo>
                    <a:cubicBezTo>
                      <a:pt x="125260" y="328841"/>
                      <a:pt x="134617" y="308083"/>
                      <a:pt x="144462" y="277812"/>
                    </a:cubicBezTo>
                    <a:cubicBezTo>
                      <a:pt x="150952" y="260677"/>
                      <a:pt x="164287" y="244386"/>
                      <a:pt x="177800" y="244475"/>
                    </a:cubicBezTo>
                    <a:cubicBezTo>
                      <a:pt x="191179" y="244475"/>
                      <a:pt x="204692" y="260854"/>
                      <a:pt x="211137" y="277812"/>
                    </a:cubicBezTo>
                    <a:cubicBezTo>
                      <a:pt x="220983" y="308083"/>
                      <a:pt x="230340" y="328818"/>
                      <a:pt x="239185" y="340042"/>
                    </a:cubicBezTo>
                    <a:cubicBezTo>
                      <a:pt x="252453" y="356911"/>
                      <a:pt x="283635" y="362111"/>
                      <a:pt x="296237" y="345309"/>
                    </a:cubicBezTo>
                    <a:cubicBezTo>
                      <a:pt x="332130" y="298037"/>
                      <a:pt x="355599" y="220027"/>
                      <a:pt x="355599" y="111125"/>
                    </a:cubicBezTo>
                    <a:cubicBezTo>
                      <a:pt x="355599" y="28003"/>
                      <a:pt x="313194" y="0"/>
                      <a:pt x="266700" y="0"/>
                    </a:cubicBezTo>
                    <a:cubicBezTo>
                      <a:pt x="235073" y="0"/>
                      <a:pt x="201803" y="20247"/>
                      <a:pt x="177800" y="33337"/>
                    </a:cubicBezTo>
                  </a:path>
                </a:pathLst>
              </a:custGeom>
              <a:noFill/>
              <a:ln w="44450">
                <a:solidFill>
                  <a:schemeClr val="accent3"/>
                </a:solidFill>
              </a:ln>
            </p:spPr>
          </p:sp>
          <p:sp>
            <p:nvSpPr>
              <p:cNvPr id="8" name="Freeform 8"/>
              <p:cNvSpPr/>
              <p:nvPr/>
            </p:nvSpPr>
            <p:spPr>
              <a:xfrm>
                <a:off x="1447800" y="2408237"/>
                <a:ext cx="66675" cy="33337"/>
              </a:xfrm>
              <a:custGeom>
                <a:avLst/>
                <a:gdLst/>
                <a:ahLst/>
                <a:cxnLst/>
                <a:rect l="l" t="t" r="r" b="b"/>
                <a:pathLst>
                  <a:path w="66675" h="33337">
                    <a:moveTo>
                      <a:pt x="0" y="0"/>
                    </a:moveTo>
                    <a:lnTo>
                      <a:pt x="66675" y="33337"/>
                    </a:lnTo>
                  </a:path>
                </a:pathLst>
              </a:custGeom>
              <a:noFill/>
              <a:ln w="44450">
                <a:solidFill>
                  <a:schemeClr val="accent3"/>
                </a:solidFill>
              </a:ln>
            </p:spPr>
          </p:sp>
        </p:grpSp>
        <p:sp>
          <p:nvSpPr>
            <p:cNvPr id="10" name="TextBox 10"/>
            <p:cNvSpPr txBox="1"/>
            <p:nvPr/>
          </p:nvSpPr>
          <p:spPr>
            <a:xfrm>
              <a:off x="2199894" y="2254250"/>
              <a:ext cx="3534227" cy="381381"/>
            </a:xfrm>
            <a:prstGeom prst="rect">
              <a:avLst/>
            </a:prstGeom>
            <a:noFill/>
            <a:ln>
              <a:noFill/>
            </a:ln>
          </p:spPr>
          <p:txBody>
            <a:bodyPr wrap="none" lIns="0" tIns="0" rIns="0" bIns="0" anchor="t" anchorCtr="0">
              <a:spAutoFit/>
            </a:bodyPr>
            <a:lstStyle/>
            <a:p>
              <a:pPr algn="l"/>
              <a:r>
                <a:rPr lang="id-ID" sz="1950" b="1" dirty="0">
                  <a:solidFill>
                    <a:schemeClr val="dk1"/>
                  </a:solidFill>
                  <a:latin typeface="+mj-lt"/>
                  <a:ea typeface="+mj-ea"/>
                  <a:cs typeface="+mj-cs"/>
                </a:rPr>
                <a:t>drg. Muhammad Daffa Safra</a:t>
              </a:r>
            </a:p>
          </p:txBody>
        </p:sp>
        <p:sp>
          <p:nvSpPr>
            <p:cNvPr id="11" name="TextBox 11"/>
            <p:cNvSpPr txBox="1"/>
            <p:nvPr/>
          </p:nvSpPr>
          <p:spPr>
            <a:xfrm>
              <a:off x="2202180" y="2660650"/>
              <a:ext cx="1319403" cy="293370"/>
            </a:xfrm>
            <a:prstGeom prst="rect">
              <a:avLst/>
            </a:prstGeom>
            <a:noFill/>
            <a:ln>
              <a:noFill/>
            </a:ln>
          </p:spPr>
          <p:txBody>
            <a:bodyPr wrap="none" lIns="0" tIns="0" rIns="0" bIns="0" anchor="t" anchorCtr="0">
              <a:spAutoFit/>
            </a:bodyPr>
            <a:lstStyle/>
            <a:p>
              <a:pPr algn="l"/>
              <a:r>
                <a:rPr lang="id-ID" sz="1500" b="1" dirty="0">
                  <a:solidFill>
                    <a:schemeClr val="accent2"/>
                  </a:solidFill>
                  <a:latin typeface="+mn-lt"/>
                  <a:ea typeface="+mn-ea"/>
                  <a:cs typeface="+mn-cs"/>
                </a:rPr>
                <a:t>Founder &amp; CEO</a:t>
              </a:r>
            </a:p>
          </p:txBody>
        </p:sp>
        <p:sp>
          <p:nvSpPr>
            <p:cNvPr id="12" name="TextBox 12"/>
            <p:cNvSpPr txBox="1"/>
            <p:nvPr/>
          </p:nvSpPr>
          <p:spPr>
            <a:xfrm>
              <a:off x="944880" y="3454400"/>
              <a:ext cx="3444716"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Dokter gigi praktisi. Memimpin arah produk,</a:t>
              </a:r>
              <a:br>
                <a:rPr lang="id-ID" sz="1500" dirty="0">
                  <a:solidFill>
                    <a:srgbClr val="55534A"/>
                  </a:solidFill>
                  <a:latin typeface="+mn-lt"/>
                  <a:ea typeface="+mn-ea"/>
                  <a:cs typeface="+mn-cs"/>
                </a:rPr>
              </a:br>
              <a:r>
                <a:rPr lang="id-ID" sz="1500" dirty="0">
                  <a:solidFill>
                    <a:srgbClr val="55534A"/>
                  </a:solidFill>
                  <a:latin typeface="+mn-lt"/>
                  <a:ea typeface="+mn-ea"/>
                  <a:cs typeface="+mn-cs"/>
                </a:rPr>
                <a:t>kemitraan dengan komunitas profesi, dan</a:t>
              </a:r>
              <a:br>
                <a:rPr lang="id-ID" sz="1500" dirty="0">
                  <a:solidFill>
                    <a:srgbClr val="55534A"/>
                  </a:solidFill>
                  <a:latin typeface="+mn-lt"/>
                  <a:ea typeface="+mn-ea"/>
                  <a:cs typeface="+mn-cs"/>
                </a:rPr>
              </a:br>
              <a:r>
                <a:rPr lang="id-ID" sz="1500" dirty="0">
                  <a:solidFill>
                    <a:srgbClr val="55534A"/>
                  </a:solidFill>
                  <a:latin typeface="+mn-lt"/>
                  <a:ea typeface="+mn-ea"/>
                  <a:cs typeface="+mn-cs"/>
                </a:rPr>
                <a:t>penjualan ke klinik.</a:t>
              </a:r>
            </a:p>
          </p:txBody>
        </p:sp>
      </p:grpSp>
      <p:grpSp>
        <p:nvGrpSpPr>
          <p:cNvPr id="23" name="founder-cto"/>
          <p:cNvGrpSpPr/>
          <p:nvPr/>
        </p:nvGrpSpPr>
        <p:grpSpPr>
          <a:xfrm>
            <a:off x="6210300" y="1676400"/>
            <a:ext cx="5372100" cy="2857500"/>
            <a:chOff x="6210300" y="1676400"/>
            <a:chExt cx="5372100" cy="2857500"/>
          </a:xfrm>
        </p:grpSpPr>
        <p:sp>
          <p:nvSpPr>
            <p:cNvPr id="14" name="Rectangle 14"/>
            <p:cNvSpPr/>
            <p:nvPr/>
          </p:nvSpPr>
          <p:spPr>
            <a:xfrm>
              <a:off x="6210300" y="1676400"/>
              <a:ext cx="5372100" cy="2857500"/>
            </a:xfrm>
            <a:prstGeom prst="roundRect">
              <a:avLst>
                <a:gd name="adj" fmla="val 6667"/>
              </a:avLst>
            </a:prstGeom>
            <a:solidFill>
              <a:srgbClr val="FFFFFF"/>
            </a:solidFill>
            <a:ln w="9525">
              <a:solidFill>
                <a:schemeClr val="accent6"/>
              </a:solidFill>
            </a:ln>
          </p:spPr>
        </p:sp>
        <p:sp>
          <p:nvSpPr>
            <p:cNvPr id="15" name="Ellipse 15"/>
            <p:cNvSpPr/>
            <p:nvPr/>
          </p:nvSpPr>
          <p:spPr>
            <a:xfrm>
              <a:off x="6515100" y="2019300"/>
              <a:ext cx="1066800" cy="1066800"/>
            </a:xfrm>
            <a:prstGeom prst="ellipse">
              <a:avLst/>
            </a:prstGeom>
            <a:solidFill>
              <a:schemeClr val="accent1"/>
            </a:solidFill>
            <a:ln>
              <a:noFill/>
            </a:ln>
          </p:spPr>
        </p:sp>
        <p:grpSp>
          <p:nvGrpSpPr>
            <p:cNvPr id="19" name="Group 19"/>
            <p:cNvGrpSpPr/>
            <p:nvPr/>
          </p:nvGrpSpPr>
          <p:grpSpPr>
            <a:xfrm>
              <a:off x="6848475" y="2374900"/>
              <a:ext cx="400049" cy="355599"/>
              <a:chOff x="6848475" y="2374900"/>
              <a:chExt cx="400049" cy="355599"/>
            </a:xfrm>
          </p:grpSpPr>
          <p:sp>
            <p:nvSpPr>
              <p:cNvPr id="16" name="Freeform 16"/>
              <p:cNvSpPr/>
              <p:nvPr/>
            </p:nvSpPr>
            <p:spPr>
              <a:xfrm>
                <a:off x="6848475" y="2463800"/>
                <a:ext cx="88900" cy="177800"/>
              </a:xfrm>
              <a:custGeom>
                <a:avLst/>
                <a:gdLst/>
                <a:ahLst/>
                <a:cxnLst/>
                <a:rect l="l" t="t" r="r" b="b"/>
                <a:pathLst>
                  <a:path w="88900" h="177800">
                    <a:moveTo>
                      <a:pt x="88900" y="0"/>
                    </a:moveTo>
                    <a:lnTo>
                      <a:pt x="0" y="88900"/>
                    </a:lnTo>
                    <a:lnTo>
                      <a:pt x="88900" y="177800"/>
                    </a:lnTo>
                  </a:path>
                </a:pathLst>
              </a:custGeom>
              <a:noFill/>
              <a:ln w="44450">
                <a:solidFill>
                  <a:schemeClr val="accent3"/>
                </a:solidFill>
              </a:ln>
            </p:spPr>
          </p:sp>
          <p:sp>
            <p:nvSpPr>
              <p:cNvPr id="17" name="Freeform 17"/>
              <p:cNvSpPr/>
              <p:nvPr/>
            </p:nvSpPr>
            <p:spPr>
              <a:xfrm>
                <a:off x="7159624" y="2463800"/>
                <a:ext cx="88900" cy="177800"/>
              </a:xfrm>
              <a:custGeom>
                <a:avLst/>
                <a:gdLst/>
                <a:ahLst/>
                <a:cxnLst/>
                <a:rect l="l" t="t" r="r" b="b"/>
                <a:pathLst>
                  <a:path w="88900" h="177800">
                    <a:moveTo>
                      <a:pt x="0" y="0"/>
                    </a:moveTo>
                    <a:lnTo>
                      <a:pt x="88900" y="88900"/>
                    </a:lnTo>
                    <a:lnTo>
                      <a:pt x="0" y="177800"/>
                    </a:lnTo>
                  </a:path>
                </a:pathLst>
              </a:custGeom>
              <a:noFill/>
              <a:ln w="44450">
                <a:solidFill>
                  <a:schemeClr val="accent3"/>
                </a:solidFill>
              </a:ln>
            </p:spPr>
          </p:sp>
          <p:sp>
            <p:nvSpPr>
              <p:cNvPr id="18" name="Freeform 18"/>
              <p:cNvSpPr/>
              <p:nvPr/>
            </p:nvSpPr>
            <p:spPr>
              <a:xfrm>
                <a:off x="7004050" y="2374900"/>
                <a:ext cx="88900" cy="355599"/>
              </a:xfrm>
              <a:custGeom>
                <a:avLst/>
                <a:gdLst/>
                <a:ahLst/>
                <a:cxnLst/>
                <a:rect l="l" t="t" r="r" b="b"/>
                <a:pathLst>
                  <a:path w="88900" h="355599">
                    <a:moveTo>
                      <a:pt x="88900" y="0"/>
                    </a:moveTo>
                    <a:lnTo>
                      <a:pt x="0" y="355599"/>
                    </a:lnTo>
                  </a:path>
                </a:pathLst>
              </a:custGeom>
              <a:noFill/>
              <a:ln w="44450">
                <a:solidFill>
                  <a:schemeClr val="accent3"/>
                </a:solidFill>
              </a:ln>
            </p:spPr>
          </p:sp>
        </p:grpSp>
        <p:sp>
          <p:nvSpPr>
            <p:cNvPr id="20" name="TextBox 20"/>
            <p:cNvSpPr txBox="1"/>
            <p:nvPr/>
          </p:nvSpPr>
          <p:spPr>
            <a:xfrm>
              <a:off x="7800594" y="2254250"/>
              <a:ext cx="2450906" cy="381381"/>
            </a:xfrm>
            <a:prstGeom prst="rect">
              <a:avLst/>
            </a:prstGeom>
            <a:noFill/>
            <a:ln>
              <a:noFill/>
            </a:ln>
          </p:spPr>
          <p:txBody>
            <a:bodyPr wrap="none" lIns="0" tIns="0" rIns="0" bIns="0" anchor="t" anchorCtr="0">
              <a:spAutoFit/>
            </a:bodyPr>
            <a:lstStyle/>
            <a:p>
              <a:pPr algn="l"/>
              <a:r>
                <a:rPr lang="id-ID" sz="1950" b="1" dirty="0">
                  <a:solidFill>
                    <a:schemeClr val="dk1"/>
                  </a:solidFill>
                  <a:latin typeface="+mj-lt"/>
                  <a:ea typeface="+mj-ea"/>
                  <a:cs typeface="+mj-cs"/>
                </a:rPr>
                <a:t>Fajrul Ichsan Kamil</a:t>
              </a:r>
            </a:p>
          </p:txBody>
        </p:sp>
        <p:sp>
          <p:nvSpPr>
            <p:cNvPr id="21" name="TextBox 21"/>
            <p:cNvSpPr txBox="1"/>
            <p:nvPr/>
          </p:nvSpPr>
          <p:spPr>
            <a:xfrm>
              <a:off x="7802880" y="2660650"/>
              <a:ext cx="378101" cy="293370"/>
            </a:xfrm>
            <a:prstGeom prst="rect">
              <a:avLst/>
            </a:prstGeom>
            <a:noFill/>
            <a:ln>
              <a:noFill/>
            </a:ln>
          </p:spPr>
          <p:txBody>
            <a:bodyPr wrap="none" lIns="0" tIns="0" rIns="0" bIns="0" anchor="t" anchorCtr="0">
              <a:spAutoFit/>
            </a:bodyPr>
            <a:lstStyle/>
            <a:p>
              <a:pPr algn="l"/>
              <a:r>
                <a:rPr lang="id-ID" sz="1500" b="1" dirty="0">
                  <a:solidFill>
                    <a:schemeClr val="accent2"/>
                  </a:solidFill>
                  <a:latin typeface="+mn-lt"/>
                  <a:ea typeface="+mn-ea"/>
                  <a:cs typeface="+mn-cs"/>
                </a:rPr>
                <a:t>CTO</a:t>
              </a:r>
            </a:p>
          </p:txBody>
        </p:sp>
        <p:sp>
          <p:nvSpPr>
            <p:cNvPr id="22" name="TextBox 22"/>
            <p:cNvSpPr txBox="1"/>
            <p:nvPr/>
          </p:nvSpPr>
          <p:spPr>
            <a:xfrm>
              <a:off x="6545580" y="3454400"/>
              <a:ext cx="3375641" cy="826770"/>
            </a:xfrm>
            <a:prstGeom prst="rect">
              <a:avLst/>
            </a:prstGeom>
            <a:noFill/>
            <a:ln>
              <a:noFill/>
            </a:ln>
          </p:spPr>
          <p:txBody>
            <a:bodyPr wrap="none" lIns="0" tIns="0" rIns="0" bIns="0" anchor="t" anchorCtr="0">
              <a:spAutoFit/>
            </a:bodyPr>
            <a:lstStyle/>
            <a:p>
              <a:pPr algn="l">
                <a:lnSpc>
                  <a:spcPts val="2100"/>
                </a:lnSpc>
              </a:pPr>
              <a:r>
                <a:rPr lang="id-ID" sz="1500" dirty="0">
                  <a:solidFill>
                    <a:srgbClr val="55534A"/>
                  </a:solidFill>
                  <a:latin typeface="+mn-lt"/>
                  <a:ea typeface="+mn-ea"/>
                  <a:cs typeface="+mn-cs"/>
                </a:rPr>
                <a:t>Membangun seluruh platform ApexRecord:</a:t>
              </a:r>
              <a:br>
                <a:rPr lang="id-ID" sz="1500" dirty="0">
                  <a:solidFill>
                    <a:srgbClr val="55534A"/>
                  </a:solidFill>
                  <a:latin typeface="+mn-lt"/>
                  <a:ea typeface="+mn-ea"/>
                  <a:cs typeface="+mn-cs"/>
                </a:rPr>
              </a:br>
              <a:r>
                <a:rPr lang="id-ID" sz="1500" dirty="0">
                  <a:solidFill>
                    <a:srgbClr val="55534A"/>
                  </a:solidFill>
                  <a:latin typeface="+mn-lt"/>
                  <a:ea typeface="+mn-ea"/>
                  <a:cs typeface="+mn-cs"/>
                </a:rPr>
                <a:t>Next.js, NestJS, MySQL, dan integrasi</a:t>
              </a:r>
              <a:br>
                <a:rPr lang="id-ID" sz="1500" dirty="0">
                  <a:solidFill>
                    <a:srgbClr val="55534A"/>
                  </a:solidFill>
                  <a:latin typeface="+mn-lt"/>
                  <a:ea typeface="+mn-ea"/>
                  <a:cs typeface="+mn-cs"/>
                </a:rPr>
              </a:br>
              <a:r>
                <a:rPr lang="id-ID" sz="1500" dirty="0">
                  <a:solidFill>
                    <a:srgbClr val="55534A"/>
                  </a:solidFill>
                  <a:latin typeface="+mn-lt"/>
                  <a:ea typeface="+mn-ea"/>
                  <a:cs typeface="+mn-cs"/>
                </a:rPr>
                <a:t>SATUSEHAT (FHIR).</a:t>
              </a:r>
            </a:p>
          </p:txBody>
        </p:sp>
      </p:grpSp>
      <p:grpSp>
        <p:nvGrpSpPr>
          <p:cNvPr id="32" name="founder-fit"/>
          <p:cNvGrpSpPr/>
          <p:nvPr/>
        </p:nvGrpSpPr>
        <p:grpSpPr>
          <a:xfrm>
            <a:off x="609600" y="4800600"/>
            <a:ext cx="10972800" cy="838200"/>
            <a:chOff x="609600" y="4800600"/>
            <a:chExt cx="10972800" cy="838200"/>
          </a:xfrm>
        </p:grpSpPr>
        <p:sp>
          <p:nvSpPr>
            <p:cNvPr id="24" name="Rectangle 24"/>
            <p:cNvSpPr/>
            <p:nvPr/>
          </p:nvSpPr>
          <p:spPr>
            <a:xfrm>
              <a:off x="609600" y="4800600"/>
              <a:ext cx="10972800" cy="838200"/>
            </a:xfrm>
            <a:prstGeom prst="roundRect">
              <a:avLst>
                <a:gd name="adj" fmla="val 22727"/>
              </a:avLst>
            </a:prstGeom>
            <a:solidFill>
              <a:srgbClr val="E3F3DA"/>
            </a:solidFill>
            <a:ln>
              <a:noFill/>
            </a:ln>
          </p:spPr>
        </p:sp>
        <p:grpSp>
          <p:nvGrpSpPr>
            <p:cNvPr id="30" name="Group 30"/>
            <p:cNvGrpSpPr/>
            <p:nvPr/>
          </p:nvGrpSpPr>
          <p:grpSpPr>
            <a:xfrm>
              <a:off x="957262" y="5091112"/>
              <a:ext cx="257175" cy="266701"/>
              <a:chOff x="957262" y="5091112"/>
              <a:chExt cx="257175" cy="266701"/>
            </a:xfrm>
          </p:grpSpPr>
          <p:sp>
            <p:nvSpPr>
              <p:cNvPr id="25" name="Freeform 25"/>
              <p:cNvSpPr/>
              <p:nvPr/>
            </p:nvSpPr>
            <p:spPr>
              <a:xfrm>
                <a:off x="957262" y="5348288"/>
                <a:ext cx="257175" cy="9525"/>
              </a:xfrm>
              <a:custGeom>
                <a:avLst/>
                <a:gdLst/>
                <a:ahLst/>
                <a:cxnLst/>
                <a:rect l="l" t="t" r="r" b="b"/>
                <a:pathLst>
                  <a:path w="257175" h="9525">
                    <a:moveTo>
                      <a:pt x="0" y="0"/>
                    </a:moveTo>
                    <a:lnTo>
                      <a:pt x="257175" y="0"/>
                    </a:lnTo>
                  </a:path>
                </a:pathLst>
              </a:custGeom>
              <a:noFill/>
              <a:ln w="28575">
                <a:solidFill>
                  <a:schemeClr val="accent2"/>
                </a:solidFill>
              </a:ln>
            </p:spPr>
          </p:sp>
          <p:sp>
            <p:nvSpPr>
              <p:cNvPr id="26" name="Freeform 26"/>
              <p:cNvSpPr/>
              <p:nvPr/>
            </p:nvSpPr>
            <p:spPr>
              <a:xfrm>
                <a:off x="985838" y="5091112"/>
                <a:ext cx="200025" cy="257175"/>
              </a:xfrm>
              <a:custGeom>
                <a:avLst/>
                <a:gdLst/>
                <a:ahLst/>
                <a:cxnLst/>
                <a:rect l="l" t="t" r="r" b="b"/>
                <a:pathLst>
                  <a:path w="200025" h="257175">
                    <a:moveTo>
                      <a:pt x="0" y="257175"/>
                    </a:moveTo>
                    <a:lnTo>
                      <a:pt x="0" y="28575"/>
                    </a:lnTo>
                    <a:cubicBezTo>
                      <a:pt x="0" y="12793"/>
                      <a:pt x="12793" y="0"/>
                      <a:pt x="28575" y="0"/>
                    </a:cubicBezTo>
                    <a:lnTo>
                      <a:pt x="171450" y="0"/>
                    </a:lnTo>
                    <a:cubicBezTo>
                      <a:pt x="187232" y="0"/>
                      <a:pt x="200025" y="12793"/>
                      <a:pt x="200025" y="28575"/>
                    </a:cubicBezTo>
                    <a:lnTo>
                      <a:pt x="200025" y="257175"/>
                    </a:lnTo>
                  </a:path>
                </a:pathLst>
              </a:custGeom>
              <a:noFill/>
              <a:ln w="28575">
                <a:solidFill>
                  <a:schemeClr val="accent2"/>
                </a:solidFill>
              </a:ln>
            </p:spPr>
          </p:sp>
          <p:sp>
            <p:nvSpPr>
              <p:cNvPr id="27" name="Freeform 27"/>
              <p:cNvSpPr/>
              <p:nvPr/>
            </p:nvSpPr>
            <p:spPr>
              <a:xfrm>
                <a:off x="1042988" y="5262562"/>
                <a:ext cx="85725" cy="85725"/>
              </a:xfrm>
              <a:custGeom>
                <a:avLst/>
                <a:gdLst/>
                <a:ahLst/>
                <a:cxnLst/>
                <a:rect l="l" t="t" r="r" b="b"/>
                <a:pathLst>
                  <a:path w="85725" h="85725">
                    <a:moveTo>
                      <a:pt x="0" y="85725"/>
                    </a:moveTo>
                    <a:lnTo>
                      <a:pt x="0" y="28575"/>
                    </a:lnTo>
                    <a:cubicBezTo>
                      <a:pt x="0" y="12793"/>
                      <a:pt x="12793" y="0"/>
                      <a:pt x="28575" y="0"/>
                    </a:cubicBezTo>
                    <a:lnTo>
                      <a:pt x="57150" y="0"/>
                    </a:lnTo>
                    <a:cubicBezTo>
                      <a:pt x="72932" y="0"/>
                      <a:pt x="85725" y="12793"/>
                      <a:pt x="85725" y="28575"/>
                    </a:cubicBezTo>
                    <a:lnTo>
                      <a:pt x="85725" y="85725"/>
                    </a:lnTo>
                  </a:path>
                </a:pathLst>
              </a:custGeom>
              <a:noFill/>
              <a:ln w="28575">
                <a:solidFill>
                  <a:schemeClr val="accent2"/>
                </a:solidFill>
              </a:ln>
            </p:spPr>
          </p:sp>
          <p:sp>
            <p:nvSpPr>
              <p:cNvPr id="28" name="Freeform 28"/>
              <p:cNvSpPr/>
              <p:nvPr/>
            </p:nvSpPr>
            <p:spPr>
              <a:xfrm>
                <a:off x="1057275" y="5176838"/>
                <a:ext cx="57150" cy="9525"/>
              </a:xfrm>
              <a:custGeom>
                <a:avLst/>
                <a:gdLst/>
                <a:ahLst/>
                <a:cxnLst/>
                <a:rect l="l" t="t" r="r" b="b"/>
                <a:pathLst>
                  <a:path w="57150" h="9525">
                    <a:moveTo>
                      <a:pt x="0" y="0"/>
                    </a:moveTo>
                    <a:lnTo>
                      <a:pt x="57150" y="0"/>
                    </a:lnTo>
                  </a:path>
                </a:pathLst>
              </a:custGeom>
              <a:noFill/>
              <a:ln w="28575">
                <a:solidFill>
                  <a:schemeClr val="accent2"/>
                </a:solidFill>
              </a:ln>
            </p:spPr>
          </p:sp>
          <p:sp>
            <p:nvSpPr>
              <p:cNvPr id="29" name="Freeform 29"/>
              <p:cNvSpPr/>
              <p:nvPr/>
            </p:nvSpPr>
            <p:spPr>
              <a:xfrm>
                <a:off x="1085850" y="5148262"/>
                <a:ext cx="9525" cy="57150"/>
              </a:xfrm>
              <a:custGeom>
                <a:avLst/>
                <a:gdLst/>
                <a:ahLst/>
                <a:cxnLst/>
                <a:rect l="l" t="t" r="r" b="b"/>
                <a:pathLst>
                  <a:path w="9525" h="57150">
                    <a:moveTo>
                      <a:pt x="0" y="0"/>
                    </a:moveTo>
                    <a:lnTo>
                      <a:pt x="0" y="57150"/>
                    </a:lnTo>
                  </a:path>
                </a:pathLst>
              </a:custGeom>
              <a:noFill/>
              <a:ln w="28575">
                <a:solidFill>
                  <a:schemeClr val="accent2"/>
                </a:solidFill>
              </a:ln>
            </p:spPr>
          </p:sp>
        </p:grpSp>
        <p:sp>
          <p:nvSpPr>
            <p:cNvPr id="31" name="TextBox 31"/>
            <p:cNvSpPr txBox="1"/>
            <p:nvPr/>
          </p:nvSpPr>
          <p:spPr>
            <a:xfrm>
              <a:off x="1439418" y="5105400"/>
              <a:ext cx="6938919" cy="322707"/>
            </a:xfrm>
            <a:prstGeom prst="rect">
              <a:avLst/>
            </a:prstGeom>
            <a:noFill/>
            <a:ln>
              <a:noFill/>
            </a:ln>
          </p:spPr>
          <p:txBody>
            <a:bodyPr wrap="none" lIns="0" tIns="0" rIns="0" bIns="0" anchor="t" anchorCtr="0">
              <a:spAutoFit/>
            </a:bodyPr>
            <a:lstStyle/>
            <a:p>
              <a:pPr algn="l"/>
              <a:r>
                <a:rPr lang="id-ID" sz="1650" b="1" dirty="0">
                  <a:solidFill>
                    <a:srgbClr val="2B6B22"/>
                  </a:solidFill>
                  <a:latin typeface="+mn-lt"/>
                  <a:ea typeface="+mn-ea"/>
                  <a:cs typeface="+mn-cs"/>
                </a:rPr>
                <a:t>Founder-market fit:</a:t>
              </a:r>
              <a:r>
                <a:rPr lang="id-ID" sz="1650" dirty="0">
                  <a:solidFill>
                    <a:schemeClr val="dk1"/>
                  </a:solidFill>
                  <a:latin typeface="+mn-lt"/>
                  <a:ea typeface="+mn-ea"/>
                  <a:cs typeface="+mn-cs"/>
                </a:rPr>
                <a:t xml:space="preserve"> produk diuji setiap hari di klinik pilot Zanak Dental Care.</a:t>
              </a:r>
            </a:p>
          </p:txBody>
        </p:sp>
      </p:grpSp>
      <p:grpSp>
        <p:nvGrpSpPr>
          <p:cNvPr id="35" name="footer"/>
          <p:cNvGrpSpPr/>
          <p:nvPr/>
        </p:nvGrpSpPr>
        <p:grpSpPr>
          <a:xfrm>
            <a:off x="604647" y="6477000"/>
            <a:ext cx="10982706" cy="191643"/>
            <a:chOff x="604647" y="6477000"/>
            <a:chExt cx="10982706" cy="191643"/>
          </a:xfrm>
        </p:grpSpPr>
        <p:sp>
          <p:nvSpPr>
            <p:cNvPr id="33" name="TextBox 33"/>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34" name="TextBox 34"/>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17</a:t>
              </a:r>
            </a:p>
          </p:txBody>
        </p:sp>
      </p:grpSp>
    </p:spTree>
  </p:cSld>
  <p:clrMapOvr>
    <a:masterClrMapping/>
  </p:clrMapOvr>
  <p:transition xmlns:p14="http://schemas.microsoft.com/office/powerpoint/2010/main" p14:dur="400">
    <p:fad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9134889" cy="786003"/>
            <a:chOff x="595122" y="635000"/>
            <a:chExt cx="9134889" cy="786003"/>
          </a:xfrm>
        </p:grpSpPr>
        <p:sp>
          <p:nvSpPr>
            <p:cNvPr id="2" name="TextBox 2"/>
            <p:cNvSpPr txBox="1"/>
            <p:nvPr/>
          </p:nvSpPr>
          <p:spPr>
            <a:xfrm>
              <a:off x="603885" y="635000"/>
              <a:ext cx="1049475" cy="220028"/>
            </a:xfrm>
            <a:prstGeom prst="rect">
              <a:avLst/>
            </a:prstGeom>
            <a:noFill/>
            <a:ln>
              <a:noFill/>
            </a:ln>
          </p:spPr>
          <p:txBody>
            <a:bodyPr wrap="none" lIns="0" tIns="0" rIns="0" bIns="0" anchor="t" anchorCtr="0">
              <a:spAutoFit/>
            </a:bodyPr>
            <a:lstStyle/>
            <a:p>
              <a:pPr algn="l"/>
              <a:r>
                <a:rPr lang="id-ID" sz="1120" b="1" spc="150" dirty="0">
                  <a:solidFill>
                    <a:schemeClr val="accent3"/>
                  </a:solidFill>
                  <a:latin typeface="+mn-lt"/>
                  <a:ea typeface="+mn-ea"/>
                  <a:cs typeface="+mn-cs"/>
                </a:rPr>
                <a:t>PENDANAAN</a:t>
              </a:r>
            </a:p>
          </p:txBody>
        </p:sp>
        <p:sp>
          <p:nvSpPr>
            <p:cNvPr id="3" name="TextBox 3"/>
            <p:cNvSpPr txBox="1"/>
            <p:nvPr/>
          </p:nvSpPr>
          <p:spPr>
            <a:xfrm>
              <a:off x="595122" y="863600"/>
              <a:ext cx="9134889" cy="557403"/>
            </a:xfrm>
            <a:prstGeom prst="rect">
              <a:avLst/>
            </a:prstGeom>
            <a:noFill/>
            <a:ln>
              <a:noFill/>
            </a:ln>
          </p:spPr>
          <p:txBody>
            <a:bodyPr wrap="none" lIns="0" tIns="0" rIns="0" bIns="0" anchor="t" anchorCtr="0">
              <a:spAutoFit/>
            </a:bodyPr>
            <a:lstStyle/>
            <a:p>
              <a:pPr algn="l"/>
              <a:r>
                <a:rPr lang="id-ID" sz="2850" b="1" dirty="0">
                  <a:solidFill>
                    <a:srgbClr val="F3F1EA"/>
                  </a:solidFill>
                  <a:latin typeface="+mj-lt"/>
                  <a:ea typeface="+mj-ea"/>
                  <a:cs typeface="+mj-cs"/>
                </a:rPr>
                <a:t>Minimal Rp1 M untuk 18 bulan, cair dalam 2 tahap</a:t>
              </a:r>
            </a:p>
          </p:txBody>
        </p:sp>
      </p:grpSp>
      <p:grpSp>
        <p:nvGrpSpPr>
          <p:cNvPr id="11" name="tranche-1"/>
          <p:cNvGrpSpPr/>
          <p:nvPr/>
        </p:nvGrpSpPr>
        <p:grpSpPr>
          <a:xfrm>
            <a:off x="609600" y="1676400"/>
            <a:ext cx="4953000" cy="1790700"/>
            <a:chOff x="609600" y="1676400"/>
            <a:chExt cx="4953000" cy="1790700"/>
          </a:xfrm>
        </p:grpSpPr>
        <p:sp>
          <p:nvSpPr>
            <p:cNvPr id="5" name="Rectangle 5"/>
            <p:cNvSpPr/>
            <p:nvPr/>
          </p:nvSpPr>
          <p:spPr>
            <a:xfrm>
              <a:off x="609600" y="1676400"/>
              <a:ext cx="4953000" cy="1790700"/>
            </a:xfrm>
            <a:prstGeom prst="roundRect">
              <a:avLst>
                <a:gd name="adj" fmla="val 10638"/>
              </a:avLst>
            </a:prstGeom>
            <a:solidFill>
              <a:schemeClr val="accent3"/>
            </a:solidFill>
            <a:ln>
              <a:noFill/>
            </a:ln>
          </p:spPr>
        </p:sp>
        <p:sp>
          <p:nvSpPr>
            <p:cNvPr id="6" name="Ellipse 6"/>
            <p:cNvSpPr/>
            <p:nvPr/>
          </p:nvSpPr>
          <p:spPr>
            <a:xfrm>
              <a:off x="895350" y="1962150"/>
              <a:ext cx="571500" cy="571500"/>
            </a:xfrm>
            <a:prstGeom prst="ellipse">
              <a:avLst/>
            </a:prstGeom>
            <a:solidFill>
              <a:schemeClr val="accent1"/>
            </a:solidFill>
            <a:ln>
              <a:noFill/>
            </a:ln>
          </p:spPr>
        </p:sp>
        <p:sp>
          <p:nvSpPr>
            <p:cNvPr id="7" name="Freeform 7"/>
            <p:cNvSpPr/>
            <p:nvPr/>
          </p:nvSpPr>
          <p:spPr>
            <a:xfrm>
              <a:off x="1066800" y="2171700"/>
              <a:ext cx="228599" cy="146050"/>
            </a:xfrm>
            <a:custGeom>
              <a:avLst/>
              <a:gdLst/>
              <a:ahLst/>
              <a:cxnLst/>
              <a:rect l="l" t="t" r="r" b="b"/>
              <a:pathLst>
                <a:path w="228599" h="146050">
                  <a:moveTo>
                    <a:pt x="0" y="139700"/>
                  </a:moveTo>
                  <a:cubicBezTo>
                    <a:pt x="42329" y="97371"/>
                    <a:pt x="63500" y="63500"/>
                    <a:pt x="63500" y="38100"/>
                  </a:cubicBezTo>
                  <a:cubicBezTo>
                    <a:pt x="63500" y="0"/>
                    <a:pt x="50800" y="0"/>
                    <a:pt x="38100" y="0"/>
                  </a:cubicBezTo>
                  <a:cubicBezTo>
                    <a:pt x="25400" y="0"/>
                    <a:pt x="12294" y="13779"/>
                    <a:pt x="12700" y="38100"/>
                  </a:cubicBezTo>
                  <a:cubicBezTo>
                    <a:pt x="13132" y="64109"/>
                    <a:pt x="33757" y="100038"/>
                    <a:pt x="44450" y="114300"/>
                  </a:cubicBezTo>
                  <a:cubicBezTo>
                    <a:pt x="63500" y="139700"/>
                    <a:pt x="76200" y="146050"/>
                    <a:pt x="88900" y="127000"/>
                  </a:cubicBezTo>
                  <a:lnTo>
                    <a:pt x="114300" y="88900"/>
                  </a:lnTo>
                  <a:cubicBezTo>
                    <a:pt x="118529" y="122771"/>
                    <a:pt x="131229" y="139700"/>
                    <a:pt x="152400" y="139700"/>
                  </a:cubicBezTo>
                  <a:cubicBezTo>
                    <a:pt x="159131" y="139700"/>
                    <a:pt x="185915" y="114300"/>
                    <a:pt x="190500" y="114300"/>
                  </a:cubicBezTo>
                  <a:cubicBezTo>
                    <a:pt x="197065" y="114300"/>
                    <a:pt x="209765" y="122771"/>
                    <a:pt x="228599" y="139700"/>
                  </a:cubicBezTo>
                </a:path>
              </a:pathLst>
            </a:custGeom>
            <a:noFill/>
            <a:ln w="25400">
              <a:solidFill>
                <a:schemeClr val="accent3"/>
              </a:solidFill>
            </a:ln>
          </p:spPr>
        </p:sp>
        <p:sp>
          <p:nvSpPr>
            <p:cNvPr id="8" name="TextBox 8"/>
            <p:cNvSpPr txBox="1"/>
            <p:nvPr/>
          </p:nvSpPr>
          <p:spPr>
            <a:xfrm>
              <a:off x="1668780" y="2032000"/>
              <a:ext cx="783997" cy="293370"/>
            </a:xfrm>
            <a:prstGeom prst="rect">
              <a:avLst/>
            </a:prstGeom>
            <a:noFill/>
            <a:ln>
              <a:noFill/>
            </a:ln>
          </p:spPr>
          <p:txBody>
            <a:bodyPr wrap="none" lIns="0" tIns="0" rIns="0" bIns="0" anchor="t" anchorCtr="0">
              <a:spAutoFit/>
            </a:bodyPr>
            <a:lstStyle/>
            <a:p>
              <a:pPr algn="l"/>
              <a:r>
                <a:rPr lang="id-ID" sz="1500" b="1" dirty="0">
                  <a:solidFill>
                    <a:srgbClr val="2B6B22"/>
                  </a:solidFill>
                  <a:latin typeface="+mn-lt"/>
                  <a:ea typeface="+mn-ea"/>
                  <a:cs typeface="+mn-cs"/>
                </a:rPr>
                <a:t>TAHAP 1</a:t>
              </a:r>
            </a:p>
          </p:txBody>
        </p:sp>
        <p:sp>
          <p:nvSpPr>
            <p:cNvPr id="9" name="TextBox 9"/>
            <p:cNvSpPr txBox="1"/>
            <p:nvPr/>
          </p:nvSpPr>
          <p:spPr>
            <a:xfrm>
              <a:off x="1657350" y="2298700"/>
              <a:ext cx="2428093" cy="876300"/>
            </a:xfrm>
            <a:prstGeom prst="rect">
              <a:avLst/>
            </a:prstGeom>
            <a:noFill/>
            <a:ln>
              <a:noFill/>
            </a:ln>
          </p:spPr>
          <p:txBody>
            <a:bodyPr wrap="none" lIns="0" tIns="0" rIns="0" bIns="0" anchor="t" anchorCtr="0">
              <a:spAutoFit/>
            </a:bodyPr>
            <a:lstStyle/>
            <a:p>
              <a:pPr algn="l"/>
              <a:r>
                <a:rPr lang="id-ID" sz="4500" b="1" dirty="0">
                  <a:solidFill>
                    <a:schemeClr val="dk1"/>
                  </a:solidFill>
                  <a:latin typeface="+mj-lt"/>
                  <a:ea typeface="+mj-ea"/>
                  <a:cs typeface="+mj-cs"/>
                </a:rPr>
                <a:t>Rp500 jt</a:t>
              </a:r>
            </a:p>
          </p:txBody>
        </p:sp>
        <p:sp>
          <p:nvSpPr>
            <p:cNvPr id="10" name="TextBox 10"/>
            <p:cNvSpPr txBox="1"/>
            <p:nvPr/>
          </p:nvSpPr>
          <p:spPr>
            <a:xfrm>
              <a:off x="1668780" y="3041650"/>
              <a:ext cx="2780869" cy="293370"/>
            </a:xfrm>
            <a:prstGeom prst="rect">
              <a:avLst/>
            </a:prstGeom>
            <a:noFill/>
            <a:ln>
              <a:noFill/>
            </a:ln>
          </p:spPr>
          <p:txBody>
            <a:bodyPr wrap="none" lIns="0" tIns="0" rIns="0" bIns="0" anchor="t" anchorCtr="0">
              <a:spAutoFit/>
            </a:bodyPr>
            <a:lstStyle/>
            <a:p>
              <a:pPr algn="l"/>
              <a:r>
                <a:rPr lang="id-ID" sz="1500" dirty="0">
                  <a:solidFill>
                    <a:schemeClr val="dk1"/>
                  </a:solidFill>
                  <a:latin typeface="+mn-lt"/>
                  <a:ea typeface="+mn-ea"/>
                  <a:cs typeface="+mn-cs"/>
                </a:rPr>
                <a:t>Saat penandatanganan perjanjian</a:t>
              </a:r>
            </a:p>
          </p:txBody>
        </p:sp>
      </p:grpSp>
      <p:grpSp>
        <p:nvGrpSpPr>
          <p:cNvPr id="20" name="tranche-2"/>
          <p:cNvGrpSpPr/>
          <p:nvPr/>
        </p:nvGrpSpPr>
        <p:grpSpPr>
          <a:xfrm>
            <a:off x="609600" y="3733800"/>
            <a:ext cx="4953000" cy="1790700"/>
            <a:chOff x="609600" y="3733800"/>
            <a:chExt cx="4953000" cy="1790700"/>
          </a:xfrm>
        </p:grpSpPr>
        <p:sp>
          <p:nvSpPr>
            <p:cNvPr id="12" name="Rectangle 12"/>
            <p:cNvSpPr/>
            <p:nvPr/>
          </p:nvSpPr>
          <p:spPr>
            <a:xfrm>
              <a:off x="609600" y="3733800"/>
              <a:ext cx="4953000" cy="1790700"/>
            </a:xfrm>
            <a:prstGeom prst="roundRect">
              <a:avLst>
                <a:gd name="adj" fmla="val 10638"/>
              </a:avLst>
            </a:prstGeom>
            <a:solidFill>
              <a:srgbClr val="242320"/>
            </a:solidFill>
            <a:ln>
              <a:noFill/>
            </a:ln>
          </p:spPr>
        </p:sp>
        <p:sp>
          <p:nvSpPr>
            <p:cNvPr id="13" name="Ellipse 13"/>
            <p:cNvSpPr/>
            <p:nvPr/>
          </p:nvSpPr>
          <p:spPr>
            <a:xfrm>
              <a:off x="895350" y="4019550"/>
              <a:ext cx="571500" cy="571500"/>
            </a:xfrm>
            <a:prstGeom prst="ellipse">
              <a:avLst/>
            </a:prstGeom>
            <a:solidFill>
              <a:schemeClr val="accent3"/>
            </a:solidFill>
            <a:ln>
              <a:noFill/>
            </a:ln>
          </p:spPr>
        </p:sp>
        <p:grpSp>
          <p:nvGrpSpPr>
            <p:cNvPr id="16" name="Group 16"/>
            <p:cNvGrpSpPr/>
            <p:nvPr/>
          </p:nvGrpSpPr>
          <p:grpSpPr>
            <a:xfrm>
              <a:off x="1092200" y="4192197"/>
              <a:ext cx="177800" cy="227403"/>
              <a:chOff x="1092200" y="4192197"/>
              <a:chExt cx="177800" cy="227403"/>
            </a:xfrm>
          </p:grpSpPr>
          <p:sp>
            <p:nvSpPr>
              <p:cNvPr id="14" name="Freeform 14"/>
              <p:cNvSpPr/>
              <p:nvPr/>
            </p:nvSpPr>
            <p:spPr>
              <a:xfrm>
                <a:off x="1092200" y="4192197"/>
                <a:ext cx="177800" cy="162705"/>
              </a:xfrm>
              <a:custGeom>
                <a:avLst/>
                <a:gdLst/>
                <a:ahLst/>
                <a:cxnLst/>
                <a:rect l="l" t="t" r="r" b="b"/>
                <a:pathLst>
                  <a:path w="177800" h="162705">
                    <a:moveTo>
                      <a:pt x="0" y="24203"/>
                    </a:moveTo>
                    <a:cubicBezTo>
                      <a:pt x="24692" y="0"/>
                      <a:pt x="64208" y="0"/>
                      <a:pt x="88900" y="24203"/>
                    </a:cubicBezTo>
                    <a:cubicBezTo>
                      <a:pt x="113591" y="48405"/>
                      <a:pt x="153108" y="48405"/>
                      <a:pt x="177800" y="24203"/>
                    </a:cubicBezTo>
                    <a:lnTo>
                      <a:pt x="177800" y="138502"/>
                    </a:lnTo>
                    <a:cubicBezTo>
                      <a:pt x="153108" y="162705"/>
                      <a:pt x="113591" y="162705"/>
                      <a:pt x="88900" y="138502"/>
                    </a:cubicBezTo>
                    <a:cubicBezTo>
                      <a:pt x="64208" y="114300"/>
                      <a:pt x="24692" y="114300"/>
                      <a:pt x="0" y="138502"/>
                    </a:cubicBezTo>
                    <a:lnTo>
                      <a:pt x="0" y="24203"/>
                    </a:lnTo>
                  </a:path>
                </a:pathLst>
              </a:custGeom>
              <a:noFill/>
              <a:ln w="25400">
                <a:solidFill>
                  <a:schemeClr val="accent1"/>
                </a:solidFill>
              </a:ln>
            </p:spPr>
          </p:sp>
          <p:sp>
            <p:nvSpPr>
              <p:cNvPr id="15" name="Freeform 15"/>
              <p:cNvSpPr/>
              <p:nvPr/>
            </p:nvSpPr>
            <p:spPr>
              <a:xfrm>
                <a:off x="1092200" y="4330700"/>
                <a:ext cx="9525" cy="88900"/>
              </a:xfrm>
              <a:custGeom>
                <a:avLst/>
                <a:gdLst/>
                <a:ahLst/>
                <a:cxnLst/>
                <a:rect l="l" t="t" r="r" b="b"/>
                <a:pathLst>
                  <a:path w="9525" h="88900">
                    <a:moveTo>
                      <a:pt x="0" y="88900"/>
                    </a:moveTo>
                    <a:lnTo>
                      <a:pt x="0" y="0"/>
                    </a:lnTo>
                  </a:path>
                </a:pathLst>
              </a:custGeom>
              <a:noFill/>
              <a:ln w="25400">
                <a:solidFill>
                  <a:schemeClr val="accent1"/>
                </a:solidFill>
              </a:ln>
            </p:spPr>
          </p:sp>
        </p:grpSp>
        <p:sp>
          <p:nvSpPr>
            <p:cNvPr id="17" name="TextBox 17"/>
            <p:cNvSpPr txBox="1"/>
            <p:nvPr/>
          </p:nvSpPr>
          <p:spPr>
            <a:xfrm>
              <a:off x="1668780" y="4089400"/>
              <a:ext cx="783997" cy="293370"/>
            </a:xfrm>
            <a:prstGeom prst="rect">
              <a:avLst/>
            </a:prstGeom>
            <a:noFill/>
            <a:ln>
              <a:noFill/>
            </a:ln>
          </p:spPr>
          <p:txBody>
            <a:bodyPr wrap="none" lIns="0" tIns="0" rIns="0" bIns="0" anchor="t" anchorCtr="0">
              <a:spAutoFit/>
            </a:bodyPr>
            <a:lstStyle/>
            <a:p>
              <a:pPr algn="l"/>
              <a:r>
                <a:rPr lang="id-ID" sz="1500" b="1" dirty="0">
                  <a:solidFill>
                    <a:srgbClr val="B9B6AA"/>
                  </a:solidFill>
                  <a:latin typeface="+mn-lt"/>
                  <a:ea typeface="+mn-ea"/>
                  <a:cs typeface="+mn-cs"/>
                </a:rPr>
                <a:t>TAHAP 2</a:t>
              </a:r>
            </a:p>
          </p:txBody>
        </p:sp>
        <p:sp>
          <p:nvSpPr>
            <p:cNvPr id="18" name="TextBox 18"/>
            <p:cNvSpPr txBox="1"/>
            <p:nvPr/>
          </p:nvSpPr>
          <p:spPr>
            <a:xfrm>
              <a:off x="1657350" y="4356100"/>
              <a:ext cx="2428093" cy="876300"/>
            </a:xfrm>
            <a:prstGeom prst="rect">
              <a:avLst/>
            </a:prstGeom>
            <a:noFill/>
            <a:ln>
              <a:noFill/>
            </a:ln>
          </p:spPr>
          <p:txBody>
            <a:bodyPr wrap="none" lIns="0" tIns="0" rIns="0" bIns="0" anchor="t" anchorCtr="0">
              <a:spAutoFit/>
            </a:bodyPr>
            <a:lstStyle/>
            <a:p>
              <a:pPr algn="l"/>
              <a:r>
                <a:rPr lang="id-ID" sz="4500" b="1" dirty="0">
                  <a:solidFill>
                    <a:srgbClr val="F3F1EA"/>
                  </a:solidFill>
                  <a:latin typeface="+mj-lt"/>
                  <a:ea typeface="+mj-ea"/>
                  <a:cs typeface="+mj-cs"/>
                </a:rPr>
                <a:t>Rp500 jt</a:t>
              </a:r>
            </a:p>
          </p:txBody>
        </p:sp>
        <p:sp>
          <p:nvSpPr>
            <p:cNvPr id="19" name="TextBox 19"/>
            <p:cNvSpPr txBox="1"/>
            <p:nvPr/>
          </p:nvSpPr>
          <p:spPr>
            <a:xfrm>
              <a:off x="1668780" y="5099050"/>
              <a:ext cx="3196489" cy="293370"/>
            </a:xfrm>
            <a:prstGeom prst="rect">
              <a:avLst/>
            </a:prstGeom>
            <a:noFill/>
            <a:ln>
              <a:noFill/>
            </a:ln>
          </p:spPr>
          <p:txBody>
            <a:bodyPr wrap="none" lIns="0" tIns="0" rIns="0" bIns="0" anchor="t" anchorCtr="0">
              <a:spAutoFit/>
            </a:bodyPr>
            <a:lstStyle/>
            <a:p>
              <a:pPr algn="l"/>
              <a:r>
                <a:rPr lang="id-ID" sz="1500" dirty="0">
                  <a:solidFill>
                    <a:srgbClr val="B9B6AA"/>
                  </a:solidFill>
                  <a:latin typeface="+mn-lt"/>
                  <a:ea typeface="+mn-ea"/>
                  <a:cs typeface="+mn-cs"/>
                </a:rPr>
                <a:t>Saat target tercapai: 30 klinik berbayar</a:t>
              </a:r>
            </a:p>
          </p:txBody>
        </p:sp>
      </p:grpSp>
      <p:grpSp>
        <p:nvGrpSpPr>
          <p:cNvPr id="22" name="runway-note"/>
          <p:cNvGrpSpPr/>
          <p:nvPr/>
        </p:nvGrpSpPr>
        <p:grpSpPr>
          <a:xfrm>
            <a:off x="603123" y="5791200"/>
            <a:ext cx="3132398" cy="250317"/>
            <a:chOff x="603123" y="5791200"/>
            <a:chExt cx="3132398" cy="250317"/>
          </a:xfrm>
        </p:grpSpPr>
        <p:sp>
          <p:nvSpPr>
            <p:cNvPr id="21" name="TextBox 21"/>
            <p:cNvSpPr txBox="1"/>
            <p:nvPr/>
          </p:nvSpPr>
          <p:spPr>
            <a:xfrm>
              <a:off x="603123" y="5791200"/>
              <a:ext cx="3132398" cy="250317"/>
            </a:xfrm>
            <a:prstGeom prst="rect">
              <a:avLst/>
            </a:prstGeom>
            <a:noFill/>
            <a:ln>
              <a:noFill/>
            </a:ln>
          </p:spPr>
          <p:txBody>
            <a:bodyPr wrap="none" lIns="0" tIns="0" rIns="0" bIns="0" anchor="t" anchorCtr="0">
              <a:spAutoFit/>
            </a:bodyPr>
            <a:lstStyle/>
            <a:p>
              <a:pPr algn="l"/>
              <a:r>
                <a:rPr lang="id-ID" sz="1280" dirty="0">
                  <a:solidFill>
                    <a:srgbClr val="B9B6AA"/>
                  </a:solidFill>
                  <a:latin typeface="+mn-lt"/>
                  <a:ea typeface="+mn-ea"/>
                  <a:cs typeface="+mn-cs"/>
                </a:rPr>
                <a:t>Runway ± Rp55 jt per bulan selama 18 bulan</a:t>
              </a:r>
            </a:p>
          </p:txBody>
        </p:sp>
      </p:grpSp>
      <p:grpSp>
        <p:nvGrpSpPr>
          <p:cNvPr id="43" name="fund-allocation"/>
          <p:cNvGrpSpPr/>
          <p:nvPr/>
        </p:nvGrpSpPr>
        <p:grpSpPr>
          <a:xfrm>
            <a:off x="6088380" y="1784350"/>
            <a:ext cx="5264877" cy="4121150"/>
            <a:chOff x="6088380" y="1784350"/>
            <a:chExt cx="5264877" cy="4121150"/>
          </a:xfrm>
        </p:grpSpPr>
        <p:sp>
          <p:nvSpPr>
            <p:cNvPr id="23" name="TextBox 23"/>
            <p:cNvSpPr txBox="1"/>
            <p:nvPr/>
          </p:nvSpPr>
          <p:spPr>
            <a:xfrm>
              <a:off x="6088380" y="1784350"/>
              <a:ext cx="1696607" cy="293370"/>
            </a:xfrm>
            <a:prstGeom prst="rect">
              <a:avLst/>
            </a:prstGeom>
            <a:noFill/>
            <a:ln>
              <a:noFill/>
            </a:ln>
          </p:spPr>
          <p:txBody>
            <a:bodyPr wrap="none" lIns="0" tIns="0" rIns="0" bIns="0" anchor="t" anchorCtr="0">
              <a:spAutoFit/>
            </a:bodyPr>
            <a:lstStyle/>
            <a:p>
              <a:pPr algn="l"/>
              <a:r>
                <a:rPr lang="id-ID" sz="1500" b="1" dirty="0">
                  <a:solidFill>
                    <a:srgbClr val="F3F1EA"/>
                  </a:solidFill>
                  <a:latin typeface="+mn-lt"/>
                  <a:ea typeface="+mn-ea"/>
                  <a:cs typeface="+mn-cs"/>
                </a:rPr>
                <a:t>Alokasi dana Rp1 M</a:t>
              </a:r>
            </a:p>
          </p:txBody>
        </p:sp>
        <p:grpSp>
          <p:nvGrpSpPr>
            <p:cNvPr id="42" name="fund-allocation-chartArea"/>
            <p:cNvGrpSpPr/>
            <p:nvPr/>
          </p:nvGrpSpPr>
          <p:grpSpPr>
            <a:xfrm>
              <a:off x="6109664" y="2286000"/>
              <a:ext cx="5243593" cy="3619500"/>
              <a:chOff x="6109664" y="2286000"/>
              <a:chExt cx="5243593" cy="3619500"/>
            </a:xfrm>
          </p:grpSpPr>
          <p:sp>
            <p:nvSpPr>
              <p:cNvPr id="24" name="Line 24"/>
              <p:cNvSpPr/>
              <p:nvPr/>
            </p:nvSpPr>
            <p:spPr>
              <a:xfrm>
                <a:off x="8191500" y="2286000"/>
                <a:ext cx="9525" cy="3619500"/>
              </a:xfrm>
              <a:custGeom>
                <a:avLst/>
                <a:gdLst/>
                <a:ahLst/>
                <a:cxnLst/>
                <a:rect l="l" t="t" r="r" b="b"/>
                <a:pathLst>
                  <a:path w="9525" h="3619500">
                    <a:moveTo>
                      <a:pt x="0" y="0"/>
                    </a:moveTo>
                    <a:lnTo>
                      <a:pt x="0" y="3619500"/>
                    </a:lnTo>
                  </a:path>
                </a:pathLst>
              </a:custGeom>
              <a:noFill/>
              <a:ln w="14288">
                <a:solidFill>
                  <a:srgbClr val="3A3933"/>
                </a:solidFill>
              </a:ln>
            </p:spPr>
          </p:sp>
          <p:sp>
            <p:nvSpPr>
              <p:cNvPr id="25" name="Rectangle 25"/>
              <p:cNvSpPr/>
              <p:nvPr/>
            </p:nvSpPr>
            <p:spPr>
              <a:xfrm>
                <a:off x="8191500" y="2476500"/>
                <a:ext cx="2476500" cy="342900"/>
              </a:xfrm>
              <a:prstGeom prst="rect">
                <a:avLst/>
              </a:prstGeom>
              <a:solidFill>
                <a:schemeClr val="accent3"/>
              </a:solidFill>
              <a:ln>
                <a:noFill/>
              </a:ln>
            </p:spPr>
          </p:sp>
          <p:sp>
            <p:nvSpPr>
              <p:cNvPr id="26" name="Rectangle 26"/>
              <p:cNvSpPr/>
              <p:nvPr/>
            </p:nvSpPr>
            <p:spPr>
              <a:xfrm>
                <a:off x="8191500" y="3200400"/>
                <a:ext cx="1238250" cy="342900"/>
              </a:xfrm>
              <a:prstGeom prst="rect">
                <a:avLst/>
              </a:prstGeom>
              <a:solidFill>
                <a:schemeClr val="accent3"/>
              </a:solidFill>
              <a:ln>
                <a:noFill/>
              </a:ln>
            </p:spPr>
          </p:sp>
          <p:sp>
            <p:nvSpPr>
              <p:cNvPr id="27" name="Rectangle 27"/>
              <p:cNvSpPr/>
              <p:nvPr/>
            </p:nvSpPr>
            <p:spPr>
              <a:xfrm>
                <a:off x="8191500" y="3924300"/>
                <a:ext cx="495300" cy="342900"/>
              </a:xfrm>
              <a:prstGeom prst="rect">
                <a:avLst/>
              </a:prstGeom>
              <a:solidFill>
                <a:srgbClr val="B9B6AA"/>
              </a:solidFill>
              <a:ln>
                <a:noFill/>
              </a:ln>
            </p:spPr>
          </p:sp>
          <p:sp>
            <p:nvSpPr>
              <p:cNvPr id="28" name="Rectangle 28"/>
              <p:cNvSpPr/>
              <p:nvPr/>
            </p:nvSpPr>
            <p:spPr>
              <a:xfrm>
                <a:off x="8191500" y="4648200"/>
                <a:ext cx="495300" cy="342900"/>
              </a:xfrm>
              <a:prstGeom prst="rect">
                <a:avLst/>
              </a:prstGeom>
              <a:solidFill>
                <a:srgbClr val="B9B6AA"/>
              </a:solidFill>
              <a:ln>
                <a:noFill/>
              </a:ln>
            </p:spPr>
          </p:sp>
          <p:sp>
            <p:nvSpPr>
              <p:cNvPr id="29" name="Rectangle 29"/>
              <p:cNvSpPr/>
              <p:nvPr/>
            </p:nvSpPr>
            <p:spPr>
              <a:xfrm>
                <a:off x="8191500" y="5372100"/>
                <a:ext cx="247650" cy="342900"/>
              </a:xfrm>
              <a:prstGeom prst="rect">
                <a:avLst/>
              </a:prstGeom>
              <a:solidFill>
                <a:srgbClr val="B9B6AA"/>
              </a:solidFill>
              <a:ln>
                <a:noFill/>
              </a:ln>
            </p:spPr>
          </p:sp>
          <p:grpSp>
            <p:nvGrpSpPr>
              <p:cNvPr id="35" name="Group 35"/>
              <p:cNvGrpSpPr/>
              <p:nvPr/>
            </p:nvGrpSpPr>
            <p:grpSpPr>
              <a:xfrm>
                <a:off x="6109664" y="2552700"/>
                <a:ext cx="1954963" cy="3145917"/>
                <a:chOff x="6109664" y="2552700"/>
                <a:chExt cx="1954963" cy="3145917"/>
              </a:xfrm>
            </p:grpSpPr>
            <p:sp>
              <p:nvSpPr>
                <p:cNvPr id="30" name="TextBox 30"/>
                <p:cNvSpPr txBox="1"/>
                <p:nvPr/>
              </p:nvSpPr>
              <p:spPr>
                <a:xfrm>
                  <a:off x="6109664" y="2552700"/>
                  <a:ext cx="1954963" cy="250317"/>
                </a:xfrm>
                <a:prstGeom prst="rect">
                  <a:avLst/>
                </a:prstGeom>
                <a:noFill/>
                <a:ln>
                  <a:noFill/>
                </a:ln>
              </p:spPr>
              <p:txBody>
                <a:bodyPr wrap="none" lIns="0" tIns="0" rIns="0" bIns="0" anchor="t" anchorCtr="0">
                  <a:spAutoFit/>
                </a:bodyPr>
                <a:lstStyle/>
                <a:p>
                  <a:pPr algn="r"/>
                  <a:r>
                    <a:rPr lang="id-ID" sz="1280" dirty="0">
                      <a:solidFill>
                        <a:srgbClr val="F3F1EA"/>
                      </a:solidFill>
                      <a:latin typeface="+mn-lt"/>
                      <a:ea typeface="+mn-ea"/>
                      <a:cs typeface="+mn-cs"/>
                    </a:rPr>
                    <a:t>Tim (gaji founder, sales, CS)</a:t>
                  </a:r>
                </a:p>
              </p:txBody>
            </p:sp>
            <p:sp>
              <p:nvSpPr>
                <p:cNvPr id="31" name="TextBox 31"/>
                <p:cNvSpPr txBox="1"/>
                <p:nvPr/>
              </p:nvSpPr>
              <p:spPr>
                <a:xfrm>
                  <a:off x="6783473" y="3276600"/>
                  <a:ext cx="1281154" cy="250317"/>
                </a:xfrm>
                <a:prstGeom prst="rect">
                  <a:avLst/>
                </a:prstGeom>
                <a:noFill/>
                <a:ln>
                  <a:noFill/>
                </a:ln>
              </p:spPr>
              <p:txBody>
                <a:bodyPr wrap="none" lIns="0" tIns="0" rIns="0" bIns="0" anchor="t" anchorCtr="0">
                  <a:spAutoFit/>
                </a:bodyPr>
                <a:lstStyle/>
                <a:p>
                  <a:pPr algn="r"/>
                  <a:r>
                    <a:rPr lang="id-ID" sz="1280" dirty="0">
                      <a:solidFill>
                        <a:srgbClr val="F3F1EA"/>
                      </a:solidFill>
                      <a:latin typeface="+mn-lt"/>
                      <a:ea typeface="+mn-ea"/>
                      <a:cs typeface="+mn-cs"/>
                    </a:rPr>
                    <a:t>Sales &amp; marketing</a:t>
                  </a:r>
                </a:p>
              </p:txBody>
            </p:sp>
            <p:sp>
              <p:nvSpPr>
                <p:cNvPr id="32" name="TextBox 32"/>
                <p:cNvSpPr txBox="1"/>
                <p:nvPr/>
              </p:nvSpPr>
              <p:spPr>
                <a:xfrm>
                  <a:off x="6464499" y="4000500"/>
                  <a:ext cx="1600128" cy="250317"/>
                </a:xfrm>
                <a:prstGeom prst="rect">
                  <a:avLst/>
                </a:prstGeom>
                <a:noFill/>
                <a:ln>
                  <a:noFill/>
                </a:ln>
              </p:spPr>
              <p:txBody>
                <a:bodyPr wrap="none" lIns="0" tIns="0" rIns="0" bIns="0" anchor="t" anchorCtr="0">
                  <a:spAutoFit/>
                </a:bodyPr>
                <a:lstStyle/>
                <a:p>
                  <a:pPr algn="r"/>
                  <a:r>
                    <a:rPr lang="id-ID" sz="1280" dirty="0">
                      <a:solidFill>
                        <a:srgbClr val="F3F1EA"/>
                      </a:solidFill>
                      <a:latin typeface="+mn-lt"/>
                      <a:ea typeface="+mn-ea"/>
                      <a:cs typeface="+mn-cs"/>
                    </a:rPr>
                    <a:t>Produk &amp; infrastruktur</a:t>
                  </a:r>
                </a:p>
              </p:txBody>
            </p:sp>
            <p:sp>
              <p:nvSpPr>
                <p:cNvPr id="33" name="TextBox 33"/>
                <p:cNvSpPr txBox="1"/>
                <p:nvPr/>
              </p:nvSpPr>
              <p:spPr>
                <a:xfrm>
                  <a:off x="7354574" y="4724400"/>
                  <a:ext cx="710053" cy="250317"/>
                </a:xfrm>
                <a:prstGeom prst="rect">
                  <a:avLst/>
                </a:prstGeom>
                <a:noFill/>
                <a:ln>
                  <a:noFill/>
                </a:ln>
              </p:spPr>
              <p:txBody>
                <a:bodyPr wrap="none" lIns="0" tIns="0" rIns="0" bIns="0" anchor="t" anchorCtr="0">
                  <a:spAutoFit/>
                </a:bodyPr>
                <a:lstStyle/>
                <a:p>
                  <a:pPr algn="r"/>
                  <a:r>
                    <a:rPr lang="id-ID" sz="1280" dirty="0">
                      <a:solidFill>
                        <a:srgbClr val="F3F1EA"/>
                      </a:solidFill>
                      <a:latin typeface="+mn-lt"/>
                      <a:ea typeface="+mn-ea"/>
                      <a:cs typeface="+mn-cs"/>
                    </a:rPr>
                    <a:t>Cadangan</a:t>
                  </a:r>
                </a:p>
              </p:txBody>
            </p:sp>
            <p:sp>
              <p:nvSpPr>
                <p:cNvPr id="34" name="TextBox 34"/>
                <p:cNvSpPr txBox="1"/>
                <p:nvPr/>
              </p:nvSpPr>
              <p:spPr>
                <a:xfrm>
                  <a:off x="6740549" y="5448300"/>
                  <a:ext cx="1324078" cy="250317"/>
                </a:xfrm>
                <a:prstGeom prst="rect">
                  <a:avLst/>
                </a:prstGeom>
                <a:noFill/>
                <a:ln>
                  <a:noFill/>
                </a:ln>
              </p:spPr>
              <p:txBody>
                <a:bodyPr wrap="none" lIns="0" tIns="0" rIns="0" bIns="0" anchor="t" anchorCtr="0">
                  <a:spAutoFit/>
                </a:bodyPr>
                <a:lstStyle/>
                <a:p>
                  <a:pPr algn="r"/>
                  <a:r>
                    <a:rPr lang="id-ID" sz="1280" dirty="0">
                      <a:solidFill>
                        <a:srgbClr val="F3F1EA"/>
                      </a:solidFill>
                      <a:latin typeface="+mn-lt"/>
                      <a:ea typeface="+mn-ea"/>
                      <a:cs typeface="+mn-cs"/>
                    </a:rPr>
                    <a:t>Legal &amp; kepatuhan</a:t>
                  </a:r>
                </a:p>
              </p:txBody>
            </p:sp>
          </p:grpSp>
          <p:grpSp>
            <p:nvGrpSpPr>
              <p:cNvPr id="41" name="Group 41"/>
              <p:cNvGrpSpPr/>
              <p:nvPr/>
            </p:nvGrpSpPr>
            <p:grpSpPr>
              <a:xfrm>
                <a:off x="8508873" y="2552700"/>
                <a:ext cx="2844384" cy="3145917"/>
                <a:chOff x="8508873" y="2552700"/>
                <a:chExt cx="2844384" cy="3145917"/>
              </a:xfrm>
            </p:grpSpPr>
            <p:sp>
              <p:nvSpPr>
                <p:cNvPr id="36" name="TextBox 36"/>
                <p:cNvSpPr txBox="1"/>
                <p:nvPr/>
              </p:nvSpPr>
              <p:spPr>
                <a:xfrm>
                  <a:off x="10737723" y="2552700"/>
                  <a:ext cx="615534" cy="250317"/>
                </a:xfrm>
                <a:prstGeom prst="rect">
                  <a:avLst/>
                </a:prstGeom>
                <a:noFill/>
                <a:ln>
                  <a:noFill/>
                </a:ln>
              </p:spPr>
              <p:txBody>
                <a:bodyPr wrap="none" lIns="0" tIns="0" rIns="0" bIns="0" anchor="t" anchorCtr="0">
                  <a:spAutoFit/>
                </a:bodyPr>
                <a:lstStyle/>
                <a:p>
                  <a:pPr algn="l"/>
                  <a:r>
                    <a:rPr lang="id-ID" sz="1280" b="1" dirty="0">
                      <a:solidFill>
                        <a:srgbClr val="F3F1EA"/>
                      </a:solidFill>
                      <a:latin typeface="+mn-lt"/>
                      <a:ea typeface="+mn-ea"/>
                      <a:cs typeface="+mn-cs"/>
                    </a:rPr>
                    <a:t>Rp500 jt</a:t>
                  </a:r>
                </a:p>
              </p:txBody>
            </p:sp>
            <p:sp>
              <p:nvSpPr>
                <p:cNvPr id="37" name="TextBox 37"/>
                <p:cNvSpPr txBox="1"/>
                <p:nvPr/>
              </p:nvSpPr>
              <p:spPr>
                <a:xfrm>
                  <a:off x="9499473" y="3276600"/>
                  <a:ext cx="615534" cy="250317"/>
                </a:xfrm>
                <a:prstGeom prst="rect">
                  <a:avLst/>
                </a:prstGeom>
                <a:noFill/>
                <a:ln>
                  <a:noFill/>
                </a:ln>
              </p:spPr>
              <p:txBody>
                <a:bodyPr wrap="none" lIns="0" tIns="0" rIns="0" bIns="0" anchor="t" anchorCtr="0">
                  <a:spAutoFit/>
                </a:bodyPr>
                <a:lstStyle/>
                <a:p>
                  <a:pPr algn="l"/>
                  <a:r>
                    <a:rPr lang="id-ID" sz="1280" b="1" dirty="0">
                      <a:solidFill>
                        <a:srgbClr val="F3F1EA"/>
                      </a:solidFill>
                      <a:latin typeface="+mn-lt"/>
                      <a:ea typeface="+mn-ea"/>
                      <a:cs typeface="+mn-cs"/>
                    </a:rPr>
                    <a:t>Rp250 jt</a:t>
                  </a:r>
                </a:p>
              </p:txBody>
            </p:sp>
            <p:sp>
              <p:nvSpPr>
                <p:cNvPr id="38" name="TextBox 38"/>
                <p:cNvSpPr txBox="1"/>
                <p:nvPr/>
              </p:nvSpPr>
              <p:spPr>
                <a:xfrm>
                  <a:off x="8756523" y="4000500"/>
                  <a:ext cx="615534" cy="250317"/>
                </a:xfrm>
                <a:prstGeom prst="rect">
                  <a:avLst/>
                </a:prstGeom>
                <a:noFill/>
                <a:ln>
                  <a:noFill/>
                </a:ln>
              </p:spPr>
              <p:txBody>
                <a:bodyPr wrap="none" lIns="0" tIns="0" rIns="0" bIns="0" anchor="t" anchorCtr="0">
                  <a:spAutoFit/>
                </a:bodyPr>
                <a:lstStyle/>
                <a:p>
                  <a:pPr algn="l"/>
                  <a:r>
                    <a:rPr lang="id-ID" sz="1280" b="1" dirty="0">
                      <a:solidFill>
                        <a:srgbClr val="F3F1EA"/>
                      </a:solidFill>
                      <a:latin typeface="+mn-lt"/>
                      <a:ea typeface="+mn-ea"/>
                      <a:cs typeface="+mn-cs"/>
                    </a:rPr>
                    <a:t>Rp100 jt</a:t>
                  </a:r>
                </a:p>
              </p:txBody>
            </p:sp>
            <p:sp>
              <p:nvSpPr>
                <p:cNvPr id="39" name="TextBox 39"/>
                <p:cNvSpPr txBox="1"/>
                <p:nvPr/>
              </p:nvSpPr>
              <p:spPr>
                <a:xfrm>
                  <a:off x="8756523" y="4724400"/>
                  <a:ext cx="615534" cy="250317"/>
                </a:xfrm>
                <a:prstGeom prst="rect">
                  <a:avLst/>
                </a:prstGeom>
                <a:noFill/>
                <a:ln>
                  <a:noFill/>
                </a:ln>
              </p:spPr>
              <p:txBody>
                <a:bodyPr wrap="none" lIns="0" tIns="0" rIns="0" bIns="0" anchor="t" anchorCtr="0">
                  <a:spAutoFit/>
                </a:bodyPr>
                <a:lstStyle/>
                <a:p>
                  <a:pPr algn="l"/>
                  <a:r>
                    <a:rPr lang="id-ID" sz="1280" b="1" dirty="0">
                      <a:solidFill>
                        <a:srgbClr val="F3F1EA"/>
                      </a:solidFill>
                      <a:latin typeface="+mn-lt"/>
                      <a:ea typeface="+mn-ea"/>
                      <a:cs typeface="+mn-cs"/>
                    </a:rPr>
                    <a:t>Rp100 jt</a:t>
                  </a:r>
                </a:p>
              </p:txBody>
            </p:sp>
            <p:sp>
              <p:nvSpPr>
                <p:cNvPr id="40" name="TextBox 40"/>
                <p:cNvSpPr txBox="1"/>
                <p:nvPr/>
              </p:nvSpPr>
              <p:spPr>
                <a:xfrm>
                  <a:off x="8508873" y="5448300"/>
                  <a:ext cx="526970" cy="250317"/>
                </a:xfrm>
                <a:prstGeom prst="rect">
                  <a:avLst/>
                </a:prstGeom>
                <a:noFill/>
                <a:ln>
                  <a:noFill/>
                </a:ln>
              </p:spPr>
              <p:txBody>
                <a:bodyPr wrap="none" lIns="0" tIns="0" rIns="0" bIns="0" anchor="t" anchorCtr="0">
                  <a:spAutoFit/>
                </a:bodyPr>
                <a:lstStyle/>
                <a:p>
                  <a:pPr algn="l"/>
                  <a:r>
                    <a:rPr lang="id-ID" sz="1280" b="1" dirty="0">
                      <a:solidFill>
                        <a:srgbClr val="F3F1EA"/>
                      </a:solidFill>
                      <a:latin typeface="+mn-lt"/>
                      <a:ea typeface="+mn-ea"/>
                      <a:cs typeface="+mn-cs"/>
                    </a:rPr>
                    <a:t>Rp50 jt</a:t>
                  </a:r>
                </a:p>
              </p:txBody>
            </p:sp>
          </p:grpSp>
        </p:grpSp>
      </p:grpSp>
      <p:grpSp>
        <p:nvGrpSpPr>
          <p:cNvPr id="45" name="allocation-note"/>
          <p:cNvGrpSpPr/>
          <p:nvPr/>
        </p:nvGrpSpPr>
        <p:grpSpPr>
          <a:xfrm>
            <a:off x="6091047" y="6153150"/>
            <a:ext cx="4549590" cy="191643"/>
            <a:chOff x="6091047" y="6153150"/>
            <a:chExt cx="4549590" cy="191643"/>
          </a:xfrm>
        </p:grpSpPr>
        <p:sp>
          <p:nvSpPr>
            <p:cNvPr id="44" name="TextBox 44"/>
            <p:cNvSpPr txBox="1"/>
            <p:nvPr/>
          </p:nvSpPr>
          <p:spPr>
            <a:xfrm>
              <a:off x="6091047" y="6153150"/>
              <a:ext cx="4549590" cy="191643"/>
            </a:xfrm>
            <a:prstGeom prst="rect">
              <a:avLst/>
            </a:prstGeom>
            <a:noFill/>
            <a:ln>
              <a:noFill/>
            </a:ln>
          </p:spPr>
          <p:txBody>
            <a:bodyPr wrap="none" lIns="0" tIns="0" rIns="0" bIns="0" anchor="t" anchorCtr="0">
              <a:spAutoFit/>
            </a:bodyPr>
            <a:lstStyle/>
            <a:p>
              <a:pPr algn="l"/>
              <a:r>
                <a:rPr lang="id-ID" sz="980" dirty="0">
                  <a:solidFill>
                    <a:srgbClr val="B9B6AA"/>
                  </a:solidFill>
                  <a:latin typeface="+mn-lt"/>
                  <a:ea typeface="+mn-ea"/>
                  <a:cs typeface="+mn-cs"/>
                </a:rPr>
                <a:t>Legal &amp; kepatuhan mencakup registrasi PSE, merek dagang, dan kepatuhan UU PDP.</a:t>
              </a:r>
            </a:p>
          </p:txBody>
        </p:sp>
      </p:grpSp>
      <p:grpSp>
        <p:nvGrpSpPr>
          <p:cNvPr id="48" name="footer"/>
          <p:cNvGrpSpPr/>
          <p:nvPr/>
        </p:nvGrpSpPr>
        <p:grpSpPr>
          <a:xfrm>
            <a:off x="604647" y="6477000"/>
            <a:ext cx="10982706" cy="191643"/>
            <a:chOff x="604647" y="6477000"/>
            <a:chExt cx="10982706" cy="191643"/>
          </a:xfrm>
        </p:grpSpPr>
        <p:sp>
          <p:nvSpPr>
            <p:cNvPr id="46" name="TextBox 46"/>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rgbClr val="B9B6AA"/>
                  </a:solidFill>
                  <a:latin typeface="+mn-lt"/>
                  <a:ea typeface="+mn-ea"/>
                  <a:cs typeface="+mn-cs"/>
                </a:rPr>
                <a:t>ApexRecord · Pitch Deck 2026</a:t>
              </a:r>
            </a:p>
          </p:txBody>
        </p:sp>
        <p:sp>
          <p:nvSpPr>
            <p:cNvPr id="47" name="TextBox 47"/>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rgbClr val="B9B6AA"/>
                  </a:solidFill>
                  <a:latin typeface="+mn-lt"/>
                  <a:ea typeface="+mn-ea"/>
                  <a:cs typeface="+mn-cs"/>
                </a:rPr>
                <a:t>18</a:t>
              </a:r>
            </a:p>
          </p:txBody>
        </p:sp>
      </p:grpSp>
    </p:spTree>
  </p:cSld>
  <p:clrMapOvr>
    <a:masterClrMapping/>
  </p:clrMapOvr>
  <p:transition xmlns:p14="http://schemas.microsoft.com/office/powerpoint/2010/main" p14:dur="400">
    <p:fade/>
  </p:transition>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header"/>
          <p:cNvGrpSpPr/>
          <p:nvPr/>
        </p:nvGrpSpPr>
        <p:grpSpPr>
          <a:xfrm>
            <a:off x="595122" y="635000"/>
            <a:ext cx="9501827" cy="786003"/>
            <a:chOff x="595122" y="635000"/>
            <a:chExt cx="9501827" cy="786003"/>
          </a:xfrm>
        </p:grpSpPr>
        <p:sp>
          <p:nvSpPr>
            <p:cNvPr id="2" name="TextBox 2"/>
            <p:cNvSpPr txBox="1"/>
            <p:nvPr/>
          </p:nvSpPr>
          <p:spPr>
            <a:xfrm>
              <a:off x="603885" y="635000"/>
              <a:ext cx="3531692" cy="220028"/>
            </a:xfrm>
            <a:prstGeom prst="rect">
              <a:avLst/>
            </a:prstGeom>
            <a:noFill/>
            <a:ln>
              <a:noFill/>
            </a:ln>
          </p:spPr>
          <p:txBody>
            <a:bodyPr wrap="none" lIns="0" tIns="0" rIns="0" bIns="0" anchor="t" anchorCtr="0">
              <a:spAutoFit/>
            </a:bodyPr>
            <a:lstStyle/>
            <a:p>
              <a:pPr algn="l"/>
              <a:r>
                <a:rPr lang="id-ID" sz="1120" b="1" spc="150" dirty="0">
                  <a:solidFill>
                    <a:schemeClr val="accent2"/>
                  </a:solidFill>
                  <a:latin typeface="+mn-lt"/>
                  <a:ea typeface="+mn-ea"/>
                  <a:cs typeface="+mn-cs"/>
                </a:rPr>
                <a:t>STRUKTUR INVESTASI · DRAF TERM SHEET</a:t>
              </a:r>
            </a:p>
          </p:txBody>
        </p:sp>
        <p:sp>
          <p:nvSpPr>
            <p:cNvPr id="3" name="TextBox 3"/>
            <p:cNvSpPr txBox="1"/>
            <p:nvPr/>
          </p:nvSpPr>
          <p:spPr>
            <a:xfrm>
              <a:off x="595122" y="863600"/>
              <a:ext cx="9501827" cy="557403"/>
            </a:xfrm>
            <a:prstGeom prst="rect">
              <a:avLst/>
            </a:prstGeom>
            <a:noFill/>
            <a:ln>
              <a:noFill/>
            </a:ln>
          </p:spPr>
          <p:txBody>
            <a:bodyPr wrap="none" lIns="0" tIns="0" rIns="0" bIns="0" anchor="t" anchorCtr="0">
              <a:spAutoFit/>
            </a:bodyPr>
            <a:lstStyle/>
            <a:p>
              <a:pPr algn="l"/>
              <a:r>
                <a:rPr lang="id-ID" sz="2850" b="1" dirty="0">
                  <a:solidFill>
                    <a:schemeClr val="dk1"/>
                  </a:solidFill>
                  <a:latin typeface="+mj-lt"/>
                  <a:ea typeface="+mj-ea"/>
                  <a:cs typeface="+mj-cs"/>
                </a:rPr>
                <a:t>10% saham founder untuk Rp1 M — valuasi Rp10 M</a:t>
              </a:r>
            </a:p>
          </p:txBody>
        </p:sp>
      </p:grpSp>
      <p:grpSp>
        <p:nvGrpSpPr>
          <p:cNvPr id="27" name="investor-rights"/>
          <p:cNvGrpSpPr/>
          <p:nvPr/>
        </p:nvGrpSpPr>
        <p:grpSpPr>
          <a:xfrm>
            <a:off x="609600" y="1676400"/>
            <a:ext cx="3505200" cy="4191000"/>
            <a:chOff x="609600" y="1676400"/>
            <a:chExt cx="3505200" cy="4191000"/>
          </a:xfrm>
        </p:grpSpPr>
        <p:sp>
          <p:nvSpPr>
            <p:cNvPr id="5" name="Rectangle 5"/>
            <p:cNvSpPr/>
            <p:nvPr/>
          </p:nvSpPr>
          <p:spPr>
            <a:xfrm>
              <a:off x="609600" y="1676400"/>
              <a:ext cx="3505200" cy="4191000"/>
            </a:xfrm>
            <a:prstGeom prst="roundRect">
              <a:avLst>
                <a:gd name="adj" fmla="val 5435"/>
              </a:avLst>
            </a:prstGeom>
            <a:solidFill>
              <a:srgbClr val="FFFFFF"/>
            </a:solidFill>
            <a:ln w="9525">
              <a:solidFill>
                <a:schemeClr val="accent6"/>
              </a:solidFill>
            </a:ln>
          </p:spPr>
        </p:sp>
        <p:sp>
          <p:nvSpPr>
            <p:cNvPr id="6" name="Ellipse 6"/>
            <p:cNvSpPr/>
            <p:nvPr/>
          </p:nvSpPr>
          <p:spPr>
            <a:xfrm>
              <a:off x="857250" y="1924050"/>
              <a:ext cx="533400" cy="533400"/>
            </a:xfrm>
            <a:prstGeom prst="ellipse">
              <a:avLst/>
            </a:prstGeom>
            <a:solidFill>
              <a:srgbClr val="E3F3DA"/>
            </a:solidFill>
            <a:ln>
              <a:noFill/>
            </a:ln>
          </p:spPr>
        </p:sp>
        <p:grpSp>
          <p:nvGrpSpPr>
            <p:cNvPr id="13" name="Group 13"/>
            <p:cNvGrpSpPr/>
            <p:nvPr/>
          </p:nvGrpSpPr>
          <p:grpSpPr>
            <a:xfrm>
              <a:off x="1009650" y="2101850"/>
              <a:ext cx="228599" cy="215899"/>
              <a:chOff x="1009650" y="2101850"/>
              <a:chExt cx="228599" cy="215899"/>
            </a:xfrm>
          </p:grpSpPr>
          <p:sp>
            <p:nvSpPr>
              <p:cNvPr id="7" name="Freeform 7"/>
              <p:cNvSpPr/>
              <p:nvPr/>
            </p:nvSpPr>
            <p:spPr>
              <a:xfrm>
                <a:off x="1123950" y="21907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25400">
                <a:solidFill>
                  <a:schemeClr val="accent2"/>
                </a:solidFill>
              </a:ln>
            </p:spPr>
          </p:sp>
          <p:sp>
            <p:nvSpPr>
              <p:cNvPr id="8" name="Freeform 8"/>
              <p:cNvSpPr/>
              <p:nvPr/>
            </p:nvSpPr>
            <p:spPr>
              <a:xfrm>
                <a:off x="1136650" y="2260599"/>
                <a:ext cx="50800" cy="57150"/>
              </a:xfrm>
              <a:custGeom>
                <a:avLst/>
                <a:gdLst/>
                <a:ahLst/>
                <a:cxnLst/>
                <a:rect l="l" t="t" r="r" b="b"/>
                <a:pathLst>
                  <a:path w="50800" h="57150">
                    <a:moveTo>
                      <a:pt x="0" y="0"/>
                    </a:moveTo>
                    <a:lnTo>
                      <a:pt x="0" y="57150"/>
                    </a:lnTo>
                    <a:lnTo>
                      <a:pt x="25400" y="38100"/>
                    </a:lnTo>
                    <a:lnTo>
                      <a:pt x="50800" y="57150"/>
                    </a:lnTo>
                    <a:lnTo>
                      <a:pt x="50800" y="0"/>
                    </a:lnTo>
                  </a:path>
                </a:pathLst>
              </a:custGeom>
              <a:noFill/>
              <a:ln w="25400">
                <a:solidFill>
                  <a:schemeClr val="accent2"/>
                </a:solidFill>
              </a:ln>
            </p:spPr>
          </p:sp>
          <p:sp>
            <p:nvSpPr>
              <p:cNvPr id="9" name="Freeform 9"/>
              <p:cNvSpPr/>
              <p:nvPr/>
            </p:nvSpPr>
            <p:spPr>
              <a:xfrm>
                <a:off x="1009650" y="2101850"/>
                <a:ext cx="228599" cy="177800"/>
              </a:xfrm>
              <a:custGeom>
                <a:avLst/>
                <a:gdLst/>
                <a:ahLst/>
                <a:cxnLst/>
                <a:rect l="l" t="t" r="r" b="b"/>
                <a:pathLst>
                  <a:path w="228599" h="177800">
                    <a:moveTo>
                      <a:pt x="88900" y="177800"/>
                    </a:moveTo>
                    <a:lnTo>
                      <a:pt x="25400" y="177800"/>
                    </a:lnTo>
                    <a:cubicBezTo>
                      <a:pt x="11372" y="177800"/>
                      <a:pt x="0" y="166428"/>
                      <a:pt x="0" y="152400"/>
                    </a:cubicBezTo>
                    <a:lnTo>
                      <a:pt x="0" y="25400"/>
                    </a:lnTo>
                    <a:cubicBezTo>
                      <a:pt x="0" y="11430"/>
                      <a:pt x="11430" y="0"/>
                      <a:pt x="25400" y="0"/>
                    </a:cubicBezTo>
                    <a:lnTo>
                      <a:pt x="203199" y="0"/>
                    </a:lnTo>
                    <a:cubicBezTo>
                      <a:pt x="217227" y="0"/>
                      <a:pt x="228599" y="11372"/>
                      <a:pt x="228599" y="25400"/>
                    </a:cubicBezTo>
                    <a:lnTo>
                      <a:pt x="228599" y="152400"/>
                    </a:lnTo>
                    <a:cubicBezTo>
                      <a:pt x="228590" y="161465"/>
                      <a:pt x="223750" y="169838"/>
                      <a:pt x="215899" y="174371"/>
                    </a:cubicBezTo>
                  </a:path>
                </a:pathLst>
              </a:custGeom>
              <a:noFill/>
              <a:ln w="25400">
                <a:solidFill>
                  <a:schemeClr val="accent2"/>
                </a:solidFill>
              </a:ln>
            </p:spPr>
          </p:sp>
          <p:sp>
            <p:nvSpPr>
              <p:cNvPr id="10" name="Freeform 10"/>
              <p:cNvSpPr/>
              <p:nvPr/>
            </p:nvSpPr>
            <p:spPr>
              <a:xfrm>
                <a:off x="1047750" y="2152650"/>
                <a:ext cx="152400" cy="9525"/>
              </a:xfrm>
              <a:custGeom>
                <a:avLst/>
                <a:gdLst/>
                <a:ahLst/>
                <a:cxnLst/>
                <a:rect l="l" t="t" r="r" b="b"/>
                <a:pathLst>
                  <a:path w="152400" h="9525">
                    <a:moveTo>
                      <a:pt x="0" y="0"/>
                    </a:moveTo>
                    <a:lnTo>
                      <a:pt x="152400" y="0"/>
                    </a:lnTo>
                  </a:path>
                </a:pathLst>
              </a:custGeom>
              <a:noFill/>
              <a:ln w="25400">
                <a:solidFill>
                  <a:schemeClr val="accent2"/>
                </a:solidFill>
              </a:ln>
            </p:spPr>
          </p:sp>
          <p:sp>
            <p:nvSpPr>
              <p:cNvPr id="11" name="Freeform 11"/>
              <p:cNvSpPr/>
              <p:nvPr/>
            </p:nvSpPr>
            <p:spPr>
              <a:xfrm>
                <a:off x="1047750" y="2190750"/>
                <a:ext cx="38100" cy="9525"/>
              </a:xfrm>
              <a:custGeom>
                <a:avLst/>
                <a:gdLst/>
                <a:ahLst/>
                <a:cxnLst/>
                <a:rect l="l" t="t" r="r" b="b"/>
                <a:pathLst>
                  <a:path w="38100" h="9525">
                    <a:moveTo>
                      <a:pt x="0" y="0"/>
                    </a:moveTo>
                    <a:lnTo>
                      <a:pt x="38100" y="0"/>
                    </a:lnTo>
                  </a:path>
                </a:pathLst>
              </a:custGeom>
              <a:noFill/>
              <a:ln w="25400">
                <a:solidFill>
                  <a:schemeClr val="accent2"/>
                </a:solidFill>
              </a:ln>
            </p:spPr>
          </p:sp>
          <p:sp>
            <p:nvSpPr>
              <p:cNvPr id="12" name="Freeform 12"/>
              <p:cNvSpPr/>
              <p:nvPr/>
            </p:nvSpPr>
            <p:spPr>
              <a:xfrm>
                <a:off x="1047750" y="2228850"/>
                <a:ext cx="25400" cy="9525"/>
              </a:xfrm>
              <a:custGeom>
                <a:avLst/>
                <a:gdLst/>
                <a:ahLst/>
                <a:cxnLst/>
                <a:rect l="l" t="t" r="r" b="b"/>
                <a:pathLst>
                  <a:path w="25400" h="9525">
                    <a:moveTo>
                      <a:pt x="0" y="0"/>
                    </a:moveTo>
                    <a:lnTo>
                      <a:pt x="25400" y="0"/>
                    </a:lnTo>
                  </a:path>
                </a:pathLst>
              </a:custGeom>
              <a:noFill/>
              <a:ln w="25400">
                <a:solidFill>
                  <a:schemeClr val="accent2"/>
                </a:solidFill>
              </a:ln>
            </p:spPr>
          </p:sp>
        </p:grpSp>
        <p:sp>
          <p:nvSpPr>
            <p:cNvPr id="14" name="TextBox 14"/>
            <p:cNvSpPr txBox="1"/>
            <p:nvPr/>
          </p:nvSpPr>
          <p:spPr>
            <a:xfrm>
              <a:off x="1514856" y="2051050"/>
              <a:ext cx="1291659"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Hak investor</a:t>
              </a:r>
            </a:p>
          </p:txBody>
        </p:sp>
        <p:grpSp>
          <p:nvGrpSpPr>
            <p:cNvPr id="20" name="Group 20"/>
            <p:cNvGrpSpPr/>
            <p:nvPr/>
          </p:nvGrpSpPr>
          <p:grpSpPr>
            <a:xfrm>
              <a:off x="895350" y="2762250"/>
              <a:ext cx="76200" cy="2343150"/>
              <a:chOff x="895350" y="2762250"/>
              <a:chExt cx="76200" cy="2343150"/>
            </a:xfrm>
          </p:grpSpPr>
          <p:sp>
            <p:nvSpPr>
              <p:cNvPr id="15" name="Ellipse 15"/>
              <p:cNvSpPr/>
              <p:nvPr/>
            </p:nvSpPr>
            <p:spPr>
              <a:xfrm>
                <a:off x="895350" y="2762250"/>
                <a:ext cx="76200" cy="76200"/>
              </a:xfrm>
              <a:prstGeom prst="ellipse">
                <a:avLst/>
              </a:prstGeom>
              <a:solidFill>
                <a:schemeClr val="accent2"/>
              </a:solidFill>
              <a:ln>
                <a:noFill/>
              </a:ln>
            </p:spPr>
          </p:sp>
          <p:sp>
            <p:nvSpPr>
              <p:cNvPr id="16" name="Ellipse 16"/>
              <p:cNvSpPr/>
              <p:nvPr/>
            </p:nvSpPr>
            <p:spPr>
              <a:xfrm>
                <a:off x="895350" y="3390900"/>
                <a:ext cx="76200" cy="76200"/>
              </a:xfrm>
              <a:prstGeom prst="ellipse">
                <a:avLst/>
              </a:prstGeom>
              <a:solidFill>
                <a:schemeClr val="accent2"/>
              </a:solidFill>
              <a:ln>
                <a:noFill/>
              </a:ln>
            </p:spPr>
          </p:sp>
          <p:sp>
            <p:nvSpPr>
              <p:cNvPr id="17" name="Ellipse 17"/>
              <p:cNvSpPr/>
              <p:nvPr/>
            </p:nvSpPr>
            <p:spPr>
              <a:xfrm>
                <a:off x="895350" y="4019550"/>
                <a:ext cx="76200" cy="76200"/>
              </a:xfrm>
              <a:prstGeom prst="ellipse">
                <a:avLst/>
              </a:prstGeom>
              <a:solidFill>
                <a:schemeClr val="accent2"/>
              </a:solidFill>
              <a:ln>
                <a:noFill/>
              </a:ln>
            </p:spPr>
          </p:sp>
          <p:sp>
            <p:nvSpPr>
              <p:cNvPr id="18" name="Ellipse 18"/>
              <p:cNvSpPr/>
              <p:nvPr/>
            </p:nvSpPr>
            <p:spPr>
              <a:xfrm>
                <a:off x="895350" y="4400550"/>
                <a:ext cx="76200" cy="76200"/>
              </a:xfrm>
              <a:prstGeom prst="ellipse">
                <a:avLst/>
              </a:prstGeom>
              <a:solidFill>
                <a:schemeClr val="accent2"/>
              </a:solidFill>
              <a:ln>
                <a:noFill/>
              </a:ln>
            </p:spPr>
          </p:sp>
          <p:sp>
            <p:nvSpPr>
              <p:cNvPr id="19" name="Ellipse 19"/>
              <p:cNvSpPr/>
              <p:nvPr/>
            </p:nvSpPr>
            <p:spPr>
              <a:xfrm>
                <a:off x="895350" y="5029200"/>
                <a:ext cx="76200" cy="76200"/>
              </a:xfrm>
              <a:prstGeom prst="ellipse">
                <a:avLst/>
              </a:prstGeom>
              <a:solidFill>
                <a:schemeClr val="accent2"/>
              </a:solidFill>
              <a:ln>
                <a:noFill/>
              </a:ln>
            </p:spPr>
          </p:sp>
        </p:grpSp>
        <p:grpSp>
          <p:nvGrpSpPr>
            <p:cNvPr id="26" name="Group 26"/>
            <p:cNvGrpSpPr/>
            <p:nvPr/>
          </p:nvGrpSpPr>
          <p:grpSpPr>
            <a:xfrm>
              <a:off x="1078611" y="2679700"/>
              <a:ext cx="2252393" cy="2783776"/>
              <a:chOff x="1078611" y="2679700"/>
              <a:chExt cx="2252393" cy="2783776"/>
            </a:xfrm>
          </p:grpSpPr>
          <p:sp>
            <p:nvSpPr>
              <p:cNvPr id="21" name="TextBox 21"/>
              <p:cNvSpPr txBox="1"/>
              <p:nvPr/>
            </p:nvSpPr>
            <p:spPr>
              <a:xfrm>
                <a:off x="1078611" y="2679700"/>
                <a:ext cx="2024385" cy="516826"/>
              </a:xfrm>
              <a:prstGeom prst="rect">
                <a:avLst/>
              </a:prstGeom>
              <a:noFill/>
              <a:ln>
                <a:noFill/>
              </a:ln>
            </p:spPr>
            <p:txBody>
              <a:bodyPr wrap="none" lIns="0" tIns="0" rIns="0" bIns="0" anchor="t" anchorCtr="0">
                <a:spAutoFit/>
              </a:bodyPr>
              <a:lstStyle/>
              <a:p>
                <a:pPr algn="l">
                  <a:lnSpc>
                    <a:spcPts val="1875"/>
                  </a:lnSpc>
                </a:pPr>
                <a:r>
                  <a:rPr lang="id-ID" sz="1420" dirty="0">
                    <a:solidFill>
                      <a:schemeClr val="dk1"/>
                    </a:solidFill>
                    <a:latin typeface="+mn-lt"/>
                    <a:ea typeface="+mn-ea"/>
                    <a:cs typeface="+mn-cs"/>
                  </a:rPr>
                  <a:t>Saham biasa 10% &amp; dividen</a:t>
                </a:r>
                <a:br>
                  <a:rPr lang="id-ID" sz="1420" dirty="0">
                    <a:solidFill>
                      <a:schemeClr val="dk1"/>
                    </a:solidFill>
                    <a:latin typeface="+mn-lt"/>
                    <a:ea typeface="+mn-ea"/>
                    <a:cs typeface="+mn-cs"/>
                  </a:rPr>
                </a:br>
                <a:r>
                  <a:rPr lang="id-ID" sz="1420" dirty="0">
                    <a:solidFill>
                      <a:schemeClr val="dk1"/>
                    </a:solidFill>
                    <a:latin typeface="+mn-lt"/>
                    <a:ea typeface="+mn-ea"/>
                    <a:cs typeface="+mn-cs"/>
                  </a:rPr>
                  <a:t>proporsional</a:t>
                </a:r>
              </a:p>
            </p:txBody>
          </p:sp>
          <p:sp>
            <p:nvSpPr>
              <p:cNvPr id="22" name="TextBox 22"/>
              <p:cNvSpPr txBox="1"/>
              <p:nvPr/>
            </p:nvSpPr>
            <p:spPr>
              <a:xfrm>
                <a:off x="1078611" y="3308350"/>
                <a:ext cx="2162634" cy="516826"/>
              </a:xfrm>
              <a:prstGeom prst="rect">
                <a:avLst/>
              </a:prstGeom>
              <a:noFill/>
              <a:ln>
                <a:noFill/>
              </a:ln>
            </p:spPr>
            <p:txBody>
              <a:bodyPr wrap="none" lIns="0" tIns="0" rIns="0" bIns="0" anchor="t" anchorCtr="0">
                <a:spAutoFit/>
              </a:bodyPr>
              <a:lstStyle/>
              <a:p>
                <a:pPr algn="l">
                  <a:lnSpc>
                    <a:spcPts val="1875"/>
                  </a:lnSpc>
                </a:pPr>
                <a:r>
                  <a:rPr lang="id-ID" sz="1420" dirty="0">
                    <a:solidFill>
                      <a:schemeClr val="dk1"/>
                    </a:solidFill>
                    <a:latin typeface="+mn-lt"/>
                    <a:ea typeface="+mn-ea"/>
                    <a:cs typeface="+mn-cs"/>
                  </a:rPr>
                  <a:t>Laporan bulanan &amp; keuangan</a:t>
                </a:r>
                <a:br>
                  <a:rPr lang="id-ID" sz="1420" dirty="0">
                    <a:solidFill>
                      <a:schemeClr val="dk1"/>
                    </a:solidFill>
                    <a:latin typeface="+mn-lt"/>
                    <a:ea typeface="+mn-ea"/>
                    <a:cs typeface="+mn-cs"/>
                  </a:rPr>
                </a:br>
                <a:r>
                  <a:rPr lang="id-ID" sz="1420" dirty="0">
                    <a:solidFill>
                      <a:schemeClr val="dk1"/>
                    </a:solidFill>
                    <a:latin typeface="+mn-lt"/>
                    <a:ea typeface="+mn-ea"/>
                    <a:cs typeface="+mn-cs"/>
                  </a:rPr>
                  <a:t>kuartalan</a:t>
                </a:r>
              </a:p>
            </p:txBody>
          </p:sp>
          <p:sp>
            <p:nvSpPr>
              <p:cNvPr id="23" name="TextBox 23"/>
              <p:cNvSpPr txBox="1"/>
              <p:nvPr/>
            </p:nvSpPr>
            <p:spPr>
              <a:xfrm>
                <a:off x="1078611" y="3949700"/>
                <a:ext cx="2252393" cy="278702"/>
              </a:xfrm>
              <a:prstGeom prst="rect">
                <a:avLst/>
              </a:prstGeom>
              <a:noFill/>
              <a:ln>
                <a:noFill/>
              </a:ln>
            </p:spPr>
            <p:txBody>
              <a:bodyPr wrap="none" lIns="0" tIns="0" rIns="0" bIns="0" anchor="t" anchorCtr="0">
                <a:spAutoFit/>
              </a:bodyPr>
              <a:lstStyle/>
              <a:p>
                <a:pPr algn="l"/>
                <a:r>
                  <a:rPr lang="id-ID" sz="1420" dirty="0">
                    <a:solidFill>
                      <a:schemeClr val="dk1"/>
                    </a:solidFill>
                    <a:latin typeface="+mn-lt"/>
                    <a:ea typeface="+mn-ea"/>
                    <a:cs typeface="+mn-cs"/>
                  </a:rPr>
                  <a:t>1 kursi komisaris / pengamat</a:t>
                </a:r>
              </a:p>
            </p:txBody>
          </p:sp>
          <p:sp>
            <p:nvSpPr>
              <p:cNvPr id="24" name="TextBox 24"/>
              <p:cNvSpPr txBox="1"/>
              <p:nvPr/>
            </p:nvSpPr>
            <p:spPr>
              <a:xfrm>
                <a:off x="1078611" y="4318000"/>
                <a:ext cx="1894775" cy="516826"/>
              </a:xfrm>
              <a:prstGeom prst="rect">
                <a:avLst/>
              </a:prstGeom>
              <a:noFill/>
              <a:ln>
                <a:noFill/>
              </a:ln>
            </p:spPr>
            <p:txBody>
              <a:bodyPr wrap="none" lIns="0" tIns="0" rIns="0" bIns="0" anchor="t" anchorCtr="0">
                <a:spAutoFit/>
              </a:bodyPr>
              <a:lstStyle/>
              <a:p>
                <a:pPr algn="l">
                  <a:lnSpc>
                    <a:spcPts val="1875"/>
                  </a:lnSpc>
                </a:pPr>
                <a:r>
                  <a:rPr lang="id-ID" sz="1420" dirty="0">
                    <a:solidFill>
                      <a:schemeClr val="dk1"/>
                    </a:solidFill>
                    <a:latin typeface="+mn-lt"/>
                    <a:ea typeface="+mn-ea"/>
                    <a:cs typeface="+mn-cs"/>
                  </a:rPr>
                  <a:t>Hak didahulukan saat ada</a:t>
                </a:r>
                <a:br>
                  <a:rPr lang="id-ID" sz="1420" dirty="0">
                    <a:solidFill>
                      <a:schemeClr val="dk1"/>
                    </a:solidFill>
                    <a:latin typeface="+mn-lt"/>
                    <a:ea typeface="+mn-ea"/>
                    <a:cs typeface="+mn-cs"/>
                  </a:rPr>
                </a:br>
                <a:r>
                  <a:rPr lang="id-ID" sz="1420" dirty="0">
                    <a:solidFill>
                      <a:schemeClr val="dk1"/>
                    </a:solidFill>
                    <a:latin typeface="+mn-lt"/>
                    <a:ea typeface="+mn-ea"/>
                    <a:cs typeface="+mn-cs"/>
                  </a:rPr>
                  <a:t>penerbitan saham baru</a:t>
                </a:r>
              </a:p>
            </p:txBody>
          </p:sp>
          <p:sp>
            <p:nvSpPr>
              <p:cNvPr id="25" name="TextBox 25"/>
              <p:cNvSpPr txBox="1"/>
              <p:nvPr/>
            </p:nvSpPr>
            <p:spPr>
              <a:xfrm>
                <a:off x="1078611" y="4946650"/>
                <a:ext cx="1916542" cy="516826"/>
              </a:xfrm>
              <a:prstGeom prst="rect">
                <a:avLst/>
              </a:prstGeom>
              <a:noFill/>
              <a:ln>
                <a:noFill/>
              </a:ln>
            </p:spPr>
            <p:txBody>
              <a:bodyPr wrap="none" lIns="0" tIns="0" rIns="0" bIns="0" anchor="t" anchorCtr="0">
                <a:spAutoFit/>
              </a:bodyPr>
              <a:lstStyle/>
              <a:p>
                <a:pPr algn="l">
                  <a:lnSpc>
                    <a:spcPts val="1875"/>
                  </a:lnSpc>
                </a:pPr>
                <a:r>
                  <a:rPr lang="id-ID" sz="1420" dirty="0">
                    <a:solidFill>
                      <a:schemeClr val="dk1"/>
                    </a:solidFill>
                    <a:latin typeface="+mn-lt"/>
                    <a:ea typeface="+mn-ea"/>
                    <a:cs typeface="+mn-cs"/>
                  </a:rPr>
                  <a:t>Hak veto keputusan besar</a:t>
                </a:r>
                <a:br>
                  <a:rPr lang="id-ID" sz="1420" dirty="0">
                    <a:solidFill>
                      <a:schemeClr val="dk1"/>
                    </a:solidFill>
                    <a:latin typeface="+mn-lt"/>
                    <a:ea typeface="+mn-ea"/>
                    <a:cs typeface="+mn-cs"/>
                  </a:rPr>
                </a:br>
                <a:r>
                  <a:rPr lang="id-ID" sz="1420" dirty="0">
                    <a:solidFill>
                      <a:schemeClr val="dk1"/>
                    </a:solidFill>
                    <a:latin typeface="+mn-lt"/>
                    <a:ea typeface="+mn-ea"/>
                    <a:cs typeface="+mn-cs"/>
                  </a:rPr>
                  <a:t>&amp; tag-along</a:t>
                </a:r>
              </a:p>
            </p:txBody>
          </p:sp>
        </p:grpSp>
      </p:grpSp>
      <p:grpSp>
        <p:nvGrpSpPr>
          <p:cNvPr id="49" name="investor-duties"/>
          <p:cNvGrpSpPr/>
          <p:nvPr/>
        </p:nvGrpSpPr>
        <p:grpSpPr>
          <a:xfrm>
            <a:off x="4343400" y="1676400"/>
            <a:ext cx="3505200" cy="4191000"/>
            <a:chOff x="4343400" y="1676400"/>
            <a:chExt cx="3505200" cy="4191000"/>
          </a:xfrm>
        </p:grpSpPr>
        <p:sp>
          <p:nvSpPr>
            <p:cNvPr id="28" name="Rectangle 28"/>
            <p:cNvSpPr/>
            <p:nvPr/>
          </p:nvSpPr>
          <p:spPr>
            <a:xfrm>
              <a:off x="4343400" y="1676400"/>
              <a:ext cx="3505200" cy="4191000"/>
            </a:xfrm>
            <a:prstGeom prst="roundRect">
              <a:avLst>
                <a:gd name="adj" fmla="val 5435"/>
              </a:avLst>
            </a:prstGeom>
            <a:solidFill>
              <a:srgbClr val="FFFFFF"/>
            </a:solidFill>
            <a:ln w="9525">
              <a:solidFill>
                <a:schemeClr val="accent6"/>
              </a:solidFill>
            </a:ln>
          </p:spPr>
        </p:sp>
        <p:sp>
          <p:nvSpPr>
            <p:cNvPr id="29" name="Ellipse 29"/>
            <p:cNvSpPr/>
            <p:nvPr/>
          </p:nvSpPr>
          <p:spPr>
            <a:xfrm>
              <a:off x="4591050" y="1924050"/>
              <a:ext cx="533400" cy="533400"/>
            </a:xfrm>
            <a:prstGeom prst="ellipse">
              <a:avLst/>
            </a:prstGeom>
            <a:solidFill>
              <a:schemeClr val="lt2"/>
            </a:solidFill>
            <a:ln>
              <a:noFill/>
            </a:ln>
          </p:spPr>
        </p:sp>
        <p:grpSp>
          <p:nvGrpSpPr>
            <p:cNvPr id="35" name="Group 35"/>
            <p:cNvGrpSpPr/>
            <p:nvPr/>
          </p:nvGrpSpPr>
          <p:grpSpPr>
            <a:xfrm>
              <a:off x="4743450" y="2076450"/>
              <a:ext cx="228600" cy="225424"/>
              <a:chOff x="4743450" y="2076450"/>
              <a:chExt cx="228600" cy="225424"/>
            </a:xfrm>
          </p:grpSpPr>
          <p:sp>
            <p:nvSpPr>
              <p:cNvPr id="30" name="Freeform 30"/>
              <p:cNvSpPr/>
              <p:nvPr/>
            </p:nvSpPr>
            <p:spPr>
              <a:xfrm>
                <a:off x="4794250" y="2292349"/>
                <a:ext cx="127000" cy="9525"/>
              </a:xfrm>
              <a:custGeom>
                <a:avLst/>
                <a:gdLst/>
                <a:ahLst/>
                <a:cxnLst/>
                <a:rect l="l" t="t" r="r" b="b"/>
                <a:pathLst>
                  <a:path w="127000" h="9525">
                    <a:moveTo>
                      <a:pt x="0" y="0"/>
                    </a:moveTo>
                    <a:lnTo>
                      <a:pt x="127000" y="0"/>
                    </a:lnTo>
                  </a:path>
                </a:pathLst>
              </a:custGeom>
              <a:noFill/>
              <a:ln w="25400">
                <a:solidFill>
                  <a:schemeClr val="accent1"/>
                </a:solidFill>
              </a:ln>
            </p:spPr>
          </p:sp>
          <p:sp>
            <p:nvSpPr>
              <p:cNvPr id="31" name="Freeform 31"/>
              <p:cNvSpPr/>
              <p:nvPr/>
            </p:nvSpPr>
            <p:spPr>
              <a:xfrm>
                <a:off x="4781550" y="2101850"/>
                <a:ext cx="152400" cy="12700"/>
              </a:xfrm>
              <a:custGeom>
                <a:avLst/>
                <a:gdLst/>
                <a:ahLst/>
                <a:cxnLst/>
                <a:rect l="l" t="t" r="r" b="b"/>
                <a:pathLst>
                  <a:path w="152400" h="12700">
                    <a:moveTo>
                      <a:pt x="0" y="12700"/>
                    </a:moveTo>
                    <a:lnTo>
                      <a:pt x="76200" y="0"/>
                    </a:lnTo>
                    <a:lnTo>
                      <a:pt x="152400" y="12700"/>
                    </a:lnTo>
                  </a:path>
                </a:pathLst>
              </a:custGeom>
              <a:noFill/>
              <a:ln w="25400">
                <a:solidFill>
                  <a:schemeClr val="accent1"/>
                </a:solidFill>
              </a:ln>
            </p:spPr>
          </p:sp>
          <p:sp>
            <p:nvSpPr>
              <p:cNvPr id="32" name="Freeform 32"/>
              <p:cNvSpPr/>
              <p:nvPr/>
            </p:nvSpPr>
            <p:spPr>
              <a:xfrm>
                <a:off x="4857750" y="2076450"/>
                <a:ext cx="9525" cy="215899"/>
              </a:xfrm>
              <a:custGeom>
                <a:avLst/>
                <a:gdLst/>
                <a:ahLst/>
                <a:cxnLst/>
                <a:rect l="l" t="t" r="r" b="b"/>
                <a:pathLst>
                  <a:path w="9525" h="215899">
                    <a:moveTo>
                      <a:pt x="0" y="0"/>
                    </a:moveTo>
                    <a:lnTo>
                      <a:pt x="0" y="215899"/>
                    </a:lnTo>
                  </a:path>
                </a:pathLst>
              </a:custGeom>
              <a:noFill/>
              <a:ln w="25400">
                <a:solidFill>
                  <a:schemeClr val="accent1"/>
                </a:solidFill>
              </a:ln>
            </p:spPr>
          </p:sp>
          <p:sp>
            <p:nvSpPr>
              <p:cNvPr id="33" name="Freeform 33"/>
              <p:cNvSpPr/>
              <p:nvPr/>
            </p:nvSpPr>
            <p:spPr>
              <a:xfrm>
                <a:off x="4743450" y="2114550"/>
                <a:ext cx="76200" cy="114300"/>
              </a:xfrm>
              <a:custGeom>
                <a:avLst/>
                <a:gdLst/>
                <a:ahLst/>
                <a:cxnLst/>
                <a:rect l="l" t="t" r="r" b="b"/>
                <a:pathLst>
                  <a:path w="76200" h="114300">
                    <a:moveTo>
                      <a:pt x="76200" y="76200"/>
                    </a:moveTo>
                    <a:lnTo>
                      <a:pt x="38100" y="0"/>
                    </a:lnTo>
                    <a:lnTo>
                      <a:pt x="0" y="76200"/>
                    </a:lnTo>
                    <a:cubicBezTo>
                      <a:pt x="0" y="97242"/>
                      <a:pt x="17058" y="114300"/>
                      <a:pt x="38100" y="114300"/>
                    </a:cubicBezTo>
                    <a:cubicBezTo>
                      <a:pt x="59142" y="114300"/>
                      <a:pt x="76200" y="97242"/>
                      <a:pt x="76200" y="76200"/>
                    </a:cubicBezTo>
                  </a:path>
                </a:pathLst>
              </a:custGeom>
              <a:noFill/>
              <a:ln w="25400">
                <a:solidFill>
                  <a:schemeClr val="accent1"/>
                </a:solidFill>
              </a:ln>
            </p:spPr>
          </p:sp>
          <p:sp>
            <p:nvSpPr>
              <p:cNvPr id="34" name="Freeform 34"/>
              <p:cNvSpPr/>
              <p:nvPr/>
            </p:nvSpPr>
            <p:spPr>
              <a:xfrm>
                <a:off x="4895850" y="2114550"/>
                <a:ext cx="76200" cy="114300"/>
              </a:xfrm>
              <a:custGeom>
                <a:avLst/>
                <a:gdLst/>
                <a:ahLst/>
                <a:cxnLst/>
                <a:rect l="l" t="t" r="r" b="b"/>
                <a:pathLst>
                  <a:path w="76200" h="114300">
                    <a:moveTo>
                      <a:pt x="76200" y="76200"/>
                    </a:moveTo>
                    <a:lnTo>
                      <a:pt x="38100" y="0"/>
                    </a:lnTo>
                    <a:lnTo>
                      <a:pt x="0" y="76200"/>
                    </a:lnTo>
                    <a:cubicBezTo>
                      <a:pt x="0" y="97242"/>
                      <a:pt x="17058" y="114300"/>
                      <a:pt x="38100" y="114300"/>
                    </a:cubicBezTo>
                    <a:cubicBezTo>
                      <a:pt x="59142" y="114300"/>
                      <a:pt x="76200" y="97242"/>
                      <a:pt x="76200" y="76200"/>
                    </a:cubicBezTo>
                  </a:path>
                </a:pathLst>
              </a:custGeom>
              <a:noFill/>
              <a:ln w="25400">
                <a:solidFill>
                  <a:schemeClr val="accent1"/>
                </a:solidFill>
              </a:ln>
            </p:spPr>
          </p:sp>
        </p:grpSp>
        <p:sp>
          <p:nvSpPr>
            <p:cNvPr id="36" name="TextBox 36"/>
            <p:cNvSpPr txBox="1"/>
            <p:nvPr/>
          </p:nvSpPr>
          <p:spPr>
            <a:xfrm>
              <a:off x="5248656" y="2051050"/>
              <a:ext cx="1958530" cy="352044"/>
            </a:xfrm>
            <a:prstGeom prst="rect">
              <a:avLst/>
            </a:prstGeom>
            <a:noFill/>
            <a:ln>
              <a:noFill/>
            </a:ln>
          </p:spPr>
          <p:txBody>
            <a:bodyPr wrap="none" lIns="0" tIns="0" rIns="0" bIns="0" anchor="t" anchorCtr="0">
              <a:spAutoFit/>
            </a:bodyPr>
            <a:lstStyle/>
            <a:p>
              <a:pPr algn="l"/>
              <a:r>
                <a:rPr lang="id-ID" sz="1800" b="1" dirty="0">
                  <a:solidFill>
                    <a:schemeClr val="dk1"/>
                  </a:solidFill>
                  <a:latin typeface="+mn-lt"/>
                  <a:ea typeface="+mn-ea"/>
                  <a:cs typeface="+mn-cs"/>
                </a:rPr>
                <a:t>Kewajiban investor</a:t>
              </a:r>
            </a:p>
          </p:txBody>
        </p:sp>
        <p:grpSp>
          <p:nvGrpSpPr>
            <p:cNvPr id="42" name="Group 42"/>
            <p:cNvGrpSpPr/>
            <p:nvPr/>
          </p:nvGrpSpPr>
          <p:grpSpPr>
            <a:xfrm>
              <a:off x="4629150" y="2762250"/>
              <a:ext cx="76200" cy="1847850"/>
              <a:chOff x="4629150" y="2762250"/>
              <a:chExt cx="76200" cy="1847850"/>
            </a:xfrm>
          </p:grpSpPr>
          <p:sp>
            <p:nvSpPr>
              <p:cNvPr id="37" name="Ellipse 37"/>
              <p:cNvSpPr/>
              <p:nvPr/>
            </p:nvSpPr>
            <p:spPr>
              <a:xfrm>
                <a:off x="4629150" y="2762250"/>
                <a:ext cx="76200" cy="76200"/>
              </a:xfrm>
              <a:prstGeom prst="ellipse">
                <a:avLst/>
              </a:prstGeom>
              <a:solidFill>
                <a:schemeClr val="accent1"/>
              </a:solidFill>
              <a:ln>
                <a:noFill/>
              </a:ln>
            </p:spPr>
          </p:sp>
          <p:sp>
            <p:nvSpPr>
              <p:cNvPr id="38" name="Ellipse 38"/>
              <p:cNvSpPr/>
              <p:nvPr/>
            </p:nvSpPr>
            <p:spPr>
              <a:xfrm>
                <a:off x="4629150" y="3143250"/>
                <a:ext cx="76200" cy="76200"/>
              </a:xfrm>
              <a:prstGeom prst="ellipse">
                <a:avLst/>
              </a:prstGeom>
              <a:solidFill>
                <a:schemeClr val="accent1"/>
              </a:solidFill>
              <a:ln>
                <a:noFill/>
              </a:ln>
            </p:spPr>
          </p:sp>
          <p:sp>
            <p:nvSpPr>
              <p:cNvPr id="39" name="Ellipse 39"/>
              <p:cNvSpPr/>
              <p:nvPr/>
            </p:nvSpPr>
            <p:spPr>
              <a:xfrm>
                <a:off x="4629150" y="3524250"/>
                <a:ext cx="76200" cy="76200"/>
              </a:xfrm>
              <a:prstGeom prst="ellipse">
                <a:avLst/>
              </a:prstGeom>
              <a:solidFill>
                <a:schemeClr val="accent1"/>
              </a:solidFill>
              <a:ln>
                <a:noFill/>
              </a:ln>
            </p:spPr>
          </p:sp>
          <p:sp>
            <p:nvSpPr>
              <p:cNvPr id="40" name="Ellipse 40"/>
              <p:cNvSpPr/>
              <p:nvPr/>
            </p:nvSpPr>
            <p:spPr>
              <a:xfrm>
                <a:off x="4629150" y="4152900"/>
                <a:ext cx="76200" cy="76200"/>
              </a:xfrm>
              <a:prstGeom prst="ellipse">
                <a:avLst/>
              </a:prstGeom>
              <a:solidFill>
                <a:schemeClr val="accent1"/>
              </a:solidFill>
              <a:ln>
                <a:noFill/>
              </a:ln>
            </p:spPr>
          </p:sp>
          <p:sp>
            <p:nvSpPr>
              <p:cNvPr id="41" name="Ellipse 41"/>
              <p:cNvSpPr/>
              <p:nvPr/>
            </p:nvSpPr>
            <p:spPr>
              <a:xfrm>
                <a:off x="4629150" y="4533900"/>
                <a:ext cx="76200" cy="76200"/>
              </a:xfrm>
              <a:prstGeom prst="ellipse">
                <a:avLst/>
              </a:prstGeom>
              <a:solidFill>
                <a:schemeClr val="accent1"/>
              </a:solidFill>
              <a:ln>
                <a:noFill/>
              </a:ln>
            </p:spPr>
          </p:sp>
        </p:grpSp>
        <p:grpSp>
          <p:nvGrpSpPr>
            <p:cNvPr id="48" name="Group 48"/>
            <p:cNvGrpSpPr/>
            <p:nvPr/>
          </p:nvGrpSpPr>
          <p:grpSpPr>
            <a:xfrm>
              <a:off x="4812411" y="2692400"/>
              <a:ext cx="2569841" cy="2275776"/>
              <a:chOff x="4812411" y="2692400"/>
              <a:chExt cx="2569841" cy="2275776"/>
            </a:xfrm>
          </p:grpSpPr>
          <p:sp>
            <p:nvSpPr>
              <p:cNvPr id="43" name="TextBox 43"/>
              <p:cNvSpPr txBox="1"/>
              <p:nvPr/>
            </p:nvSpPr>
            <p:spPr>
              <a:xfrm>
                <a:off x="4812411" y="2692400"/>
                <a:ext cx="2569841" cy="278702"/>
              </a:xfrm>
              <a:prstGeom prst="rect">
                <a:avLst/>
              </a:prstGeom>
              <a:noFill/>
              <a:ln>
                <a:noFill/>
              </a:ln>
            </p:spPr>
            <p:txBody>
              <a:bodyPr wrap="none" lIns="0" tIns="0" rIns="0" bIns="0" anchor="t" anchorCtr="0">
                <a:spAutoFit/>
              </a:bodyPr>
              <a:lstStyle/>
              <a:p>
                <a:pPr algn="l"/>
                <a:r>
                  <a:rPr lang="id-ID" sz="1420" dirty="0">
                    <a:solidFill>
                      <a:schemeClr val="dk1"/>
                    </a:solidFill>
                    <a:latin typeface="+mn-lt"/>
                    <a:ea typeface="+mn-ea"/>
                    <a:cs typeface="+mn-cs"/>
                  </a:rPr>
                  <a:t>Setor dana 2 tahap sesuai jadwal</a:t>
                </a:r>
              </a:p>
            </p:txBody>
          </p:sp>
          <p:sp>
            <p:nvSpPr>
              <p:cNvPr id="44" name="TextBox 44"/>
              <p:cNvSpPr txBox="1"/>
              <p:nvPr/>
            </p:nvSpPr>
            <p:spPr>
              <a:xfrm>
                <a:off x="4812411" y="3073400"/>
                <a:ext cx="2204083" cy="278702"/>
              </a:xfrm>
              <a:prstGeom prst="rect">
                <a:avLst/>
              </a:prstGeom>
              <a:noFill/>
              <a:ln>
                <a:noFill/>
              </a:ln>
            </p:spPr>
            <p:txBody>
              <a:bodyPr wrap="none" lIns="0" tIns="0" rIns="0" bIns="0" anchor="t" anchorCtr="0">
                <a:spAutoFit/>
              </a:bodyPr>
              <a:lstStyle/>
              <a:p>
                <a:pPr algn="l"/>
                <a:r>
                  <a:rPr lang="id-ID" sz="1420" dirty="0">
                    <a:solidFill>
                      <a:schemeClr val="dk1"/>
                    </a:solidFill>
                    <a:latin typeface="+mn-lt"/>
                    <a:ea typeface="+mn-ea"/>
                    <a:cs typeface="+mn-cs"/>
                  </a:rPr>
                  <a:t>Menjaga kerahasiaan (NDA)</a:t>
                </a:r>
              </a:p>
            </p:txBody>
          </p:sp>
          <p:sp>
            <p:nvSpPr>
              <p:cNvPr id="45" name="TextBox 45"/>
              <p:cNvSpPr txBox="1"/>
              <p:nvPr/>
            </p:nvSpPr>
            <p:spPr>
              <a:xfrm>
                <a:off x="4812411" y="3441700"/>
                <a:ext cx="2260306" cy="516826"/>
              </a:xfrm>
              <a:prstGeom prst="rect">
                <a:avLst/>
              </a:prstGeom>
              <a:noFill/>
              <a:ln>
                <a:noFill/>
              </a:ln>
            </p:spPr>
            <p:txBody>
              <a:bodyPr wrap="none" lIns="0" tIns="0" rIns="0" bIns="0" anchor="t" anchorCtr="0">
                <a:spAutoFit/>
              </a:bodyPr>
              <a:lstStyle/>
              <a:p>
                <a:pPr algn="l">
                  <a:lnSpc>
                    <a:spcPts val="1875"/>
                  </a:lnSpc>
                </a:pPr>
                <a:r>
                  <a:rPr lang="id-ID" sz="1420" dirty="0">
                    <a:solidFill>
                      <a:schemeClr val="dk1"/>
                    </a:solidFill>
                    <a:latin typeface="+mn-lt"/>
                    <a:ea typeface="+mn-ea"/>
                    <a:cs typeface="+mn-cs"/>
                  </a:rPr>
                  <a:t>Tanpa akses data rekam medis</a:t>
                </a:r>
                <a:br>
                  <a:rPr lang="id-ID" sz="1420" dirty="0">
                    <a:solidFill>
                      <a:schemeClr val="dk1"/>
                    </a:solidFill>
                    <a:latin typeface="+mn-lt"/>
                    <a:ea typeface="+mn-ea"/>
                    <a:cs typeface="+mn-cs"/>
                  </a:rPr>
                </a:br>
                <a:r>
                  <a:rPr lang="id-ID" sz="1420" dirty="0">
                    <a:solidFill>
                      <a:schemeClr val="dk1"/>
                    </a:solidFill>
                    <a:latin typeface="+mn-lt"/>
                    <a:ea typeface="+mn-ea"/>
                    <a:cs typeface="+mn-cs"/>
                  </a:rPr>
                  <a:t>pasien (UU PDP)</a:t>
                </a:r>
              </a:p>
            </p:txBody>
          </p:sp>
          <p:sp>
            <p:nvSpPr>
              <p:cNvPr id="46" name="TextBox 46"/>
              <p:cNvSpPr txBox="1"/>
              <p:nvPr/>
            </p:nvSpPr>
            <p:spPr>
              <a:xfrm>
                <a:off x="4812411" y="4083050"/>
                <a:ext cx="2264583" cy="278702"/>
              </a:xfrm>
              <a:prstGeom prst="rect">
                <a:avLst/>
              </a:prstGeom>
              <a:noFill/>
              <a:ln>
                <a:noFill/>
              </a:ln>
            </p:spPr>
            <p:txBody>
              <a:bodyPr wrap="none" lIns="0" tIns="0" rIns="0" bIns="0" anchor="t" anchorCtr="0">
                <a:spAutoFit/>
              </a:bodyPr>
              <a:lstStyle/>
              <a:p>
                <a:pPr algn="l"/>
                <a:r>
                  <a:rPr lang="id-ID" sz="1420" dirty="0">
                    <a:solidFill>
                      <a:schemeClr val="dk1"/>
                    </a:solidFill>
                    <a:latin typeface="+mn-lt"/>
                    <a:ea typeface="+mn-ea"/>
                    <a:cs typeface="+mn-cs"/>
                  </a:rPr>
                  <a:t>Tidak ikut operasional harian</a:t>
                </a:r>
              </a:p>
            </p:txBody>
          </p:sp>
          <p:sp>
            <p:nvSpPr>
              <p:cNvPr id="47" name="TextBox 47"/>
              <p:cNvSpPr txBox="1"/>
              <p:nvPr/>
            </p:nvSpPr>
            <p:spPr>
              <a:xfrm>
                <a:off x="4812411" y="4451350"/>
                <a:ext cx="2353668" cy="516826"/>
              </a:xfrm>
              <a:prstGeom prst="rect">
                <a:avLst/>
              </a:prstGeom>
              <a:noFill/>
              <a:ln>
                <a:noFill/>
              </a:ln>
            </p:spPr>
            <p:txBody>
              <a:bodyPr wrap="none" lIns="0" tIns="0" rIns="0" bIns="0" anchor="t" anchorCtr="0">
                <a:spAutoFit/>
              </a:bodyPr>
              <a:lstStyle/>
              <a:p>
                <a:pPr algn="l">
                  <a:lnSpc>
                    <a:spcPts val="1875"/>
                  </a:lnSpc>
                </a:pPr>
                <a:r>
                  <a:rPr lang="id-ID" sz="1420" dirty="0">
                    <a:solidFill>
                      <a:schemeClr val="dk1"/>
                    </a:solidFill>
                    <a:latin typeface="+mn-lt"/>
                    <a:ea typeface="+mn-ea"/>
                    <a:cs typeface="+mn-cs"/>
                  </a:rPr>
                  <a:t>Lock-up 24 bulan; tidak menjual</a:t>
                </a:r>
                <a:br>
                  <a:rPr lang="id-ID" sz="1420" dirty="0">
                    <a:solidFill>
                      <a:schemeClr val="dk1"/>
                    </a:solidFill>
                    <a:latin typeface="+mn-lt"/>
                    <a:ea typeface="+mn-ea"/>
                    <a:cs typeface="+mn-cs"/>
                  </a:rPr>
                </a:br>
                <a:r>
                  <a:rPr lang="id-ID" sz="1420" dirty="0">
                    <a:solidFill>
                      <a:schemeClr val="dk1"/>
                    </a:solidFill>
                    <a:latin typeface="+mn-lt"/>
                    <a:ea typeface="+mn-ea"/>
                    <a:cs typeface="+mn-cs"/>
                  </a:rPr>
                  <a:t>saham ke pesaing</a:t>
                </a:r>
              </a:p>
            </p:txBody>
          </p:sp>
        </p:grpSp>
      </p:grpSp>
      <p:grpSp>
        <p:nvGrpSpPr>
          <p:cNvPr id="70" name="founder-commitments"/>
          <p:cNvGrpSpPr/>
          <p:nvPr/>
        </p:nvGrpSpPr>
        <p:grpSpPr>
          <a:xfrm>
            <a:off x="8077200" y="1676400"/>
            <a:ext cx="3505200" cy="4191000"/>
            <a:chOff x="8077200" y="1676400"/>
            <a:chExt cx="3505200" cy="4191000"/>
          </a:xfrm>
        </p:grpSpPr>
        <p:sp>
          <p:nvSpPr>
            <p:cNvPr id="50" name="Rectangle 50"/>
            <p:cNvSpPr/>
            <p:nvPr/>
          </p:nvSpPr>
          <p:spPr>
            <a:xfrm>
              <a:off x="8077200" y="1676400"/>
              <a:ext cx="3505200" cy="4191000"/>
            </a:xfrm>
            <a:prstGeom prst="roundRect">
              <a:avLst>
                <a:gd name="adj" fmla="val 5435"/>
              </a:avLst>
            </a:prstGeom>
            <a:solidFill>
              <a:schemeClr val="accent1"/>
            </a:solidFill>
            <a:ln>
              <a:noFill/>
            </a:ln>
          </p:spPr>
        </p:sp>
        <p:sp>
          <p:nvSpPr>
            <p:cNvPr id="51" name="Ellipse 51"/>
            <p:cNvSpPr/>
            <p:nvPr/>
          </p:nvSpPr>
          <p:spPr>
            <a:xfrm>
              <a:off x="8324850" y="1924050"/>
              <a:ext cx="533400" cy="533400"/>
            </a:xfrm>
            <a:prstGeom prst="ellipse">
              <a:avLst/>
            </a:prstGeom>
            <a:solidFill>
              <a:schemeClr val="accent3"/>
            </a:solidFill>
            <a:ln>
              <a:noFill/>
            </a:ln>
          </p:spPr>
        </p:sp>
        <p:grpSp>
          <p:nvGrpSpPr>
            <p:cNvPr id="56" name="Group 56"/>
            <p:cNvGrpSpPr/>
            <p:nvPr/>
          </p:nvGrpSpPr>
          <p:grpSpPr>
            <a:xfrm>
              <a:off x="8477250" y="2076450"/>
              <a:ext cx="228599" cy="215900"/>
              <a:chOff x="8477250" y="2076450"/>
              <a:chExt cx="228599" cy="215900"/>
            </a:xfrm>
          </p:grpSpPr>
          <p:sp>
            <p:nvSpPr>
              <p:cNvPr id="52" name="Freeform 52"/>
              <p:cNvSpPr/>
              <p:nvPr/>
            </p:nvSpPr>
            <p:spPr>
              <a:xfrm>
                <a:off x="8477250" y="2127250"/>
                <a:ext cx="228599" cy="165100"/>
              </a:xfrm>
              <a:custGeom>
                <a:avLst/>
                <a:gdLst/>
                <a:ahLst/>
                <a:cxnLst/>
                <a:rect l="l" t="t" r="r" b="b"/>
                <a:pathLst>
                  <a:path w="228599" h="165100">
                    <a:moveTo>
                      <a:pt x="0" y="25400"/>
                    </a:moveTo>
                    <a:cubicBezTo>
                      <a:pt x="0" y="11372"/>
                      <a:pt x="11372" y="0"/>
                      <a:pt x="25400" y="0"/>
                    </a:cubicBezTo>
                    <a:lnTo>
                      <a:pt x="203199" y="0"/>
                    </a:lnTo>
                    <a:cubicBezTo>
                      <a:pt x="217227" y="0"/>
                      <a:pt x="228599" y="11372"/>
                      <a:pt x="228599" y="25400"/>
                    </a:cubicBezTo>
                    <a:lnTo>
                      <a:pt x="228599" y="139700"/>
                    </a:lnTo>
                    <a:cubicBezTo>
                      <a:pt x="228599" y="153728"/>
                      <a:pt x="217227" y="165100"/>
                      <a:pt x="203199" y="165100"/>
                    </a:cubicBezTo>
                    <a:lnTo>
                      <a:pt x="25400" y="165100"/>
                    </a:lnTo>
                    <a:cubicBezTo>
                      <a:pt x="11372" y="165100"/>
                      <a:pt x="0" y="153728"/>
                      <a:pt x="0" y="139700"/>
                    </a:cubicBezTo>
                    <a:lnTo>
                      <a:pt x="0" y="25400"/>
                    </a:lnTo>
                  </a:path>
                </a:pathLst>
              </a:custGeom>
              <a:noFill/>
              <a:ln w="25400">
                <a:solidFill>
                  <a:schemeClr val="accent1"/>
                </a:solidFill>
              </a:ln>
            </p:spPr>
          </p:sp>
          <p:sp>
            <p:nvSpPr>
              <p:cNvPr id="53" name="Freeform 53"/>
              <p:cNvSpPr/>
              <p:nvPr/>
            </p:nvSpPr>
            <p:spPr>
              <a:xfrm>
                <a:off x="8540750" y="2076450"/>
                <a:ext cx="101600" cy="50800"/>
              </a:xfrm>
              <a:custGeom>
                <a:avLst/>
                <a:gdLst/>
                <a:ahLst/>
                <a:cxnLst/>
                <a:rect l="l" t="t" r="r" b="b"/>
                <a:pathLst>
                  <a:path w="101600" h="50800">
                    <a:moveTo>
                      <a:pt x="0" y="50800"/>
                    </a:moveTo>
                    <a:lnTo>
                      <a:pt x="0" y="25400"/>
                    </a:lnTo>
                    <a:cubicBezTo>
                      <a:pt x="0" y="11372"/>
                      <a:pt x="11372" y="0"/>
                      <a:pt x="25400" y="0"/>
                    </a:cubicBezTo>
                    <a:lnTo>
                      <a:pt x="76200" y="0"/>
                    </a:lnTo>
                    <a:cubicBezTo>
                      <a:pt x="90228" y="0"/>
                      <a:pt x="101600" y="11372"/>
                      <a:pt x="101600" y="25400"/>
                    </a:cubicBezTo>
                    <a:lnTo>
                      <a:pt x="101600" y="50800"/>
                    </a:lnTo>
                  </a:path>
                </a:pathLst>
              </a:custGeom>
              <a:noFill/>
              <a:ln w="25400">
                <a:solidFill>
                  <a:schemeClr val="accent1"/>
                </a:solidFill>
              </a:ln>
            </p:spPr>
          </p:sp>
          <p:sp>
            <p:nvSpPr>
              <p:cNvPr id="54" name="Freeform 54"/>
              <p:cNvSpPr/>
              <p:nvPr/>
            </p:nvSpPr>
            <p:spPr>
              <a:xfrm>
                <a:off x="8591550" y="2190750"/>
                <a:ext cx="9525" cy="9525"/>
              </a:xfrm>
              <a:custGeom>
                <a:avLst/>
                <a:gdLst/>
                <a:ahLst/>
                <a:cxnLst/>
                <a:rect l="l" t="t" r="r" b="b"/>
                <a:pathLst>
                  <a:path w="9525" h="9525">
                    <a:moveTo>
                      <a:pt x="0" y="0"/>
                    </a:moveTo>
                    <a:lnTo>
                      <a:pt x="0" y="127"/>
                    </a:lnTo>
                  </a:path>
                </a:pathLst>
              </a:custGeom>
              <a:noFill/>
              <a:ln w="25400">
                <a:solidFill>
                  <a:schemeClr val="accent1"/>
                </a:solidFill>
              </a:ln>
            </p:spPr>
          </p:sp>
          <p:sp>
            <p:nvSpPr>
              <p:cNvPr id="55" name="Freeform 55"/>
              <p:cNvSpPr/>
              <p:nvPr/>
            </p:nvSpPr>
            <p:spPr>
              <a:xfrm>
                <a:off x="8477250" y="2203450"/>
                <a:ext cx="228599" cy="36228"/>
              </a:xfrm>
              <a:custGeom>
                <a:avLst/>
                <a:gdLst/>
                <a:ahLst/>
                <a:cxnLst/>
                <a:rect l="l" t="t" r="r" b="b"/>
                <a:pathLst>
                  <a:path w="228599" h="36228">
                    <a:moveTo>
                      <a:pt x="0" y="0"/>
                    </a:moveTo>
                    <a:cubicBezTo>
                      <a:pt x="71894" y="36228"/>
                      <a:pt x="156706" y="36228"/>
                      <a:pt x="228599" y="0"/>
                    </a:cubicBezTo>
                  </a:path>
                </a:pathLst>
              </a:custGeom>
              <a:noFill/>
              <a:ln w="25400">
                <a:solidFill>
                  <a:schemeClr val="accent1"/>
                </a:solidFill>
              </a:ln>
            </p:spPr>
          </p:sp>
        </p:grpSp>
        <p:sp>
          <p:nvSpPr>
            <p:cNvPr id="57" name="TextBox 57"/>
            <p:cNvSpPr txBox="1"/>
            <p:nvPr/>
          </p:nvSpPr>
          <p:spPr>
            <a:xfrm>
              <a:off x="8982456" y="2051050"/>
              <a:ext cx="1938008" cy="352044"/>
            </a:xfrm>
            <a:prstGeom prst="rect">
              <a:avLst/>
            </a:prstGeom>
            <a:noFill/>
            <a:ln>
              <a:noFill/>
            </a:ln>
          </p:spPr>
          <p:txBody>
            <a:bodyPr wrap="none" lIns="0" tIns="0" rIns="0" bIns="0" anchor="t" anchorCtr="0">
              <a:spAutoFit/>
            </a:bodyPr>
            <a:lstStyle/>
            <a:p>
              <a:pPr algn="l"/>
              <a:r>
                <a:rPr lang="id-ID" sz="1800" b="1" dirty="0">
                  <a:solidFill>
                    <a:srgbClr val="F3F1EA"/>
                  </a:solidFill>
                  <a:latin typeface="+mn-lt"/>
                  <a:ea typeface="+mn-ea"/>
                  <a:cs typeface="+mn-cs"/>
                </a:rPr>
                <a:t>Komitmen founder</a:t>
              </a:r>
            </a:p>
          </p:txBody>
        </p:sp>
        <p:grpSp>
          <p:nvGrpSpPr>
            <p:cNvPr id="63" name="Group 63"/>
            <p:cNvGrpSpPr/>
            <p:nvPr/>
          </p:nvGrpSpPr>
          <p:grpSpPr>
            <a:xfrm>
              <a:off x="8362950" y="2762250"/>
              <a:ext cx="76200" cy="2095500"/>
              <a:chOff x="8362950" y="2762250"/>
              <a:chExt cx="76200" cy="2095500"/>
            </a:xfrm>
          </p:grpSpPr>
          <p:sp>
            <p:nvSpPr>
              <p:cNvPr id="58" name="Ellipse 58"/>
              <p:cNvSpPr/>
              <p:nvPr/>
            </p:nvSpPr>
            <p:spPr>
              <a:xfrm>
                <a:off x="8362950" y="2762250"/>
                <a:ext cx="76200" cy="76200"/>
              </a:xfrm>
              <a:prstGeom prst="ellipse">
                <a:avLst/>
              </a:prstGeom>
              <a:solidFill>
                <a:schemeClr val="accent3"/>
              </a:solidFill>
              <a:ln>
                <a:noFill/>
              </a:ln>
            </p:spPr>
          </p:sp>
          <p:sp>
            <p:nvSpPr>
              <p:cNvPr id="59" name="Ellipse 59"/>
              <p:cNvSpPr/>
              <p:nvPr/>
            </p:nvSpPr>
            <p:spPr>
              <a:xfrm>
                <a:off x="8362950" y="3390900"/>
                <a:ext cx="76200" cy="76200"/>
              </a:xfrm>
              <a:prstGeom prst="ellipse">
                <a:avLst/>
              </a:prstGeom>
              <a:solidFill>
                <a:schemeClr val="accent3"/>
              </a:solidFill>
              <a:ln>
                <a:noFill/>
              </a:ln>
            </p:spPr>
          </p:sp>
          <p:sp>
            <p:nvSpPr>
              <p:cNvPr id="60" name="Ellipse 60"/>
              <p:cNvSpPr/>
              <p:nvPr/>
            </p:nvSpPr>
            <p:spPr>
              <a:xfrm>
                <a:off x="8362950" y="3771900"/>
                <a:ext cx="76200" cy="76200"/>
              </a:xfrm>
              <a:prstGeom prst="ellipse">
                <a:avLst/>
              </a:prstGeom>
              <a:solidFill>
                <a:schemeClr val="accent3"/>
              </a:solidFill>
              <a:ln>
                <a:noFill/>
              </a:ln>
            </p:spPr>
          </p:sp>
          <p:sp>
            <p:nvSpPr>
              <p:cNvPr id="61" name="Ellipse 61"/>
              <p:cNvSpPr/>
              <p:nvPr/>
            </p:nvSpPr>
            <p:spPr>
              <a:xfrm>
                <a:off x="8362950" y="4400550"/>
                <a:ext cx="76200" cy="76200"/>
              </a:xfrm>
              <a:prstGeom prst="ellipse">
                <a:avLst/>
              </a:prstGeom>
              <a:solidFill>
                <a:schemeClr val="accent3"/>
              </a:solidFill>
              <a:ln>
                <a:noFill/>
              </a:ln>
            </p:spPr>
          </p:sp>
          <p:sp>
            <p:nvSpPr>
              <p:cNvPr id="62" name="Ellipse 62"/>
              <p:cNvSpPr/>
              <p:nvPr/>
            </p:nvSpPr>
            <p:spPr>
              <a:xfrm>
                <a:off x="8362950" y="4781550"/>
                <a:ext cx="76200" cy="76200"/>
              </a:xfrm>
              <a:prstGeom prst="ellipse">
                <a:avLst/>
              </a:prstGeom>
              <a:solidFill>
                <a:schemeClr val="accent3"/>
              </a:solidFill>
              <a:ln>
                <a:noFill/>
              </a:ln>
            </p:spPr>
          </p:sp>
        </p:grpSp>
        <p:grpSp>
          <p:nvGrpSpPr>
            <p:cNvPr id="69" name="Group 69"/>
            <p:cNvGrpSpPr/>
            <p:nvPr/>
          </p:nvGrpSpPr>
          <p:grpSpPr>
            <a:xfrm>
              <a:off x="8546211" y="2679700"/>
              <a:ext cx="2078553" cy="2536126"/>
              <a:chOff x="8546211" y="2679700"/>
              <a:chExt cx="2078553" cy="2536126"/>
            </a:xfrm>
          </p:grpSpPr>
          <p:sp>
            <p:nvSpPr>
              <p:cNvPr id="64" name="TextBox 64"/>
              <p:cNvSpPr txBox="1"/>
              <p:nvPr/>
            </p:nvSpPr>
            <p:spPr>
              <a:xfrm>
                <a:off x="8546211" y="2679700"/>
                <a:ext cx="1987073" cy="516826"/>
              </a:xfrm>
              <a:prstGeom prst="rect">
                <a:avLst/>
              </a:prstGeom>
              <a:noFill/>
              <a:ln>
                <a:noFill/>
              </a:ln>
            </p:spPr>
            <p:txBody>
              <a:bodyPr wrap="none" lIns="0" tIns="0" rIns="0" bIns="0" anchor="t" anchorCtr="0">
                <a:spAutoFit/>
              </a:bodyPr>
              <a:lstStyle/>
              <a:p>
                <a:pPr algn="l">
                  <a:lnSpc>
                    <a:spcPts val="1875"/>
                  </a:lnSpc>
                </a:pPr>
                <a:r>
                  <a:rPr lang="id-ID" sz="1420" dirty="0">
                    <a:solidFill>
                      <a:srgbClr val="F3F1EA"/>
                    </a:solidFill>
                    <a:latin typeface="+mn-lt"/>
                    <a:ea typeface="+mn-ea"/>
                    <a:cs typeface="+mn-cs"/>
                  </a:rPr>
                  <a:t>Seluruh dana disalurkan ke</a:t>
                </a:r>
                <a:br>
                  <a:rPr lang="id-ID" sz="1420" dirty="0">
                    <a:solidFill>
                      <a:srgbClr val="F3F1EA"/>
                    </a:solidFill>
                    <a:latin typeface="+mn-lt"/>
                    <a:ea typeface="+mn-ea"/>
                    <a:cs typeface="+mn-cs"/>
                  </a:rPr>
                </a:br>
                <a:r>
                  <a:rPr lang="id-ID" sz="1420" dirty="0">
                    <a:solidFill>
                      <a:srgbClr val="F3F1EA"/>
                    </a:solidFill>
                    <a:latin typeface="+mn-lt"/>
                    <a:ea typeface="+mn-ea"/>
                    <a:cs typeface="+mn-cs"/>
                  </a:rPr>
                  <a:t>kas PT untuk operasional</a:t>
                </a:r>
              </a:p>
            </p:txBody>
          </p:sp>
          <p:sp>
            <p:nvSpPr>
              <p:cNvPr id="65" name="TextBox 65"/>
              <p:cNvSpPr txBox="1"/>
              <p:nvPr/>
            </p:nvSpPr>
            <p:spPr>
              <a:xfrm>
                <a:off x="8546211" y="3321050"/>
                <a:ext cx="2078553" cy="278702"/>
              </a:xfrm>
              <a:prstGeom prst="rect">
                <a:avLst/>
              </a:prstGeom>
              <a:noFill/>
              <a:ln>
                <a:noFill/>
              </a:ln>
            </p:spPr>
            <p:txBody>
              <a:bodyPr wrap="none" lIns="0" tIns="0" rIns="0" bIns="0" anchor="t" anchorCtr="0">
                <a:spAutoFit/>
              </a:bodyPr>
              <a:lstStyle/>
              <a:p>
                <a:pPr algn="l"/>
                <a:r>
                  <a:rPr lang="id-ID" sz="1420" dirty="0">
                    <a:solidFill>
                      <a:srgbClr val="F3F1EA"/>
                    </a:solidFill>
                    <a:latin typeface="+mn-lt"/>
                    <a:ea typeface="+mn-ea"/>
                    <a:cs typeface="+mn-cs"/>
                  </a:rPr>
                  <a:t>Penggunaan sesuai alokasi</a:t>
                </a:r>
              </a:p>
            </p:txBody>
          </p:sp>
          <p:sp>
            <p:nvSpPr>
              <p:cNvPr id="66" name="TextBox 66"/>
              <p:cNvSpPr txBox="1"/>
              <p:nvPr/>
            </p:nvSpPr>
            <p:spPr>
              <a:xfrm>
                <a:off x="8546211" y="3689350"/>
                <a:ext cx="1732361" cy="516826"/>
              </a:xfrm>
              <a:prstGeom prst="rect">
                <a:avLst/>
              </a:prstGeom>
              <a:noFill/>
              <a:ln>
                <a:noFill/>
              </a:ln>
            </p:spPr>
            <p:txBody>
              <a:bodyPr wrap="none" lIns="0" tIns="0" rIns="0" bIns="0" anchor="t" anchorCtr="0">
                <a:spAutoFit/>
              </a:bodyPr>
              <a:lstStyle/>
              <a:p>
                <a:pPr algn="l">
                  <a:lnSpc>
                    <a:spcPts val="1875"/>
                  </a:lnSpc>
                </a:pPr>
                <a:r>
                  <a:rPr lang="id-ID" sz="1420" dirty="0">
                    <a:solidFill>
                      <a:srgbClr val="F3F1EA"/>
                    </a:solidFill>
                    <a:latin typeface="+mn-lt"/>
                    <a:ea typeface="+mn-ea"/>
                    <a:cs typeface="+mn-cs"/>
                  </a:rPr>
                  <a:t>Kode program &amp; merek</a:t>
                </a:r>
                <a:br>
                  <a:rPr lang="id-ID" sz="1420" dirty="0">
                    <a:solidFill>
                      <a:srgbClr val="F3F1EA"/>
                    </a:solidFill>
                    <a:latin typeface="+mn-lt"/>
                    <a:ea typeface="+mn-ea"/>
                    <a:cs typeface="+mn-cs"/>
                  </a:rPr>
                </a:br>
                <a:r>
                  <a:rPr lang="id-ID" sz="1420" dirty="0">
                    <a:solidFill>
                      <a:srgbClr val="F3F1EA"/>
                    </a:solidFill>
                    <a:latin typeface="+mn-lt"/>
                    <a:ea typeface="+mn-ea"/>
                    <a:cs typeface="+mn-cs"/>
                  </a:rPr>
                  <a:t>ApexRecord milik PT</a:t>
                </a:r>
              </a:p>
            </p:txBody>
          </p:sp>
          <p:sp>
            <p:nvSpPr>
              <p:cNvPr id="67" name="TextBox 67"/>
              <p:cNvSpPr txBox="1"/>
              <p:nvPr/>
            </p:nvSpPr>
            <p:spPr>
              <a:xfrm>
                <a:off x="8546211" y="4330700"/>
                <a:ext cx="1977004" cy="278702"/>
              </a:xfrm>
              <a:prstGeom prst="rect">
                <a:avLst/>
              </a:prstGeom>
              <a:noFill/>
              <a:ln>
                <a:noFill/>
              </a:ln>
            </p:spPr>
            <p:txBody>
              <a:bodyPr wrap="none" lIns="0" tIns="0" rIns="0" bIns="0" anchor="t" anchorCtr="0">
                <a:spAutoFit/>
              </a:bodyPr>
              <a:lstStyle/>
              <a:p>
                <a:pPr algn="l"/>
                <a:r>
                  <a:rPr lang="id-ID" sz="1420" dirty="0">
                    <a:solidFill>
                      <a:srgbClr val="F3F1EA"/>
                    </a:solidFill>
                    <a:latin typeface="+mn-lt"/>
                    <a:ea typeface="+mn-ea"/>
                    <a:cs typeface="+mn-cs"/>
                  </a:rPr>
                  <a:t>Full-time &amp; non-compete</a:t>
                </a:r>
              </a:p>
            </p:txBody>
          </p:sp>
          <p:sp>
            <p:nvSpPr>
              <p:cNvPr id="68" name="TextBox 68"/>
              <p:cNvSpPr txBox="1"/>
              <p:nvPr/>
            </p:nvSpPr>
            <p:spPr>
              <a:xfrm>
                <a:off x="8546211" y="4699000"/>
                <a:ext cx="2055097" cy="516826"/>
              </a:xfrm>
              <a:prstGeom prst="rect">
                <a:avLst/>
              </a:prstGeom>
              <a:noFill/>
              <a:ln>
                <a:noFill/>
              </a:ln>
            </p:spPr>
            <p:txBody>
              <a:bodyPr wrap="none" lIns="0" tIns="0" rIns="0" bIns="0" anchor="t" anchorCtr="0">
                <a:spAutoFit/>
              </a:bodyPr>
              <a:lstStyle/>
              <a:p>
                <a:pPr algn="l">
                  <a:lnSpc>
                    <a:spcPts val="1875"/>
                  </a:lnSpc>
                </a:pPr>
                <a:r>
                  <a:rPr lang="id-ID" sz="1420" dirty="0">
                    <a:solidFill>
                      <a:srgbClr val="F3F1EA"/>
                    </a:solidFill>
                    <a:latin typeface="+mn-lt"/>
                    <a:ea typeface="+mn-ea"/>
                    <a:cs typeface="+mn-cs"/>
                  </a:rPr>
                  <a:t>Laporan transparan &amp; akses</a:t>
                </a:r>
                <a:br>
                  <a:rPr lang="id-ID" sz="1420" dirty="0">
                    <a:solidFill>
                      <a:srgbClr val="F3F1EA"/>
                    </a:solidFill>
                    <a:latin typeface="+mn-lt"/>
                    <a:ea typeface="+mn-ea"/>
                    <a:cs typeface="+mn-cs"/>
                  </a:rPr>
                </a:br>
                <a:r>
                  <a:rPr lang="id-ID" sz="1420" dirty="0">
                    <a:solidFill>
                      <a:srgbClr val="F3F1EA"/>
                    </a:solidFill>
                    <a:latin typeface="+mn-lt"/>
                    <a:ea typeface="+mn-ea"/>
                    <a:cs typeface="+mn-cs"/>
                  </a:rPr>
                  <a:t>audit</a:t>
                </a:r>
              </a:p>
            </p:txBody>
          </p:sp>
        </p:grpSp>
      </p:grpSp>
      <p:grpSp>
        <p:nvGrpSpPr>
          <p:cNvPr id="72" name="terms-footnote"/>
          <p:cNvGrpSpPr/>
          <p:nvPr/>
        </p:nvGrpSpPr>
        <p:grpSpPr>
          <a:xfrm>
            <a:off x="604647" y="6076950"/>
            <a:ext cx="6144595" cy="191643"/>
            <a:chOff x="604647" y="6076950"/>
            <a:chExt cx="6144595" cy="191643"/>
          </a:xfrm>
        </p:grpSpPr>
        <p:sp>
          <p:nvSpPr>
            <p:cNvPr id="71" name="TextBox 71"/>
            <p:cNvSpPr txBox="1"/>
            <p:nvPr/>
          </p:nvSpPr>
          <p:spPr>
            <a:xfrm>
              <a:off x="604647" y="6076950"/>
              <a:ext cx="6144595"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Draf untuk diskusi. Pengalihan saham mengikuti akta notaris, persetujuan RUPS, dan pengesahan Kemenkumham.</a:t>
              </a:r>
            </a:p>
          </p:txBody>
        </p:sp>
      </p:grpSp>
      <p:grpSp>
        <p:nvGrpSpPr>
          <p:cNvPr id="75" name="footer"/>
          <p:cNvGrpSpPr/>
          <p:nvPr/>
        </p:nvGrpSpPr>
        <p:grpSpPr>
          <a:xfrm>
            <a:off x="604647" y="6477000"/>
            <a:ext cx="10982706" cy="191643"/>
            <a:chOff x="604647" y="6477000"/>
            <a:chExt cx="10982706" cy="191643"/>
          </a:xfrm>
        </p:grpSpPr>
        <p:sp>
          <p:nvSpPr>
            <p:cNvPr id="73" name="TextBox 73"/>
            <p:cNvSpPr txBox="1"/>
            <p:nvPr/>
          </p:nvSpPr>
          <p:spPr>
            <a:xfrm>
              <a:off x="604647" y="6477000"/>
              <a:ext cx="1625680" cy="191643"/>
            </a:xfrm>
            <a:prstGeom prst="rect">
              <a:avLst/>
            </a:prstGeom>
            <a:noFill/>
            <a:ln>
              <a:noFill/>
            </a:ln>
          </p:spPr>
          <p:txBody>
            <a:bodyPr wrap="none" lIns="0" tIns="0" rIns="0" bIns="0" anchor="t" anchorCtr="0">
              <a:spAutoFit/>
            </a:bodyPr>
            <a:lstStyle/>
            <a:p>
              <a:pPr algn="l"/>
              <a:r>
                <a:rPr lang="id-ID" sz="980" dirty="0">
                  <a:solidFill>
                    <a:schemeClr val="accent5"/>
                  </a:solidFill>
                  <a:latin typeface="+mn-lt"/>
                  <a:ea typeface="+mn-ea"/>
                  <a:cs typeface="+mn-cs"/>
                </a:rPr>
                <a:t>ApexRecord · Pitch Deck 2026</a:t>
              </a:r>
            </a:p>
          </p:txBody>
        </p:sp>
        <p:sp>
          <p:nvSpPr>
            <p:cNvPr id="74" name="TextBox 74"/>
            <p:cNvSpPr txBox="1"/>
            <p:nvPr/>
          </p:nvSpPr>
          <p:spPr>
            <a:xfrm>
              <a:off x="11443725" y="6477000"/>
              <a:ext cx="143628" cy="191643"/>
            </a:xfrm>
            <a:prstGeom prst="rect">
              <a:avLst/>
            </a:prstGeom>
            <a:noFill/>
            <a:ln>
              <a:noFill/>
            </a:ln>
          </p:spPr>
          <p:txBody>
            <a:bodyPr wrap="none" lIns="0" tIns="0" rIns="0" bIns="0" anchor="t" anchorCtr="0">
              <a:spAutoFit/>
            </a:bodyPr>
            <a:lstStyle/>
            <a:p>
              <a:pPr algn="r"/>
              <a:r>
                <a:rPr lang="id-ID" sz="980" dirty="0">
                  <a:solidFill>
                    <a:schemeClr val="accent5"/>
                  </a:solidFill>
                  <a:latin typeface="+mn-lt"/>
                  <a:ea typeface="+mn-ea"/>
                  <a:cs typeface="+mn-cs"/>
                </a:rPr>
                <a:t>19</a:t>
              </a:r>
            </a:p>
          </p:txBody>
        </p:sp>
      </p:grpSp>
    </p:spTree>
  </p:cSld>
  <p:clrMapOvr>
    <a:masterClrMapping/>
  </p:clrMapOvr>
  <p:transition xmlns:p14="http://schemas.microsoft.com/office/powerpoint/2010/main" p14:dur="400">
    <p:fad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grpSp>
        <p:nvGrpSpPr>
          <p:cNvPr id="4" name="closing-logo"/>
          <p:cNvGrpSpPr/>
          <p:nvPr/>
        </p:nvGrpSpPr>
        <p:grpSpPr>
          <a:xfrm>
            <a:off x="5181600" y="742950"/>
            <a:ext cx="1828800" cy="1828800"/>
            <a:chOff x="5181600" y="742950"/>
            <a:chExt cx="1828800" cy="1828800"/>
          </a:xfrm>
        </p:grpSpPr>
        <p:sp>
          <p:nvSpPr>
            <p:cNvPr id="2" name="Ellipse 2"/>
            <p:cNvSpPr/>
            <p:nvPr/>
          </p:nvSpPr>
          <p:spPr>
            <a:xfrm>
              <a:off x="5181600" y="742950"/>
              <a:ext cx="1828800" cy="1828800"/>
            </a:xfrm>
            <a:prstGeom prst="ellipse">
              <a:avLst/>
            </a:prstGeom>
            <a:solidFill>
              <a:srgbClr val="FFFFFF"/>
            </a:solidFill>
            <a:ln>
              <a:noFill/>
            </a:ln>
          </p:spPr>
        </p:sp>
        <p:pic>
          <p:nvPicPr>
            <p:cNvPr id="3" name="Image 3"/>
            <p:cNvPicPr>
              <a:picLocks noChangeAspect="1"/>
            </p:cNvPicPr>
            <p:nvPr/>
          </p:nvPicPr>
          <p:blipFill>
            <a:blip r:embed="rId2"/>
            <a:stretch>
              <a:fillRect/>
            </a:stretch>
          </p:blipFill>
          <p:spPr>
            <a:xfrm>
              <a:off x="5429250" y="990600"/>
              <a:ext cx="1333500" cy="1333500"/>
            </a:xfrm>
            <a:prstGeom prst="rect">
              <a:avLst/>
            </a:prstGeom>
          </p:spPr>
        </p:pic>
      </p:grpSp>
      <p:grpSp>
        <p:nvGrpSpPr>
          <p:cNvPr id="6" name="closing-takeaway"/>
          <p:cNvGrpSpPr/>
          <p:nvPr/>
        </p:nvGrpSpPr>
        <p:grpSpPr>
          <a:xfrm>
            <a:off x="1947977" y="2889250"/>
            <a:ext cx="8296046" cy="1562100"/>
            <a:chOff x="1947977" y="2889250"/>
            <a:chExt cx="8296046" cy="1562100"/>
          </a:xfrm>
        </p:grpSpPr>
        <p:sp>
          <p:nvSpPr>
            <p:cNvPr id="5" name="TextBox 5"/>
            <p:cNvSpPr txBox="1"/>
            <p:nvPr/>
          </p:nvSpPr>
          <p:spPr>
            <a:xfrm>
              <a:off x="1947977" y="2889250"/>
              <a:ext cx="8296046" cy="1562100"/>
            </a:xfrm>
            <a:prstGeom prst="rect">
              <a:avLst/>
            </a:prstGeom>
            <a:noFill/>
            <a:ln>
              <a:noFill/>
            </a:ln>
          </p:spPr>
          <p:txBody>
            <a:bodyPr wrap="none" lIns="0" tIns="0" rIns="0" bIns="0" anchor="t" anchorCtr="0">
              <a:spAutoFit/>
            </a:bodyPr>
            <a:lstStyle/>
            <a:p>
              <a:pPr algn="ctr">
                <a:lnSpc>
                  <a:spcPts val="5400"/>
                </a:lnSpc>
              </a:pPr>
              <a:r>
                <a:rPr lang="id-ID" sz="4500" b="1" dirty="0">
                  <a:solidFill>
                    <a:srgbClr val="FFFFFF"/>
                  </a:solidFill>
                  <a:latin typeface="+mj-lt"/>
                  <a:ea typeface="+mj-ea"/>
                  <a:cs typeface="+mj-cs"/>
                </a:rPr>
                <a:t>Klinik Indonesia layak dikelola</a:t>
              </a:r>
              <a:br>
                <a:rPr lang="id-ID" sz="4500" b="1" dirty="0">
                  <a:solidFill>
                    <a:srgbClr val="FFFFFF"/>
                  </a:solidFill>
                  <a:latin typeface="+mj-lt"/>
                  <a:ea typeface="+mj-ea"/>
                  <a:cs typeface="+mj-cs"/>
                </a:rPr>
              </a:br>
              <a:r>
                <a:rPr lang="id-ID" sz="4500" b="1" i="1" dirty="0">
                  <a:solidFill>
                    <a:schemeClr val="accent3"/>
                  </a:solidFill>
                  <a:latin typeface="+mj-lt"/>
                  <a:ea typeface="+mj-ea"/>
                  <a:cs typeface="+mj-cs"/>
                </a:rPr>
                <a:t>lebih rapi.</a:t>
              </a:r>
            </a:p>
          </p:txBody>
        </p:sp>
      </p:grpSp>
      <p:grpSp>
        <p:nvGrpSpPr>
          <p:cNvPr id="8" name="closing-cta"/>
          <p:cNvGrpSpPr/>
          <p:nvPr/>
        </p:nvGrpSpPr>
        <p:grpSpPr>
          <a:xfrm>
            <a:off x="2484051" y="4591050"/>
            <a:ext cx="7223898" cy="381381"/>
            <a:chOff x="2484051" y="4591050"/>
            <a:chExt cx="7223898" cy="381381"/>
          </a:xfrm>
        </p:grpSpPr>
        <p:sp>
          <p:nvSpPr>
            <p:cNvPr id="7" name="TextBox 7"/>
            <p:cNvSpPr txBox="1"/>
            <p:nvPr/>
          </p:nvSpPr>
          <p:spPr>
            <a:xfrm>
              <a:off x="2484051" y="4591050"/>
              <a:ext cx="7223898" cy="381381"/>
            </a:xfrm>
            <a:prstGeom prst="rect">
              <a:avLst/>
            </a:prstGeom>
            <a:noFill/>
            <a:ln>
              <a:noFill/>
            </a:ln>
          </p:spPr>
          <p:txBody>
            <a:bodyPr wrap="none" lIns="0" tIns="0" rIns="0" bIns="0" anchor="t" anchorCtr="0">
              <a:spAutoFit/>
            </a:bodyPr>
            <a:lstStyle/>
            <a:p>
              <a:pPr algn="ctr"/>
              <a:r>
                <a:rPr lang="id-ID" sz="1950" dirty="0">
                  <a:solidFill>
                    <a:srgbClr val="F3F1EA"/>
                  </a:solidFill>
                  <a:latin typeface="+mn-lt"/>
                  <a:ea typeface="+mn-ea"/>
                  <a:cs typeface="+mn-cs"/>
                </a:rPr>
                <a:t xml:space="preserve">Coba demo di </a:t>
              </a:r>
              <a:r>
                <a:rPr lang="id-ID" sz="1950" b="1" dirty="0">
                  <a:solidFill>
                    <a:schemeClr val="accent3"/>
                  </a:solidFill>
                  <a:latin typeface="+mn-lt"/>
                  <a:ea typeface="+mn-ea"/>
                  <a:cs typeface="+mn-cs"/>
                </a:rPr>
                <a:t>app.apexrecord.my.id</a:t>
              </a:r>
              <a:r>
                <a:rPr lang="id-ID" sz="1950" dirty="0">
                  <a:solidFill>
                    <a:srgbClr val="F3F1EA"/>
                  </a:solidFill>
                  <a:latin typeface="+mn-lt"/>
                  <a:ea typeface="+mn-ea"/>
                  <a:cs typeface="+mn-cs"/>
                </a:rPr>
                <a:t xml:space="preserve"> · mari lanjut bahas term sheet</a:t>
              </a:r>
            </a:p>
          </p:txBody>
        </p:sp>
      </p:grpSp>
      <p:grpSp>
        <p:nvGrpSpPr>
          <p:cNvPr id="24" name="closing-contacts"/>
          <p:cNvGrpSpPr/>
          <p:nvPr/>
        </p:nvGrpSpPr>
        <p:grpSpPr>
          <a:xfrm>
            <a:off x="2060999" y="5511140"/>
            <a:ext cx="8080323" cy="288887"/>
            <a:chOff x="2060999" y="5511140"/>
            <a:chExt cx="8080323" cy="288887"/>
          </a:xfrm>
        </p:grpSpPr>
        <p:grpSp>
          <p:nvGrpSpPr>
            <p:cNvPr id="11" name="Group 11"/>
            <p:cNvGrpSpPr/>
            <p:nvPr/>
          </p:nvGrpSpPr>
          <p:grpSpPr>
            <a:xfrm>
              <a:off x="2060999" y="5511140"/>
              <a:ext cx="222052" cy="220784"/>
              <a:chOff x="2060999" y="5511140"/>
              <a:chExt cx="222052" cy="220784"/>
            </a:xfrm>
          </p:grpSpPr>
          <p:sp>
            <p:nvSpPr>
              <p:cNvPr id="9" name="Freeform 9"/>
              <p:cNvSpPr/>
              <p:nvPr/>
            </p:nvSpPr>
            <p:spPr>
              <a:xfrm>
                <a:off x="2060999" y="5511140"/>
                <a:ext cx="222052" cy="220784"/>
              </a:xfrm>
              <a:custGeom>
                <a:avLst/>
                <a:gdLst/>
                <a:ahLst/>
                <a:cxnLst/>
                <a:rect l="l" t="t" r="r" b="b"/>
                <a:pathLst>
                  <a:path w="222052" h="220784">
                    <a:moveTo>
                      <a:pt x="10688" y="208623"/>
                    </a:moveTo>
                    <a:lnTo>
                      <a:pt x="29024" y="166396"/>
                    </a:lnTo>
                    <a:cubicBezTo>
                      <a:pt x="0" y="125195"/>
                      <a:pt x="6166" y="68836"/>
                      <a:pt x="43411" y="34885"/>
                    </a:cubicBezTo>
                    <a:cubicBezTo>
                      <a:pt x="80657" y="934"/>
                      <a:pt x="137345" y="0"/>
                      <a:pt x="175689" y="32705"/>
                    </a:cubicBezTo>
                    <a:cubicBezTo>
                      <a:pt x="214033" y="65410"/>
                      <a:pt x="222052" y="121536"/>
                      <a:pt x="194402" y="163671"/>
                    </a:cubicBezTo>
                    <a:cubicBezTo>
                      <a:pt x="166751" y="205805"/>
                      <a:pt x="112070" y="220784"/>
                      <a:pt x="66807" y="198622"/>
                    </a:cubicBezTo>
                    <a:lnTo>
                      <a:pt x="10688" y="208623"/>
                    </a:lnTo>
                  </a:path>
                </a:pathLst>
              </a:custGeom>
              <a:noFill/>
              <a:ln w="22225">
                <a:solidFill>
                  <a:schemeClr val="accent3"/>
                </a:solidFill>
              </a:ln>
            </p:spPr>
          </p:sp>
          <p:sp>
            <p:nvSpPr>
              <p:cNvPr id="10" name="Freeform 10"/>
              <p:cNvSpPr/>
              <p:nvPr/>
            </p:nvSpPr>
            <p:spPr>
              <a:xfrm>
                <a:off x="2138363" y="5580857"/>
                <a:ext cx="72231" cy="72231"/>
              </a:xfrm>
              <a:custGeom>
                <a:avLst/>
                <a:gdLst/>
                <a:ahLst/>
                <a:cxnLst/>
                <a:rect l="l" t="t" r="r" b="b"/>
                <a:pathLst>
                  <a:path w="72231" h="72231">
                    <a:moveTo>
                      <a:pt x="0" y="16669"/>
                    </a:moveTo>
                    <a:cubicBezTo>
                      <a:pt x="0" y="19737"/>
                      <a:pt x="2488" y="22225"/>
                      <a:pt x="5556" y="22225"/>
                    </a:cubicBezTo>
                    <a:cubicBezTo>
                      <a:pt x="8625" y="22225"/>
                      <a:pt x="11113" y="19737"/>
                      <a:pt x="11113" y="16669"/>
                    </a:cubicBezTo>
                    <a:lnTo>
                      <a:pt x="11113" y="5556"/>
                    </a:lnTo>
                    <a:cubicBezTo>
                      <a:pt x="11113" y="2488"/>
                      <a:pt x="8625" y="0"/>
                      <a:pt x="5556" y="0"/>
                    </a:cubicBezTo>
                    <a:cubicBezTo>
                      <a:pt x="2488" y="0"/>
                      <a:pt x="0" y="2488"/>
                      <a:pt x="0" y="5556"/>
                    </a:cubicBezTo>
                    <a:lnTo>
                      <a:pt x="0" y="16669"/>
                    </a:lnTo>
                    <a:cubicBezTo>
                      <a:pt x="0" y="47355"/>
                      <a:pt x="24876" y="72231"/>
                      <a:pt x="55563" y="72231"/>
                    </a:cubicBezTo>
                    <a:lnTo>
                      <a:pt x="66675" y="72231"/>
                    </a:lnTo>
                    <a:cubicBezTo>
                      <a:pt x="69744" y="72231"/>
                      <a:pt x="72231" y="69744"/>
                      <a:pt x="72231" y="66675"/>
                    </a:cubicBezTo>
                    <a:cubicBezTo>
                      <a:pt x="72231" y="63607"/>
                      <a:pt x="69744" y="61119"/>
                      <a:pt x="66675" y="61119"/>
                    </a:cubicBezTo>
                    <a:lnTo>
                      <a:pt x="55563" y="61119"/>
                    </a:lnTo>
                    <a:cubicBezTo>
                      <a:pt x="52494" y="61119"/>
                      <a:pt x="50006" y="63607"/>
                      <a:pt x="50006" y="66675"/>
                    </a:cubicBezTo>
                    <a:cubicBezTo>
                      <a:pt x="50006" y="69744"/>
                      <a:pt x="52494" y="72231"/>
                      <a:pt x="55563" y="72231"/>
                    </a:cubicBezTo>
                  </a:path>
                </a:pathLst>
              </a:custGeom>
              <a:noFill/>
              <a:ln w="22225">
                <a:solidFill>
                  <a:schemeClr val="accent3"/>
                </a:solidFill>
              </a:ln>
            </p:spPr>
          </p:sp>
        </p:grpSp>
        <p:sp>
          <p:nvSpPr>
            <p:cNvPr id="12" name="TextBox 12"/>
            <p:cNvSpPr txBox="1"/>
            <p:nvPr/>
          </p:nvSpPr>
          <p:spPr>
            <a:xfrm>
              <a:off x="2393061" y="5521325"/>
              <a:ext cx="1294106" cy="278702"/>
            </a:xfrm>
            <a:prstGeom prst="rect">
              <a:avLst/>
            </a:prstGeom>
            <a:noFill/>
            <a:ln>
              <a:noFill/>
            </a:ln>
          </p:spPr>
          <p:txBody>
            <a:bodyPr wrap="none" lIns="0" tIns="0" rIns="0" bIns="0" anchor="t" anchorCtr="0">
              <a:spAutoFit/>
            </a:bodyPr>
            <a:lstStyle/>
            <a:p>
              <a:pPr algn="l"/>
              <a:r>
                <a:rPr lang="id-ID" sz="1420" dirty="0">
                  <a:solidFill>
                    <a:srgbClr val="B9B6AA"/>
                  </a:solidFill>
                  <a:latin typeface="+mn-lt"/>
                  <a:ea typeface="+mn-ea"/>
                  <a:cs typeface="+mn-cs"/>
                </a:rPr>
                <a:t>0823-8769-6487</a:t>
              </a:r>
            </a:p>
          </p:txBody>
        </p:sp>
        <p:grpSp>
          <p:nvGrpSpPr>
            <p:cNvPr id="15" name="Group 15"/>
            <p:cNvGrpSpPr/>
            <p:nvPr/>
          </p:nvGrpSpPr>
          <p:grpSpPr>
            <a:xfrm>
              <a:off x="4700588" y="5541963"/>
              <a:ext cx="200026" cy="155575"/>
              <a:chOff x="4700588" y="5541963"/>
              <a:chExt cx="200026" cy="155575"/>
            </a:xfrm>
          </p:grpSpPr>
          <p:sp>
            <p:nvSpPr>
              <p:cNvPr id="13" name="Freeform 13"/>
              <p:cNvSpPr/>
              <p:nvPr/>
            </p:nvSpPr>
            <p:spPr>
              <a:xfrm>
                <a:off x="4700588" y="5541963"/>
                <a:ext cx="200026" cy="155575"/>
              </a:xfrm>
              <a:custGeom>
                <a:avLst/>
                <a:gdLst/>
                <a:ahLst/>
                <a:cxnLst/>
                <a:rect l="l" t="t" r="r" b="b"/>
                <a:pathLst>
                  <a:path w="200026" h="155575">
                    <a:moveTo>
                      <a:pt x="0" y="22225"/>
                    </a:moveTo>
                    <a:cubicBezTo>
                      <a:pt x="0" y="9950"/>
                      <a:pt x="9950" y="0"/>
                      <a:pt x="22225" y="0"/>
                    </a:cubicBezTo>
                    <a:lnTo>
                      <a:pt x="177801" y="0"/>
                    </a:lnTo>
                    <a:cubicBezTo>
                      <a:pt x="190075" y="0"/>
                      <a:pt x="200026" y="9950"/>
                      <a:pt x="200026" y="22225"/>
                    </a:cubicBezTo>
                    <a:lnTo>
                      <a:pt x="200026" y="133350"/>
                    </a:lnTo>
                    <a:cubicBezTo>
                      <a:pt x="200026" y="145625"/>
                      <a:pt x="190075" y="155575"/>
                      <a:pt x="177801" y="155575"/>
                    </a:cubicBezTo>
                    <a:lnTo>
                      <a:pt x="22225" y="155575"/>
                    </a:lnTo>
                    <a:cubicBezTo>
                      <a:pt x="9950" y="155575"/>
                      <a:pt x="0" y="145625"/>
                      <a:pt x="0" y="133350"/>
                    </a:cubicBezTo>
                    <a:lnTo>
                      <a:pt x="0" y="22225"/>
                    </a:lnTo>
                  </a:path>
                </a:pathLst>
              </a:custGeom>
              <a:noFill/>
              <a:ln w="22225">
                <a:solidFill>
                  <a:schemeClr val="accent3"/>
                </a:solidFill>
              </a:ln>
            </p:spPr>
          </p:sp>
          <p:sp>
            <p:nvSpPr>
              <p:cNvPr id="14" name="Freeform 14"/>
              <p:cNvSpPr/>
              <p:nvPr/>
            </p:nvSpPr>
            <p:spPr>
              <a:xfrm>
                <a:off x="4700588" y="5564188"/>
                <a:ext cx="200026" cy="66675"/>
              </a:xfrm>
              <a:custGeom>
                <a:avLst/>
                <a:gdLst/>
                <a:ahLst/>
                <a:cxnLst/>
                <a:rect l="l" t="t" r="r" b="b"/>
                <a:pathLst>
                  <a:path w="200026" h="66675">
                    <a:moveTo>
                      <a:pt x="0" y="0"/>
                    </a:moveTo>
                    <a:lnTo>
                      <a:pt x="100013" y="66675"/>
                    </a:lnTo>
                    <a:lnTo>
                      <a:pt x="200026" y="0"/>
                    </a:lnTo>
                  </a:path>
                </a:pathLst>
              </a:custGeom>
              <a:noFill/>
              <a:ln w="22225">
                <a:solidFill>
                  <a:schemeClr val="accent3"/>
                </a:solidFill>
              </a:ln>
            </p:spPr>
          </p:sp>
        </p:grpSp>
        <p:sp>
          <p:nvSpPr>
            <p:cNvPr id="16" name="TextBox 16"/>
            <p:cNvSpPr txBox="1"/>
            <p:nvPr/>
          </p:nvSpPr>
          <p:spPr>
            <a:xfrm>
              <a:off x="5021961" y="5521325"/>
              <a:ext cx="2219819" cy="278702"/>
            </a:xfrm>
            <a:prstGeom prst="rect">
              <a:avLst/>
            </a:prstGeom>
            <a:noFill/>
            <a:ln>
              <a:noFill/>
            </a:ln>
          </p:spPr>
          <p:txBody>
            <a:bodyPr wrap="none" lIns="0" tIns="0" rIns="0" bIns="0" anchor="t" anchorCtr="0">
              <a:spAutoFit/>
            </a:bodyPr>
            <a:lstStyle/>
            <a:p>
              <a:pPr algn="l"/>
              <a:r>
                <a:rPr lang="id-ID" sz="1420" dirty="0">
                  <a:solidFill>
                    <a:srgbClr val="B9B6AA"/>
                  </a:solidFill>
                  <a:latin typeface="+mn-lt"/>
                  <a:ea typeface="+mn-ea"/>
                  <a:cs typeface="+mn-cs"/>
                </a:rPr>
                <a:t>zanakdeveloper@gmail.com</a:t>
              </a:r>
            </a:p>
          </p:txBody>
        </p:sp>
        <p:grpSp>
          <p:nvGrpSpPr>
            <p:cNvPr id="22" name="Group 22"/>
            <p:cNvGrpSpPr/>
            <p:nvPr/>
          </p:nvGrpSpPr>
          <p:grpSpPr>
            <a:xfrm>
              <a:off x="7748588" y="5519738"/>
              <a:ext cx="200026" cy="209550"/>
              <a:chOff x="7748588" y="5519738"/>
              <a:chExt cx="200026" cy="209550"/>
            </a:xfrm>
          </p:grpSpPr>
          <p:sp>
            <p:nvSpPr>
              <p:cNvPr id="17" name="Freeform 17"/>
              <p:cNvSpPr/>
              <p:nvPr/>
            </p:nvSpPr>
            <p:spPr>
              <a:xfrm>
                <a:off x="7748588" y="5719763"/>
                <a:ext cx="200026" cy="9525"/>
              </a:xfrm>
              <a:custGeom>
                <a:avLst/>
                <a:gdLst/>
                <a:ahLst/>
                <a:cxnLst/>
                <a:rect l="l" t="t" r="r" b="b"/>
                <a:pathLst>
                  <a:path w="200026" h="9525">
                    <a:moveTo>
                      <a:pt x="0" y="0"/>
                    </a:moveTo>
                    <a:lnTo>
                      <a:pt x="200026" y="0"/>
                    </a:lnTo>
                  </a:path>
                </a:pathLst>
              </a:custGeom>
              <a:noFill/>
              <a:ln w="22225">
                <a:solidFill>
                  <a:schemeClr val="accent3"/>
                </a:solidFill>
              </a:ln>
            </p:spPr>
          </p:sp>
          <p:sp>
            <p:nvSpPr>
              <p:cNvPr id="18" name="Freeform 18"/>
              <p:cNvSpPr/>
              <p:nvPr/>
            </p:nvSpPr>
            <p:spPr>
              <a:xfrm>
                <a:off x="7770813" y="5519738"/>
                <a:ext cx="155575" cy="200026"/>
              </a:xfrm>
              <a:custGeom>
                <a:avLst/>
                <a:gdLst/>
                <a:ahLst/>
                <a:cxnLst/>
                <a:rect l="l" t="t" r="r" b="b"/>
                <a:pathLst>
                  <a:path w="155575" h="200026">
                    <a:moveTo>
                      <a:pt x="0" y="200026"/>
                    </a:moveTo>
                    <a:lnTo>
                      <a:pt x="0" y="22225"/>
                    </a:lnTo>
                    <a:cubicBezTo>
                      <a:pt x="0" y="9950"/>
                      <a:pt x="9950" y="0"/>
                      <a:pt x="22225" y="0"/>
                    </a:cubicBezTo>
                    <a:lnTo>
                      <a:pt x="133350" y="0"/>
                    </a:lnTo>
                    <a:cubicBezTo>
                      <a:pt x="145625" y="0"/>
                      <a:pt x="155575" y="9950"/>
                      <a:pt x="155575" y="22225"/>
                    </a:cubicBezTo>
                    <a:lnTo>
                      <a:pt x="155575" y="200026"/>
                    </a:lnTo>
                  </a:path>
                </a:pathLst>
              </a:custGeom>
              <a:noFill/>
              <a:ln w="22225">
                <a:solidFill>
                  <a:schemeClr val="accent3"/>
                </a:solidFill>
              </a:ln>
            </p:spPr>
          </p:sp>
          <p:sp>
            <p:nvSpPr>
              <p:cNvPr id="19" name="Freeform 19"/>
              <p:cNvSpPr/>
              <p:nvPr/>
            </p:nvSpPr>
            <p:spPr>
              <a:xfrm>
                <a:off x="7815263" y="5653088"/>
                <a:ext cx="66675" cy="66675"/>
              </a:xfrm>
              <a:custGeom>
                <a:avLst/>
                <a:gdLst/>
                <a:ahLst/>
                <a:cxnLst/>
                <a:rect l="l" t="t" r="r" b="b"/>
                <a:pathLst>
                  <a:path w="66675" h="66675">
                    <a:moveTo>
                      <a:pt x="0" y="66675"/>
                    </a:moveTo>
                    <a:lnTo>
                      <a:pt x="0" y="22225"/>
                    </a:lnTo>
                    <a:cubicBezTo>
                      <a:pt x="0" y="9950"/>
                      <a:pt x="9950" y="0"/>
                      <a:pt x="22225" y="0"/>
                    </a:cubicBezTo>
                    <a:lnTo>
                      <a:pt x="44450" y="0"/>
                    </a:lnTo>
                    <a:cubicBezTo>
                      <a:pt x="56725" y="0"/>
                      <a:pt x="66675" y="9950"/>
                      <a:pt x="66675" y="22225"/>
                    </a:cubicBezTo>
                    <a:lnTo>
                      <a:pt x="66675" y="66675"/>
                    </a:lnTo>
                  </a:path>
                </a:pathLst>
              </a:custGeom>
              <a:noFill/>
              <a:ln w="22225">
                <a:solidFill>
                  <a:schemeClr val="accent3"/>
                </a:solidFill>
              </a:ln>
            </p:spPr>
          </p:sp>
          <p:sp>
            <p:nvSpPr>
              <p:cNvPr id="20" name="Freeform 20"/>
              <p:cNvSpPr/>
              <p:nvPr/>
            </p:nvSpPr>
            <p:spPr>
              <a:xfrm>
                <a:off x="7826375" y="5586413"/>
                <a:ext cx="44450" cy="9525"/>
              </a:xfrm>
              <a:custGeom>
                <a:avLst/>
                <a:gdLst/>
                <a:ahLst/>
                <a:cxnLst/>
                <a:rect l="l" t="t" r="r" b="b"/>
                <a:pathLst>
                  <a:path w="44450" h="9525">
                    <a:moveTo>
                      <a:pt x="0" y="0"/>
                    </a:moveTo>
                    <a:lnTo>
                      <a:pt x="44450" y="0"/>
                    </a:lnTo>
                  </a:path>
                </a:pathLst>
              </a:custGeom>
              <a:noFill/>
              <a:ln w="22225">
                <a:solidFill>
                  <a:schemeClr val="accent3"/>
                </a:solidFill>
              </a:ln>
            </p:spPr>
          </p:sp>
          <p:sp>
            <p:nvSpPr>
              <p:cNvPr id="21" name="Freeform 21"/>
              <p:cNvSpPr/>
              <p:nvPr/>
            </p:nvSpPr>
            <p:spPr>
              <a:xfrm>
                <a:off x="7848600" y="5564188"/>
                <a:ext cx="9525" cy="44450"/>
              </a:xfrm>
              <a:custGeom>
                <a:avLst/>
                <a:gdLst/>
                <a:ahLst/>
                <a:cxnLst/>
                <a:rect l="l" t="t" r="r" b="b"/>
                <a:pathLst>
                  <a:path w="9525" h="44450">
                    <a:moveTo>
                      <a:pt x="0" y="0"/>
                    </a:moveTo>
                    <a:lnTo>
                      <a:pt x="0" y="44450"/>
                    </a:lnTo>
                  </a:path>
                </a:pathLst>
              </a:custGeom>
              <a:noFill/>
              <a:ln w="22225">
                <a:solidFill>
                  <a:schemeClr val="accent3"/>
                </a:solidFill>
              </a:ln>
            </p:spPr>
          </p:sp>
        </p:grpSp>
        <p:sp>
          <p:nvSpPr>
            <p:cNvPr id="23" name="TextBox 23"/>
            <p:cNvSpPr txBox="1"/>
            <p:nvPr/>
          </p:nvSpPr>
          <p:spPr>
            <a:xfrm>
              <a:off x="8069961" y="5521325"/>
              <a:ext cx="2071361" cy="278702"/>
            </a:xfrm>
            <a:prstGeom prst="rect">
              <a:avLst/>
            </a:prstGeom>
            <a:noFill/>
            <a:ln>
              <a:noFill/>
            </a:ln>
          </p:spPr>
          <p:txBody>
            <a:bodyPr wrap="none" lIns="0" tIns="0" rIns="0" bIns="0" anchor="t" anchorCtr="0">
              <a:spAutoFit/>
            </a:bodyPr>
            <a:lstStyle/>
            <a:p>
              <a:pPr algn="l"/>
              <a:r>
                <a:rPr lang="id-ID" sz="1420" dirty="0">
                  <a:solidFill>
                    <a:srgbClr val="B9B6AA"/>
                  </a:solidFill>
                  <a:latin typeface="+mn-lt"/>
                  <a:ea typeface="+mn-ea"/>
                  <a:cs typeface="+mn-cs"/>
                </a:rPr>
                <a:t>PT Zanak Developer Abadi</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apexrecord_pitch">
  <a:themeElements>
    <a:clrScheme name="apexrecord_pitch">
      <a:dk1>
        <a:srgbClr val="17160F"/>
      </a:dk1>
      <a:lt1>
        <a:srgbClr val="FAF9F6"/>
      </a:lt1>
      <a:dk2>
        <a:srgbClr val="1F497D"/>
      </a:dk2>
      <a:lt2>
        <a:srgbClr val="EEECE6"/>
      </a:lt2>
      <a:accent1>
        <a:srgbClr val="17160F"/>
      </a:accent1>
      <a:accent2>
        <a:srgbClr val="367D2F"/>
      </a:accent2>
      <a:accent3>
        <a:srgbClr val="7ED957"/>
      </a:accent3>
      <a:accent4>
        <a:srgbClr val="17160F"/>
      </a:accent4>
      <a:accent5>
        <a:srgbClr val="6B695D"/>
      </a:accent5>
      <a:accent6>
        <a:srgbClr val="E4E1D8"/>
      </a:accent6>
      <a:hlink>
        <a:srgbClr val="367D2F"/>
      </a:hlink>
      <a:folHlink>
        <a:srgbClr val="7ED957"/>
      </a:folHlink>
    </a:clrScheme>
    <a:fontScheme name="apexrecord_pitch">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pexrecord_pitch">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apexrecord_pitch">
  <a:themeElements>
    <a:clrScheme name="apexrecord_pitch">
      <a:dk1>
        <a:srgbClr val="17160F"/>
      </a:dk1>
      <a:lt1>
        <a:srgbClr val="FAF9F6"/>
      </a:lt1>
      <a:dk2>
        <a:srgbClr val="1F497D"/>
      </a:dk2>
      <a:lt2>
        <a:srgbClr val="EEECE6"/>
      </a:lt2>
      <a:accent1>
        <a:srgbClr val="17160F"/>
      </a:accent1>
      <a:accent2>
        <a:srgbClr val="367D2F"/>
      </a:accent2>
      <a:accent3>
        <a:srgbClr val="7ED957"/>
      </a:accent3>
      <a:accent4>
        <a:srgbClr val="17160F"/>
      </a:accent4>
      <a:accent5>
        <a:srgbClr val="6B695D"/>
      </a:accent5>
      <a:accent6>
        <a:srgbClr val="E4E1D8"/>
      </a:accent6>
      <a:hlink>
        <a:srgbClr val="367D2F"/>
      </a:hlink>
      <a:folHlink>
        <a:srgbClr val="7ED957"/>
      </a:folHlink>
    </a:clrScheme>
    <a:fontScheme name="apexrecord_pitch">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Microsoft YaHei"/>
        <a:cs typeface="Calibr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pexrecord_pitch">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20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id-ID</dc:language>
  <cp:lastModifiedBy/>
  <cp:revision>1</cp:revision>
  <dcterms:created xsi:type="dcterms:W3CDTF">2026-10-13T02:32:14Z</dcterms:created>
  <dcterms:modified xsi:type="dcterms:W3CDTF">2026-10-13T02:32:14Z</dcterms:modified>
  <cp:category/>
  <cp:contentStatus/>
</cp:coreProperties>
</file>