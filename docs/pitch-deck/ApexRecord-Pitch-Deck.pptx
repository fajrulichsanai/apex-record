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e7e066ad-46a7-d4af-f8c0-d1527d85054f}">
          <p14:sldIdLst>
            <p14:sldId id="256"/>
          </p14:sldIdLst>
        </p14:section>
        <p14:section name="Masalah &amp; Solusi" id="{a3044c67-66f4-beee-30ac-e6eca09a1575}">
          <p14:sldIdLst>
            <p14:sldId id="257"/>
            <p14:sldId id="258"/>
          </p14:sldIdLst>
        </p14:section>
        <p14:section name="Produk" id="{c3075dc0-a843-1705-da3f-493776666275}">
          <p14:sldIdLst>
            <p14:sldId id="259"/>
            <p14:sldId id="260"/>
          </p14:sldIdLst>
        </p14:section>
        <p14:section name="Pasar" id="{af5753e0-3e97-bf0c-13fa-e028a1d5fa86}">
          <p14:sldIdLst>
            <p14:sldId id="261"/>
            <p14:sldId id="262"/>
          </p14:sldIdLst>
        </p14:section>
        <p14:section name="Bisnis" id="{ac702ac7-6fd9-d231-792e-bd32362d549e}">
          <p14:sldIdLst>
            <p14:sldId id="263"/>
            <p14:sldId id="264"/>
            <p14:sldId id="265"/>
            <p14:sldId id="266"/>
            <p14:sldId id="267"/>
          </p14:sldIdLst>
        </p14:section>
        <p14:section name="Traksi &amp; Strategi" id="{62b08230-0171-234c-c5a9-49943c0f1809}">
          <p14:sldIdLst>
            <p14:sldId id="268"/>
            <p14:sldId id="269"/>
            <p14:sldId id="270"/>
            <p14:sldId id="271"/>
          </p14:sldIdLst>
        </p14:section>
        <p14:section name="Tim &amp; Pendanaan" id="{d6358953-f390-7ccb-b6c4-648ecc4fa4cb}">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160F"/>
                </a:solidFill>
                <a:latin typeface="+mn-lt"/>
              </a:defRPr>
            </a:pPr>
            <a:r>
              <a:rPr sz="1400" b="0" i="0" u="none" strike="noStrike">
                <a:solidFill>
                  <a:srgbClr val="17160F"/>
                </a:solidFill>
                <a:latin typeface="+mn-lt"/>
              </a:rPr>
              <a:t>Fasyankes berbayar (akhir tahun)</a:t>
            </a:r>
          </a:p>
        </c:rich>
      </c:tx>
      <c:layout/>
      <c:overlay val="0"/>
    </c:title>
    <c:autoTitleDeleted val="0"/>
    <c:plotArea>
      <c:layout/>
      <c:barChart>
        <c:barDir val="col"/>
        <c:grouping val="clustered"/>
        <c:varyColors val="0"/>
        <c:ser>
          <c:idx val="0"/>
          <c:order val="0"/>
          <c:tx>
            <c:strRef>
              <c:f>Sheet1!$B$1</c:f>
              <c:strCache>
                <c:ptCount val="1"/>
                <c:pt idx="0">
                  <c:v>Fasyankes berbayar</c:v>
                </c:pt>
              </c:strCache>
            </c:strRef>
          </c:tx>
          <c:spPr>
            <a:solidFill>
              <a:srgbClr val="367D2F"/>
            </a:solidFill>
            <a:effectLst/>
          </c:spPr>
          <c:invertIfNegative val="0"/>
          <c:dLbls>
            <c:numFmt formatCode="#,##0" sourceLinked="0"/>
            <c:txPr>
              <a:bodyPr/>
              <a:lstStyle/>
              <a:p>
                <a:pPr>
                  <a:defRPr b="0" i="0" strike="noStrike" sz="1400" u="none">
                    <a:solidFill>
                      <a:srgbClr val="17160F"/>
                    </a:solidFill>
                    <a:latin typeface="+mn-lt"/>
                  </a:defRPr>
                </a:pPr>
              </a:p>
            </c:txPr>
            <c:showLegendKey val="0"/>
            <c:showVal val="1"/>
            <c:showCatName val="0"/>
            <c:showSerName val="0"/>
            <c:showPercent val="0"/>
            <c:showBubbleSize val="0"/>
            <c:showLeaderLines val="0"/>
          </c:dLbls>
          <c:cat>
            <c:multiLvlStrRef>
              <c:f>Sheet1!$A$2:$A$4</c:f>
              <c:multiLvlStrCache>
                <c:ptCount val="3"/>
                <c:lvl>
                  <c:pt idx="0">
                    <c:v>Tahun 1</c:v>
                  </c:pt>
                  <c:pt idx="1">
                    <c:v>Tahun 2</c:v>
                  </c:pt>
                  <c:pt idx="2">
                    <c:v>Tahun 3</c:v>
                  </c:pt>
                </c:lvl>
              </c:multiLvlStrCache>
            </c:multiLvlStrRef>
          </c:cat>
          <c:val>
            <c:numRef>
              <c:f>Sheet1!$B$2:$B$4</c:f>
              <c:numCache>
                <c:formatCode>General</c:formatCode>
                <c:ptCount val="3"/>
                <c:pt idx="0">
                  <c:v>100</c:v>
                </c:pt>
                <c:pt idx="1">
                  <c:v>400</c:v>
                </c:pt>
                <c:pt idx="2">
                  <c:v>1000</c:v>
                </c:pt>
              </c:numCache>
            </c:numRef>
          </c:val>
        </c:ser>
        <c:dLbls>
          <c:numFmt formatCode="#,##0" sourceLinked="0"/>
          <c:txPr>
            <a:bodyPr/>
            <a:lstStyle/>
            <a:p>
              <a:pPr>
                <a:defRPr b="0" i="0" strike="noStrike" sz="1400" u="none">
                  <a:solidFill>
                    <a:srgbClr val="17160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B695D"/>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4E1D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69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satu kalimat: ApexRecord adalah sistem operasi untuk klinik pratama, klinik utama, dan praktik mandiri dokter/dokter gigi di Indonesia.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demo langsung di app.apexrecord.my.id (mode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ARPU blended ±Rp2,2 jt/tahun mengasumsikan campuran 50% Starter, 40% Pro, 10% Multi Klinik dengan harga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Harga 3 bulan promo dihitung dengan pola yang sama seperti harga baru (± hemat 10%). Putuskan apakah pelanggan promo tetap terkunci di harga lama setelah 2027 (price lock) — ini bisa jadi daya tarik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Biaya Claude dicatat sebagai biaya R&amp;D (pengembangan), bukan biaya per klinik. Biaya variabel per klinik praktis hanya porsi server dan biaya payment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jujur: klinik pilot adalah klinik milik tim founder (dogfooding). Ini membuktikan produk dipakai nyata setiap hari dan menunjukkan founder-market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tahap 2 (30 klinik berbayar) adalah usulan — sesuaikan dengan kesepakatan investor, termasuk batas waktunya (misal paling lambat bulan ke-9).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Skema: investor membeli 10% saham dari porsi founder (bukan saham baru). Karena dana pembelian secara hukum diterima founder penjual, founder berkomitmen menyetorkan seluruhnya ke kas PT (misalnya sebagai tambahan modal disetor atau pinjaman pemegang saham). Pastikan mekanisme ini tertulis di perjanjian.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onten Terang">
    <p:bg>
      <p:bgPr>
        <a:solidFill>
          <a:srgbClr val="FAF9F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b="1" dirty="0">
                <a:solidFill>
                  <a:schemeClr val="tx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4"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ApexRecord  ·  Pitch Deck 2026</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nten Gelap">
    <p:bg>
      <p:bgPr>
        <a:solidFill>
          <a:srgbClr val="17160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4"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B9B6AA"/>
                </a:solidFill>
              </a:rPr>
              <a:t>ApexRecord  ·  Pitch Deck 2026</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B6A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ampul">
    <p:bg>
      <p:bgPr>
        <a:solidFill>
          <a:srgbClr val="17160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slideLayout" Target="../slideLayouts/slideLayout2.xml"/><Relationship Id="rId1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 circle"/>
          <p:cNvSpPr/>
          <p:nvPr/>
        </p:nvSpPr>
        <p:spPr>
          <a:xfrm>
            <a:off x="7589520" y="822960"/>
            <a:ext cx="5120640" cy="5120640"/>
          </a:xfrm>
          <a:prstGeom prst="ellipse">
            <a:avLst/>
          </a:prstGeom>
          <a:solidFill>
            <a:srgbClr val="242320"/>
          </a:solidFill>
          <a:ln/>
        </p:spPr>
      </p:sp>
      <p:sp>
        <p:nvSpPr>
          <p:cNvPr id="3" name="logo disc"/>
          <p:cNvSpPr/>
          <p:nvPr/>
        </p:nvSpPr>
        <p:spPr>
          <a:xfrm>
            <a:off x="8366760" y="1600200"/>
            <a:ext cx="3566160" cy="3566160"/>
          </a:xfrm>
          <a:prstGeom prst="ellipse">
            <a:avLst/>
          </a:prstGeom>
          <a:solidFill>
            <a:srgbClr val="FFFFFF"/>
          </a:solidFill>
          <a:ln/>
        </p:spPr>
      </p:sp>
      <p:pic>
        <p:nvPicPr>
          <p:cNvPr id="4" name="logo" descr="Logo ApexRecord">    </p:cNvPr>
          <p:cNvPicPr>
            <a:picLocks noChangeAspect="1"/>
          </p:cNvPicPr>
          <p:nvPr/>
        </p:nvPicPr>
        <p:blipFill>
          <a:blip r:embed="rId1"/>
          <a:stretch>
            <a:fillRect/>
          </a:stretch>
        </p:blipFill>
        <p:spPr>
          <a:xfrm>
            <a:off x="8778240" y="2011680"/>
            <a:ext cx="2743200" cy="2743200"/>
          </a:xfrm>
          <a:prstGeom prst="rect">
            <a:avLst/>
          </a:prstGeom>
        </p:spPr>
      </p:pic>
      <p:sp>
        <p:nvSpPr>
          <p:cNvPr id="5" name="pill"/>
          <p:cNvSpPr/>
          <p:nvPr/>
        </p:nvSpPr>
        <p:spPr>
          <a:xfrm>
            <a:off x="731520" y="1051560"/>
            <a:ext cx="2834640" cy="411480"/>
          </a:xfrm>
          <a:prstGeom prst="roundRect">
            <a:avLst>
              <a:gd name="adj" fmla="val 31111"/>
            </a:avLst>
          </a:prstGeom>
          <a:solidFill>
            <a:srgbClr val="242320"/>
          </a:solidFill>
          <a:ln/>
        </p:spPr>
      </p:sp>
      <p:sp>
        <p:nvSpPr>
          <p:cNvPr id="6" name="pill dot"/>
          <p:cNvSpPr/>
          <p:nvPr/>
        </p:nvSpPr>
        <p:spPr>
          <a:xfrm>
            <a:off x="914400" y="1197864"/>
            <a:ext cx="118872" cy="118872"/>
          </a:xfrm>
          <a:prstGeom prst="ellipse">
            <a:avLst/>
          </a:prstGeom>
          <a:solidFill>
            <a:srgbClr val="7ED957"/>
          </a:solidFill>
          <a:ln/>
        </p:spPr>
      </p:sp>
      <p:sp>
        <p:nvSpPr>
          <p:cNvPr id="7" name="Text 4"/>
          <p:cNvSpPr txBox="1"/>
          <p:nvPr/>
        </p:nvSpPr>
        <p:spPr>
          <a:xfrm>
            <a:off x="1143000" y="1051560"/>
            <a:ext cx="2377440" cy="411480"/>
          </a:xfrm>
          <a:prstGeom prst="rect">
            <a:avLst/>
          </a:prstGeom>
          <a:noFill/>
          <a:ln/>
        </p:spPr>
        <p:txBody>
          <a:bodyPr wrap="square" lIns="0" tIns="0" rIns="0" bIns="0" rtlCol="0" anchor="ctr"/>
          <a:lstStyle/>
          <a:p>
            <a:pPr indent="0" marL="0">
              <a:buNone/>
            </a:pPr>
            <a:r>
              <a:rPr lang="en-US" sz="1300" b="1" spc="200" kern="0" dirty="0">
                <a:solidFill>
                  <a:srgbClr val="F3F1EA"/>
                </a:solidFill>
              </a:rPr>
              <a:t>PITCH DECK  ·  2026</a:t>
            </a:r>
            <a:endParaRPr lang="en-US" sz="1300" dirty="0"/>
          </a:p>
        </p:txBody>
      </p:sp>
      <p:sp>
        <p:nvSpPr>
          <p:cNvPr id="8" name="Text 5"/>
          <p:cNvSpPr txBox="1"/>
          <p:nvPr/>
        </p:nvSpPr>
        <p:spPr>
          <a:xfrm>
            <a:off x="731520" y="1691640"/>
            <a:ext cx="6858000" cy="1188720"/>
          </a:xfrm>
          <a:prstGeom prst="rect">
            <a:avLst/>
          </a:prstGeom>
          <a:noFill/>
          <a:ln/>
        </p:spPr>
        <p:txBody>
          <a:bodyPr wrap="square" lIns="0" tIns="0" rIns="0" bIns="0" rtlCol="0" anchor="t"/>
          <a:lstStyle/>
          <a:p>
            <a:pPr indent="0" marL="0">
              <a:buNone/>
            </a:pPr>
            <a:r>
              <a:rPr lang="en-US" sz="6600" b="1" dirty="0">
                <a:solidFill>
                  <a:srgbClr val="FFFFFF"/>
                </a:solidFill>
                <a:latin typeface="Arial" pitchFamily="34" charset="0"/>
                <a:ea typeface="Arial" pitchFamily="34" charset="-122"/>
                <a:cs typeface="Arial" pitchFamily="34" charset="-120"/>
              </a:rPr>
              <a:t>Apex</a:t>
            </a:r>
            <a:pPr indent="0" marL="0">
              <a:buNone/>
            </a:pPr>
            <a:r>
              <a:rPr lang="en-US" sz="6600" b="1" i="1" dirty="0">
                <a:solidFill>
                  <a:srgbClr val="7ED957"/>
                </a:solidFill>
                <a:latin typeface="Arial" pitchFamily="34" charset="0"/>
                <a:ea typeface="Arial" pitchFamily="34" charset="-122"/>
                <a:cs typeface="Arial" pitchFamily="34" charset="-120"/>
              </a:rPr>
              <a:t>Record</a:t>
            </a:r>
            <a:endParaRPr lang="en-US" sz="6600" dirty="0"/>
          </a:p>
        </p:txBody>
      </p:sp>
      <p:sp>
        <p:nvSpPr>
          <p:cNvPr id="9" name="Text 6"/>
          <p:cNvSpPr txBox="1"/>
          <p:nvPr/>
        </p:nvSpPr>
        <p:spPr>
          <a:xfrm>
            <a:off x="731520" y="3017520"/>
            <a:ext cx="6400800" cy="1097280"/>
          </a:xfrm>
          <a:prstGeom prst="rect">
            <a:avLst/>
          </a:prstGeom>
          <a:noFill/>
          <a:ln/>
        </p:spPr>
        <p:txBody>
          <a:bodyPr wrap="square" lIns="0" tIns="0" rIns="0" bIns="0" rtlCol="0" anchor="t"/>
          <a:lstStyle/>
          <a:p>
            <a:pPr indent="0" marL="0">
              <a:buNone/>
            </a:pPr>
            <a:r>
              <a:rPr lang="en-US" sz="2000" dirty="0">
                <a:solidFill>
                  <a:srgbClr val="F3F1EA"/>
                </a:solidFill>
              </a:rPr>
              <a:t>Kelola klinik &amp; praktik tanpa drama administrasi — rekam medis, keuangan, dan integrasi SATUSEHAT dalam satu platform.</a:t>
            </a:r>
            <a:endParaRPr lang="en-US" sz="2000" dirty="0"/>
          </a:p>
        </p:txBody>
      </p:sp>
      <p:sp>
        <p:nvSpPr>
          <p:cNvPr id="10" name="Text 7"/>
          <p:cNvSpPr txBox="1"/>
          <p:nvPr/>
        </p:nvSpPr>
        <p:spPr>
          <a:xfrm>
            <a:off x="731520" y="5120640"/>
            <a:ext cx="6858000" cy="731520"/>
          </a:xfrm>
          <a:prstGeom prst="rect">
            <a:avLst/>
          </a:prstGeom>
          <a:noFill/>
          <a:ln/>
        </p:spPr>
        <p:txBody>
          <a:bodyPr wrap="square" lIns="0" tIns="0" rIns="0" bIns="0" rtlCol="0" anchor="t"/>
          <a:lstStyle/>
          <a:p>
            <a:pPr indent="0" marL="0">
              <a:buNone/>
            </a:pPr>
            <a:r>
              <a:rPr lang="en-US" sz="1300" dirty="0">
                <a:solidFill>
                  <a:srgbClr val="B9B6AA"/>
                </a:solidFill>
              </a:rPr>
              <a:t>PT Zanak Developer Abadi  ·  Payakumbuh, Sumatera Barat</a:t>
            </a:r>
            <a:endParaRPr lang="en-US" sz="1300" dirty="0"/>
          </a:p>
          <a:p>
            <a:pPr indent="0" marL="0">
              <a:buNone/>
            </a:pPr>
            <a:r>
              <a:rPr lang="en-US" sz="1300" dirty="0">
                <a:solidFill>
                  <a:srgbClr val="B9B6AA"/>
                </a:solidFill>
              </a:rPr>
              <a:t>app.apexrecord.my.id  ·  zanakdeveloper@gmail.com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MASALAH</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Klinik masih jalan dengan kertas, Excel, dan WhatsApp</a:t>
            </a:r>
            <a:endParaRPr lang="en-US" sz="3200" dirty="0"/>
          </a:p>
        </p:txBody>
      </p:sp>
      <p:sp>
        <p:nvSpPr>
          <p:cNvPr id="4" name="problem card 1"/>
          <p:cNvSpPr/>
          <p:nvPr/>
        </p:nvSpPr>
        <p:spPr>
          <a:xfrm>
            <a:off x="548640" y="1828800"/>
            <a:ext cx="2587752" cy="3657600"/>
          </a:xfrm>
          <a:prstGeom prst="roundRect">
            <a:avLst>
              <a:gd name="adj" fmla="val 4947"/>
            </a:avLst>
          </a:prstGeom>
          <a:solidFill>
            <a:srgbClr val="FFFFFF"/>
          </a:solidFill>
          <a:ln/>
          <a:effectLst>
            <a:outerShdw sx="100000" sy="100000" kx="0" ky="0" algn="bl" rotWithShape="0" blurRad="127000" dist="38100" dir="5400000">
              <a:srgbClr val="17160F">
                <a:alpha val="10000"/>
              </a:srgbClr>
            </a:outerShdw>
          </a:effectLst>
        </p:spPr>
      </p:sp>
      <p:sp>
        <p:nvSpPr>
          <p:cNvPr id="5" name="problem icon 1 bg"/>
          <p:cNvSpPr/>
          <p:nvPr/>
        </p:nvSpPr>
        <p:spPr>
          <a:xfrm>
            <a:off x="822960" y="2103120"/>
            <a:ext cx="566928" cy="566928"/>
          </a:xfrm>
          <a:prstGeom prst="ellipse">
            <a:avLst/>
          </a:prstGeom>
          <a:solidFill>
            <a:srgbClr val="FBE1DE"/>
          </a:solidFill>
          <a:ln/>
        </p:spPr>
      </p:sp>
      <p:pic>
        <p:nvPicPr>
          <p:cNvPr id="6" name="problem icon 1" descr="Ikon">    </p:cNvPr>
          <p:cNvPicPr>
            <a:picLocks noChangeAspect="1"/>
          </p:cNvPicPr>
          <p:nvPr/>
        </p:nvPicPr>
        <p:blipFill>
          <a:blip r:embed="rId1"/>
          <a:stretch>
            <a:fillRect/>
          </a:stretch>
        </p:blipFill>
        <p:spPr>
          <a:xfrm>
            <a:off x="964692" y="2244852"/>
            <a:ext cx="283464" cy="283464"/>
          </a:xfrm>
          <a:prstGeom prst="rect">
            <a:avLst/>
          </a:prstGeom>
        </p:spPr>
      </p:pic>
      <p:sp>
        <p:nvSpPr>
          <p:cNvPr id="7" name="Text 4"/>
          <p:cNvSpPr txBox="1"/>
          <p:nvPr/>
        </p:nvSpPr>
        <p:spPr>
          <a:xfrm>
            <a:off x="822960" y="2852928"/>
            <a:ext cx="2057400" cy="68580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Rekam medis tercecer</a:t>
            </a:r>
            <a:endParaRPr lang="en-US" sz="1800" dirty="0"/>
          </a:p>
        </p:txBody>
      </p:sp>
      <p:sp>
        <p:nvSpPr>
          <p:cNvPr id="8" name="Text 5"/>
          <p:cNvSpPr txBox="1"/>
          <p:nvPr/>
        </p:nvSpPr>
        <p:spPr>
          <a:xfrm>
            <a:off x="822960" y="3566160"/>
            <a:ext cx="2057400" cy="1737360"/>
          </a:xfrm>
          <a:prstGeom prst="rect">
            <a:avLst/>
          </a:prstGeom>
          <a:noFill/>
          <a:ln/>
        </p:spPr>
        <p:txBody>
          <a:bodyPr wrap="square" lIns="0" tIns="0" rIns="0" bIns="0" rtlCol="0" anchor="t"/>
          <a:lstStyle/>
          <a:p>
            <a:pPr indent="0" marL="0">
              <a:buNone/>
            </a:pPr>
            <a:r>
              <a:rPr lang="en-US" sz="1400" dirty="0">
                <a:solidFill>
                  <a:schemeClr val="accent5"/>
                </a:solidFill>
              </a:rPr>
              <a:t>Riwayat tindakan, odontogram, dan resep tersebar di kertas &amp; chat — sulit dicari saat pasien kembali.</a:t>
            </a:r>
            <a:endParaRPr lang="en-US" sz="1400" dirty="0"/>
          </a:p>
        </p:txBody>
      </p:sp>
      <p:sp>
        <p:nvSpPr>
          <p:cNvPr id="9" name="problem card 2"/>
          <p:cNvSpPr/>
          <p:nvPr/>
        </p:nvSpPr>
        <p:spPr>
          <a:xfrm>
            <a:off x="3364992" y="1828800"/>
            <a:ext cx="2587752" cy="3657600"/>
          </a:xfrm>
          <a:prstGeom prst="roundRect">
            <a:avLst>
              <a:gd name="adj" fmla="val 4947"/>
            </a:avLst>
          </a:prstGeom>
          <a:solidFill>
            <a:srgbClr val="FFFFFF"/>
          </a:solidFill>
          <a:ln/>
          <a:effectLst>
            <a:outerShdw sx="100000" sy="100000" kx="0" ky="0" algn="bl" rotWithShape="0" blurRad="127000" dist="38100" dir="5400000">
              <a:srgbClr val="17160F">
                <a:alpha val="10000"/>
              </a:srgbClr>
            </a:outerShdw>
          </a:effectLst>
        </p:spPr>
      </p:sp>
      <p:sp>
        <p:nvSpPr>
          <p:cNvPr id="10" name="problem icon 2 bg"/>
          <p:cNvSpPr/>
          <p:nvPr/>
        </p:nvSpPr>
        <p:spPr>
          <a:xfrm>
            <a:off x="3639312" y="2103120"/>
            <a:ext cx="566928" cy="566928"/>
          </a:xfrm>
          <a:prstGeom prst="ellipse">
            <a:avLst/>
          </a:prstGeom>
          <a:solidFill>
            <a:srgbClr val="FBE1DE"/>
          </a:solidFill>
          <a:ln/>
        </p:spPr>
      </p:sp>
      <p:pic>
        <p:nvPicPr>
          <p:cNvPr id="11" name="problem icon 2" descr="Ikon">    </p:cNvPr>
          <p:cNvPicPr>
            <a:picLocks noChangeAspect="1"/>
          </p:cNvPicPr>
          <p:nvPr/>
        </p:nvPicPr>
        <p:blipFill>
          <a:blip r:embed="rId2"/>
          <a:stretch>
            <a:fillRect/>
          </a:stretch>
        </p:blipFill>
        <p:spPr>
          <a:xfrm>
            <a:off x="3781044" y="2244852"/>
            <a:ext cx="283464" cy="283464"/>
          </a:xfrm>
          <a:prstGeom prst="rect">
            <a:avLst/>
          </a:prstGeom>
        </p:spPr>
      </p:pic>
      <p:sp>
        <p:nvSpPr>
          <p:cNvPr id="12" name="Text 8"/>
          <p:cNvSpPr txBox="1"/>
          <p:nvPr/>
        </p:nvSpPr>
        <p:spPr>
          <a:xfrm>
            <a:off x="3639312" y="2852928"/>
            <a:ext cx="2057400" cy="68580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Jadwal &amp; antrian manual</a:t>
            </a:r>
            <a:endParaRPr lang="en-US" sz="1800" dirty="0"/>
          </a:p>
        </p:txBody>
      </p:sp>
      <p:sp>
        <p:nvSpPr>
          <p:cNvPr id="13" name="Text 9"/>
          <p:cNvSpPr txBox="1"/>
          <p:nvPr/>
        </p:nvSpPr>
        <p:spPr>
          <a:xfrm>
            <a:off x="3639312" y="3566160"/>
            <a:ext cx="2057400" cy="1737360"/>
          </a:xfrm>
          <a:prstGeom prst="rect">
            <a:avLst/>
          </a:prstGeom>
          <a:noFill/>
          <a:ln/>
        </p:spPr>
        <p:txBody>
          <a:bodyPr wrap="square" lIns="0" tIns="0" rIns="0" bIns="0" rtlCol="0" anchor="t"/>
          <a:lstStyle/>
          <a:p>
            <a:pPr indent="0" marL="0">
              <a:buNone/>
            </a:pPr>
            <a:r>
              <a:rPr lang="en-US" sz="1400" dirty="0">
                <a:solidFill>
                  <a:schemeClr val="accent5"/>
                </a:solidFill>
              </a:rPr>
              <a:t>Booking via telepon dan buku sering bentrok, tidak terlacak, pasien menunggu lama.</a:t>
            </a:r>
            <a:endParaRPr lang="en-US" sz="1400" dirty="0"/>
          </a:p>
        </p:txBody>
      </p:sp>
      <p:sp>
        <p:nvSpPr>
          <p:cNvPr id="14" name="problem card 3"/>
          <p:cNvSpPr/>
          <p:nvPr/>
        </p:nvSpPr>
        <p:spPr>
          <a:xfrm>
            <a:off x="6181344" y="1828800"/>
            <a:ext cx="2587752" cy="3657600"/>
          </a:xfrm>
          <a:prstGeom prst="roundRect">
            <a:avLst>
              <a:gd name="adj" fmla="val 4947"/>
            </a:avLst>
          </a:prstGeom>
          <a:solidFill>
            <a:srgbClr val="FFFFFF"/>
          </a:solidFill>
          <a:ln/>
          <a:effectLst>
            <a:outerShdw sx="100000" sy="100000" kx="0" ky="0" algn="bl" rotWithShape="0" blurRad="127000" dist="38100" dir="5400000">
              <a:srgbClr val="17160F">
                <a:alpha val="10000"/>
              </a:srgbClr>
            </a:outerShdw>
          </a:effectLst>
        </p:spPr>
      </p:sp>
      <p:sp>
        <p:nvSpPr>
          <p:cNvPr id="15" name="problem icon 3 bg"/>
          <p:cNvSpPr/>
          <p:nvPr/>
        </p:nvSpPr>
        <p:spPr>
          <a:xfrm>
            <a:off x="6455664" y="2103120"/>
            <a:ext cx="566928" cy="566928"/>
          </a:xfrm>
          <a:prstGeom prst="ellipse">
            <a:avLst/>
          </a:prstGeom>
          <a:solidFill>
            <a:srgbClr val="FBE1DE"/>
          </a:solidFill>
          <a:ln/>
        </p:spPr>
      </p:sp>
      <p:pic>
        <p:nvPicPr>
          <p:cNvPr id="16" name="problem icon 3" descr="Ikon">    </p:cNvPr>
          <p:cNvPicPr>
            <a:picLocks noChangeAspect="1"/>
          </p:cNvPicPr>
          <p:nvPr/>
        </p:nvPicPr>
        <p:blipFill>
          <a:blip r:embed="rId3"/>
          <a:stretch>
            <a:fillRect/>
          </a:stretch>
        </p:blipFill>
        <p:spPr>
          <a:xfrm>
            <a:off x="6597396" y="2244852"/>
            <a:ext cx="283464" cy="283464"/>
          </a:xfrm>
          <a:prstGeom prst="rect">
            <a:avLst/>
          </a:prstGeom>
        </p:spPr>
      </p:pic>
      <p:sp>
        <p:nvSpPr>
          <p:cNvPr id="17" name="Text 12"/>
          <p:cNvSpPr txBox="1"/>
          <p:nvPr/>
        </p:nvSpPr>
        <p:spPr>
          <a:xfrm>
            <a:off x="6455664" y="2852928"/>
            <a:ext cx="2057400" cy="68580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Buta angka bisnis</a:t>
            </a:r>
            <a:endParaRPr lang="en-US" sz="1800" dirty="0"/>
          </a:p>
        </p:txBody>
      </p:sp>
      <p:sp>
        <p:nvSpPr>
          <p:cNvPr id="18" name="Text 13"/>
          <p:cNvSpPr txBox="1"/>
          <p:nvPr/>
        </p:nvSpPr>
        <p:spPr>
          <a:xfrm>
            <a:off x="6455664" y="3566160"/>
            <a:ext cx="2057400" cy="1737360"/>
          </a:xfrm>
          <a:prstGeom prst="rect">
            <a:avLst/>
          </a:prstGeom>
          <a:noFill/>
          <a:ln/>
        </p:spPr>
        <p:txBody>
          <a:bodyPr wrap="square" lIns="0" tIns="0" rIns="0" bIns="0" rtlCol="0" anchor="t"/>
          <a:lstStyle/>
          <a:p>
            <a:pPr indent="0" marL="0">
              <a:buNone/>
            </a:pPr>
            <a:r>
              <a:rPr lang="en-US" sz="1400" dirty="0">
                <a:solidFill>
                  <a:schemeClr val="accent5"/>
                </a:solidFill>
              </a:rPr>
              <a:t>Uang masuk tercatat, tapi margin per tindakan, fee dokter, dan piutang tidak pernah dihitung.</a:t>
            </a:r>
            <a:endParaRPr lang="en-US" sz="1400" dirty="0"/>
          </a:p>
        </p:txBody>
      </p:sp>
      <p:sp>
        <p:nvSpPr>
          <p:cNvPr id="19" name="problem card 4"/>
          <p:cNvSpPr/>
          <p:nvPr/>
        </p:nvSpPr>
        <p:spPr>
          <a:xfrm>
            <a:off x="8997696" y="1828800"/>
            <a:ext cx="2587752" cy="3657600"/>
          </a:xfrm>
          <a:prstGeom prst="roundRect">
            <a:avLst>
              <a:gd name="adj" fmla="val 4947"/>
            </a:avLst>
          </a:prstGeom>
          <a:solidFill>
            <a:srgbClr val="FFFFFF"/>
          </a:solidFill>
          <a:ln/>
          <a:effectLst>
            <a:outerShdw sx="100000" sy="100000" kx="0" ky="0" algn="bl" rotWithShape="0" blurRad="127000" dist="38100" dir="5400000">
              <a:srgbClr val="17160F">
                <a:alpha val="10000"/>
              </a:srgbClr>
            </a:outerShdw>
          </a:effectLst>
        </p:spPr>
      </p:sp>
      <p:sp>
        <p:nvSpPr>
          <p:cNvPr id="20" name="problem icon 4 bg"/>
          <p:cNvSpPr/>
          <p:nvPr/>
        </p:nvSpPr>
        <p:spPr>
          <a:xfrm>
            <a:off x="9272016" y="2103120"/>
            <a:ext cx="566928" cy="566928"/>
          </a:xfrm>
          <a:prstGeom prst="ellipse">
            <a:avLst/>
          </a:prstGeom>
          <a:solidFill>
            <a:srgbClr val="FBE1DE"/>
          </a:solidFill>
          <a:ln/>
        </p:spPr>
      </p:sp>
      <p:pic>
        <p:nvPicPr>
          <p:cNvPr id="21" name="problem icon 4" descr="Ikon">    </p:cNvPr>
          <p:cNvPicPr>
            <a:picLocks noChangeAspect="1"/>
          </p:cNvPicPr>
          <p:nvPr/>
        </p:nvPicPr>
        <p:blipFill>
          <a:blip r:embed="rId4"/>
          <a:stretch>
            <a:fillRect/>
          </a:stretch>
        </p:blipFill>
        <p:spPr>
          <a:xfrm>
            <a:off x="9413748" y="2244852"/>
            <a:ext cx="283464" cy="283464"/>
          </a:xfrm>
          <a:prstGeom prst="rect">
            <a:avLst/>
          </a:prstGeom>
        </p:spPr>
      </p:pic>
      <p:sp>
        <p:nvSpPr>
          <p:cNvPr id="22" name="Text 16"/>
          <p:cNvSpPr txBox="1"/>
          <p:nvPr/>
        </p:nvSpPr>
        <p:spPr>
          <a:xfrm>
            <a:off x="9272016" y="2852928"/>
            <a:ext cx="2057400" cy="68580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Tekanan regulasi</a:t>
            </a:r>
            <a:endParaRPr lang="en-US" sz="1800" dirty="0"/>
          </a:p>
        </p:txBody>
      </p:sp>
      <p:sp>
        <p:nvSpPr>
          <p:cNvPr id="23" name="Text 17"/>
          <p:cNvSpPr txBox="1"/>
          <p:nvPr/>
        </p:nvSpPr>
        <p:spPr>
          <a:xfrm>
            <a:off x="9272016" y="3566160"/>
            <a:ext cx="2057400" cy="1737360"/>
          </a:xfrm>
          <a:prstGeom prst="rect">
            <a:avLst/>
          </a:prstGeom>
          <a:noFill/>
          <a:ln/>
        </p:spPr>
        <p:txBody>
          <a:bodyPr wrap="square" lIns="0" tIns="0" rIns="0" bIns="0" rtlCol="0" anchor="t"/>
          <a:lstStyle/>
          <a:p>
            <a:pPr indent="0" marL="0">
              <a:buNone/>
            </a:pPr>
            <a:r>
              <a:rPr lang="en-US" sz="1400" dirty="0">
                <a:solidFill>
                  <a:schemeClr val="accent5"/>
                </a:solidFill>
              </a:rPr>
              <a:t>RME dan pelaporan ke SATUSEHAT kini wajib — sistem lama tidak siap, SIMRS enterprise terlalu mahal.</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SOLUSI</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Satu platform, dari pasien datang sampai laporan</a:t>
            </a:r>
            <a:endParaRPr lang="en-US" sz="3200" dirty="0"/>
          </a:p>
        </p:txBody>
      </p:sp>
      <p:sp>
        <p:nvSpPr>
          <p:cNvPr id="4" name="flow 1 bg"/>
          <p:cNvSpPr/>
          <p:nvPr/>
        </p:nvSpPr>
        <p:spPr>
          <a:xfrm>
            <a:off x="1051560" y="1965960"/>
            <a:ext cx="1005840" cy="1005840"/>
          </a:xfrm>
          <a:prstGeom prst="ellipse">
            <a:avLst/>
          </a:prstGeom>
          <a:solidFill>
            <a:srgbClr val="17160F"/>
          </a:solidFill>
          <a:ln/>
        </p:spPr>
      </p:sp>
      <p:pic>
        <p:nvPicPr>
          <p:cNvPr id="5" name="flow 1" descr="Ikon">    </p:cNvPr>
          <p:cNvPicPr>
            <a:picLocks noChangeAspect="1"/>
          </p:cNvPicPr>
          <p:nvPr/>
        </p:nvPicPr>
        <p:blipFill>
          <a:blip r:embed="rId1"/>
          <a:stretch>
            <a:fillRect/>
          </a:stretch>
        </p:blipFill>
        <p:spPr>
          <a:xfrm>
            <a:off x="1303020" y="2217420"/>
            <a:ext cx="502920" cy="502920"/>
          </a:xfrm>
          <a:prstGeom prst="rect">
            <a:avLst/>
          </a:prstGeom>
        </p:spPr>
      </p:pic>
      <p:sp>
        <p:nvSpPr>
          <p:cNvPr id="6" name="Text 3"/>
          <p:cNvSpPr txBox="1"/>
          <p:nvPr/>
        </p:nvSpPr>
        <p:spPr>
          <a:xfrm>
            <a:off x="548640" y="3108960"/>
            <a:ext cx="201168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Arial" pitchFamily="34" charset="0"/>
                <a:ea typeface="Arial" pitchFamily="34" charset="-122"/>
                <a:cs typeface="Arial" pitchFamily="34" charset="-120"/>
              </a:rPr>
              <a:t>Reservasi</a:t>
            </a:r>
            <a:endParaRPr lang="en-US" sz="1800" dirty="0"/>
          </a:p>
        </p:txBody>
      </p:sp>
      <p:sp>
        <p:nvSpPr>
          <p:cNvPr id="7" name="Text 4"/>
          <p:cNvSpPr txBox="1"/>
          <p:nvPr/>
        </p:nvSpPr>
        <p:spPr>
          <a:xfrm>
            <a:off x="548640" y="3474720"/>
            <a:ext cx="2011680" cy="365760"/>
          </a:xfrm>
          <a:prstGeom prst="rect">
            <a:avLst/>
          </a:prstGeom>
          <a:noFill/>
          <a:ln/>
        </p:spPr>
        <p:txBody>
          <a:bodyPr wrap="square" lIns="0" tIns="0" rIns="0" bIns="0" rtlCol="0" anchor="t"/>
          <a:lstStyle/>
          <a:p>
            <a:pPr algn="ctr" indent="0" marL="0">
              <a:buNone/>
            </a:pPr>
            <a:r>
              <a:rPr lang="en-US" sz="1400" dirty="0">
                <a:solidFill>
                  <a:schemeClr val="accent5"/>
                </a:solidFill>
              </a:rPr>
              <a:t>Booking online &amp; antrian</a:t>
            </a:r>
            <a:endParaRPr lang="en-US" sz="1400" dirty="0"/>
          </a:p>
        </p:txBody>
      </p:sp>
      <p:sp>
        <p:nvSpPr>
          <p:cNvPr id="8" name="flow arrow 1"/>
          <p:cNvSpPr/>
          <p:nvPr/>
        </p:nvSpPr>
        <p:spPr>
          <a:xfrm>
            <a:off x="2286000" y="2331720"/>
            <a:ext cx="411480" cy="274320"/>
          </a:xfrm>
          <a:prstGeom prst="rightArrow">
            <a:avLst/>
          </a:prstGeom>
          <a:solidFill>
            <a:srgbClr val="E4E1D8"/>
          </a:solidFill>
          <a:ln/>
        </p:spPr>
      </p:sp>
      <p:sp>
        <p:nvSpPr>
          <p:cNvPr id="9" name="flow 2 bg"/>
          <p:cNvSpPr/>
          <p:nvPr/>
        </p:nvSpPr>
        <p:spPr>
          <a:xfrm>
            <a:off x="3319272" y="1965960"/>
            <a:ext cx="1005840" cy="1005840"/>
          </a:xfrm>
          <a:prstGeom prst="ellipse">
            <a:avLst/>
          </a:prstGeom>
          <a:solidFill>
            <a:srgbClr val="17160F"/>
          </a:solidFill>
          <a:ln/>
        </p:spPr>
      </p:sp>
      <p:pic>
        <p:nvPicPr>
          <p:cNvPr id="10" name="flow 2" descr="Ikon">    </p:cNvPr>
          <p:cNvPicPr>
            <a:picLocks noChangeAspect="1"/>
          </p:cNvPicPr>
          <p:nvPr/>
        </p:nvPicPr>
        <p:blipFill>
          <a:blip r:embed="rId2"/>
          <a:stretch>
            <a:fillRect/>
          </a:stretch>
        </p:blipFill>
        <p:spPr>
          <a:xfrm>
            <a:off x="3570732" y="2217420"/>
            <a:ext cx="502920" cy="502920"/>
          </a:xfrm>
          <a:prstGeom prst="rect">
            <a:avLst/>
          </a:prstGeom>
        </p:spPr>
      </p:pic>
      <p:sp>
        <p:nvSpPr>
          <p:cNvPr id="11" name="Text 7"/>
          <p:cNvSpPr txBox="1"/>
          <p:nvPr/>
        </p:nvSpPr>
        <p:spPr>
          <a:xfrm>
            <a:off x="2816352" y="3108960"/>
            <a:ext cx="201168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Arial" pitchFamily="34" charset="0"/>
                <a:ea typeface="Arial" pitchFamily="34" charset="-122"/>
                <a:cs typeface="Arial" pitchFamily="34" charset="-120"/>
              </a:rPr>
              <a:t>Pemeriksaan</a:t>
            </a:r>
            <a:endParaRPr lang="en-US" sz="1800" dirty="0"/>
          </a:p>
        </p:txBody>
      </p:sp>
      <p:sp>
        <p:nvSpPr>
          <p:cNvPr id="12" name="Text 8"/>
          <p:cNvSpPr txBox="1"/>
          <p:nvPr/>
        </p:nvSpPr>
        <p:spPr>
          <a:xfrm>
            <a:off x="2816352" y="3474720"/>
            <a:ext cx="2011680" cy="365760"/>
          </a:xfrm>
          <a:prstGeom prst="rect">
            <a:avLst/>
          </a:prstGeom>
          <a:noFill/>
          <a:ln/>
        </p:spPr>
        <p:txBody>
          <a:bodyPr wrap="square" lIns="0" tIns="0" rIns="0" bIns="0" rtlCol="0" anchor="t"/>
          <a:lstStyle/>
          <a:p>
            <a:pPr algn="ctr" indent="0" marL="0">
              <a:buNone/>
            </a:pPr>
            <a:r>
              <a:rPr lang="en-US" sz="1400" dirty="0">
                <a:solidFill>
                  <a:schemeClr val="accent5"/>
                </a:solidFill>
              </a:rPr>
              <a:t>SOAP, ICD-10, odontogram</a:t>
            </a:r>
            <a:endParaRPr lang="en-US" sz="1400" dirty="0"/>
          </a:p>
        </p:txBody>
      </p:sp>
      <p:sp>
        <p:nvSpPr>
          <p:cNvPr id="13" name="flow arrow 2"/>
          <p:cNvSpPr/>
          <p:nvPr/>
        </p:nvSpPr>
        <p:spPr>
          <a:xfrm>
            <a:off x="4553712" y="2331720"/>
            <a:ext cx="411480" cy="274320"/>
          </a:xfrm>
          <a:prstGeom prst="rightArrow">
            <a:avLst/>
          </a:prstGeom>
          <a:solidFill>
            <a:srgbClr val="E4E1D8"/>
          </a:solidFill>
          <a:ln/>
        </p:spPr>
      </p:sp>
      <p:sp>
        <p:nvSpPr>
          <p:cNvPr id="14" name="flow 3 bg"/>
          <p:cNvSpPr/>
          <p:nvPr/>
        </p:nvSpPr>
        <p:spPr>
          <a:xfrm>
            <a:off x="5586984" y="1965960"/>
            <a:ext cx="1005840" cy="1005840"/>
          </a:xfrm>
          <a:prstGeom prst="ellipse">
            <a:avLst/>
          </a:prstGeom>
          <a:solidFill>
            <a:srgbClr val="17160F"/>
          </a:solidFill>
          <a:ln/>
        </p:spPr>
      </p:sp>
      <p:pic>
        <p:nvPicPr>
          <p:cNvPr id="15" name="flow 3" descr="Ikon">    </p:cNvPr>
          <p:cNvPicPr>
            <a:picLocks noChangeAspect="1"/>
          </p:cNvPicPr>
          <p:nvPr/>
        </p:nvPicPr>
        <p:blipFill>
          <a:blip r:embed="rId3"/>
          <a:stretch>
            <a:fillRect/>
          </a:stretch>
        </p:blipFill>
        <p:spPr>
          <a:xfrm>
            <a:off x="5838444" y="2217420"/>
            <a:ext cx="502920" cy="502920"/>
          </a:xfrm>
          <a:prstGeom prst="rect">
            <a:avLst/>
          </a:prstGeom>
        </p:spPr>
      </p:pic>
      <p:sp>
        <p:nvSpPr>
          <p:cNvPr id="16" name="Text 11"/>
          <p:cNvSpPr txBox="1"/>
          <p:nvPr/>
        </p:nvSpPr>
        <p:spPr>
          <a:xfrm>
            <a:off x="5084064" y="3108960"/>
            <a:ext cx="201168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Arial" pitchFamily="34" charset="0"/>
                <a:ea typeface="Arial" pitchFamily="34" charset="-122"/>
                <a:cs typeface="Arial" pitchFamily="34" charset="-120"/>
              </a:rPr>
              <a:t>Billing</a:t>
            </a:r>
            <a:endParaRPr lang="en-US" sz="1800" dirty="0"/>
          </a:p>
        </p:txBody>
      </p:sp>
      <p:sp>
        <p:nvSpPr>
          <p:cNvPr id="17" name="Text 12"/>
          <p:cNvSpPr txBox="1"/>
          <p:nvPr/>
        </p:nvSpPr>
        <p:spPr>
          <a:xfrm>
            <a:off x="5084064" y="3474720"/>
            <a:ext cx="2011680" cy="365760"/>
          </a:xfrm>
          <a:prstGeom prst="rect">
            <a:avLst/>
          </a:prstGeom>
          <a:noFill/>
          <a:ln/>
        </p:spPr>
        <p:txBody>
          <a:bodyPr wrap="square" lIns="0" tIns="0" rIns="0" bIns="0" rtlCol="0" anchor="t"/>
          <a:lstStyle/>
          <a:p>
            <a:pPr algn="ctr" indent="0" marL="0">
              <a:buNone/>
            </a:pPr>
            <a:r>
              <a:rPr lang="en-US" sz="1400" dirty="0">
                <a:solidFill>
                  <a:schemeClr val="accent5"/>
                </a:solidFill>
              </a:rPr>
              <a:t>Cash, QRIS, BPJS, DP</a:t>
            </a:r>
            <a:endParaRPr lang="en-US" sz="1400" dirty="0"/>
          </a:p>
        </p:txBody>
      </p:sp>
      <p:sp>
        <p:nvSpPr>
          <p:cNvPr id="18" name="flow arrow 3"/>
          <p:cNvSpPr/>
          <p:nvPr/>
        </p:nvSpPr>
        <p:spPr>
          <a:xfrm>
            <a:off x="6821424" y="2331720"/>
            <a:ext cx="411480" cy="274320"/>
          </a:xfrm>
          <a:prstGeom prst="rightArrow">
            <a:avLst/>
          </a:prstGeom>
          <a:solidFill>
            <a:srgbClr val="E4E1D8"/>
          </a:solidFill>
          <a:ln/>
        </p:spPr>
      </p:sp>
      <p:sp>
        <p:nvSpPr>
          <p:cNvPr id="19" name="flow 4 bg"/>
          <p:cNvSpPr/>
          <p:nvPr/>
        </p:nvSpPr>
        <p:spPr>
          <a:xfrm>
            <a:off x="7854696" y="1965960"/>
            <a:ext cx="1005840" cy="1005840"/>
          </a:xfrm>
          <a:prstGeom prst="ellipse">
            <a:avLst/>
          </a:prstGeom>
          <a:solidFill>
            <a:srgbClr val="17160F"/>
          </a:solidFill>
          <a:ln/>
        </p:spPr>
      </p:sp>
      <p:pic>
        <p:nvPicPr>
          <p:cNvPr id="20" name="flow 4" descr="Ikon">    </p:cNvPr>
          <p:cNvPicPr>
            <a:picLocks noChangeAspect="1"/>
          </p:cNvPicPr>
          <p:nvPr/>
        </p:nvPicPr>
        <p:blipFill>
          <a:blip r:embed="rId4"/>
          <a:stretch>
            <a:fillRect/>
          </a:stretch>
        </p:blipFill>
        <p:spPr>
          <a:xfrm>
            <a:off x="8106156" y="2217420"/>
            <a:ext cx="502920" cy="502920"/>
          </a:xfrm>
          <a:prstGeom prst="rect">
            <a:avLst/>
          </a:prstGeom>
        </p:spPr>
      </p:pic>
      <p:sp>
        <p:nvSpPr>
          <p:cNvPr id="21" name="Text 15"/>
          <p:cNvSpPr txBox="1"/>
          <p:nvPr/>
        </p:nvSpPr>
        <p:spPr>
          <a:xfrm>
            <a:off x="7351776" y="3108960"/>
            <a:ext cx="201168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Arial" pitchFamily="34" charset="0"/>
                <a:ea typeface="Arial" pitchFamily="34" charset="-122"/>
                <a:cs typeface="Arial" pitchFamily="34" charset="-120"/>
              </a:rPr>
              <a:t>Laporan</a:t>
            </a:r>
            <a:endParaRPr lang="en-US" sz="1800" dirty="0"/>
          </a:p>
        </p:txBody>
      </p:sp>
      <p:sp>
        <p:nvSpPr>
          <p:cNvPr id="22" name="Text 16"/>
          <p:cNvSpPr txBox="1"/>
          <p:nvPr/>
        </p:nvSpPr>
        <p:spPr>
          <a:xfrm>
            <a:off x="7351776" y="3474720"/>
            <a:ext cx="2011680" cy="365760"/>
          </a:xfrm>
          <a:prstGeom prst="rect">
            <a:avLst/>
          </a:prstGeom>
          <a:noFill/>
          <a:ln/>
        </p:spPr>
        <p:txBody>
          <a:bodyPr wrap="square" lIns="0" tIns="0" rIns="0" bIns="0" rtlCol="0" anchor="t"/>
          <a:lstStyle/>
          <a:p>
            <a:pPr algn="ctr" indent="0" marL="0">
              <a:buNone/>
            </a:pPr>
            <a:r>
              <a:rPr lang="en-US" sz="1400" dirty="0">
                <a:solidFill>
                  <a:schemeClr val="accent5"/>
                </a:solidFill>
              </a:rPr>
              <a:t>Keuangan &amp; BI klinik</a:t>
            </a:r>
            <a:endParaRPr lang="en-US" sz="1400" dirty="0"/>
          </a:p>
        </p:txBody>
      </p:sp>
      <p:sp>
        <p:nvSpPr>
          <p:cNvPr id="23" name="flow arrow 4"/>
          <p:cNvSpPr/>
          <p:nvPr/>
        </p:nvSpPr>
        <p:spPr>
          <a:xfrm>
            <a:off x="9089136" y="2331720"/>
            <a:ext cx="411480" cy="274320"/>
          </a:xfrm>
          <a:prstGeom prst="rightArrow">
            <a:avLst/>
          </a:prstGeom>
          <a:solidFill>
            <a:srgbClr val="E4E1D8"/>
          </a:solidFill>
          <a:ln/>
        </p:spPr>
      </p:sp>
      <p:sp>
        <p:nvSpPr>
          <p:cNvPr id="24" name="flow 5 bg"/>
          <p:cNvSpPr/>
          <p:nvPr/>
        </p:nvSpPr>
        <p:spPr>
          <a:xfrm>
            <a:off x="10122408" y="1965960"/>
            <a:ext cx="1005840" cy="1005840"/>
          </a:xfrm>
          <a:prstGeom prst="ellipse">
            <a:avLst/>
          </a:prstGeom>
          <a:solidFill>
            <a:srgbClr val="367D2F"/>
          </a:solidFill>
          <a:ln/>
        </p:spPr>
      </p:sp>
      <p:pic>
        <p:nvPicPr>
          <p:cNvPr id="25" name="flow 5" descr="Ikon">    </p:cNvPr>
          <p:cNvPicPr>
            <a:picLocks noChangeAspect="1"/>
          </p:cNvPicPr>
          <p:nvPr/>
        </p:nvPicPr>
        <p:blipFill>
          <a:blip r:embed="rId5"/>
          <a:stretch>
            <a:fillRect/>
          </a:stretch>
        </p:blipFill>
        <p:spPr>
          <a:xfrm>
            <a:off x="10373868" y="2217420"/>
            <a:ext cx="502920" cy="502920"/>
          </a:xfrm>
          <a:prstGeom prst="rect">
            <a:avLst/>
          </a:prstGeom>
        </p:spPr>
      </p:pic>
      <p:sp>
        <p:nvSpPr>
          <p:cNvPr id="26" name="Text 19"/>
          <p:cNvSpPr txBox="1"/>
          <p:nvPr/>
        </p:nvSpPr>
        <p:spPr>
          <a:xfrm>
            <a:off x="9619488" y="3108960"/>
            <a:ext cx="201168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Arial" pitchFamily="34" charset="0"/>
                <a:ea typeface="Arial" pitchFamily="34" charset="-122"/>
                <a:cs typeface="Arial" pitchFamily="34" charset="-120"/>
              </a:rPr>
              <a:t>SATUSEHAT</a:t>
            </a:r>
            <a:endParaRPr lang="en-US" sz="1800" dirty="0"/>
          </a:p>
        </p:txBody>
      </p:sp>
      <p:sp>
        <p:nvSpPr>
          <p:cNvPr id="27" name="Text 20"/>
          <p:cNvSpPr txBox="1"/>
          <p:nvPr/>
        </p:nvSpPr>
        <p:spPr>
          <a:xfrm>
            <a:off x="9619488" y="3474720"/>
            <a:ext cx="2011680" cy="365760"/>
          </a:xfrm>
          <a:prstGeom prst="rect">
            <a:avLst/>
          </a:prstGeom>
          <a:noFill/>
          <a:ln/>
        </p:spPr>
        <p:txBody>
          <a:bodyPr wrap="square" lIns="0" tIns="0" rIns="0" bIns="0" rtlCol="0" anchor="t"/>
          <a:lstStyle/>
          <a:p>
            <a:pPr algn="ctr" indent="0" marL="0">
              <a:buNone/>
            </a:pPr>
            <a:r>
              <a:rPr lang="en-US" sz="1400" dirty="0">
                <a:solidFill>
                  <a:schemeClr val="accent5"/>
                </a:solidFill>
              </a:rPr>
              <a:t>Sinkron FHIR otomatis</a:t>
            </a:r>
            <a:endParaRPr lang="en-US" sz="1400" dirty="0"/>
          </a:p>
        </p:txBody>
      </p:sp>
      <p:sp>
        <p:nvSpPr>
          <p:cNvPr id="28" name="value box"/>
          <p:cNvSpPr/>
          <p:nvPr/>
        </p:nvSpPr>
        <p:spPr>
          <a:xfrm>
            <a:off x="548640" y="4343400"/>
            <a:ext cx="11064240" cy="1600200"/>
          </a:xfrm>
          <a:prstGeom prst="roundRect">
            <a:avLst>
              <a:gd name="adj" fmla="val 8000"/>
            </a:avLst>
          </a:prstGeom>
          <a:solidFill>
            <a:srgbClr val="E3F3DA"/>
          </a:solidFill>
          <a:ln/>
        </p:spPr>
      </p:sp>
      <p:sp>
        <p:nvSpPr>
          <p:cNvPr id="29" name="Text 22"/>
          <p:cNvSpPr txBox="1"/>
          <p:nvPr/>
        </p:nvSpPr>
        <p:spPr>
          <a:xfrm>
            <a:off x="868680" y="4526280"/>
            <a:ext cx="3291840" cy="594360"/>
          </a:xfrm>
          <a:prstGeom prst="rect">
            <a:avLst/>
          </a:prstGeom>
          <a:noFill/>
          <a:ln/>
        </p:spPr>
        <p:txBody>
          <a:bodyPr wrap="square" lIns="0" tIns="0" rIns="0" bIns="0" rtlCol="0" anchor="t"/>
          <a:lstStyle/>
          <a:p>
            <a:pPr indent="0" marL="0">
              <a:buNone/>
            </a:pPr>
            <a:r>
              <a:rPr lang="en-US" sz="3000" b="1" dirty="0">
                <a:solidFill>
                  <a:schemeClr val="tx2"/>
                </a:solidFill>
                <a:latin typeface="Arial" pitchFamily="34" charset="0"/>
                <a:ea typeface="Arial" pitchFamily="34" charset="-122"/>
                <a:cs typeface="Arial" pitchFamily="34" charset="-120"/>
              </a:rPr>
              <a:t>&lt; 10 menit</a:t>
            </a:r>
            <a:endParaRPr lang="en-US" sz="3000" dirty="0"/>
          </a:p>
        </p:txBody>
      </p:sp>
      <p:sp>
        <p:nvSpPr>
          <p:cNvPr id="30" name="Text 23"/>
          <p:cNvSpPr txBox="1"/>
          <p:nvPr/>
        </p:nvSpPr>
        <p:spPr>
          <a:xfrm>
            <a:off x="868680" y="5120640"/>
            <a:ext cx="3291840" cy="640080"/>
          </a:xfrm>
          <a:prstGeom prst="rect">
            <a:avLst/>
          </a:prstGeom>
          <a:noFill/>
          <a:ln/>
        </p:spPr>
        <p:txBody>
          <a:bodyPr wrap="square" lIns="0" tIns="0" rIns="0" bIns="0" rtlCol="0" anchor="t"/>
          <a:lstStyle/>
          <a:p>
            <a:pPr indent="0" marL="0">
              <a:buNone/>
            </a:pPr>
            <a:r>
              <a:rPr lang="en-US" sz="1400" dirty="0">
                <a:solidFill>
                  <a:schemeClr val="tx1"/>
                </a:solidFill>
              </a:rPr>
              <a:t>setup klinik dengan wizard onboarding</a:t>
            </a:r>
            <a:endParaRPr lang="en-US" sz="1400" dirty="0"/>
          </a:p>
        </p:txBody>
      </p:sp>
      <p:sp>
        <p:nvSpPr>
          <p:cNvPr id="31" name="Text 24"/>
          <p:cNvSpPr txBox="1"/>
          <p:nvPr/>
        </p:nvSpPr>
        <p:spPr>
          <a:xfrm>
            <a:off x="4526280" y="4526280"/>
            <a:ext cx="3291840" cy="594360"/>
          </a:xfrm>
          <a:prstGeom prst="rect">
            <a:avLst/>
          </a:prstGeom>
          <a:noFill/>
          <a:ln/>
        </p:spPr>
        <p:txBody>
          <a:bodyPr wrap="square" lIns="0" tIns="0" rIns="0" bIns="0" rtlCol="0" anchor="t"/>
          <a:lstStyle/>
          <a:p>
            <a:pPr indent="0" marL="0">
              <a:buNone/>
            </a:pPr>
            <a:r>
              <a:rPr lang="en-US" sz="3000" b="1" dirty="0">
                <a:solidFill>
                  <a:schemeClr val="tx2"/>
                </a:solidFill>
                <a:latin typeface="Arial" pitchFamily="34" charset="0"/>
                <a:ea typeface="Arial" pitchFamily="34" charset="-122"/>
                <a:cs typeface="Arial" pitchFamily="34" charset="-120"/>
              </a:rPr>
              <a:t>Rp149rb</a:t>
            </a:r>
            <a:endParaRPr lang="en-US" sz="3000" dirty="0"/>
          </a:p>
        </p:txBody>
      </p:sp>
      <p:sp>
        <p:nvSpPr>
          <p:cNvPr id="32" name="Text 25"/>
          <p:cNvSpPr txBox="1"/>
          <p:nvPr/>
        </p:nvSpPr>
        <p:spPr>
          <a:xfrm>
            <a:off x="4526280" y="5120640"/>
            <a:ext cx="3291840" cy="640080"/>
          </a:xfrm>
          <a:prstGeom prst="rect">
            <a:avLst/>
          </a:prstGeom>
          <a:noFill/>
          <a:ln/>
        </p:spPr>
        <p:txBody>
          <a:bodyPr wrap="square" lIns="0" tIns="0" rIns="0" bIns="0" rtlCol="0" anchor="t"/>
          <a:lstStyle/>
          <a:p>
            <a:pPr indent="0" marL="0">
              <a:buNone/>
            </a:pPr>
            <a:r>
              <a:rPr lang="en-US" sz="1400" dirty="0">
                <a:solidFill>
                  <a:schemeClr val="tx1"/>
                </a:solidFill>
              </a:rPr>
              <a:t>mulai per bulan — jauh di bawah biaya SIMRS</a:t>
            </a:r>
            <a:endParaRPr lang="en-US" sz="1400" dirty="0"/>
          </a:p>
        </p:txBody>
      </p:sp>
      <p:sp>
        <p:nvSpPr>
          <p:cNvPr id="33" name="Text 26"/>
          <p:cNvSpPr txBox="1"/>
          <p:nvPr/>
        </p:nvSpPr>
        <p:spPr>
          <a:xfrm>
            <a:off x="8183880" y="4526280"/>
            <a:ext cx="3291840" cy="594360"/>
          </a:xfrm>
          <a:prstGeom prst="rect">
            <a:avLst/>
          </a:prstGeom>
          <a:noFill/>
          <a:ln/>
        </p:spPr>
        <p:txBody>
          <a:bodyPr wrap="square" lIns="0" tIns="0" rIns="0" bIns="0" rtlCol="0" anchor="t"/>
          <a:lstStyle/>
          <a:p>
            <a:pPr indent="0" marL="0">
              <a:buNone/>
            </a:pPr>
            <a:r>
              <a:rPr lang="en-US" sz="3000" b="1" dirty="0">
                <a:solidFill>
                  <a:schemeClr val="tx2"/>
                </a:solidFill>
                <a:latin typeface="Arial" pitchFamily="34" charset="0"/>
                <a:ea typeface="Arial" pitchFamily="34" charset="-122"/>
                <a:cs typeface="Arial" pitchFamily="34" charset="-120"/>
              </a:rPr>
              <a:t>15 hari</a:t>
            </a:r>
            <a:endParaRPr lang="en-US" sz="3000" dirty="0"/>
          </a:p>
        </p:txBody>
      </p:sp>
      <p:sp>
        <p:nvSpPr>
          <p:cNvPr id="34" name="Text 27"/>
          <p:cNvSpPr txBox="1"/>
          <p:nvPr/>
        </p:nvSpPr>
        <p:spPr>
          <a:xfrm>
            <a:off x="8183880" y="5120640"/>
            <a:ext cx="3291840" cy="640080"/>
          </a:xfrm>
          <a:prstGeom prst="rect">
            <a:avLst/>
          </a:prstGeom>
          <a:noFill/>
          <a:ln/>
        </p:spPr>
        <p:txBody>
          <a:bodyPr wrap="square" lIns="0" tIns="0" rIns="0" bIns="0" rtlCol="0" anchor="t"/>
          <a:lstStyle/>
          <a:p>
            <a:pPr indent="0" marL="0">
              <a:buNone/>
            </a:pPr>
            <a:r>
              <a:rPr lang="en-US" sz="1400" dirty="0">
                <a:solidFill>
                  <a:schemeClr val="tx1"/>
                </a:solidFill>
              </a:rPr>
              <a:t>uji coba gratis, tanpa tagih otomatis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PRODUK</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Semua operasional klinik, sudah tersedia hari ini</a:t>
            </a:r>
            <a:endParaRPr lang="en-US" sz="3200" dirty="0"/>
          </a:p>
        </p:txBody>
      </p:sp>
      <p:sp>
        <p:nvSpPr>
          <p:cNvPr id="4" name="module card 1"/>
          <p:cNvSpPr/>
          <p:nvPr/>
        </p:nvSpPr>
        <p:spPr>
          <a:xfrm>
            <a:off x="548640" y="1828800"/>
            <a:ext cx="2587752"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5" name="module icon 1 bg"/>
          <p:cNvSpPr/>
          <p:nvPr/>
        </p:nvSpPr>
        <p:spPr>
          <a:xfrm>
            <a:off x="777240" y="2057400"/>
            <a:ext cx="502920" cy="502920"/>
          </a:xfrm>
          <a:prstGeom prst="ellipse">
            <a:avLst/>
          </a:prstGeom>
          <a:solidFill>
            <a:srgbClr val="E3F3DA"/>
          </a:solidFill>
          <a:ln/>
        </p:spPr>
      </p:sp>
      <p:pic>
        <p:nvPicPr>
          <p:cNvPr id="6" name="module icon 1" descr="Ikon">    </p:cNvPr>
          <p:cNvPicPr>
            <a:picLocks noChangeAspect="1"/>
          </p:cNvPicPr>
          <p:nvPr/>
        </p:nvPicPr>
        <p:blipFill>
          <a:blip r:embed="rId1"/>
          <a:stretch>
            <a:fillRect/>
          </a:stretch>
        </p:blipFill>
        <p:spPr>
          <a:xfrm>
            <a:off x="902970" y="2183130"/>
            <a:ext cx="251460" cy="251460"/>
          </a:xfrm>
          <a:prstGeom prst="rect">
            <a:avLst/>
          </a:prstGeom>
        </p:spPr>
      </p:pic>
      <p:sp>
        <p:nvSpPr>
          <p:cNvPr id="7" name="Text 4"/>
          <p:cNvSpPr txBox="1"/>
          <p:nvPr/>
        </p:nvSpPr>
        <p:spPr>
          <a:xfrm>
            <a:off x="777240" y="2697480"/>
            <a:ext cx="219456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Rekam Medis &amp; SOAP</a:t>
            </a:r>
            <a:endParaRPr lang="en-US" sz="1600" dirty="0"/>
          </a:p>
        </p:txBody>
      </p:sp>
      <p:sp>
        <p:nvSpPr>
          <p:cNvPr id="8" name="Text 5"/>
          <p:cNvSpPr txBox="1"/>
          <p:nvPr/>
        </p:nvSpPr>
        <p:spPr>
          <a:xfrm>
            <a:off x="777240" y="3063240"/>
            <a:ext cx="2194560" cy="548640"/>
          </a:xfrm>
          <a:prstGeom prst="rect">
            <a:avLst/>
          </a:prstGeom>
          <a:noFill/>
          <a:ln/>
        </p:spPr>
        <p:txBody>
          <a:bodyPr wrap="square" lIns="0" tIns="0" rIns="0" bIns="0" rtlCol="0" anchor="t"/>
          <a:lstStyle/>
          <a:p>
            <a:pPr indent="0" marL="0">
              <a:buNone/>
            </a:pPr>
            <a:r>
              <a:rPr lang="en-US" sz="1300" dirty="0">
                <a:solidFill>
                  <a:schemeClr val="accent5"/>
                </a:solidFill>
              </a:rPr>
              <a:t>ICD-10 &amp; SNOMED CT, rencana perawatan</a:t>
            </a:r>
            <a:endParaRPr lang="en-US" sz="1300" dirty="0"/>
          </a:p>
        </p:txBody>
      </p:sp>
      <p:sp>
        <p:nvSpPr>
          <p:cNvPr id="9" name="module card 2"/>
          <p:cNvSpPr/>
          <p:nvPr/>
        </p:nvSpPr>
        <p:spPr>
          <a:xfrm>
            <a:off x="3364992" y="1828800"/>
            <a:ext cx="2587752"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10" name="module icon 2 bg"/>
          <p:cNvSpPr/>
          <p:nvPr/>
        </p:nvSpPr>
        <p:spPr>
          <a:xfrm>
            <a:off x="3593592" y="2057400"/>
            <a:ext cx="502920" cy="502920"/>
          </a:xfrm>
          <a:prstGeom prst="ellipse">
            <a:avLst/>
          </a:prstGeom>
          <a:solidFill>
            <a:srgbClr val="E3F3DA"/>
          </a:solidFill>
          <a:ln/>
        </p:spPr>
      </p:sp>
      <p:pic>
        <p:nvPicPr>
          <p:cNvPr id="11" name="module icon 2" descr="Ikon">    </p:cNvPr>
          <p:cNvPicPr>
            <a:picLocks noChangeAspect="1"/>
          </p:cNvPicPr>
          <p:nvPr/>
        </p:nvPicPr>
        <p:blipFill>
          <a:blip r:embed="rId2"/>
          <a:stretch>
            <a:fillRect/>
          </a:stretch>
        </p:blipFill>
        <p:spPr>
          <a:xfrm>
            <a:off x="3719322" y="2183130"/>
            <a:ext cx="251460" cy="251460"/>
          </a:xfrm>
          <a:prstGeom prst="rect">
            <a:avLst/>
          </a:prstGeom>
        </p:spPr>
      </p:pic>
      <p:sp>
        <p:nvSpPr>
          <p:cNvPr id="12" name="Text 8"/>
          <p:cNvSpPr txBox="1"/>
          <p:nvPr/>
        </p:nvSpPr>
        <p:spPr>
          <a:xfrm>
            <a:off x="3593592" y="2697480"/>
            <a:ext cx="219456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Odontogram Digital</a:t>
            </a:r>
            <a:endParaRPr lang="en-US" sz="1600" dirty="0"/>
          </a:p>
        </p:txBody>
      </p:sp>
      <p:sp>
        <p:nvSpPr>
          <p:cNvPr id="13" name="Text 9"/>
          <p:cNvSpPr txBox="1"/>
          <p:nvPr/>
        </p:nvSpPr>
        <p:spPr>
          <a:xfrm>
            <a:off x="3593592" y="3063240"/>
            <a:ext cx="2194560" cy="548640"/>
          </a:xfrm>
          <a:prstGeom prst="rect">
            <a:avLst/>
          </a:prstGeom>
          <a:noFill/>
          <a:ln/>
        </p:spPr>
        <p:txBody>
          <a:bodyPr wrap="square" lIns="0" tIns="0" rIns="0" bIns="0" rtlCol="0" anchor="t"/>
          <a:lstStyle/>
          <a:p>
            <a:pPr indent="0" marL="0">
              <a:buNone/>
            </a:pPr>
            <a:r>
              <a:rPr lang="en-US" sz="1300" dirty="0">
                <a:solidFill>
                  <a:schemeClr val="accent5"/>
                </a:solidFill>
              </a:rPr>
              <a:t>Interaktif, per gigi, untuk dokter gigi</a:t>
            </a:r>
            <a:endParaRPr lang="en-US" sz="1300" dirty="0"/>
          </a:p>
        </p:txBody>
      </p:sp>
      <p:sp>
        <p:nvSpPr>
          <p:cNvPr id="14" name="module card 3"/>
          <p:cNvSpPr/>
          <p:nvPr/>
        </p:nvSpPr>
        <p:spPr>
          <a:xfrm>
            <a:off x="6181344" y="1828800"/>
            <a:ext cx="2587752"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15" name="module icon 3 bg"/>
          <p:cNvSpPr/>
          <p:nvPr/>
        </p:nvSpPr>
        <p:spPr>
          <a:xfrm>
            <a:off x="6409944" y="2057400"/>
            <a:ext cx="502920" cy="502920"/>
          </a:xfrm>
          <a:prstGeom prst="ellipse">
            <a:avLst/>
          </a:prstGeom>
          <a:solidFill>
            <a:srgbClr val="E3F3DA"/>
          </a:solidFill>
          <a:ln/>
        </p:spPr>
      </p:sp>
      <p:pic>
        <p:nvPicPr>
          <p:cNvPr id="16" name="module icon 3" descr="Ikon">    </p:cNvPr>
          <p:cNvPicPr>
            <a:picLocks noChangeAspect="1"/>
          </p:cNvPicPr>
          <p:nvPr/>
        </p:nvPicPr>
        <p:blipFill>
          <a:blip r:embed="rId3"/>
          <a:stretch>
            <a:fillRect/>
          </a:stretch>
        </p:blipFill>
        <p:spPr>
          <a:xfrm>
            <a:off x="6535674" y="2183130"/>
            <a:ext cx="251460" cy="251460"/>
          </a:xfrm>
          <a:prstGeom prst="rect">
            <a:avLst/>
          </a:prstGeom>
        </p:spPr>
      </p:pic>
      <p:sp>
        <p:nvSpPr>
          <p:cNvPr id="17" name="Text 12"/>
          <p:cNvSpPr txBox="1"/>
          <p:nvPr/>
        </p:nvSpPr>
        <p:spPr>
          <a:xfrm>
            <a:off x="6409944" y="2697480"/>
            <a:ext cx="219456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Tarif, Billing, Invoice</a:t>
            </a:r>
            <a:endParaRPr lang="en-US" sz="1600" dirty="0"/>
          </a:p>
        </p:txBody>
      </p:sp>
      <p:sp>
        <p:nvSpPr>
          <p:cNvPr id="18" name="Text 13"/>
          <p:cNvSpPr txBox="1"/>
          <p:nvPr/>
        </p:nvSpPr>
        <p:spPr>
          <a:xfrm>
            <a:off x="6409944" y="3063240"/>
            <a:ext cx="2194560" cy="548640"/>
          </a:xfrm>
          <a:prstGeom prst="rect">
            <a:avLst/>
          </a:prstGeom>
          <a:noFill/>
          <a:ln/>
        </p:spPr>
        <p:txBody>
          <a:bodyPr wrap="square" lIns="0" tIns="0" rIns="0" bIns="0" rtlCol="0" anchor="t"/>
          <a:lstStyle/>
          <a:p>
            <a:pPr indent="0" marL="0">
              <a:buNone/>
            </a:pPr>
            <a:r>
              <a:rPr lang="en-US" sz="1300" dirty="0">
                <a:solidFill>
                  <a:schemeClr val="accent5"/>
                </a:solidFill>
              </a:rPr>
              <a:t>QRIS, asuransi, BPJS, DP &amp; pelunasan</a:t>
            </a:r>
            <a:endParaRPr lang="en-US" sz="1300" dirty="0"/>
          </a:p>
        </p:txBody>
      </p:sp>
      <p:sp>
        <p:nvSpPr>
          <p:cNvPr id="19" name="module card 4"/>
          <p:cNvSpPr/>
          <p:nvPr/>
        </p:nvSpPr>
        <p:spPr>
          <a:xfrm>
            <a:off x="8997696" y="1828800"/>
            <a:ext cx="2587752"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20" name="module icon 4 bg"/>
          <p:cNvSpPr/>
          <p:nvPr/>
        </p:nvSpPr>
        <p:spPr>
          <a:xfrm>
            <a:off x="9226296" y="2057400"/>
            <a:ext cx="502920" cy="502920"/>
          </a:xfrm>
          <a:prstGeom prst="ellipse">
            <a:avLst/>
          </a:prstGeom>
          <a:solidFill>
            <a:srgbClr val="E3F3DA"/>
          </a:solidFill>
          <a:ln/>
        </p:spPr>
      </p:sp>
      <p:pic>
        <p:nvPicPr>
          <p:cNvPr id="21" name="module icon 4" descr="Ikon">    </p:cNvPr>
          <p:cNvPicPr>
            <a:picLocks noChangeAspect="1"/>
          </p:cNvPicPr>
          <p:nvPr/>
        </p:nvPicPr>
        <p:blipFill>
          <a:blip r:embed="rId4"/>
          <a:stretch>
            <a:fillRect/>
          </a:stretch>
        </p:blipFill>
        <p:spPr>
          <a:xfrm>
            <a:off x="9352026" y="2183130"/>
            <a:ext cx="251460" cy="251460"/>
          </a:xfrm>
          <a:prstGeom prst="rect">
            <a:avLst/>
          </a:prstGeom>
        </p:spPr>
      </p:pic>
      <p:sp>
        <p:nvSpPr>
          <p:cNvPr id="22" name="Text 16"/>
          <p:cNvSpPr txBox="1"/>
          <p:nvPr/>
        </p:nvSpPr>
        <p:spPr>
          <a:xfrm>
            <a:off x="9226296" y="2697480"/>
            <a:ext cx="219456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Reservasi &amp; Recall</a:t>
            </a:r>
            <a:endParaRPr lang="en-US" sz="1600" dirty="0"/>
          </a:p>
        </p:txBody>
      </p:sp>
      <p:sp>
        <p:nvSpPr>
          <p:cNvPr id="23" name="Text 17"/>
          <p:cNvSpPr txBox="1"/>
          <p:nvPr/>
        </p:nvSpPr>
        <p:spPr>
          <a:xfrm>
            <a:off x="9226296" y="3063240"/>
            <a:ext cx="2194560" cy="548640"/>
          </a:xfrm>
          <a:prstGeom prst="rect">
            <a:avLst/>
          </a:prstGeom>
          <a:noFill/>
          <a:ln/>
        </p:spPr>
        <p:txBody>
          <a:bodyPr wrap="square" lIns="0" tIns="0" rIns="0" bIns="0" rtlCol="0" anchor="t"/>
          <a:lstStyle/>
          <a:p>
            <a:pPr indent="0" marL="0">
              <a:buNone/>
            </a:pPr>
            <a:r>
              <a:rPr lang="en-US" sz="1300" dirty="0">
                <a:solidFill>
                  <a:schemeClr val="accent5"/>
                </a:solidFill>
              </a:rPr>
              <a:t>Booking online, cek status via WhatsApp</a:t>
            </a:r>
            <a:endParaRPr lang="en-US" sz="1300" dirty="0"/>
          </a:p>
        </p:txBody>
      </p:sp>
      <p:sp>
        <p:nvSpPr>
          <p:cNvPr id="24" name="module card 5"/>
          <p:cNvSpPr/>
          <p:nvPr/>
        </p:nvSpPr>
        <p:spPr>
          <a:xfrm>
            <a:off x="548640" y="3931920"/>
            <a:ext cx="2587752"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25" name="module icon 5 bg"/>
          <p:cNvSpPr/>
          <p:nvPr/>
        </p:nvSpPr>
        <p:spPr>
          <a:xfrm>
            <a:off x="777240" y="4160520"/>
            <a:ext cx="502920" cy="502920"/>
          </a:xfrm>
          <a:prstGeom prst="ellipse">
            <a:avLst/>
          </a:prstGeom>
          <a:solidFill>
            <a:srgbClr val="E3F3DA"/>
          </a:solidFill>
          <a:ln/>
        </p:spPr>
      </p:sp>
      <p:pic>
        <p:nvPicPr>
          <p:cNvPr id="26" name="module icon 5" descr="Ikon">    </p:cNvPr>
          <p:cNvPicPr>
            <a:picLocks noChangeAspect="1"/>
          </p:cNvPicPr>
          <p:nvPr/>
        </p:nvPicPr>
        <p:blipFill>
          <a:blip r:embed="rId5"/>
          <a:stretch>
            <a:fillRect/>
          </a:stretch>
        </p:blipFill>
        <p:spPr>
          <a:xfrm>
            <a:off x="902970" y="4286250"/>
            <a:ext cx="251460" cy="251460"/>
          </a:xfrm>
          <a:prstGeom prst="rect">
            <a:avLst/>
          </a:prstGeom>
        </p:spPr>
      </p:pic>
      <p:sp>
        <p:nvSpPr>
          <p:cNvPr id="27" name="Text 20"/>
          <p:cNvSpPr txBox="1"/>
          <p:nvPr/>
        </p:nvSpPr>
        <p:spPr>
          <a:xfrm>
            <a:off x="777240" y="4800600"/>
            <a:ext cx="219456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Gudang &amp; Farmasi</a:t>
            </a:r>
            <a:endParaRPr lang="en-US" sz="1600" dirty="0"/>
          </a:p>
        </p:txBody>
      </p:sp>
      <p:sp>
        <p:nvSpPr>
          <p:cNvPr id="28" name="Text 21"/>
          <p:cNvSpPr txBox="1"/>
          <p:nvPr/>
        </p:nvSpPr>
        <p:spPr>
          <a:xfrm>
            <a:off x="777240" y="5166360"/>
            <a:ext cx="2194560" cy="548640"/>
          </a:xfrm>
          <a:prstGeom prst="rect">
            <a:avLst/>
          </a:prstGeom>
          <a:noFill/>
          <a:ln/>
        </p:spPr>
        <p:txBody>
          <a:bodyPr wrap="square" lIns="0" tIns="0" rIns="0" bIns="0" rtlCol="0" anchor="t"/>
          <a:lstStyle/>
          <a:p>
            <a:pPr indent="0" marL="0">
              <a:buNone/>
            </a:pPr>
            <a:r>
              <a:rPr lang="en-US" sz="1300" dirty="0">
                <a:solidFill>
                  <a:schemeClr val="accent5"/>
                </a:solidFill>
              </a:rPr>
              <a:t>Stok bahan, resep, nilai inventory</a:t>
            </a:r>
            <a:endParaRPr lang="en-US" sz="1300" dirty="0"/>
          </a:p>
        </p:txBody>
      </p:sp>
      <p:sp>
        <p:nvSpPr>
          <p:cNvPr id="29" name="module card 6"/>
          <p:cNvSpPr/>
          <p:nvPr/>
        </p:nvSpPr>
        <p:spPr>
          <a:xfrm>
            <a:off x="3364992" y="3931920"/>
            <a:ext cx="2587752"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30" name="module icon 6 bg"/>
          <p:cNvSpPr/>
          <p:nvPr/>
        </p:nvSpPr>
        <p:spPr>
          <a:xfrm>
            <a:off x="3593592" y="4160520"/>
            <a:ext cx="502920" cy="502920"/>
          </a:xfrm>
          <a:prstGeom prst="ellipse">
            <a:avLst/>
          </a:prstGeom>
          <a:solidFill>
            <a:srgbClr val="E3F3DA"/>
          </a:solidFill>
          <a:ln/>
        </p:spPr>
      </p:sp>
      <p:pic>
        <p:nvPicPr>
          <p:cNvPr id="31" name="module icon 6" descr="Ikon">    </p:cNvPr>
          <p:cNvPicPr>
            <a:picLocks noChangeAspect="1"/>
          </p:cNvPicPr>
          <p:nvPr/>
        </p:nvPicPr>
        <p:blipFill>
          <a:blip r:embed="rId6"/>
          <a:stretch>
            <a:fillRect/>
          </a:stretch>
        </p:blipFill>
        <p:spPr>
          <a:xfrm>
            <a:off x="3719322" y="4286250"/>
            <a:ext cx="251460" cy="251460"/>
          </a:xfrm>
          <a:prstGeom prst="rect">
            <a:avLst/>
          </a:prstGeom>
        </p:spPr>
      </p:pic>
      <p:sp>
        <p:nvSpPr>
          <p:cNvPr id="32" name="Text 24"/>
          <p:cNvSpPr txBox="1"/>
          <p:nvPr/>
        </p:nvSpPr>
        <p:spPr>
          <a:xfrm>
            <a:off x="3593592" y="4800600"/>
            <a:ext cx="219456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Fee Share Dokter</a:t>
            </a:r>
            <a:endParaRPr lang="en-US" sz="1600" dirty="0"/>
          </a:p>
        </p:txBody>
      </p:sp>
      <p:sp>
        <p:nvSpPr>
          <p:cNvPr id="33" name="Text 25"/>
          <p:cNvSpPr txBox="1"/>
          <p:nvPr/>
        </p:nvSpPr>
        <p:spPr>
          <a:xfrm>
            <a:off x="3593592" y="5166360"/>
            <a:ext cx="2194560" cy="548640"/>
          </a:xfrm>
          <a:prstGeom prst="rect">
            <a:avLst/>
          </a:prstGeom>
          <a:noFill/>
          <a:ln/>
        </p:spPr>
        <p:txBody>
          <a:bodyPr wrap="square" lIns="0" tIns="0" rIns="0" bIns="0" rtlCol="0" anchor="t"/>
          <a:lstStyle/>
          <a:p>
            <a:pPr indent="0" marL="0">
              <a:buNone/>
            </a:pPr>
            <a:r>
              <a:rPr lang="en-US" sz="1300" dirty="0">
                <a:solidFill>
                  <a:schemeClr val="accent5"/>
                </a:solidFill>
              </a:rPr>
              <a:t>Bagi hasil otomatis per tindakan</a:t>
            </a:r>
            <a:endParaRPr lang="en-US" sz="1300" dirty="0"/>
          </a:p>
        </p:txBody>
      </p:sp>
      <p:sp>
        <p:nvSpPr>
          <p:cNvPr id="34" name="module card 7"/>
          <p:cNvSpPr/>
          <p:nvPr/>
        </p:nvSpPr>
        <p:spPr>
          <a:xfrm>
            <a:off x="6181344" y="3931920"/>
            <a:ext cx="2587752"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35" name="module icon 7 bg"/>
          <p:cNvSpPr/>
          <p:nvPr/>
        </p:nvSpPr>
        <p:spPr>
          <a:xfrm>
            <a:off x="6409944" y="4160520"/>
            <a:ext cx="502920" cy="502920"/>
          </a:xfrm>
          <a:prstGeom prst="ellipse">
            <a:avLst/>
          </a:prstGeom>
          <a:solidFill>
            <a:srgbClr val="E3F3DA"/>
          </a:solidFill>
          <a:ln/>
        </p:spPr>
      </p:sp>
      <p:pic>
        <p:nvPicPr>
          <p:cNvPr id="36" name="module icon 7" descr="Ikon">    </p:cNvPr>
          <p:cNvPicPr>
            <a:picLocks noChangeAspect="1"/>
          </p:cNvPicPr>
          <p:nvPr/>
        </p:nvPicPr>
        <p:blipFill>
          <a:blip r:embed="rId7"/>
          <a:stretch>
            <a:fillRect/>
          </a:stretch>
        </p:blipFill>
        <p:spPr>
          <a:xfrm>
            <a:off x="6535674" y="4286250"/>
            <a:ext cx="251460" cy="251460"/>
          </a:xfrm>
          <a:prstGeom prst="rect">
            <a:avLst/>
          </a:prstGeom>
        </p:spPr>
      </p:pic>
      <p:sp>
        <p:nvSpPr>
          <p:cNvPr id="37" name="Text 28"/>
          <p:cNvSpPr txBox="1"/>
          <p:nvPr/>
        </p:nvSpPr>
        <p:spPr>
          <a:xfrm>
            <a:off x="6409944" y="4800600"/>
            <a:ext cx="219456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Informed Consent</a:t>
            </a:r>
            <a:endParaRPr lang="en-US" sz="1600" dirty="0"/>
          </a:p>
        </p:txBody>
      </p:sp>
      <p:sp>
        <p:nvSpPr>
          <p:cNvPr id="38" name="Text 29"/>
          <p:cNvSpPr txBox="1"/>
          <p:nvPr/>
        </p:nvSpPr>
        <p:spPr>
          <a:xfrm>
            <a:off x="6409944" y="5166360"/>
            <a:ext cx="2194560" cy="548640"/>
          </a:xfrm>
          <a:prstGeom prst="rect">
            <a:avLst/>
          </a:prstGeom>
          <a:noFill/>
          <a:ln/>
        </p:spPr>
        <p:txBody>
          <a:bodyPr wrap="square" lIns="0" tIns="0" rIns="0" bIns="0" rtlCol="0" anchor="t"/>
          <a:lstStyle/>
          <a:p>
            <a:pPr indent="0" marL="0">
              <a:buNone/>
            </a:pPr>
            <a:r>
              <a:rPr lang="en-US" sz="1300" dirty="0">
                <a:solidFill>
                  <a:schemeClr val="accent5"/>
                </a:solidFill>
              </a:rPr>
              <a:t>Tanda tangan digital pasien &amp; dokter</a:t>
            </a:r>
            <a:endParaRPr lang="en-US" sz="1300" dirty="0"/>
          </a:p>
        </p:txBody>
      </p:sp>
      <p:sp>
        <p:nvSpPr>
          <p:cNvPr id="39" name="module card 8"/>
          <p:cNvSpPr/>
          <p:nvPr/>
        </p:nvSpPr>
        <p:spPr>
          <a:xfrm>
            <a:off x="8997696" y="3931920"/>
            <a:ext cx="2587752"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40" name="module icon 8 bg"/>
          <p:cNvSpPr/>
          <p:nvPr/>
        </p:nvSpPr>
        <p:spPr>
          <a:xfrm>
            <a:off x="9226296" y="4160520"/>
            <a:ext cx="502920" cy="502920"/>
          </a:xfrm>
          <a:prstGeom prst="ellipse">
            <a:avLst/>
          </a:prstGeom>
          <a:solidFill>
            <a:srgbClr val="E3F3DA"/>
          </a:solidFill>
          <a:ln/>
        </p:spPr>
      </p:sp>
      <p:pic>
        <p:nvPicPr>
          <p:cNvPr id="41" name="module icon 8" descr="Ikon">    </p:cNvPr>
          <p:cNvPicPr>
            <a:picLocks noChangeAspect="1"/>
          </p:cNvPicPr>
          <p:nvPr/>
        </p:nvPicPr>
        <p:blipFill>
          <a:blip r:embed="rId8"/>
          <a:stretch>
            <a:fillRect/>
          </a:stretch>
        </p:blipFill>
        <p:spPr>
          <a:xfrm>
            <a:off x="9352026" y="4286250"/>
            <a:ext cx="251460" cy="251460"/>
          </a:xfrm>
          <a:prstGeom prst="rect">
            <a:avLst/>
          </a:prstGeom>
        </p:spPr>
      </p:pic>
      <p:sp>
        <p:nvSpPr>
          <p:cNvPr id="42" name="Text 32"/>
          <p:cNvSpPr txBox="1"/>
          <p:nvPr/>
        </p:nvSpPr>
        <p:spPr>
          <a:xfrm>
            <a:off x="9226296" y="4800600"/>
            <a:ext cx="219456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Multi-Cabang</a:t>
            </a:r>
            <a:endParaRPr lang="en-US" sz="1600" dirty="0"/>
          </a:p>
        </p:txBody>
      </p:sp>
      <p:sp>
        <p:nvSpPr>
          <p:cNvPr id="43" name="Text 33"/>
          <p:cNvSpPr txBox="1"/>
          <p:nvPr/>
        </p:nvSpPr>
        <p:spPr>
          <a:xfrm>
            <a:off x="9226296" y="5166360"/>
            <a:ext cx="2194560" cy="548640"/>
          </a:xfrm>
          <a:prstGeom prst="rect">
            <a:avLst/>
          </a:prstGeom>
          <a:noFill/>
          <a:ln/>
        </p:spPr>
        <p:txBody>
          <a:bodyPr wrap="square" lIns="0" tIns="0" rIns="0" bIns="0" rtlCol="0" anchor="t"/>
          <a:lstStyle/>
          <a:p>
            <a:pPr indent="0" marL="0">
              <a:buNone/>
            </a:pPr>
            <a:r>
              <a:rPr lang="en-US" sz="1300" dirty="0">
                <a:solidFill>
                  <a:schemeClr val="accent5"/>
                </a:solidFill>
              </a:rPr>
              <a:t>Satu dashboard untuk semua klinik</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2"/>
                </a:solidFill>
              </a:rPr>
              <a:t>KEUNGGULAN</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Empat hal yang tidak dimiliki aplikasi kasir biasa</a:t>
            </a:r>
            <a:endParaRPr lang="en-US" sz="3200" dirty="0"/>
          </a:p>
        </p:txBody>
      </p:sp>
      <p:sp>
        <p:nvSpPr>
          <p:cNvPr id="4" name="diff card 1"/>
          <p:cNvSpPr/>
          <p:nvPr/>
        </p:nvSpPr>
        <p:spPr>
          <a:xfrm>
            <a:off x="548640" y="1828800"/>
            <a:ext cx="5440680" cy="1874520"/>
          </a:xfrm>
          <a:prstGeom prst="roundRect">
            <a:avLst>
              <a:gd name="adj" fmla="val 6829"/>
            </a:avLst>
          </a:prstGeom>
          <a:solidFill>
            <a:srgbClr val="242320"/>
          </a:solidFill>
          <a:ln/>
        </p:spPr>
      </p:sp>
      <p:sp>
        <p:nvSpPr>
          <p:cNvPr id="5" name="diff icon 1 bg"/>
          <p:cNvSpPr/>
          <p:nvPr/>
        </p:nvSpPr>
        <p:spPr>
          <a:xfrm>
            <a:off x="822960" y="2103120"/>
            <a:ext cx="640080" cy="640080"/>
          </a:xfrm>
          <a:prstGeom prst="ellipse">
            <a:avLst/>
          </a:prstGeom>
          <a:solidFill>
            <a:srgbClr val="7ED957"/>
          </a:solidFill>
          <a:ln/>
        </p:spPr>
      </p:sp>
      <p:pic>
        <p:nvPicPr>
          <p:cNvPr id="6" name="diff icon 1" descr="Ikon">    </p:cNvPr>
          <p:cNvPicPr>
            <a:picLocks noChangeAspect="1"/>
          </p:cNvPicPr>
          <p:nvPr/>
        </p:nvPicPr>
        <p:blipFill>
          <a:blip r:embed="rId1"/>
          <a:stretch>
            <a:fillRect/>
          </a:stretch>
        </p:blipFill>
        <p:spPr>
          <a:xfrm>
            <a:off x="982980" y="2263140"/>
            <a:ext cx="320040" cy="320040"/>
          </a:xfrm>
          <a:prstGeom prst="rect">
            <a:avLst/>
          </a:prstGeom>
        </p:spPr>
      </p:pic>
      <p:sp>
        <p:nvSpPr>
          <p:cNvPr id="7" name="Text 4"/>
          <p:cNvSpPr txBox="1"/>
          <p:nvPr/>
        </p:nvSpPr>
        <p:spPr>
          <a:xfrm>
            <a:off x="1691640" y="2103120"/>
            <a:ext cx="4023360" cy="411480"/>
          </a:xfrm>
          <a:prstGeom prst="rect">
            <a:avLst/>
          </a:prstGeom>
          <a:noFill/>
          <a:ln/>
        </p:spPr>
        <p:txBody>
          <a:bodyPr wrap="square" lIns="0" tIns="0" rIns="0" bIns="0" rtlCol="0" anchor="t"/>
          <a:lstStyle/>
          <a:p>
            <a:pPr indent="0" marL="0">
              <a:buNone/>
            </a:pPr>
            <a:r>
              <a:rPr lang="en-US" sz="1900" b="1" dirty="0">
                <a:solidFill>
                  <a:srgbClr val="F3F1EA"/>
                </a:solidFill>
                <a:latin typeface="Arial" pitchFamily="34" charset="0"/>
                <a:ea typeface="Arial" pitchFamily="34" charset="-122"/>
                <a:cs typeface="Arial" pitchFamily="34" charset="-120"/>
              </a:rPr>
              <a:t>Terintegrasi SATUSEHAT</a:t>
            </a:r>
            <a:endParaRPr lang="en-US" sz="1900" dirty="0"/>
          </a:p>
        </p:txBody>
      </p:sp>
      <p:sp>
        <p:nvSpPr>
          <p:cNvPr id="8" name="Text 5"/>
          <p:cNvSpPr txBox="1"/>
          <p:nvPr/>
        </p:nvSpPr>
        <p:spPr>
          <a:xfrm>
            <a:off x="1691640" y="2560320"/>
            <a:ext cx="4023360" cy="1005840"/>
          </a:xfrm>
          <a:prstGeom prst="rect">
            <a:avLst/>
          </a:prstGeom>
          <a:noFill/>
          <a:ln/>
        </p:spPr>
        <p:txBody>
          <a:bodyPr wrap="square" lIns="0" tIns="0" rIns="0" bIns="0" rtlCol="0" anchor="t"/>
          <a:lstStyle/>
          <a:p>
            <a:pPr indent="0" marL="0">
              <a:buNone/>
            </a:pPr>
            <a:r>
              <a:rPr lang="en-US" sz="1400" dirty="0">
                <a:solidFill>
                  <a:srgbClr val="B9B6AA"/>
                </a:solidFill>
              </a:rPr>
              <a:t>Onboarding, KYC, dan sinkronisasi data FHIR ke Kemenkes langsung dari aplikasi — klinik patuh regulasi tanpa tim IT.</a:t>
            </a:r>
            <a:endParaRPr lang="en-US" sz="1400" dirty="0"/>
          </a:p>
        </p:txBody>
      </p:sp>
      <p:sp>
        <p:nvSpPr>
          <p:cNvPr id="9" name="diff card 2"/>
          <p:cNvSpPr/>
          <p:nvPr/>
        </p:nvSpPr>
        <p:spPr>
          <a:xfrm>
            <a:off x="6172200" y="1828800"/>
            <a:ext cx="5440680" cy="1874520"/>
          </a:xfrm>
          <a:prstGeom prst="roundRect">
            <a:avLst>
              <a:gd name="adj" fmla="val 6829"/>
            </a:avLst>
          </a:prstGeom>
          <a:solidFill>
            <a:srgbClr val="242320"/>
          </a:solidFill>
          <a:ln/>
        </p:spPr>
      </p:sp>
      <p:sp>
        <p:nvSpPr>
          <p:cNvPr id="10" name="diff icon 2 bg"/>
          <p:cNvSpPr/>
          <p:nvPr/>
        </p:nvSpPr>
        <p:spPr>
          <a:xfrm>
            <a:off x="6446520" y="2103120"/>
            <a:ext cx="640080" cy="640080"/>
          </a:xfrm>
          <a:prstGeom prst="ellipse">
            <a:avLst/>
          </a:prstGeom>
          <a:solidFill>
            <a:srgbClr val="7ED957"/>
          </a:solidFill>
          <a:ln/>
        </p:spPr>
      </p:sp>
      <p:pic>
        <p:nvPicPr>
          <p:cNvPr id="11" name="diff icon 2" descr="Ikon">    </p:cNvPr>
          <p:cNvPicPr>
            <a:picLocks noChangeAspect="1"/>
          </p:cNvPicPr>
          <p:nvPr/>
        </p:nvPicPr>
        <p:blipFill>
          <a:blip r:embed="rId2"/>
          <a:stretch>
            <a:fillRect/>
          </a:stretch>
        </p:blipFill>
        <p:spPr>
          <a:xfrm>
            <a:off x="6606540" y="2263140"/>
            <a:ext cx="320040" cy="320040"/>
          </a:xfrm>
          <a:prstGeom prst="rect">
            <a:avLst/>
          </a:prstGeom>
        </p:spPr>
      </p:pic>
      <p:sp>
        <p:nvSpPr>
          <p:cNvPr id="12" name="Text 8"/>
          <p:cNvSpPr txBox="1"/>
          <p:nvPr/>
        </p:nvSpPr>
        <p:spPr>
          <a:xfrm>
            <a:off x="7315200" y="2103120"/>
            <a:ext cx="4023360" cy="411480"/>
          </a:xfrm>
          <a:prstGeom prst="rect">
            <a:avLst/>
          </a:prstGeom>
          <a:noFill/>
          <a:ln/>
        </p:spPr>
        <p:txBody>
          <a:bodyPr wrap="square" lIns="0" tIns="0" rIns="0" bIns="0" rtlCol="0" anchor="t"/>
          <a:lstStyle/>
          <a:p>
            <a:pPr indent="0" marL="0">
              <a:buNone/>
            </a:pPr>
            <a:r>
              <a:rPr lang="en-US" sz="1900" b="1" dirty="0">
                <a:solidFill>
                  <a:srgbClr val="F3F1EA"/>
                </a:solidFill>
                <a:latin typeface="Arial" pitchFamily="34" charset="0"/>
                <a:ea typeface="Arial" pitchFamily="34" charset="-122"/>
                <a:cs typeface="Arial" pitchFamily="34" charset="-120"/>
              </a:rPr>
              <a:t>Laporan Keuangan Pro</a:t>
            </a:r>
            <a:endParaRPr lang="en-US" sz="1900" dirty="0"/>
          </a:p>
        </p:txBody>
      </p:sp>
      <p:sp>
        <p:nvSpPr>
          <p:cNvPr id="13" name="Text 9"/>
          <p:cNvSpPr txBox="1"/>
          <p:nvPr/>
        </p:nvSpPr>
        <p:spPr>
          <a:xfrm>
            <a:off x="7315200" y="2560320"/>
            <a:ext cx="4023360" cy="1005840"/>
          </a:xfrm>
          <a:prstGeom prst="rect">
            <a:avLst/>
          </a:prstGeom>
          <a:noFill/>
          <a:ln/>
        </p:spPr>
        <p:txBody>
          <a:bodyPr wrap="square" lIns="0" tIns="0" rIns="0" bIns="0" rtlCol="0" anchor="t"/>
          <a:lstStyle/>
          <a:p>
            <a:pPr indent="0" marL="0">
              <a:buNone/>
            </a:pPr>
            <a:r>
              <a:rPr lang="en-US" sz="1400" dirty="0">
                <a:solidFill>
                  <a:srgbClr val="B9B6AA"/>
                </a:solidFill>
              </a:rPr>
              <a:t>LTV, CAC, retensi pasien, heatmap jam ramai, peta asal pasien per kecamatan — intelijen bisnis, bukan sekadar kasir.</a:t>
            </a:r>
            <a:endParaRPr lang="en-US" sz="1400" dirty="0"/>
          </a:p>
        </p:txBody>
      </p:sp>
      <p:sp>
        <p:nvSpPr>
          <p:cNvPr id="14" name="diff card 3"/>
          <p:cNvSpPr/>
          <p:nvPr/>
        </p:nvSpPr>
        <p:spPr>
          <a:xfrm>
            <a:off x="548640" y="3931920"/>
            <a:ext cx="5440680" cy="1874520"/>
          </a:xfrm>
          <a:prstGeom prst="roundRect">
            <a:avLst>
              <a:gd name="adj" fmla="val 6829"/>
            </a:avLst>
          </a:prstGeom>
          <a:solidFill>
            <a:srgbClr val="242320"/>
          </a:solidFill>
          <a:ln/>
        </p:spPr>
      </p:sp>
      <p:sp>
        <p:nvSpPr>
          <p:cNvPr id="15" name="diff icon 3 bg"/>
          <p:cNvSpPr/>
          <p:nvPr/>
        </p:nvSpPr>
        <p:spPr>
          <a:xfrm>
            <a:off x="822960" y="4206240"/>
            <a:ext cx="640080" cy="640080"/>
          </a:xfrm>
          <a:prstGeom prst="ellipse">
            <a:avLst/>
          </a:prstGeom>
          <a:solidFill>
            <a:srgbClr val="7ED957"/>
          </a:solidFill>
          <a:ln/>
        </p:spPr>
      </p:sp>
      <p:pic>
        <p:nvPicPr>
          <p:cNvPr id="16" name="diff icon 3" descr="Ikon">    </p:cNvPr>
          <p:cNvPicPr>
            <a:picLocks noChangeAspect="1"/>
          </p:cNvPicPr>
          <p:nvPr/>
        </p:nvPicPr>
        <p:blipFill>
          <a:blip r:embed="rId3"/>
          <a:stretch>
            <a:fillRect/>
          </a:stretch>
        </p:blipFill>
        <p:spPr>
          <a:xfrm>
            <a:off x="982980" y="4366260"/>
            <a:ext cx="320040" cy="320040"/>
          </a:xfrm>
          <a:prstGeom prst="rect">
            <a:avLst/>
          </a:prstGeom>
        </p:spPr>
      </p:pic>
      <p:sp>
        <p:nvSpPr>
          <p:cNvPr id="17" name="Text 12"/>
          <p:cNvSpPr txBox="1"/>
          <p:nvPr/>
        </p:nvSpPr>
        <p:spPr>
          <a:xfrm>
            <a:off x="1691640" y="4206240"/>
            <a:ext cx="4023360" cy="411480"/>
          </a:xfrm>
          <a:prstGeom prst="rect">
            <a:avLst/>
          </a:prstGeom>
          <a:noFill/>
          <a:ln/>
        </p:spPr>
        <p:txBody>
          <a:bodyPr wrap="square" lIns="0" tIns="0" rIns="0" bIns="0" rtlCol="0" anchor="t"/>
          <a:lstStyle/>
          <a:p>
            <a:pPr indent="0" marL="0">
              <a:buNone/>
            </a:pPr>
            <a:r>
              <a:rPr lang="en-US" sz="1900" b="1" dirty="0">
                <a:solidFill>
                  <a:srgbClr val="F3F1EA"/>
                </a:solidFill>
                <a:latin typeface="Arial" pitchFamily="34" charset="0"/>
                <a:ea typeface="Arial" pitchFamily="34" charset="-122"/>
                <a:cs typeface="Arial" pitchFamily="34" charset="-120"/>
              </a:rPr>
              <a:t>Diagnosis seperti bicara</a:t>
            </a:r>
            <a:endParaRPr lang="en-US" sz="1900" dirty="0"/>
          </a:p>
        </p:txBody>
      </p:sp>
      <p:sp>
        <p:nvSpPr>
          <p:cNvPr id="18" name="Text 13"/>
          <p:cNvSpPr txBox="1"/>
          <p:nvPr/>
        </p:nvSpPr>
        <p:spPr>
          <a:xfrm>
            <a:off x="1691640" y="4663440"/>
            <a:ext cx="4023360" cy="1005840"/>
          </a:xfrm>
          <a:prstGeom prst="rect">
            <a:avLst/>
          </a:prstGeom>
          <a:noFill/>
          <a:ln/>
        </p:spPr>
        <p:txBody>
          <a:bodyPr wrap="square" lIns="0" tIns="0" rIns="0" bIns="0" rtlCol="0" anchor="t"/>
          <a:lstStyle/>
          <a:p>
            <a:pPr indent="0" marL="0">
              <a:buNone/>
            </a:pPr>
            <a:r>
              <a:rPr lang="en-US" sz="1400" dirty="0">
                <a:solidFill>
                  <a:srgbClr val="B9B6AA"/>
                </a:solidFill>
              </a:rPr>
              <a:t>Cari 18.500+ kode ICD-10 &amp; 499.000+ konsep SNOMED CT pakai bahasa sehari-hari: “gigi berlubang”, “radang gusi”.</a:t>
            </a:r>
            <a:endParaRPr lang="en-US" sz="1400" dirty="0"/>
          </a:p>
        </p:txBody>
      </p:sp>
      <p:sp>
        <p:nvSpPr>
          <p:cNvPr id="19" name="diff card 4"/>
          <p:cNvSpPr/>
          <p:nvPr/>
        </p:nvSpPr>
        <p:spPr>
          <a:xfrm>
            <a:off x="6172200" y="3931920"/>
            <a:ext cx="5440680" cy="1874520"/>
          </a:xfrm>
          <a:prstGeom prst="roundRect">
            <a:avLst>
              <a:gd name="adj" fmla="val 6829"/>
            </a:avLst>
          </a:prstGeom>
          <a:solidFill>
            <a:srgbClr val="242320"/>
          </a:solidFill>
          <a:ln/>
        </p:spPr>
      </p:sp>
      <p:sp>
        <p:nvSpPr>
          <p:cNvPr id="20" name="diff icon 4 bg"/>
          <p:cNvSpPr/>
          <p:nvPr/>
        </p:nvSpPr>
        <p:spPr>
          <a:xfrm>
            <a:off x="6446520" y="4206240"/>
            <a:ext cx="640080" cy="640080"/>
          </a:xfrm>
          <a:prstGeom prst="ellipse">
            <a:avLst/>
          </a:prstGeom>
          <a:solidFill>
            <a:srgbClr val="7ED957"/>
          </a:solidFill>
          <a:ln/>
        </p:spPr>
      </p:sp>
      <p:pic>
        <p:nvPicPr>
          <p:cNvPr id="21" name="diff icon 4" descr="Ikon">    </p:cNvPr>
          <p:cNvPicPr>
            <a:picLocks noChangeAspect="1"/>
          </p:cNvPicPr>
          <p:nvPr/>
        </p:nvPicPr>
        <p:blipFill>
          <a:blip r:embed="rId4"/>
          <a:stretch>
            <a:fillRect/>
          </a:stretch>
        </p:blipFill>
        <p:spPr>
          <a:xfrm>
            <a:off x="6606540" y="4366260"/>
            <a:ext cx="320040" cy="320040"/>
          </a:xfrm>
          <a:prstGeom prst="rect">
            <a:avLst/>
          </a:prstGeom>
        </p:spPr>
      </p:pic>
      <p:sp>
        <p:nvSpPr>
          <p:cNvPr id="22" name="Text 16"/>
          <p:cNvSpPr txBox="1"/>
          <p:nvPr/>
        </p:nvSpPr>
        <p:spPr>
          <a:xfrm>
            <a:off x="7315200" y="4206240"/>
            <a:ext cx="4023360" cy="411480"/>
          </a:xfrm>
          <a:prstGeom prst="rect">
            <a:avLst/>
          </a:prstGeom>
          <a:noFill/>
          <a:ln/>
        </p:spPr>
        <p:txBody>
          <a:bodyPr wrap="square" lIns="0" tIns="0" rIns="0" bIns="0" rtlCol="0" anchor="t"/>
          <a:lstStyle/>
          <a:p>
            <a:pPr indent="0" marL="0">
              <a:buNone/>
            </a:pPr>
            <a:r>
              <a:rPr lang="en-US" sz="1900" b="1" dirty="0">
                <a:solidFill>
                  <a:srgbClr val="F3F1EA"/>
                </a:solidFill>
                <a:latin typeface="Arial" pitchFamily="34" charset="0"/>
                <a:ea typeface="Arial" pitchFamily="34" charset="-122"/>
                <a:cs typeface="Arial" pitchFamily="34" charset="-120"/>
              </a:rPr>
              <a:t>API Website Klinik</a:t>
            </a:r>
            <a:endParaRPr lang="en-US" sz="1900" dirty="0"/>
          </a:p>
        </p:txBody>
      </p:sp>
      <p:sp>
        <p:nvSpPr>
          <p:cNvPr id="23" name="Text 17"/>
          <p:cNvSpPr txBox="1"/>
          <p:nvPr/>
        </p:nvSpPr>
        <p:spPr>
          <a:xfrm>
            <a:off x="7315200" y="4663440"/>
            <a:ext cx="4023360" cy="1005840"/>
          </a:xfrm>
          <a:prstGeom prst="rect">
            <a:avLst/>
          </a:prstGeom>
          <a:noFill/>
          <a:ln/>
        </p:spPr>
        <p:txBody>
          <a:bodyPr wrap="square" lIns="0" tIns="0" rIns="0" bIns="0" rtlCol="0" anchor="t"/>
          <a:lstStyle/>
          <a:p>
            <a:pPr indent="0" marL="0">
              <a:buNone/>
            </a:pPr>
            <a:r>
              <a:rPr lang="en-US" sz="1400" dirty="0">
                <a:solidFill>
                  <a:srgbClr val="B9B6AA"/>
                </a:solidFill>
              </a:rPr>
              <a:t>Jadwal dokter, layanan, slot kosong, dan reservasi tampil otomatis di website klinik — API key terkunci per domain.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B6A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KENAPA SEKARANG</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Regulasi kini mewajibkan klinik go digital</a:t>
            </a:r>
            <a:endParaRPr lang="en-US" sz="3200" dirty="0"/>
          </a:p>
        </p:txBody>
      </p:sp>
      <p:sp>
        <p:nvSpPr>
          <p:cNvPr id="4" name="timeline axis"/>
          <p:cNvSpPr/>
          <p:nvPr/>
        </p:nvSpPr>
        <p:spPr>
          <a:xfrm>
            <a:off x="914400" y="2423160"/>
            <a:ext cx="10332720" cy="0"/>
          </a:xfrm>
          <a:prstGeom prst="line">
            <a:avLst/>
          </a:prstGeom>
          <a:noFill/>
          <a:ln w="25400">
            <a:solidFill>
              <a:srgbClr val="E4E1D8"/>
            </a:solidFill>
            <a:prstDash val="solid"/>
          </a:ln>
        </p:spPr>
      </p:sp>
      <p:sp>
        <p:nvSpPr>
          <p:cNvPr id="5" name="timeline dot 1"/>
          <p:cNvSpPr/>
          <p:nvPr/>
        </p:nvSpPr>
        <p:spPr>
          <a:xfrm>
            <a:off x="731520" y="2194560"/>
            <a:ext cx="457200" cy="457200"/>
          </a:xfrm>
          <a:prstGeom prst="ellipse">
            <a:avLst/>
          </a:prstGeom>
          <a:solidFill>
            <a:srgbClr val="17160F"/>
          </a:solidFill>
          <a:ln w="38100">
            <a:solidFill>
              <a:srgbClr val="FAF9F6"/>
            </a:solidFill>
            <a:prstDash val="solid"/>
          </a:ln>
        </p:spPr>
      </p:sp>
      <p:sp>
        <p:nvSpPr>
          <p:cNvPr id="6" name="Text 4"/>
          <p:cNvSpPr txBox="1"/>
          <p:nvPr/>
        </p:nvSpPr>
        <p:spPr>
          <a:xfrm>
            <a:off x="548640" y="2880360"/>
            <a:ext cx="2560320" cy="548640"/>
          </a:xfrm>
          <a:prstGeom prst="rect">
            <a:avLst/>
          </a:prstGeom>
          <a:noFill/>
          <a:ln/>
        </p:spPr>
        <p:txBody>
          <a:bodyPr wrap="square" lIns="0" tIns="0" rIns="0" bIns="0" rtlCol="0" anchor="t"/>
          <a:lstStyle/>
          <a:p>
            <a:pPr indent="0" marL="0">
              <a:buNone/>
            </a:pPr>
            <a:r>
              <a:rPr lang="en-US" sz="2800" b="1" dirty="0">
                <a:solidFill>
                  <a:schemeClr val="tx1"/>
                </a:solidFill>
                <a:latin typeface="Arial" pitchFamily="34" charset="0"/>
                <a:ea typeface="Arial" pitchFamily="34" charset="-122"/>
                <a:cs typeface="Arial" pitchFamily="34" charset="-120"/>
              </a:rPr>
              <a:t>2022</a:t>
            </a:r>
            <a:endParaRPr lang="en-US" sz="2800" dirty="0"/>
          </a:p>
        </p:txBody>
      </p:sp>
      <p:sp>
        <p:nvSpPr>
          <p:cNvPr id="7" name="Text 5"/>
          <p:cNvSpPr txBox="1"/>
          <p:nvPr/>
        </p:nvSpPr>
        <p:spPr>
          <a:xfrm>
            <a:off x="548640" y="3474720"/>
            <a:ext cx="2560320" cy="411480"/>
          </a:xfrm>
          <a:prstGeom prst="rect">
            <a:avLst/>
          </a:prstGeom>
          <a:noFill/>
          <a:ln/>
        </p:spPr>
        <p:txBody>
          <a:bodyPr wrap="square" lIns="0" tIns="0" rIns="0" bIns="0" rtlCol="0" anchor="t"/>
          <a:lstStyle/>
          <a:p>
            <a:pPr indent="0" marL="0">
              <a:buNone/>
            </a:pPr>
            <a:r>
              <a:rPr lang="en-US" sz="1700" b="1" dirty="0">
                <a:solidFill>
                  <a:schemeClr val="tx1"/>
                </a:solidFill>
              </a:rPr>
              <a:t>Permenkes 24/2022</a:t>
            </a:r>
            <a:endParaRPr lang="en-US" sz="1700" dirty="0"/>
          </a:p>
        </p:txBody>
      </p:sp>
      <p:sp>
        <p:nvSpPr>
          <p:cNvPr id="8" name="Text 6"/>
          <p:cNvSpPr txBox="1"/>
          <p:nvPr/>
        </p:nvSpPr>
        <p:spPr>
          <a:xfrm>
            <a:off x="548640" y="3931920"/>
            <a:ext cx="2514600" cy="1463040"/>
          </a:xfrm>
          <a:prstGeom prst="rect">
            <a:avLst/>
          </a:prstGeom>
          <a:noFill/>
          <a:ln/>
        </p:spPr>
        <p:txBody>
          <a:bodyPr wrap="square" lIns="0" tIns="0" rIns="0" bIns="0" rtlCol="0" anchor="t"/>
          <a:lstStyle/>
          <a:p>
            <a:pPr indent="0" marL="0">
              <a:buNone/>
            </a:pPr>
            <a:r>
              <a:rPr lang="en-US" sz="1400" dirty="0">
                <a:solidFill>
                  <a:schemeClr val="accent5"/>
                </a:solidFill>
              </a:rPr>
              <a:t>Setiap fasyankes wajib menyelenggarakan Rekam Medis Elektronik (RME).</a:t>
            </a:r>
            <a:endParaRPr lang="en-US" sz="1400" dirty="0"/>
          </a:p>
        </p:txBody>
      </p:sp>
      <p:sp>
        <p:nvSpPr>
          <p:cNvPr id="9" name="timeline dot 2"/>
          <p:cNvSpPr/>
          <p:nvPr/>
        </p:nvSpPr>
        <p:spPr>
          <a:xfrm>
            <a:off x="3547872" y="2194560"/>
            <a:ext cx="457200" cy="457200"/>
          </a:xfrm>
          <a:prstGeom prst="ellipse">
            <a:avLst/>
          </a:prstGeom>
          <a:solidFill>
            <a:srgbClr val="17160F"/>
          </a:solidFill>
          <a:ln w="38100">
            <a:solidFill>
              <a:srgbClr val="FAF9F6"/>
            </a:solidFill>
            <a:prstDash val="solid"/>
          </a:ln>
        </p:spPr>
      </p:sp>
      <p:sp>
        <p:nvSpPr>
          <p:cNvPr id="10" name="Text 8"/>
          <p:cNvSpPr txBox="1"/>
          <p:nvPr/>
        </p:nvSpPr>
        <p:spPr>
          <a:xfrm>
            <a:off x="3364992" y="2880360"/>
            <a:ext cx="2560320" cy="548640"/>
          </a:xfrm>
          <a:prstGeom prst="rect">
            <a:avLst/>
          </a:prstGeom>
          <a:noFill/>
          <a:ln/>
        </p:spPr>
        <p:txBody>
          <a:bodyPr wrap="square" lIns="0" tIns="0" rIns="0" bIns="0" rtlCol="0" anchor="t"/>
          <a:lstStyle/>
          <a:p>
            <a:pPr indent="0" marL="0">
              <a:buNone/>
            </a:pPr>
            <a:r>
              <a:rPr lang="en-US" sz="2800" b="1" dirty="0">
                <a:solidFill>
                  <a:schemeClr val="tx1"/>
                </a:solidFill>
                <a:latin typeface="Arial" pitchFamily="34" charset="0"/>
                <a:ea typeface="Arial" pitchFamily="34" charset="-122"/>
                <a:cs typeface="Arial" pitchFamily="34" charset="-120"/>
              </a:rPr>
              <a:t>2023</a:t>
            </a:r>
            <a:endParaRPr lang="en-US" sz="2800" dirty="0"/>
          </a:p>
        </p:txBody>
      </p:sp>
      <p:sp>
        <p:nvSpPr>
          <p:cNvPr id="11" name="Text 9"/>
          <p:cNvSpPr txBox="1"/>
          <p:nvPr/>
        </p:nvSpPr>
        <p:spPr>
          <a:xfrm>
            <a:off x="3364992" y="3474720"/>
            <a:ext cx="2560320" cy="411480"/>
          </a:xfrm>
          <a:prstGeom prst="rect">
            <a:avLst/>
          </a:prstGeom>
          <a:noFill/>
          <a:ln/>
        </p:spPr>
        <p:txBody>
          <a:bodyPr wrap="square" lIns="0" tIns="0" rIns="0" bIns="0" rtlCol="0" anchor="t"/>
          <a:lstStyle/>
          <a:p>
            <a:pPr indent="0" marL="0">
              <a:buNone/>
            </a:pPr>
            <a:r>
              <a:rPr lang="en-US" sz="1700" b="1" dirty="0">
                <a:solidFill>
                  <a:schemeClr val="tx1"/>
                </a:solidFill>
              </a:rPr>
              <a:t>Batas transisi RME</a:t>
            </a:r>
            <a:endParaRPr lang="en-US" sz="1700" dirty="0"/>
          </a:p>
        </p:txBody>
      </p:sp>
      <p:sp>
        <p:nvSpPr>
          <p:cNvPr id="12" name="Text 10"/>
          <p:cNvSpPr txBox="1"/>
          <p:nvPr/>
        </p:nvSpPr>
        <p:spPr>
          <a:xfrm>
            <a:off x="3364992" y="3931920"/>
            <a:ext cx="2514600" cy="1463040"/>
          </a:xfrm>
          <a:prstGeom prst="rect">
            <a:avLst/>
          </a:prstGeom>
          <a:noFill/>
          <a:ln/>
        </p:spPr>
        <p:txBody>
          <a:bodyPr wrap="square" lIns="0" tIns="0" rIns="0" bIns="0" rtlCol="0" anchor="t"/>
          <a:lstStyle/>
          <a:p>
            <a:pPr indent="0" marL="0">
              <a:buNone/>
            </a:pPr>
            <a:r>
              <a:rPr lang="en-US" sz="1400" dirty="0">
                <a:solidFill>
                  <a:schemeClr val="accent5"/>
                </a:solidFill>
              </a:rPr>
              <a:t>Batas akhir transisi ke RME; fasyankes diarahkan terhubung ke SATUSEHAT.</a:t>
            </a:r>
            <a:endParaRPr lang="en-US" sz="1400" dirty="0"/>
          </a:p>
        </p:txBody>
      </p:sp>
      <p:sp>
        <p:nvSpPr>
          <p:cNvPr id="13" name="timeline dot 3"/>
          <p:cNvSpPr/>
          <p:nvPr/>
        </p:nvSpPr>
        <p:spPr>
          <a:xfrm>
            <a:off x="6364224" y="2194560"/>
            <a:ext cx="457200" cy="457200"/>
          </a:xfrm>
          <a:prstGeom prst="ellipse">
            <a:avLst/>
          </a:prstGeom>
          <a:solidFill>
            <a:srgbClr val="17160F"/>
          </a:solidFill>
          <a:ln w="38100">
            <a:solidFill>
              <a:srgbClr val="FAF9F6"/>
            </a:solidFill>
            <a:prstDash val="solid"/>
          </a:ln>
        </p:spPr>
      </p:sp>
      <p:sp>
        <p:nvSpPr>
          <p:cNvPr id="14" name="Text 12"/>
          <p:cNvSpPr txBox="1"/>
          <p:nvPr/>
        </p:nvSpPr>
        <p:spPr>
          <a:xfrm>
            <a:off x="6181344" y="2880360"/>
            <a:ext cx="2560320" cy="548640"/>
          </a:xfrm>
          <a:prstGeom prst="rect">
            <a:avLst/>
          </a:prstGeom>
          <a:noFill/>
          <a:ln/>
        </p:spPr>
        <p:txBody>
          <a:bodyPr wrap="square" lIns="0" tIns="0" rIns="0" bIns="0" rtlCol="0" anchor="t"/>
          <a:lstStyle/>
          <a:p>
            <a:pPr indent="0" marL="0">
              <a:buNone/>
            </a:pPr>
            <a:r>
              <a:rPr lang="en-US" sz="2800" b="1" dirty="0">
                <a:solidFill>
                  <a:schemeClr val="tx1"/>
                </a:solidFill>
                <a:latin typeface="Arial" pitchFamily="34" charset="0"/>
                <a:ea typeface="Arial" pitchFamily="34" charset="-122"/>
                <a:cs typeface="Arial" pitchFamily="34" charset="-120"/>
              </a:rPr>
              <a:t>2024–26</a:t>
            </a:r>
            <a:endParaRPr lang="en-US" sz="2800" dirty="0"/>
          </a:p>
        </p:txBody>
      </p:sp>
      <p:sp>
        <p:nvSpPr>
          <p:cNvPr id="15" name="Text 13"/>
          <p:cNvSpPr txBox="1"/>
          <p:nvPr/>
        </p:nvSpPr>
        <p:spPr>
          <a:xfrm>
            <a:off x="6181344" y="3474720"/>
            <a:ext cx="2560320" cy="411480"/>
          </a:xfrm>
          <a:prstGeom prst="rect">
            <a:avLst/>
          </a:prstGeom>
          <a:noFill/>
          <a:ln/>
        </p:spPr>
        <p:txBody>
          <a:bodyPr wrap="square" lIns="0" tIns="0" rIns="0" bIns="0" rtlCol="0" anchor="t"/>
          <a:lstStyle/>
          <a:p>
            <a:pPr indent="0" marL="0">
              <a:buNone/>
            </a:pPr>
            <a:r>
              <a:rPr lang="en-US" sz="1700" b="1" dirty="0">
                <a:solidFill>
                  <a:schemeClr val="tx1"/>
                </a:solidFill>
              </a:rPr>
              <a:t>Integrasi SATUSEHAT</a:t>
            </a:r>
            <a:endParaRPr lang="en-US" sz="1700" dirty="0"/>
          </a:p>
        </p:txBody>
      </p:sp>
      <p:sp>
        <p:nvSpPr>
          <p:cNvPr id="16" name="Text 14"/>
          <p:cNvSpPr txBox="1"/>
          <p:nvPr/>
        </p:nvSpPr>
        <p:spPr>
          <a:xfrm>
            <a:off x="6181344" y="3931920"/>
            <a:ext cx="2514600" cy="1463040"/>
          </a:xfrm>
          <a:prstGeom prst="rect">
            <a:avLst/>
          </a:prstGeom>
          <a:noFill/>
          <a:ln/>
        </p:spPr>
        <p:txBody>
          <a:bodyPr wrap="square" lIns="0" tIns="0" rIns="0" bIns="0" rtlCol="0" anchor="t"/>
          <a:lstStyle/>
          <a:p>
            <a:pPr indent="0" marL="0">
              <a:buNone/>
            </a:pPr>
            <a:r>
              <a:rPr lang="en-US" sz="1400" dirty="0">
                <a:solidFill>
                  <a:schemeClr val="accent5"/>
                </a:solidFill>
              </a:rPr>
              <a:t>Kemenkes memonitor keterhubungan fasyankes — klinik kecil butuh solusi terjangkau.</a:t>
            </a:r>
            <a:endParaRPr lang="en-US" sz="1400" dirty="0"/>
          </a:p>
        </p:txBody>
      </p:sp>
      <p:sp>
        <p:nvSpPr>
          <p:cNvPr id="17" name="timeline dot 4"/>
          <p:cNvSpPr/>
          <p:nvPr/>
        </p:nvSpPr>
        <p:spPr>
          <a:xfrm>
            <a:off x="9180576" y="2194560"/>
            <a:ext cx="457200" cy="457200"/>
          </a:xfrm>
          <a:prstGeom prst="ellipse">
            <a:avLst/>
          </a:prstGeom>
          <a:solidFill>
            <a:srgbClr val="7ED957"/>
          </a:solidFill>
          <a:ln w="38100">
            <a:solidFill>
              <a:srgbClr val="FAF9F6"/>
            </a:solidFill>
            <a:prstDash val="solid"/>
          </a:ln>
        </p:spPr>
      </p:sp>
      <p:sp>
        <p:nvSpPr>
          <p:cNvPr id="18" name="Text 16"/>
          <p:cNvSpPr txBox="1"/>
          <p:nvPr/>
        </p:nvSpPr>
        <p:spPr>
          <a:xfrm>
            <a:off x="8997696" y="2880360"/>
            <a:ext cx="2560320" cy="54864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Sekarang</a:t>
            </a:r>
            <a:endParaRPr lang="en-US" sz="2800" dirty="0"/>
          </a:p>
        </p:txBody>
      </p:sp>
      <p:sp>
        <p:nvSpPr>
          <p:cNvPr id="19" name="Text 17"/>
          <p:cNvSpPr txBox="1"/>
          <p:nvPr/>
        </p:nvSpPr>
        <p:spPr>
          <a:xfrm>
            <a:off x="8997696" y="3474720"/>
            <a:ext cx="2560320" cy="411480"/>
          </a:xfrm>
          <a:prstGeom prst="rect">
            <a:avLst/>
          </a:prstGeom>
          <a:noFill/>
          <a:ln/>
        </p:spPr>
        <p:txBody>
          <a:bodyPr wrap="square" lIns="0" tIns="0" rIns="0" bIns="0" rtlCol="0" anchor="t"/>
          <a:lstStyle/>
          <a:p>
            <a:pPr indent="0" marL="0">
              <a:buNone/>
            </a:pPr>
            <a:r>
              <a:rPr lang="en-US" sz="1700" b="1" dirty="0">
                <a:solidFill>
                  <a:schemeClr val="tx1"/>
                </a:solidFill>
              </a:rPr>
              <a:t>Peluang ApexRecord</a:t>
            </a:r>
            <a:endParaRPr lang="en-US" sz="1700" dirty="0"/>
          </a:p>
        </p:txBody>
      </p:sp>
      <p:sp>
        <p:nvSpPr>
          <p:cNvPr id="20" name="Text 18"/>
          <p:cNvSpPr txBox="1"/>
          <p:nvPr/>
        </p:nvSpPr>
        <p:spPr>
          <a:xfrm>
            <a:off x="8997696" y="3931920"/>
            <a:ext cx="2514600" cy="1463040"/>
          </a:xfrm>
          <a:prstGeom prst="rect">
            <a:avLst/>
          </a:prstGeom>
          <a:noFill/>
          <a:ln/>
        </p:spPr>
        <p:txBody>
          <a:bodyPr wrap="square" lIns="0" tIns="0" rIns="0" bIns="0" rtlCol="0" anchor="t"/>
          <a:lstStyle/>
          <a:p>
            <a:pPr indent="0" marL="0">
              <a:buNone/>
            </a:pPr>
            <a:r>
              <a:rPr lang="en-US" sz="1400" dirty="0">
                <a:solidFill>
                  <a:schemeClr val="accent5"/>
                </a:solidFill>
              </a:rPr>
              <a:t>Klinik &amp; praktik mandiri mencari sistem murah, cepat, dan sudah patuh.</a:t>
            </a:r>
            <a:endParaRPr lang="en-US" sz="1400" dirty="0"/>
          </a:p>
        </p:txBody>
      </p:sp>
      <p:sp>
        <p:nvSpPr>
          <p:cNvPr id="21" name="Text 19"/>
          <p:cNvSpPr txBox="1"/>
          <p:nvPr/>
        </p:nvSpPr>
        <p:spPr>
          <a:xfrm>
            <a:off x="548640" y="5897880"/>
            <a:ext cx="10972800" cy="274320"/>
          </a:xfrm>
          <a:prstGeom prst="rect">
            <a:avLst/>
          </a:prstGeom>
          <a:noFill/>
          <a:ln/>
        </p:spPr>
        <p:txBody>
          <a:bodyPr wrap="square" lIns="0" tIns="0" rIns="0" bIns="0" rtlCol="0" anchor="t"/>
          <a:lstStyle/>
          <a:p>
            <a:pPr indent="0" marL="0">
              <a:buNone/>
            </a:pPr>
            <a:r>
              <a:rPr lang="en-US" sz="1000" dirty="0">
                <a:solidFill>
                  <a:schemeClr val="accent6"/>
                </a:solidFill>
              </a:rPr>
              <a:t>Sumber: Permenkes No. 24 Tahun 2022 tentang Rekam Medis; keslan.kemkes.go.id</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UKURAN PASAR</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Ribuan fasyankes swasta butuh sistem yang terjangkau</a:t>
            </a:r>
            <a:endParaRPr lang="en-US" sz="3200" dirty="0"/>
          </a:p>
        </p:txBody>
      </p:sp>
      <p:sp>
        <p:nvSpPr>
          <p:cNvPr id="4" name="market ring 1"/>
          <p:cNvSpPr/>
          <p:nvPr/>
        </p:nvSpPr>
        <p:spPr>
          <a:xfrm>
            <a:off x="914400" y="1874520"/>
            <a:ext cx="3840480" cy="3840480"/>
          </a:xfrm>
          <a:prstGeom prst="ellipse">
            <a:avLst/>
          </a:prstGeom>
          <a:solidFill>
            <a:srgbClr val="EEECE6"/>
          </a:solidFill>
          <a:ln w="12700">
            <a:solidFill>
              <a:srgbClr val="E4E1D8"/>
            </a:solidFill>
            <a:prstDash val="solid"/>
          </a:ln>
        </p:spPr>
      </p:sp>
      <p:sp>
        <p:nvSpPr>
          <p:cNvPr id="5" name="market ring 2"/>
          <p:cNvSpPr/>
          <p:nvPr/>
        </p:nvSpPr>
        <p:spPr>
          <a:xfrm>
            <a:off x="1508760" y="3063240"/>
            <a:ext cx="2651760" cy="2651760"/>
          </a:xfrm>
          <a:prstGeom prst="ellipse">
            <a:avLst/>
          </a:prstGeom>
          <a:solidFill>
            <a:srgbClr val="E3F3DA"/>
          </a:solidFill>
          <a:ln/>
        </p:spPr>
      </p:sp>
      <p:sp>
        <p:nvSpPr>
          <p:cNvPr id="6" name="market ring 3"/>
          <p:cNvSpPr/>
          <p:nvPr/>
        </p:nvSpPr>
        <p:spPr>
          <a:xfrm>
            <a:off x="2103120" y="4251960"/>
            <a:ext cx="1463040" cy="1463040"/>
          </a:xfrm>
          <a:prstGeom prst="ellipse">
            <a:avLst/>
          </a:prstGeom>
          <a:solidFill>
            <a:srgbClr val="367D2F"/>
          </a:solidFill>
          <a:ln/>
        </p:spPr>
      </p:sp>
      <p:sp>
        <p:nvSpPr>
          <p:cNvPr id="7" name="Text 5"/>
          <p:cNvSpPr txBox="1"/>
          <p:nvPr/>
        </p:nvSpPr>
        <p:spPr>
          <a:xfrm>
            <a:off x="1920240" y="2148840"/>
            <a:ext cx="1828800" cy="365760"/>
          </a:xfrm>
          <a:prstGeom prst="rect">
            <a:avLst/>
          </a:prstGeom>
          <a:noFill/>
          <a:ln/>
        </p:spPr>
        <p:txBody>
          <a:bodyPr wrap="square" lIns="0" tIns="0" rIns="0" bIns="0" rtlCol="0" anchor="t"/>
          <a:lstStyle/>
          <a:p>
            <a:pPr algn="ctr" indent="0" marL="0">
              <a:buNone/>
            </a:pPr>
            <a:r>
              <a:rPr lang="en-US" sz="1600" b="1" dirty="0">
                <a:solidFill>
                  <a:schemeClr val="accent5"/>
                </a:solidFill>
              </a:rPr>
              <a:t>TAM</a:t>
            </a:r>
            <a:endParaRPr lang="en-US" sz="1600" dirty="0"/>
          </a:p>
        </p:txBody>
      </p:sp>
      <p:sp>
        <p:nvSpPr>
          <p:cNvPr id="8" name="Text 6"/>
          <p:cNvSpPr txBox="1"/>
          <p:nvPr/>
        </p:nvSpPr>
        <p:spPr>
          <a:xfrm>
            <a:off x="1920240" y="3291840"/>
            <a:ext cx="1828800" cy="365760"/>
          </a:xfrm>
          <a:prstGeom prst="rect">
            <a:avLst/>
          </a:prstGeom>
          <a:noFill/>
          <a:ln/>
        </p:spPr>
        <p:txBody>
          <a:bodyPr wrap="square" lIns="0" tIns="0" rIns="0" bIns="0" rtlCol="0" anchor="t"/>
          <a:lstStyle/>
          <a:p>
            <a:pPr algn="ctr" indent="0" marL="0">
              <a:buNone/>
            </a:pPr>
            <a:r>
              <a:rPr lang="en-US" sz="1600" b="1" dirty="0">
                <a:solidFill>
                  <a:schemeClr val="tx2"/>
                </a:solidFill>
              </a:rPr>
              <a:t>SAM</a:t>
            </a:r>
            <a:endParaRPr lang="en-US" sz="1600" dirty="0"/>
          </a:p>
        </p:txBody>
      </p:sp>
      <p:sp>
        <p:nvSpPr>
          <p:cNvPr id="9" name="Text 7"/>
          <p:cNvSpPr txBox="1"/>
          <p:nvPr/>
        </p:nvSpPr>
        <p:spPr>
          <a:xfrm>
            <a:off x="1920240" y="4800600"/>
            <a:ext cx="1828800" cy="365760"/>
          </a:xfrm>
          <a:prstGeom prst="rect">
            <a:avLst/>
          </a:prstGeom>
          <a:noFill/>
          <a:ln/>
        </p:spPr>
        <p:txBody>
          <a:bodyPr wrap="square" lIns="0" tIns="0" rIns="0" bIns="0" rtlCol="0" anchor="t"/>
          <a:lstStyle/>
          <a:p>
            <a:pPr algn="ctr" indent="0" marL="0">
              <a:buNone/>
            </a:pPr>
            <a:r>
              <a:rPr lang="en-US" sz="1600" b="1" dirty="0">
                <a:solidFill>
                  <a:schemeClr val="bg1"/>
                </a:solidFill>
              </a:rPr>
              <a:t>SOM</a:t>
            </a:r>
            <a:endParaRPr lang="en-US" sz="1600" dirty="0"/>
          </a:p>
        </p:txBody>
      </p:sp>
      <p:sp>
        <p:nvSpPr>
          <p:cNvPr id="10" name="Text 8"/>
          <p:cNvSpPr txBox="1"/>
          <p:nvPr/>
        </p:nvSpPr>
        <p:spPr>
          <a:xfrm>
            <a:off x="5669280" y="1920240"/>
            <a:ext cx="5943600"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TAM  ·  ± Rp428 M / tahun</a:t>
            </a:r>
            <a:endParaRPr lang="en-US" sz="2000" dirty="0"/>
          </a:p>
        </p:txBody>
      </p:sp>
      <p:sp>
        <p:nvSpPr>
          <p:cNvPr id="11" name="Text 9"/>
          <p:cNvSpPr txBox="1"/>
          <p:nvPr/>
        </p:nvSpPr>
        <p:spPr>
          <a:xfrm>
            <a:off x="5669280" y="2359152"/>
            <a:ext cx="5943600" cy="777240"/>
          </a:xfrm>
          <a:prstGeom prst="rect">
            <a:avLst/>
          </a:prstGeom>
          <a:noFill/>
          <a:ln/>
        </p:spPr>
        <p:txBody>
          <a:bodyPr wrap="square" lIns="0" tIns="0" rIns="0" bIns="0" rtlCol="0" anchor="t"/>
          <a:lstStyle/>
          <a:p>
            <a:pPr indent="0" marL="0">
              <a:buNone/>
            </a:pPr>
            <a:r>
              <a:rPr lang="en-US" sz="1400" dirty="0">
                <a:solidFill>
                  <a:schemeClr val="accent5"/>
                </a:solidFill>
              </a:rPr>
              <a:t>287 ribu dokter terdaftar KKI (Okt 2024), termasuk 46 ribu dokter gigi, × Starter tahunan Rp1,49 jt.</a:t>
            </a:r>
            <a:endParaRPr lang="en-US" sz="1400" dirty="0"/>
          </a:p>
        </p:txBody>
      </p:sp>
      <p:sp>
        <p:nvSpPr>
          <p:cNvPr id="12" name="Text 10"/>
          <p:cNvSpPr txBox="1"/>
          <p:nvPr/>
        </p:nvSpPr>
        <p:spPr>
          <a:xfrm>
            <a:off x="5669280" y="3246120"/>
            <a:ext cx="5943600"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SAM  ·  ± Rp54 M / tahun</a:t>
            </a:r>
            <a:endParaRPr lang="en-US" sz="2000" dirty="0"/>
          </a:p>
        </p:txBody>
      </p:sp>
      <p:sp>
        <p:nvSpPr>
          <p:cNvPr id="13" name="Text 11"/>
          <p:cNvSpPr txBox="1"/>
          <p:nvPr/>
        </p:nvSpPr>
        <p:spPr>
          <a:xfrm>
            <a:off x="5669280" y="3685032"/>
            <a:ext cx="5943600" cy="777240"/>
          </a:xfrm>
          <a:prstGeom prst="rect">
            <a:avLst/>
          </a:prstGeom>
          <a:noFill/>
          <a:ln/>
        </p:spPr>
        <p:txBody>
          <a:bodyPr wrap="square" lIns="0" tIns="0" rIns="0" bIns="0" rtlCol="0" anchor="t"/>
          <a:lstStyle/>
          <a:p>
            <a:pPr indent="0" marL="0">
              <a:buNone/>
            </a:pPr>
            <a:r>
              <a:rPr lang="en-US" sz="1400" dirty="0">
                <a:solidFill>
                  <a:schemeClr val="accent5"/>
                </a:solidFill>
              </a:rPr>
              <a:t>± 18 ribu fasyankes target: 7.022 klinik pratama &amp; utama terakreditasi + ± 11 ribu praktik mandiri, × Pro tahunan Rp2,99 jt.</a:t>
            </a:r>
            <a:endParaRPr lang="en-US" sz="1400" dirty="0"/>
          </a:p>
        </p:txBody>
      </p:sp>
      <p:sp>
        <p:nvSpPr>
          <p:cNvPr id="14" name="Text 12"/>
          <p:cNvSpPr txBox="1"/>
          <p:nvPr/>
        </p:nvSpPr>
        <p:spPr>
          <a:xfrm>
            <a:off x="5669280" y="4572000"/>
            <a:ext cx="5943600" cy="411480"/>
          </a:xfrm>
          <a:prstGeom prst="rect">
            <a:avLst/>
          </a:prstGeom>
          <a:noFill/>
          <a:ln/>
        </p:spPr>
        <p:txBody>
          <a:bodyPr wrap="square" lIns="0" tIns="0" rIns="0" bIns="0" rtlCol="0" anchor="t"/>
          <a:lstStyle/>
          <a:p>
            <a:pPr indent="0" marL="0">
              <a:buNone/>
            </a:pPr>
            <a:r>
              <a:rPr lang="en-US" sz="2000" b="1" dirty="0">
                <a:solidFill>
                  <a:schemeClr val="accent1"/>
                </a:solidFill>
                <a:latin typeface="Arial" pitchFamily="34" charset="0"/>
                <a:ea typeface="Arial" pitchFamily="34" charset="-122"/>
                <a:cs typeface="Arial" pitchFamily="34" charset="-120"/>
              </a:rPr>
              <a:t>SOM 3 tahun  ·  ± Rp2,2 M ARR</a:t>
            </a:r>
            <a:endParaRPr lang="en-US" sz="2000" dirty="0"/>
          </a:p>
        </p:txBody>
      </p:sp>
      <p:sp>
        <p:nvSpPr>
          <p:cNvPr id="15" name="Text 13"/>
          <p:cNvSpPr txBox="1"/>
          <p:nvPr/>
        </p:nvSpPr>
        <p:spPr>
          <a:xfrm>
            <a:off x="5669280" y="5010912"/>
            <a:ext cx="5943600" cy="777240"/>
          </a:xfrm>
          <a:prstGeom prst="rect">
            <a:avLst/>
          </a:prstGeom>
          <a:noFill/>
          <a:ln/>
        </p:spPr>
        <p:txBody>
          <a:bodyPr wrap="square" lIns="0" tIns="0" rIns="0" bIns="0" rtlCol="0" anchor="t"/>
          <a:lstStyle/>
          <a:p>
            <a:pPr indent="0" marL="0">
              <a:buNone/>
            </a:pPr>
            <a:r>
              <a:rPr lang="en-US" sz="1400" dirty="0">
                <a:solidFill>
                  <a:schemeClr val="accent5"/>
                </a:solidFill>
              </a:rPr>
              <a:t>1.000 fasyankes berbayar (± 5,5% SAM) × ARPU blended ± Rp2,2 jt/tahun. Mulai dari klinik gigi di Sumatera.</a:t>
            </a:r>
            <a:endParaRPr lang="en-US" sz="1400" dirty="0"/>
          </a:p>
        </p:txBody>
      </p:sp>
      <p:sp>
        <p:nvSpPr>
          <p:cNvPr id="16" name="Text 14"/>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000" dirty="0">
                <a:solidFill>
                  <a:schemeClr val="accent6"/>
                </a:solidFill>
              </a:rPr>
              <a:t>Estimasi bottom-up, perlu validasi. Sumber: KKI via GoodStats (2024); Kemenkes, klinik terakreditasi per Feb 2024; Kemenkes, data praktik mandiri 2018.</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MODEL BISNIS · HARGA MULAI 1 JANUARI 2027</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SaaS berlangganan dengan paket 1, 3, dan 12 bulan</a:t>
            </a:r>
            <a:endParaRPr lang="en-US" sz="3200" dirty="0"/>
          </a:p>
        </p:txBody>
      </p:sp>
      <p:sp>
        <p:nvSpPr>
          <p:cNvPr id="4" name="pro row highlight"/>
          <p:cNvSpPr/>
          <p:nvPr/>
        </p:nvSpPr>
        <p:spPr>
          <a:xfrm>
            <a:off x="548640" y="3172968"/>
            <a:ext cx="11064240" cy="786384"/>
          </a:xfrm>
          <a:prstGeom prst="roundRect">
            <a:avLst>
              <a:gd name="adj" fmla="val 16279"/>
            </a:avLst>
          </a:prstGeom>
          <a:solidFill>
            <a:srgbClr val="E3F3DA"/>
          </a:solidFill>
          <a:ln/>
        </p:spPr>
      </p:sp>
      <p:sp>
        <p:nvSpPr>
          <p:cNvPr id="5" name="Text 3"/>
          <p:cNvSpPr txBox="1"/>
          <p:nvPr/>
        </p:nvSpPr>
        <p:spPr>
          <a:xfrm>
            <a:off x="731520" y="1783080"/>
            <a:ext cx="2194560" cy="713232"/>
          </a:xfrm>
          <a:prstGeom prst="rect">
            <a:avLst/>
          </a:prstGeom>
          <a:noFill/>
          <a:ln/>
        </p:spPr>
        <p:txBody>
          <a:bodyPr wrap="square" lIns="0" tIns="0" rIns="0" bIns="0" rtlCol="0" anchor="ctr"/>
          <a:lstStyle/>
          <a:p>
            <a:pPr algn="l" indent="0" marL="0">
              <a:buNone/>
            </a:pPr>
            <a:r>
              <a:rPr lang="en-US" sz="1400" b="1" dirty="0">
                <a:solidFill>
                  <a:schemeClr val="accent6"/>
                </a:solidFill>
              </a:rPr>
              <a:t>Paket</a:t>
            </a:r>
            <a:endParaRPr lang="en-US" sz="1400" dirty="0"/>
          </a:p>
        </p:txBody>
      </p:sp>
      <p:sp>
        <p:nvSpPr>
          <p:cNvPr id="6" name="Text 4"/>
          <p:cNvSpPr txBox="1"/>
          <p:nvPr/>
        </p:nvSpPr>
        <p:spPr>
          <a:xfrm>
            <a:off x="3108960" y="1783080"/>
            <a:ext cx="3108960" cy="713232"/>
          </a:xfrm>
          <a:prstGeom prst="rect">
            <a:avLst/>
          </a:prstGeom>
          <a:noFill/>
          <a:ln/>
        </p:spPr>
        <p:txBody>
          <a:bodyPr wrap="square" lIns="0" tIns="0" rIns="0" bIns="0" rtlCol="0" anchor="ctr"/>
          <a:lstStyle/>
          <a:p>
            <a:pPr algn="l" indent="0" marL="0">
              <a:buNone/>
            </a:pPr>
            <a:r>
              <a:rPr lang="en-US" sz="1400" b="1" dirty="0">
                <a:solidFill>
                  <a:schemeClr val="accent6"/>
                </a:solidFill>
              </a:rPr>
              <a:t>Untuk siapa</a:t>
            </a:r>
            <a:endParaRPr lang="en-US" sz="1400" dirty="0"/>
          </a:p>
        </p:txBody>
      </p:sp>
      <p:sp>
        <p:nvSpPr>
          <p:cNvPr id="7" name="Text 5"/>
          <p:cNvSpPr txBox="1"/>
          <p:nvPr/>
        </p:nvSpPr>
        <p:spPr>
          <a:xfrm>
            <a:off x="6217920" y="1783080"/>
            <a:ext cx="1783080" cy="713232"/>
          </a:xfrm>
          <a:prstGeom prst="rect">
            <a:avLst/>
          </a:prstGeom>
          <a:noFill/>
          <a:ln/>
        </p:spPr>
        <p:txBody>
          <a:bodyPr wrap="square" lIns="0" tIns="0" rIns="0" bIns="0" rtlCol="0" anchor="ctr"/>
          <a:lstStyle/>
          <a:p>
            <a:pPr algn="ctr" indent="0" marL="0">
              <a:buNone/>
            </a:pPr>
            <a:r>
              <a:rPr lang="en-US" sz="1400" b="1" dirty="0">
                <a:solidFill>
                  <a:schemeClr val="accent6"/>
                </a:solidFill>
              </a:rPr>
              <a:t>1 bulan</a:t>
            </a:r>
            <a:endParaRPr lang="en-US" sz="1400" dirty="0"/>
          </a:p>
        </p:txBody>
      </p:sp>
      <p:sp>
        <p:nvSpPr>
          <p:cNvPr id="8" name="Text 6"/>
          <p:cNvSpPr txBox="1"/>
          <p:nvPr/>
        </p:nvSpPr>
        <p:spPr>
          <a:xfrm>
            <a:off x="8001000" y="1783080"/>
            <a:ext cx="1783080" cy="713232"/>
          </a:xfrm>
          <a:prstGeom prst="rect">
            <a:avLst/>
          </a:prstGeom>
          <a:noFill/>
          <a:ln/>
        </p:spPr>
        <p:txBody>
          <a:bodyPr wrap="square" lIns="0" tIns="0" rIns="0" bIns="0" rtlCol="0" anchor="ctr"/>
          <a:lstStyle/>
          <a:p>
            <a:pPr algn="ctr" indent="0" marL="0">
              <a:buNone/>
            </a:pPr>
            <a:r>
              <a:rPr lang="en-US" sz="1400" b="1" dirty="0">
                <a:solidFill>
                  <a:schemeClr val="accent6"/>
                </a:solidFill>
              </a:rPr>
              <a:t>3 bulan</a:t>
            </a:r>
            <a:endParaRPr lang="en-US" sz="1400" dirty="0"/>
          </a:p>
        </p:txBody>
      </p:sp>
      <p:sp>
        <p:nvSpPr>
          <p:cNvPr id="9" name="Text 7"/>
          <p:cNvSpPr txBox="1"/>
          <p:nvPr/>
        </p:nvSpPr>
        <p:spPr>
          <a:xfrm>
            <a:off x="9784080" y="1783080"/>
            <a:ext cx="1828800" cy="713232"/>
          </a:xfrm>
          <a:prstGeom prst="rect">
            <a:avLst/>
          </a:prstGeom>
          <a:noFill/>
          <a:ln/>
        </p:spPr>
        <p:txBody>
          <a:bodyPr wrap="square" lIns="0" tIns="0" rIns="0" bIns="0" rtlCol="0" anchor="ctr"/>
          <a:lstStyle/>
          <a:p>
            <a:pPr algn="ctr" indent="0" marL="0">
              <a:buNone/>
            </a:pPr>
            <a:r>
              <a:rPr lang="en-US" sz="1400" b="1" dirty="0">
                <a:solidFill>
                  <a:schemeClr val="accent6"/>
                </a:solidFill>
              </a:rPr>
              <a:t>12 bulan</a:t>
            </a:r>
            <a:endParaRPr lang="en-US" sz="1400" dirty="0"/>
          </a:p>
        </p:txBody>
      </p:sp>
      <p:sp>
        <p:nvSpPr>
          <p:cNvPr id="10" name="price rule 0"/>
          <p:cNvSpPr/>
          <p:nvPr/>
        </p:nvSpPr>
        <p:spPr>
          <a:xfrm>
            <a:off x="548640" y="2496312"/>
            <a:ext cx="11064240" cy="0"/>
          </a:xfrm>
          <a:prstGeom prst="line">
            <a:avLst/>
          </a:prstGeom>
          <a:noFill/>
          <a:ln w="12700">
            <a:solidFill>
              <a:srgbClr val="E4E1D8"/>
            </a:solidFill>
            <a:prstDash val="solid"/>
          </a:ln>
        </p:spPr>
      </p:sp>
      <p:sp>
        <p:nvSpPr>
          <p:cNvPr id="11" name="Text 9"/>
          <p:cNvSpPr txBox="1"/>
          <p:nvPr/>
        </p:nvSpPr>
        <p:spPr>
          <a:xfrm>
            <a:off x="731520" y="2496312"/>
            <a:ext cx="2194560" cy="713232"/>
          </a:xfrm>
          <a:prstGeom prst="rect">
            <a:avLst/>
          </a:prstGeom>
          <a:noFill/>
          <a:ln/>
        </p:spPr>
        <p:txBody>
          <a:bodyPr wrap="square" lIns="0" tIns="0" rIns="0" bIns="0" rtlCol="0" anchor="ctr"/>
          <a:lstStyle/>
          <a:p>
            <a:pPr algn="l" indent="0" marL="0">
              <a:buNone/>
            </a:pPr>
            <a:r>
              <a:rPr lang="en-US" sz="1800" b="1" dirty="0">
                <a:solidFill>
                  <a:schemeClr val="tx1"/>
                </a:solidFill>
                <a:latin typeface="Arial" pitchFamily="34" charset="0"/>
                <a:ea typeface="Arial" pitchFamily="34" charset="-122"/>
                <a:cs typeface="Arial" pitchFamily="34" charset="-120"/>
              </a:rPr>
              <a:t>Starter</a:t>
            </a:r>
            <a:endParaRPr lang="en-US" sz="1800" dirty="0"/>
          </a:p>
        </p:txBody>
      </p:sp>
      <p:sp>
        <p:nvSpPr>
          <p:cNvPr id="12" name="Text 10"/>
          <p:cNvSpPr txBox="1"/>
          <p:nvPr/>
        </p:nvSpPr>
        <p:spPr>
          <a:xfrm>
            <a:off x="3108960" y="2496312"/>
            <a:ext cx="3108960" cy="713232"/>
          </a:xfrm>
          <a:prstGeom prst="rect">
            <a:avLst/>
          </a:prstGeom>
          <a:noFill/>
          <a:ln/>
        </p:spPr>
        <p:txBody>
          <a:bodyPr wrap="square" lIns="0" tIns="0" rIns="0" bIns="0" rtlCol="0" anchor="ctr"/>
          <a:lstStyle/>
          <a:p>
            <a:pPr algn="l" indent="0" marL="0">
              <a:buNone/>
            </a:pPr>
            <a:r>
              <a:rPr lang="en-US" sz="1400" dirty="0">
                <a:solidFill>
                  <a:schemeClr val="accent5"/>
                </a:solidFill>
              </a:rPr>
              <a:t>Praktik mandiri, 1 dokter</a:t>
            </a:r>
            <a:endParaRPr lang="en-US" sz="1400" dirty="0"/>
          </a:p>
        </p:txBody>
      </p:sp>
      <p:sp>
        <p:nvSpPr>
          <p:cNvPr id="13" name="Text 11"/>
          <p:cNvSpPr txBox="1"/>
          <p:nvPr/>
        </p:nvSpPr>
        <p:spPr>
          <a:xfrm>
            <a:off x="6217920" y="2496312"/>
            <a:ext cx="178308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Rp149rb</a:t>
            </a:r>
            <a:endParaRPr lang="en-US" sz="1800" dirty="0"/>
          </a:p>
        </p:txBody>
      </p:sp>
      <p:sp>
        <p:nvSpPr>
          <p:cNvPr id="14" name="Text 12"/>
          <p:cNvSpPr txBox="1"/>
          <p:nvPr/>
        </p:nvSpPr>
        <p:spPr>
          <a:xfrm>
            <a:off x="8001000" y="2496312"/>
            <a:ext cx="178308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Rp399rb</a:t>
            </a:r>
            <a:endParaRPr lang="en-US" sz="1800" dirty="0"/>
          </a:p>
        </p:txBody>
      </p:sp>
      <p:sp>
        <p:nvSpPr>
          <p:cNvPr id="15" name="Text 13"/>
          <p:cNvSpPr txBox="1"/>
          <p:nvPr/>
        </p:nvSpPr>
        <p:spPr>
          <a:xfrm>
            <a:off x="9784080" y="2496312"/>
            <a:ext cx="182880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Rp1,49 jt</a:t>
            </a:r>
            <a:endParaRPr lang="en-US" sz="1800" dirty="0"/>
          </a:p>
        </p:txBody>
      </p:sp>
      <p:sp>
        <p:nvSpPr>
          <p:cNvPr id="16" name="Text 14"/>
          <p:cNvSpPr txBox="1"/>
          <p:nvPr/>
        </p:nvSpPr>
        <p:spPr>
          <a:xfrm>
            <a:off x="731520" y="3209544"/>
            <a:ext cx="2194560" cy="713232"/>
          </a:xfrm>
          <a:prstGeom prst="rect">
            <a:avLst/>
          </a:prstGeom>
          <a:noFill/>
          <a:ln/>
        </p:spPr>
        <p:txBody>
          <a:bodyPr wrap="square" lIns="0" tIns="0" rIns="0" bIns="0" rtlCol="0" anchor="ctr"/>
          <a:lstStyle/>
          <a:p>
            <a:pPr algn="l" indent="0" marL="0">
              <a:buNone/>
            </a:pPr>
            <a:r>
              <a:rPr lang="en-US" sz="1800" b="1" dirty="0">
                <a:solidFill>
                  <a:schemeClr val="accent1"/>
                </a:solidFill>
                <a:latin typeface="Arial" pitchFamily="34" charset="0"/>
                <a:ea typeface="Arial" pitchFamily="34" charset="-122"/>
                <a:cs typeface="Arial" pitchFamily="34" charset="-120"/>
              </a:rPr>
              <a:t>Pro</a:t>
            </a:r>
            <a:endParaRPr lang="en-US" sz="1800" dirty="0"/>
          </a:p>
        </p:txBody>
      </p:sp>
      <p:sp>
        <p:nvSpPr>
          <p:cNvPr id="17" name="Text 15"/>
          <p:cNvSpPr txBox="1"/>
          <p:nvPr/>
        </p:nvSpPr>
        <p:spPr>
          <a:xfrm>
            <a:off x="3108960" y="3209544"/>
            <a:ext cx="3108960" cy="713232"/>
          </a:xfrm>
          <a:prstGeom prst="rect">
            <a:avLst/>
          </a:prstGeom>
          <a:noFill/>
          <a:ln/>
        </p:spPr>
        <p:txBody>
          <a:bodyPr wrap="square" lIns="0" tIns="0" rIns="0" bIns="0" rtlCol="0" anchor="ctr"/>
          <a:lstStyle/>
          <a:p>
            <a:pPr algn="l" indent="0" marL="0">
              <a:buNone/>
            </a:pPr>
            <a:r>
              <a:rPr lang="en-US" sz="1400" dirty="0">
                <a:solidFill>
                  <a:schemeClr val="accent5"/>
                </a:solidFill>
              </a:rPr>
              <a:t>Klinik dengan banyak dokter</a:t>
            </a:r>
            <a:endParaRPr lang="en-US" sz="1400" dirty="0"/>
          </a:p>
        </p:txBody>
      </p:sp>
      <p:sp>
        <p:nvSpPr>
          <p:cNvPr id="18" name="Text 16"/>
          <p:cNvSpPr txBox="1"/>
          <p:nvPr/>
        </p:nvSpPr>
        <p:spPr>
          <a:xfrm>
            <a:off x="6217920" y="3209544"/>
            <a:ext cx="178308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Rp299rb</a:t>
            </a:r>
            <a:endParaRPr lang="en-US" sz="1800" dirty="0"/>
          </a:p>
        </p:txBody>
      </p:sp>
      <p:sp>
        <p:nvSpPr>
          <p:cNvPr id="19" name="Text 17"/>
          <p:cNvSpPr txBox="1"/>
          <p:nvPr/>
        </p:nvSpPr>
        <p:spPr>
          <a:xfrm>
            <a:off x="8001000" y="3209544"/>
            <a:ext cx="178308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Rp799rb</a:t>
            </a:r>
            <a:endParaRPr lang="en-US" sz="1800" dirty="0"/>
          </a:p>
        </p:txBody>
      </p:sp>
      <p:sp>
        <p:nvSpPr>
          <p:cNvPr id="20" name="Text 18"/>
          <p:cNvSpPr txBox="1"/>
          <p:nvPr/>
        </p:nvSpPr>
        <p:spPr>
          <a:xfrm>
            <a:off x="9784080" y="3209544"/>
            <a:ext cx="182880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Rp2,99 jt</a:t>
            </a:r>
            <a:endParaRPr lang="en-US" sz="1800" dirty="0"/>
          </a:p>
        </p:txBody>
      </p:sp>
      <p:sp>
        <p:nvSpPr>
          <p:cNvPr id="21" name="price rule 2"/>
          <p:cNvSpPr/>
          <p:nvPr/>
        </p:nvSpPr>
        <p:spPr>
          <a:xfrm>
            <a:off x="548640" y="3922776"/>
            <a:ext cx="11064240" cy="0"/>
          </a:xfrm>
          <a:prstGeom prst="line">
            <a:avLst/>
          </a:prstGeom>
          <a:noFill/>
          <a:ln w="12700">
            <a:solidFill>
              <a:srgbClr val="E4E1D8"/>
            </a:solidFill>
            <a:prstDash val="solid"/>
          </a:ln>
        </p:spPr>
      </p:sp>
      <p:sp>
        <p:nvSpPr>
          <p:cNvPr id="22" name="Text 20"/>
          <p:cNvSpPr txBox="1"/>
          <p:nvPr/>
        </p:nvSpPr>
        <p:spPr>
          <a:xfrm>
            <a:off x="731520" y="3922776"/>
            <a:ext cx="2194560" cy="713232"/>
          </a:xfrm>
          <a:prstGeom prst="rect">
            <a:avLst/>
          </a:prstGeom>
          <a:noFill/>
          <a:ln/>
        </p:spPr>
        <p:txBody>
          <a:bodyPr wrap="square" lIns="0" tIns="0" rIns="0" bIns="0" rtlCol="0" anchor="ctr"/>
          <a:lstStyle/>
          <a:p>
            <a:pPr algn="l" indent="0" marL="0">
              <a:buNone/>
            </a:pPr>
            <a:r>
              <a:rPr lang="en-US" sz="1800" b="1" dirty="0">
                <a:solidFill>
                  <a:schemeClr val="tx1"/>
                </a:solidFill>
                <a:latin typeface="Arial" pitchFamily="34" charset="0"/>
                <a:ea typeface="Arial" pitchFamily="34" charset="-122"/>
                <a:cs typeface="Arial" pitchFamily="34" charset="-120"/>
              </a:rPr>
              <a:t>Multi Klinik</a:t>
            </a:r>
            <a:endParaRPr lang="en-US" sz="1800" dirty="0"/>
          </a:p>
        </p:txBody>
      </p:sp>
      <p:sp>
        <p:nvSpPr>
          <p:cNvPr id="23" name="Text 21"/>
          <p:cNvSpPr txBox="1"/>
          <p:nvPr/>
        </p:nvSpPr>
        <p:spPr>
          <a:xfrm>
            <a:off x="3108960" y="3922776"/>
            <a:ext cx="3108960" cy="713232"/>
          </a:xfrm>
          <a:prstGeom prst="rect">
            <a:avLst/>
          </a:prstGeom>
          <a:noFill/>
          <a:ln/>
        </p:spPr>
        <p:txBody>
          <a:bodyPr wrap="square" lIns="0" tIns="0" rIns="0" bIns="0" rtlCol="0" anchor="ctr"/>
          <a:lstStyle/>
          <a:p>
            <a:pPr algn="l" indent="0" marL="0">
              <a:buNone/>
            </a:pPr>
            <a:r>
              <a:rPr lang="en-US" sz="1400" dirty="0">
                <a:solidFill>
                  <a:schemeClr val="accent5"/>
                </a:solidFill>
              </a:rPr>
              <a:t>Per cabang, minimal 2 cabang</a:t>
            </a:r>
            <a:endParaRPr lang="en-US" sz="1400" dirty="0"/>
          </a:p>
        </p:txBody>
      </p:sp>
      <p:sp>
        <p:nvSpPr>
          <p:cNvPr id="24" name="Text 22"/>
          <p:cNvSpPr txBox="1"/>
          <p:nvPr/>
        </p:nvSpPr>
        <p:spPr>
          <a:xfrm>
            <a:off x="6217920" y="3922776"/>
            <a:ext cx="178308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Rp249rb</a:t>
            </a:r>
            <a:endParaRPr lang="en-US" sz="1800" dirty="0"/>
          </a:p>
        </p:txBody>
      </p:sp>
      <p:sp>
        <p:nvSpPr>
          <p:cNvPr id="25" name="Text 23"/>
          <p:cNvSpPr txBox="1"/>
          <p:nvPr/>
        </p:nvSpPr>
        <p:spPr>
          <a:xfrm>
            <a:off x="8001000" y="3922776"/>
            <a:ext cx="178308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Rp669rb</a:t>
            </a:r>
            <a:endParaRPr lang="en-US" sz="1800" dirty="0"/>
          </a:p>
        </p:txBody>
      </p:sp>
      <p:sp>
        <p:nvSpPr>
          <p:cNvPr id="26" name="Text 24"/>
          <p:cNvSpPr txBox="1"/>
          <p:nvPr/>
        </p:nvSpPr>
        <p:spPr>
          <a:xfrm>
            <a:off x="9784080" y="3922776"/>
            <a:ext cx="182880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Rp2,49 jt</a:t>
            </a:r>
            <a:endParaRPr lang="en-US" sz="1800" dirty="0"/>
          </a:p>
        </p:txBody>
      </p:sp>
      <p:sp>
        <p:nvSpPr>
          <p:cNvPr id="27" name="price rule 3"/>
          <p:cNvSpPr/>
          <p:nvPr/>
        </p:nvSpPr>
        <p:spPr>
          <a:xfrm>
            <a:off x="548640" y="4636008"/>
            <a:ext cx="11064240" cy="0"/>
          </a:xfrm>
          <a:prstGeom prst="line">
            <a:avLst/>
          </a:prstGeom>
          <a:noFill/>
          <a:ln w="12700">
            <a:solidFill>
              <a:srgbClr val="E4E1D8"/>
            </a:solidFill>
            <a:prstDash val="solid"/>
          </a:ln>
        </p:spPr>
      </p:sp>
      <p:sp>
        <p:nvSpPr>
          <p:cNvPr id="28" name="Text 26"/>
          <p:cNvSpPr txBox="1"/>
          <p:nvPr/>
        </p:nvSpPr>
        <p:spPr>
          <a:xfrm>
            <a:off x="731520" y="4636008"/>
            <a:ext cx="2194560" cy="713232"/>
          </a:xfrm>
          <a:prstGeom prst="rect">
            <a:avLst/>
          </a:prstGeom>
          <a:noFill/>
          <a:ln/>
        </p:spPr>
        <p:txBody>
          <a:bodyPr wrap="square" lIns="0" tIns="0" rIns="0" bIns="0" rtlCol="0" anchor="ctr"/>
          <a:lstStyle/>
          <a:p>
            <a:pPr algn="l" indent="0" marL="0">
              <a:buNone/>
            </a:pPr>
            <a:r>
              <a:rPr lang="en-US" sz="1800" b="1" dirty="0">
                <a:solidFill>
                  <a:schemeClr val="tx1"/>
                </a:solidFill>
                <a:latin typeface="Arial" pitchFamily="34" charset="0"/>
                <a:ea typeface="Arial" pitchFamily="34" charset="-122"/>
                <a:cs typeface="Arial" pitchFamily="34" charset="-120"/>
              </a:rPr>
              <a:t>+ Dashboard owner</a:t>
            </a:r>
            <a:endParaRPr lang="en-US" sz="1800" dirty="0"/>
          </a:p>
        </p:txBody>
      </p:sp>
      <p:sp>
        <p:nvSpPr>
          <p:cNvPr id="29" name="Text 27"/>
          <p:cNvSpPr txBox="1"/>
          <p:nvPr/>
        </p:nvSpPr>
        <p:spPr>
          <a:xfrm>
            <a:off x="3108960" y="4636008"/>
            <a:ext cx="3108960" cy="713232"/>
          </a:xfrm>
          <a:prstGeom prst="rect">
            <a:avLst/>
          </a:prstGeom>
          <a:noFill/>
          <a:ln/>
        </p:spPr>
        <p:txBody>
          <a:bodyPr wrap="square" lIns="0" tIns="0" rIns="0" bIns="0" rtlCol="0" anchor="ctr"/>
          <a:lstStyle/>
          <a:p>
            <a:pPr algn="l" indent="0" marL="0">
              <a:buNone/>
            </a:pPr>
            <a:r>
              <a:rPr lang="en-US" sz="1400" dirty="0">
                <a:solidFill>
                  <a:schemeClr val="accent5"/>
                </a:solidFill>
              </a:rPr>
              <a:t>Sekali per grup klinik</a:t>
            </a:r>
            <a:endParaRPr lang="en-US" sz="1400" dirty="0"/>
          </a:p>
        </p:txBody>
      </p:sp>
      <p:sp>
        <p:nvSpPr>
          <p:cNvPr id="30" name="Text 28"/>
          <p:cNvSpPr txBox="1"/>
          <p:nvPr/>
        </p:nvSpPr>
        <p:spPr>
          <a:xfrm>
            <a:off x="6217920" y="4636008"/>
            <a:ext cx="178308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Rp149rb</a:t>
            </a:r>
            <a:endParaRPr lang="en-US" sz="1800" dirty="0"/>
          </a:p>
        </p:txBody>
      </p:sp>
      <p:sp>
        <p:nvSpPr>
          <p:cNvPr id="31" name="Text 29"/>
          <p:cNvSpPr txBox="1"/>
          <p:nvPr/>
        </p:nvSpPr>
        <p:spPr>
          <a:xfrm>
            <a:off x="8001000" y="4636008"/>
            <a:ext cx="178308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Rp399rb</a:t>
            </a:r>
            <a:endParaRPr lang="en-US" sz="1800" dirty="0"/>
          </a:p>
        </p:txBody>
      </p:sp>
      <p:sp>
        <p:nvSpPr>
          <p:cNvPr id="32" name="Text 30"/>
          <p:cNvSpPr txBox="1"/>
          <p:nvPr/>
        </p:nvSpPr>
        <p:spPr>
          <a:xfrm>
            <a:off x="9784080" y="4636008"/>
            <a:ext cx="1828800" cy="713232"/>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Rp1,49 jt</a:t>
            </a:r>
            <a:endParaRPr lang="en-US" sz="1800" dirty="0"/>
          </a:p>
        </p:txBody>
      </p:sp>
      <p:sp>
        <p:nvSpPr>
          <p:cNvPr id="33" name="pill 1"/>
          <p:cNvSpPr/>
          <p:nvPr/>
        </p:nvSpPr>
        <p:spPr>
          <a:xfrm>
            <a:off x="548640" y="5532120"/>
            <a:ext cx="3520440" cy="548640"/>
          </a:xfrm>
          <a:prstGeom prst="roundRect">
            <a:avLst>
              <a:gd name="adj" fmla="val 23333"/>
            </a:avLst>
          </a:prstGeom>
          <a:solidFill>
            <a:srgbClr val="FFFFFF"/>
          </a:solidFill>
          <a:ln w="12700">
            <a:solidFill>
              <a:srgbClr val="E4E1D8"/>
            </a:solidFill>
            <a:prstDash val="solid"/>
          </a:ln>
        </p:spPr>
      </p:sp>
      <p:pic>
        <p:nvPicPr>
          <p:cNvPr id="34" name="pill icon 1" descr="Ikon">    </p:cNvPr>
          <p:cNvPicPr>
            <a:picLocks noChangeAspect="1"/>
          </p:cNvPicPr>
          <p:nvPr/>
        </p:nvPicPr>
        <p:blipFill>
          <a:blip r:embed="rId1"/>
          <a:stretch>
            <a:fillRect/>
          </a:stretch>
        </p:blipFill>
        <p:spPr>
          <a:xfrm>
            <a:off x="731520" y="5669280"/>
            <a:ext cx="274320" cy="274320"/>
          </a:xfrm>
          <a:prstGeom prst="rect">
            <a:avLst/>
          </a:prstGeom>
        </p:spPr>
      </p:pic>
      <p:sp>
        <p:nvSpPr>
          <p:cNvPr id="35" name="Text 32"/>
          <p:cNvSpPr txBox="1"/>
          <p:nvPr/>
        </p:nvSpPr>
        <p:spPr>
          <a:xfrm>
            <a:off x="1143000" y="5532120"/>
            <a:ext cx="2834640" cy="548640"/>
          </a:xfrm>
          <a:prstGeom prst="rect">
            <a:avLst/>
          </a:prstGeom>
          <a:noFill/>
          <a:ln/>
        </p:spPr>
        <p:txBody>
          <a:bodyPr wrap="square" lIns="0" tIns="0" rIns="0" bIns="0" rtlCol="0" anchor="ctr"/>
          <a:lstStyle/>
          <a:p>
            <a:pPr indent="0" marL="0">
              <a:buNone/>
            </a:pPr>
            <a:r>
              <a:rPr lang="en-US" sz="1300" dirty="0">
                <a:solidFill>
                  <a:schemeClr val="tx1"/>
                </a:solidFill>
              </a:rPr>
              <a:t>3 bulan hemat ± 10%</a:t>
            </a:r>
            <a:endParaRPr lang="en-US" sz="1300" dirty="0"/>
          </a:p>
        </p:txBody>
      </p:sp>
      <p:sp>
        <p:nvSpPr>
          <p:cNvPr id="36" name="pill 2"/>
          <p:cNvSpPr/>
          <p:nvPr/>
        </p:nvSpPr>
        <p:spPr>
          <a:xfrm>
            <a:off x="4297680" y="5532120"/>
            <a:ext cx="3520440" cy="548640"/>
          </a:xfrm>
          <a:prstGeom prst="roundRect">
            <a:avLst>
              <a:gd name="adj" fmla="val 23333"/>
            </a:avLst>
          </a:prstGeom>
          <a:solidFill>
            <a:srgbClr val="FFFFFF"/>
          </a:solidFill>
          <a:ln w="12700">
            <a:solidFill>
              <a:srgbClr val="E4E1D8"/>
            </a:solidFill>
            <a:prstDash val="solid"/>
          </a:ln>
        </p:spPr>
      </p:sp>
      <p:pic>
        <p:nvPicPr>
          <p:cNvPr id="37" name="pill icon 2" descr="Ikon">    </p:cNvPr>
          <p:cNvPicPr>
            <a:picLocks noChangeAspect="1"/>
          </p:cNvPicPr>
          <p:nvPr/>
        </p:nvPicPr>
        <p:blipFill>
          <a:blip r:embed="rId2"/>
          <a:stretch>
            <a:fillRect/>
          </a:stretch>
        </p:blipFill>
        <p:spPr>
          <a:xfrm>
            <a:off x="4480560" y="5669280"/>
            <a:ext cx="274320" cy="274320"/>
          </a:xfrm>
          <a:prstGeom prst="rect">
            <a:avLst/>
          </a:prstGeom>
        </p:spPr>
      </p:pic>
      <p:sp>
        <p:nvSpPr>
          <p:cNvPr id="38" name="Text 34"/>
          <p:cNvSpPr txBox="1"/>
          <p:nvPr/>
        </p:nvSpPr>
        <p:spPr>
          <a:xfrm>
            <a:off x="4892040" y="5532120"/>
            <a:ext cx="2834640" cy="548640"/>
          </a:xfrm>
          <a:prstGeom prst="rect">
            <a:avLst/>
          </a:prstGeom>
          <a:noFill/>
          <a:ln/>
        </p:spPr>
        <p:txBody>
          <a:bodyPr wrap="square" lIns="0" tIns="0" rIns="0" bIns="0" rtlCol="0" anchor="ctr"/>
          <a:lstStyle/>
          <a:p>
            <a:pPr indent="0" marL="0">
              <a:buNone/>
            </a:pPr>
            <a:r>
              <a:rPr lang="en-US" sz="1300" dirty="0">
                <a:solidFill>
                  <a:schemeClr val="tx1"/>
                </a:solidFill>
              </a:rPr>
              <a:t>12 bulan = bayar 10 bulan + bonus fitur custom</a:t>
            </a:r>
            <a:endParaRPr lang="en-US" sz="1300" dirty="0"/>
          </a:p>
        </p:txBody>
      </p:sp>
      <p:sp>
        <p:nvSpPr>
          <p:cNvPr id="39" name="pill 3"/>
          <p:cNvSpPr/>
          <p:nvPr/>
        </p:nvSpPr>
        <p:spPr>
          <a:xfrm>
            <a:off x="8046720" y="5532120"/>
            <a:ext cx="3520440" cy="548640"/>
          </a:xfrm>
          <a:prstGeom prst="roundRect">
            <a:avLst>
              <a:gd name="adj" fmla="val 23333"/>
            </a:avLst>
          </a:prstGeom>
          <a:solidFill>
            <a:srgbClr val="FFFFFF"/>
          </a:solidFill>
          <a:ln w="12700">
            <a:solidFill>
              <a:srgbClr val="E4E1D8"/>
            </a:solidFill>
            <a:prstDash val="solid"/>
          </a:ln>
        </p:spPr>
      </p:sp>
      <p:pic>
        <p:nvPicPr>
          <p:cNvPr id="40" name="pill icon 3" descr="Ikon">    </p:cNvPr>
          <p:cNvPicPr>
            <a:picLocks noChangeAspect="1"/>
          </p:cNvPicPr>
          <p:nvPr/>
        </p:nvPicPr>
        <p:blipFill>
          <a:blip r:embed="rId3"/>
          <a:stretch>
            <a:fillRect/>
          </a:stretch>
        </p:blipFill>
        <p:spPr>
          <a:xfrm>
            <a:off x="8229600" y="5669280"/>
            <a:ext cx="274320" cy="274320"/>
          </a:xfrm>
          <a:prstGeom prst="rect">
            <a:avLst/>
          </a:prstGeom>
        </p:spPr>
      </p:pic>
      <p:sp>
        <p:nvSpPr>
          <p:cNvPr id="41" name="Text 36"/>
          <p:cNvSpPr txBox="1"/>
          <p:nvPr/>
        </p:nvSpPr>
        <p:spPr>
          <a:xfrm>
            <a:off x="8641080" y="5532120"/>
            <a:ext cx="2834640" cy="548640"/>
          </a:xfrm>
          <a:prstGeom prst="rect">
            <a:avLst/>
          </a:prstGeom>
          <a:noFill/>
          <a:ln/>
        </p:spPr>
        <p:txBody>
          <a:bodyPr wrap="square" lIns="0" tIns="0" rIns="0" bIns="0" rtlCol="0" anchor="ctr"/>
          <a:lstStyle/>
          <a:p>
            <a:pPr indent="0" marL="0">
              <a:buNone/>
            </a:pPr>
            <a:r>
              <a:rPr lang="en-US" sz="1300" dirty="0">
                <a:solidFill>
                  <a:schemeClr val="tx1"/>
                </a:solidFill>
              </a:rPr>
              <a:t>Uji coba gratis 15 hari</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2"/>
                </a:solidFill>
              </a:rPr>
              <a:t>PROMO PELUNCURAN</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Harga lama berlaku hingga 31 Desember 2026</a:t>
            </a:r>
            <a:endParaRPr lang="en-US" sz="3200" dirty="0"/>
          </a:p>
        </p:txBody>
      </p:sp>
      <p:sp>
        <p:nvSpPr>
          <p:cNvPr id="4" name="promo card Starter"/>
          <p:cNvSpPr/>
          <p:nvPr/>
        </p:nvSpPr>
        <p:spPr>
          <a:xfrm>
            <a:off x="548640" y="1783080"/>
            <a:ext cx="2743200" cy="3657600"/>
          </a:xfrm>
          <a:prstGeom prst="roundRect">
            <a:avLst>
              <a:gd name="adj" fmla="val 4667"/>
            </a:avLst>
          </a:prstGeom>
          <a:solidFill>
            <a:srgbClr val="242320"/>
          </a:solidFill>
          <a:ln/>
        </p:spPr>
      </p:sp>
      <p:sp>
        <p:nvSpPr>
          <p:cNvPr id="5" name="Text 3"/>
          <p:cNvSpPr txBox="1"/>
          <p:nvPr/>
        </p:nvSpPr>
        <p:spPr>
          <a:xfrm>
            <a:off x="822960" y="2057400"/>
            <a:ext cx="1463040" cy="365760"/>
          </a:xfrm>
          <a:prstGeom prst="rect">
            <a:avLst/>
          </a:prstGeom>
          <a:noFill/>
          <a:ln/>
        </p:spPr>
        <p:txBody>
          <a:bodyPr wrap="square" lIns="0" tIns="0" rIns="0" bIns="0" rtlCol="0" anchor="t"/>
          <a:lstStyle/>
          <a:p>
            <a:pPr indent="0" marL="0">
              <a:buNone/>
            </a:pPr>
            <a:r>
              <a:rPr lang="en-US" sz="1800" b="1" dirty="0">
                <a:solidFill>
                  <a:srgbClr val="F3F1EA"/>
                </a:solidFill>
                <a:latin typeface="Arial" pitchFamily="34" charset="0"/>
                <a:ea typeface="Arial" pitchFamily="34" charset="-122"/>
                <a:cs typeface="Arial" pitchFamily="34" charset="-120"/>
              </a:rPr>
              <a:t>Starter</a:t>
            </a:r>
            <a:endParaRPr lang="en-US" sz="1800" dirty="0"/>
          </a:p>
        </p:txBody>
      </p:sp>
      <p:sp>
        <p:nvSpPr>
          <p:cNvPr id="6" name="save badge Starter"/>
          <p:cNvSpPr/>
          <p:nvPr/>
        </p:nvSpPr>
        <p:spPr>
          <a:xfrm>
            <a:off x="2286000" y="2057400"/>
            <a:ext cx="731520" cy="365760"/>
          </a:xfrm>
          <a:prstGeom prst="roundRect">
            <a:avLst>
              <a:gd name="adj" fmla="val 35000"/>
            </a:avLst>
          </a:prstGeom>
          <a:solidFill>
            <a:srgbClr val="7ED957"/>
          </a:solidFill>
          <a:ln/>
        </p:spPr>
      </p:sp>
      <p:sp>
        <p:nvSpPr>
          <p:cNvPr id="7" name="Text 5"/>
          <p:cNvSpPr txBox="1"/>
          <p:nvPr/>
        </p:nvSpPr>
        <p:spPr>
          <a:xfrm>
            <a:off x="2286000" y="2057400"/>
            <a:ext cx="731520" cy="365760"/>
          </a:xfrm>
          <a:prstGeom prst="rect">
            <a:avLst/>
          </a:prstGeom>
          <a:noFill/>
          <a:ln/>
        </p:spPr>
        <p:txBody>
          <a:bodyPr wrap="square" lIns="0" tIns="0" rIns="0" bIns="0" rtlCol="0" anchor="ctr"/>
          <a:lstStyle/>
          <a:p>
            <a:pPr algn="ctr" indent="0" marL="0">
              <a:buNone/>
            </a:pPr>
            <a:r>
              <a:rPr lang="en-US" sz="1400" b="1" dirty="0">
                <a:solidFill>
                  <a:srgbClr val="17160F"/>
                </a:solidFill>
              </a:rPr>
              <a:t>−34%</a:t>
            </a:r>
            <a:endParaRPr lang="en-US" sz="1400" dirty="0"/>
          </a:p>
        </p:txBody>
      </p:sp>
      <p:sp>
        <p:nvSpPr>
          <p:cNvPr id="8" name="Text 6"/>
          <p:cNvSpPr txBox="1"/>
          <p:nvPr/>
        </p:nvSpPr>
        <p:spPr>
          <a:xfrm>
            <a:off x="822960" y="2651760"/>
            <a:ext cx="2194560" cy="320040"/>
          </a:xfrm>
          <a:prstGeom prst="rect">
            <a:avLst/>
          </a:prstGeom>
          <a:noFill/>
          <a:ln/>
        </p:spPr>
        <p:txBody>
          <a:bodyPr wrap="square" lIns="0" tIns="0" rIns="0" bIns="0" rtlCol="0" anchor="t"/>
          <a:lstStyle/>
          <a:p>
            <a:pPr indent="0" marL="0">
              <a:buNone/>
            </a:pPr>
            <a:r>
              <a:rPr lang="en-US" sz="1400" strike="sngStrike" dirty="0">
                <a:solidFill>
                  <a:srgbClr val="B9B6AA"/>
                </a:solidFill>
              </a:rPr>
              <a:t>Rp149rb / bulan</a:t>
            </a:r>
            <a:endParaRPr lang="en-US" sz="1400" dirty="0"/>
          </a:p>
        </p:txBody>
      </p:sp>
      <p:sp>
        <p:nvSpPr>
          <p:cNvPr id="9" name="Text 7"/>
          <p:cNvSpPr txBox="1"/>
          <p:nvPr/>
        </p:nvSpPr>
        <p:spPr>
          <a:xfrm>
            <a:off x="822960" y="2971800"/>
            <a:ext cx="2377440" cy="685800"/>
          </a:xfrm>
          <a:prstGeom prst="rect">
            <a:avLst/>
          </a:prstGeom>
          <a:noFill/>
          <a:ln/>
        </p:spPr>
        <p:txBody>
          <a:bodyPr wrap="square" lIns="0" tIns="0" rIns="0" bIns="0" rtlCol="0" anchor="t"/>
          <a:lstStyle/>
          <a:p>
            <a:pPr indent="0" marL="0">
              <a:buNone/>
            </a:pPr>
            <a:r>
              <a:rPr lang="en-US" sz="3600" b="1" dirty="0">
                <a:solidFill>
                  <a:srgbClr val="F3F1EA"/>
                </a:solidFill>
                <a:latin typeface="Arial" pitchFamily="34" charset="0"/>
                <a:ea typeface="Arial" pitchFamily="34" charset="-122"/>
                <a:cs typeface="Arial" pitchFamily="34" charset="-120"/>
              </a:rPr>
              <a:t>Rp99rb</a:t>
            </a:r>
            <a:pPr indent="0" marL="0">
              <a:buNone/>
            </a:pPr>
            <a:r>
              <a:rPr lang="en-US" sz="1300" dirty="0">
                <a:solidFill>
                  <a:srgbClr val="B9B6AA"/>
                </a:solidFill>
                <a:latin typeface="Arial" pitchFamily="34" charset="0"/>
                <a:ea typeface="Arial" pitchFamily="34" charset="-122"/>
                <a:cs typeface="Arial" pitchFamily="34" charset="-120"/>
              </a:rPr>
              <a:t> / bulan</a:t>
            </a:r>
            <a:endParaRPr lang="en-US" sz="3600" dirty="0"/>
          </a:p>
        </p:txBody>
      </p:sp>
      <p:sp>
        <p:nvSpPr>
          <p:cNvPr id="10" name="promo rule 0"/>
          <p:cNvSpPr/>
          <p:nvPr/>
        </p:nvSpPr>
        <p:spPr>
          <a:xfrm>
            <a:off x="822960" y="3886200"/>
            <a:ext cx="2194560" cy="0"/>
          </a:xfrm>
          <a:prstGeom prst="line">
            <a:avLst/>
          </a:prstGeom>
          <a:noFill/>
          <a:ln w="12700">
            <a:solidFill>
              <a:srgbClr val="3A3933"/>
            </a:solidFill>
            <a:prstDash val="solid"/>
          </a:ln>
        </p:spPr>
      </p:sp>
      <p:sp>
        <p:nvSpPr>
          <p:cNvPr id="11" name="Text 9"/>
          <p:cNvSpPr txBox="1"/>
          <p:nvPr/>
        </p:nvSpPr>
        <p:spPr>
          <a:xfrm>
            <a:off x="822960" y="4069080"/>
            <a:ext cx="2194560" cy="822960"/>
          </a:xfrm>
          <a:prstGeom prst="rect">
            <a:avLst/>
          </a:prstGeom>
          <a:noFill/>
          <a:ln/>
        </p:spPr>
        <p:txBody>
          <a:bodyPr wrap="square" lIns="0" tIns="0" rIns="0" bIns="0" rtlCol="0" anchor="t"/>
          <a:lstStyle/>
          <a:p>
            <a:pPr indent="0" marL="0">
              <a:spcAft>
                <a:spcPts val="600"/>
              </a:spcAft>
              <a:buNone/>
            </a:pPr>
            <a:r>
              <a:rPr lang="en-US" sz="1500" dirty="0">
                <a:solidFill>
                  <a:srgbClr val="B9B6AA"/>
                </a:solidFill>
              </a:rPr>
              <a:t>3 bulan  </a:t>
            </a:r>
            <a:pPr indent="0" marL="0">
              <a:spcAft>
                <a:spcPts val="600"/>
              </a:spcAft>
              <a:buNone/>
            </a:pPr>
            <a:r>
              <a:rPr lang="en-US" sz="1500" b="1" dirty="0">
                <a:solidFill>
                  <a:srgbClr val="F3F1EA"/>
                </a:solidFill>
              </a:rPr>
              <a:t>Rp269rb</a:t>
            </a:r>
            <a:endParaRPr lang="en-US" sz="1500" dirty="0"/>
          </a:p>
          <a:p>
            <a:pPr indent="0" marL="0">
              <a:spcAft>
                <a:spcPts val="600"/>
              </a:spcAft>
              <a:buNone/>
            </a:pPr>
            <a:r>
              <a:rPr lang="en-US" sz="1500" dirty="0">
                <a:solidFill>
                  <a:srgbClr val="B9B6AA"/>
                </a:solidFill>
              </a:rPr>
              <a:t>12 bulan  </a:t>
            </a:r>
            <a:pPr indent="0" marL="0">
              <a:spcAft>
                <a:spcPts val="600"/>
              </a:spcAft>
              <a:buNone/>
            </a:pPr>
            <a:r>
              <a:rPr lang="en-US" sz="1500" b="1" dirty="0">
                <a:solidFill>
                  <a:srgbClr val="F3F1EA"/>
                </a:solidFill>
              </a:rPr>
              <a:t>Rp990rb</a:t>
            </a:r>
            <a:endParaRPr lang="en-US" sz="1500" dirty="0"/>
          </a:p>
        </p:txBody>
      </p:sp>
      <p:sp>
        <p:nvSpPr>
          <p:cNvPr id="12" name="promo card Pro"/>
          <p:cNvSpPr/>
          <p:nvPr/>
        </p:nvSpPr>
        <p:spPr>
          <a:xfrm>
            <a:off x="3474720" y="1783080"/>
            <a:ext cx="2743200" cy="3657600"/>
          </a:xfrm>
          <a:prstGeom prst="roundRect">
            <a:avLst>
              <a:gd name="adj" fmla="val 4667"/>
            </a:avLst>
          </a:prstGeom>
          <a:solidFill>
            <a:srgbClr val="7ED957"/>
          </a:solidFill>
          <a:ln/>
        </p:spPr>
      </p:sp>
      <p:sp>
        <p:nvSpPr>
          <p:cNvPr id="13" name="Text 11"/>
          <p:cNvSpPr txBox="1"/>
          <p:nvPr/>
        </p:nvSpPr>
        <p:spPr>
          <a:xfrm>
            <a:off x="3749040" y="2057400"/>
            <a:ext cx="1463040" cy="365760"/>
          </a:xfrm>
          <a:prstGeom prst="rect">
            <a:avLst/>
          </a:prstGeom>
          <a:noFill/>
          <a:ln/>
        </p:spPr>
        <p:txBody>
          <a:bodyPr wrap="square" lIns="0" tIns="0" rIns="0" bIns="0" rtlCol="0" anchor="t"/>
          <a:lstStyle/>
          <a:p>
            <a:pPr indent="0" marL="0">
              <a:buNone/>
            </a:pPr>
            <a:r>
              <a:rPr lang="en-US" sz="1800" b="1" dirty="0">
                <a:solidFill>
                  <a:srgbClr val="17160F"/>
                </a:solidFill>
                <a:latin typeface="Arial" pitchFamily="34" charset="0"/>
                <a:ea typeface="Arial" pitchFamily="34" charset="-122"/>
                <a:cs typeface="Arial" pitchFamily="34" charset="-120"/>
              </a:rPr>
              <a:t>Pro</a:t>
            </a:r>
            <a:endParaRPr lang="en-US" sz="1800" dirty="0"/>
          </a:p>
        </p:txBody>
      </p:sp>
      <p:sp>
        <p:nvSpPr>
          <p:cNvPr id="14" name="save badge Pro"/>
          <p:cNvSpPr/>
          <p:nvPr/>
        </p:nvSpPr>
        <p:spPr>
          <a:xfrm>
            <a:off x="5212080" y="2057400"/>
            <a:ext cx="731520" cy="365760"/>
          </a:xfrm>
          <a:prstGeom prst="roundRect">
            <a:avLst>
              <a:gd name="adj" fmla="val 35000"/>
            </a:avLst>
          </a:prstGeom>
          <a:solidFill>
            <a:srgbClr val="17160F"/>
          </a:solidFill>
          <a:ln/>
        </p:spPr>
      </p:sp>
      <p:sp>
        <p:nvSpPr>
          <p:cNvPr id="15" name="Text 13"/>
          <p:cNvSpPr txBox="1"/>
          <p:nvPr/>
        </p:nvSpPr>
        <p:spPr>
          <a:xfrm>
            <a:off x="5212080" y="2057400"/>
            <a:ext cx="731520" cy="365760"/>
          </a:xfrm>
          <a:prstGeom prst="rect">
            <a:avLst/>
          </a:prstGeom>
          <a:noFill/>
          <a:ln/>
        </p:spPr>
        <p:txBody>
          <a:bodyPr wrap="square" lIns="0" tIns="0" rIns="0" bIns="0" rtlCol="0" anchor="ctr"/>
          <a:lstStyle/>
          <a:p>
            <a:pPr algn="ctr" indent="0" marL="0">
              <a:buNone/>
            </a:pPr>
            <a:r>
              <a:rPr lang="en-US" sz="1400" b="1" dirty="0">
                <a:solidFill>
                  <a:srgbClr val="7ED957"/>
                </a:solidFill>
              </a:rPr>
              <a:t>−50%</a:t>
            </a:r>
            <a:endParaRPr lang="en-US" sz="1400" dirty="0"/>
          </a:p>
        </p:txBody>
      </p:sp>
      <p:sp>
        <p:nvSpPr>
          <p:cNvPr id="16" name="Text 14"/>
          <p:cNvSpPr txBox="1"/>
          <p:nvPr/>
        </p:nvSpPr>
        <p:spPr>
          <a:xfrm>
            <a:off x="3749040" y="2651760"/>
            <a:ext cx="2194560" cy="320040"/>
          </a:xfrm>
          <a:prstGeom prst="rect">
            <a:avLst/>
          </a:prstGeom>
          <a:noFill/>
          <a:ln/>
        </p:spPr>
        <p:txBody>
          <a:bodyPr wrap="square" lIns="0" tIns="0" rIns="0" bIns="0" rtlCol="0" anchor="t"/>
          <a:lstStyle/>
          <a:p>
            <a:pPr indent="0" marL="0">
              <a:buNone/>
            </a:pPr>
            <a:r>
              <a:rPr lang="en-US" sz="1400" strike="sngStrike" dirty="0">
                <a:solidFill>
                  <a:srgbClr val="2B6B22"/>
                </a:solidFill>
              </a:rPr>
              <a:t>Rp299rb / bulan</a:t>
            </a:r>
            <a:endParaRPr lang="en-US" sz="1400" dirty="0"/>
          </a:p>
        </p:txBody>
      </p:sp>
      <p:sp>
        <p:nvSpPr>
          <p:cNvPr id="17" name="Text 15"/>
          <p:cNvSpPr txBox="1"/>
          <p:nvPr/>
        </p:nvSpPr>
        <p:spPr>
          <a:xfrm>
            <a:off x="3749040" y="2971800"/>
            <a:ext cx="2377440" cy="685800"/>
          </a:xfrm>
          <a:prstGeom prst="rect">
            <a:avLst/>
          </a:prstGeom>
          <a:noFill/>
          <a:ln/>
        </p:spPr>
        <p:txBody>
          <a:bodyPr wrap="square" lIns="0" tIns="0" rIns="0" bIns="0" rtlCol="0" anchor="t"/>
          <a:lstStyle/>
          <a:p>
            <a:pPr indent="0" marL="0">
              <a:buNone/>
            </a:pPr>
            <a:r>
              <a:rPr lang="en-US" sz="3600" b="1" dirty="0">
                <a:solidFill>
                  <a:srgbClr val="17160F"/>
                </a:solidFill>
                <a:latin typeface="Arial" pitchFamily="34" charset="0"/>
                <a:ea typeface="Arial" pitchFamily="34" charset="-122"/>
                <a:cs typeface="Arial" pitchFamily="34" charset="-120"/>
              </a:rPr>
              <a:t>Rp149rb</a:t>
            </a:r>
            <a:pPr indent="0" marL="0">
              <a:buNone/>
            </a:pPr>
            <a:r>
              <a:rPr lang="en-US" sz="1300" dirty="0">
                <a:solidFill>
                  <a:srgbClr val="2B6B22"/>
                </a:solidFill>
                <a:latin typeface="Arial" pitchFamily="34" charset="0"/>
                <a:ea typeface="Arial" pitchFamily="34" charset="-122"/>
                <a:cs typeface="Arial" pitchFamily="34" charset="-120"/>
              </a:rPr>
              <a:t> / bulan</a:t>
            </a:r>
            <a:endParaRPr lang="en-US" sz="3600" dirty="0"/>
          </a:p>
        </p:txBody>
      </p:sp>
      <p:sp>
        <p:nvSpPr>
          <p:cNvPr id="18" name="promo rule 1"/>
          <p:cNvSpPr/>
          <p:nvPr/>
        </p:nvSpPr>
        <p:spPr>
          <a:xfrm>
            <a:off x="3749040" y="3886200"/>
            <a:ext cx="2194560" cy="0"/>
          </a:xfrm>
          <a:prstGeom prst="line">
            <a:avLst/>
          </a:prstGeom>
          <a:noFill/>
          <a:ln w="12700">
            <a:solidFill>
              <a:srgbClr val="367D2F"/>
            </a:solidFill>
            <a:prstDash val="solid"/>
          </a:ln>
        </p:spPr>
      </p:sp>
      <p:sp>
        <p:nvSpPr>
          <p:cNvPr id="19" name="Text 17"/>
          <p:cNvSpPr txBox="1"/>
          <p:nvPr/>
        </p:nvSpPr>
        <p:spPr>
          <a:xfrm>
            <a:off x="3749040" y="4069080"/>
            <a:ext cx="2194560" cy="822960"/>
          </a:xfrm>
          <a:prstGeom prst="rect">
            <a:avLst/>
          </a:prstGeom>
          <a:noFill/>
          <a:ln/>
        </p:spPr>
        <p:txBody>
          <a:bodyPr wrap="square" lIns="0" tIns="0" rIns="0" bIns="0" rtlCol="0" anchor="t"/>
          <a:lstStyle/>
          <a:p>
            <a:pPr indent="0" marL="0">
              <a:spcAft>
                <a:spcPts val="600"/>
              </a:spcAft>
              <a:buNone/>
            </a:pPr>
            <a:r>
              <a:rPr lang="en-US" sz="1500" dirty="0">
                <a:solidFill>
                  <a:srgbClr val="2B6B22"/>
                </a:solidFill>
              </a:rPr>
              <a:t>3 bulan  </a:t>
            </a:r>
            <a:pPr indent="0" marL="0">
              <a:spcAft>
                <a:spcPts val="600"/>
              </a:spcAft>
              <a:buNone/>
            </a:pPr>
            <a:r>
              <a:rPr lang="en-US" sz="1500" b="1" dirty="0">
                <a:solidFill>
                  <a:srgbClr val="17160F"/>
                </a:solidFill>
              </a:rPr>
              <a:t>Rp399rb</a:t>
            </a:r>
            <a:endParaRPr lang="en-US" sz="1500" dirty="0"/>
          </a:p>
          <a:p>
            <a:pPr indent="0" marL="0">
              <a:spcAft>
                <a:spcPts val="600"/>
              </a:spcAft>
              <a:buNone/>
            </a:pPr>
            <a:r>
              <a:rPr lang="en-US" sz="1500" dirty="0">
                <a:solidFill>
                  <a:srgbClr val="2B6B22"/>
                </a:solidFill>
              </a:rPr>
              <a:t>12 bulan  </a:t>
            </a:r>
            <a:pPr indent="0" marL="0">
              <a:spcAft>
                <a:spcPts val="600"/>
              </a:spcAft>
              <a:buNone/>
            </a:pPr>
            <a:r>
              <a:rPr lang="en-US" sz="1500" b="1" dirty="0">
                <a:solidFill>
                  <a:srgbClr val="17160F"/>
                </a:solidFill>
              </a:rPr>
              <a:t>Rp1,49 jt</a:t>
            </a:r>
            <a:endParaRPr lang="en-US" sz="1500" dirty="0"/>
          </a:p>
        </p:txBody>
      </p:sp>
      <p:sp>
        <p:nvSpPr>
          <p:cNvPr id="20" name="promo card Multi Klinik"/>
          <p:cNvSpPr/>
          <p:nvPr/>
        </p:nvSpPr>
        <p:spPr>
          <a:xfrm>
            <a:off x="6400800" y="1783080"/>
            <a:ext cx="2743200" cy="3657600"/>
          </a:xfrm>
          <a:prstGeom prst="roundRect">
            <a:avLst>
              <a:gd name="adj" fmla="val 4667"/>
            </a:avLst>
          </a:prstGeom>
          <a:solidFill>
            <a:srgbClr val="242320"/>
          </a:solidFill>
          <a:ln/>
        </p:spPr>
      </p:sp>
      <p:sp>
        <p:nvSpPr>
          <p:cNvPr id="21" name="Text 19"/>
          <p:cNvSpPr txBox="1"/>
          <p:nvPr/>
        </p:nvSpPr>
        <p:spPr>
          <a:xfrm>
            <a:off x="6675120" y="2057400"/>
            <a:ext cx="1463040" cy="365760"/>
          </a:xfrm>
          <a:prstGeom prst="rect">
            <a:avLst/>
          </a:prstGeom>
          <a:noFill/>
          <a:ln/>
        </p:spPr>
        <p:txBody>
          <a:bodyPr wrap="square" lIns="0" tIns="0" rIns="0" bIns="0" rtlCol="0" anchor="t"/>
          <a:lstStyle/>
          <a:p>
            <a:pPr indent="0" marL="0">
              <a:buNone/>
            </a:pPr>
            <a:r>
              <a:rPr lang="en-US" sz="1800" b="1" dirty="0">
                <a:solidFill>
                  <a:srgbClr val="F3F1EA"/>
                </a:solidFill>
                <a:latin typeface="Arial" pitchFamily="34" charset="0"/>
                <a:ea typeface="Arial" pitchFamily="34" charset="-122"/>
                <a:cs typeface="Arial" pitchFamily="34" charset="-120"/>
              </a:rPr>
              <a:t>Multi Klinik</a:t>
            </a:r>
            <a:endParaRPr lang="en-US" sz="1800" dirty="0"/>
          </a:p>
        </p:txBody>
      </p:sp>
      <p:sp>
        <p:nvSpPr>
          <p:cNvPr id="22" name="save badge Multi Klinik"/>
          <p:cNvSpPr/>
          <p:nvPr/>
        </p:nvSpPr>
        <p:spPr>
          <a:xfrm>
            <a:off x="8138160" y="2057400"/>
            <a:ext cx="731520" cy="365760"/>
          </a:xfrm>
          <a:prstGeom prst="roundRect">
            <a:avLst>
              <a:gd name="adj" fmla="val 35000"/>
            </a:avLst>
          </a:prstGeom>
          <a:solidFill>
            <a:srgbClr val="7ED957"/>
          </a:solidFill>
          <a:ln/>
        </p:spPr>
      </p:sp>
      <p:sp>
        <p:nvSpPr>
          <p:cNvPr id="23" name="Text 21"/>
          <p:cNvSpPr txBox="1"/>
          <p:nvPr/>
        </p:nvSpPr>
        <p:spPr>
          <a:xfrm>
            <a:off x="8138160" y="2057400"/>
            <a:ext cx="731520" cy="365760"/>
          </a:xfrm>
          <a:prstGeom prst="rect">
            <a:avLst/>
          </a:prstGeom>
          <a:noFill/>
          <a:ln/>
        </p:spPr>
        <p:txBody>
          <a:bodyPr wrap="square" lIns="0" tIns="0" rIns="0" bIns="0" rtlCol="0" anchor="ctr"/>
          <a:lstStyle/>
          <a:p>
            <a:pPr algn="ctr" indent="0" marL="0">
              <a:buNone/>
            </a:pPr>
            <a:r>
              <a:rPr lang="en-US" sz="1400" b="1" dirty="0">
                <a:solidFill>
                  <a:srgbClr val="17160F"/>
                </a:solidFill>
              </a:rPr>
              <a:t>−40%</a:t>
            </a:r>
            <a:endParaRPr lang="en-US" sz="1400" dirty="0"/>
          </a:p>
        </p:txBody>
      </p:sp>
      <p:sp>
        <p:nvSpPr>
          <p:cNvPr id="24" name="Text 22"/>
          <p:cNvSpPr txBox="1"/>
          <p:nvPr/>
        </p:nvSpPr>
        <p:spPr>
          <a:xfrm>
            <a:off x="6675120" y="2651760"/>
            <a:ext cx="2194560" cy="320040"/>
          </a:xfrm>
          <a:prstGeom prst="rect">
            <a:avLst/>
          </a:prstGeom>
          <a:noFill/>
          <a:ln/>
        </p:spPr>
        <p:txBody>
          <a:bodyPr wrap="square" lIns="0" tIns="0" rIns="0" bIns="0" rtlCol="0" anchor="t"/>
          <a:lstStyle/>
          <a:p>
            <a:pPr indent="0" marL="0">
              <a:buNone/>
            </a:pPr>
            <a:r>
              <a:rPr lang="en-US" sz="1400" strike="sngStrike" dirty="0">
                <a:solidFill>
                  <a:srgbClr val="B9B6AA"/>
                </a:solidFill>
              </a:rPr>
              <a:t>Rp249rb / bulan</a:t>
            </a:r>
            <a:endParaRPr lang="en-US" sz="1400" dirty="0"/>
          </a:p>
        </p:txBody>
      </p:sp>
      <p:sp>
        <p:nvSpPr>
          <p:cNvPr id="25" name="Text 23"/>
          <p:cNvSpPr txBox="1"/>
          <p:nvPr/>
        </p:nvSpPr>
        <p:spPr>
          <a:xfrm>
            <a:off x="6675120" y="2971800"/>
            <a:ext cx="2377440" cy="685800"/>
          </a:xfrm>
          <a:prstGeom prst="rect">
            <a:avLst/>
          </a:prstGeom>
          <a:noFill/>
          <a:ln/>
        </p:spPr>
        <p:txBody>
          <a:bodyPr wrap="square" lIns="0" tIns="0" rIns="0" bIns="0" rtlCol="0" anchor="t"/>
          <a:lstStyle/>
          <a:p>
            <a:pPr indent="0" marL="0">
              <a:buNone/>
            </a:pPr>
            <a:r>
              <a:rPr lang="en-US" sz="3600" b="1" dirty="0">
                <a:solidFill>
                  <a:srgbClr val="F3F1EA"/>
                </a:solidFill>
                <a:latin typeface="Arial" pitchFamily="34" charset="0"/>
                <a:ea typeface="Arial" pitchFamily="34" charset="-122"/>
                <a:cs typeface="Arial" pitchFamily="34" charset="-120"/>
              </a:rPr>
              <a:t>Rp149rb</a:t>
            </a:r>
            <a:pPr indent="0" marL="0">
              <a:buNone/>
            </a:pPr>
            <a:r>
              <a:rPr lang="en-US" sz="1300" dirty="0">
                <a:solidFill>
                  <a:srgbClr val="B9B6AA"/>
                </a:solidFill>
                <a:latin typeface="Arial" pitchFamily="34" charset="0"/>
                <a:ea typeface="Arial" pitchFamily="34" charset="-122"/>
                <a:cs typeface="Arial" pitchFamily="34" charset="-120"/>
              </a:rPr>
              <a:t> / klinik</a:t>
            </a:r>
            <a:endParaRPr lang="en-US" sz="3600" dirty="0"/>
          </a:p>
        </p:txBody>
      </p:sp>
      <p:sp>
        <p:nvSpPr>
          <p:cNvPr id="26" name="promo rule 2"/>
          <p:cNvSpPr/>
          <p:nvPr/>
        </p:nvSpPr>
        <p:spPr>
          <a:xfrm>
            <a:off x="6675120" y="3886200"/>
            <a:ext cx="2194560" cy="0"/>
          </a:xfrm>
          <a:prstGeom prst="line">
            <a:avLst/>
          </a:prstGeom>
          <a:noFill/>
          <a:ln w="12700">
            <a:solidFill>
              <a:srgbClr val="3A3933"/>
            </a:solidFill>
            <a:prstDash val="solid"/>
          </a:ln>
        </p:spPr>
      </p:sp>
      <p:sp>
        <p:nvSpPr>
          <p:cNvPr id="27" name="Text 25"/>
          <p:cNvSpPr txBox="1"/>
          <p:nvPr/>
        </p:nvSpPr>
        <p:spPr>
          <a:xfrm>
            <a:off x="6675120" y="4069080"/>
            <a:ext cx="2194560" cy="822960"/>
          </a:xfrm>
          <a:prstGeom prst="rect">
            <a:avLst/>
          </a:prstGeom>
          <a:noFill/>
          <a:ln/>
        </p:spPr>
        <p:txBody>
          <a:bodyPr wrap="square" lIns="0" tIns="0" rIns="0" bIns="0" rtlCol="0" anchor="t"/>
          <a:lstStyle/>
          <a:p>
            <a:pPr indent="0" marL="0">
              <a:spcAft>
                <a:spcPts val="600"/>
              </a:spcAft>
              <a:buNone/>
            </a:pPr>
            <a:r>
              <a:rPr lang="en-US" sz="1500" dirty="0">
                <a:solidFill>
                  <a:srgbClr val="B9B6AA"/>
                </a:solidFill>
              </a:rPr>
              <a:t>3 bulan  </a:t>
            </a:r>
            <a:pPr indent="0" marL="0">
              <a:spcAft>
                <a:spcPts val="600"/>
              </a:spcAft>
              <a:buNone/>
            </a:pPr>
            <a:r>
              <a:rPr lang="en-US" sz="1500" b="1" dirty="0">
                <a:solidFill>
                  <a:srgbClr val="F3F1EA"/>
                </a:solidFill>
              </a:rPr>
              <a:t>Rp399rb</a:t>
            </a:r>
            <a:endParaRPr lang="en-US" sz="1500" dirty="0"/>
          </a:p>
          <a:p>
            <a:pPr indent="0" marL="0">
              <a:spcAft>
                <a:spcPts val="600"/>
              </a:spcAft>
              <a:buNone/>
            </a:pPr>
            <a:r>
              <a:rPr lang="en-US" sz="1500" dirty="0">
                <a:solidFill>
                  <a:srgbClr val="B9B6AA"/>
                </a:solidFill>
              </a:rPr>
              <a:t>12 bulan  </a:t>
            </a:r>
            <a:pPr indent="0" marL="0">
              <a:spcAft>
                <a:spcPts val="600"/>
              </a:spcAft>
              <a:buNone/>
            </a:pPr>
            <a:r>
              <a:rPr lang="en-US" sz="1500" b="1" dirty="0">
                <a:solidFill>
                  <a:srgbClr val="F3F1EA"/>
                </a:solidFill>
              </a:rPr>
              <a:t>Rp1,49 jt</a:t>
            </a:r>
            <a:endParaRPr lang="en-US" sz="1500" dirty="0"/>
          </a:p>
        </p:txBody>
      </p:sp>
      <p:sp>
        <p:nvSpPr>
          <p:cNvPr id="28" name="Text 26"/>
          <p:cNvSpPr txBox="1"/>
          <p:nvPr/>
        </p:nvSpPr>
        <p:spPr>
          <a:xfrm>
            <a:off x="6675120" y="4892040"/>
            <a:ext cx="2194560" cy="320040"/>
          </a:xfrm>
          <a:prstGeom prst="rect">
            <a:avLst/>
          </a:prstGeom>
          <a:noFill/>
          <a:ln/>
        </p:spPr>
        <p:txBody>
          <a:bodyPr wrap="square" lIns="0" tIns="0" rIns="0" bIns="0" rtlCol="0" anchor="t"/>
          <a:lstStyle/>
          <a:p>
            <a:pPr indent="0" marL="0">
              <a:buNone/>
            </a:pPr>
            <a:r>
              <a:rPr lang="en-US" sz="1300" i="1" dirty="0">
                <a:solidFill>
                  <a:srgbClr val="B9B6AA"/>
                </a:solidFill>
              </a:rPr>
              <a:t>+ Rp99rb admin owner</a:t>
            </a:r>
            <a:endParaRPr lang="en-US" sz="1300" dirty="0"/>
          </a:p>
        </p:txBody>
      </p:sp>
      <p:sp>
        <p:nvSpPr>
          <p:cNvPr id="29" name="why icon 1 bg"/>
          <p:cNvSpPr/>
          <p:nvPr/>
        </p:nvSpPr>
        <p:spPr>
          <a:xfrm>
            <a:off x="9418320" y="1783080"/>
            <a:ext cx="502920" cy="502920"/>
          </a:xfrm>
          <a:prstGeom prst="ellipse">
            <a:avLst/>
          </a:prstGeom>
          <a:solidFill>
            <a:srgbClr val="242320"/>
          </a:solidFill>
          <a:ln/>
        </p:spPr>
      </p:sp>
      <p:pic>
        <p:nvPicPr>
          <p:cNvPr id="30" name="why icon 1" descr="Ikon">    </p:cNvPr>
          <p:cNvPicPr>
            <a:picLocks noChangeAspect="1"/>
          </p:cNvPicPr>
          <p:nvPr/>
        </p:nvPicPr>
        <p:blipFill>
          <a:blip r:embed="rId1"/>
          <a:stretch>
            <a:fillRect/>
          </a:stretch>
        </p:blipFill>
        <p:spPr>
          <a:xfrm>
            <a:off x="9544050" y="1908810"/>
            <a:ext cx="251460" cy="251460"/>
          </a:xfrm>
          <a:prstGeom prst="rect">
            <a:avLst/>
          </a:prstGeom>
        </p:spPr>
      </p:pic>
      <p:sp>
        <p:nvSpPr>
          <p:cNvPr id="31" name="Text 28"/>
          <p:cNvSpPr txBox="1"/>
          <p:nvPr/>
        </p:nvSpPr>
        <p:spPr>
          <a:xfrm>
            <a:off x="10058400" y="1783080"/>
            <a:ext cx="1645920" cy="365760"/>
          </a:xfrm>
          <a:prstGeom prst="rect">
            <a:avLst/>
          </a:prstGeom>
          <a:noFill/>
          <a:ln/>
        </p:spPr>
        <p:txBody>
          <a:bodyPr wrap="square" lIns="0" tIns="0" rIns="0" bIns="0" rtlCol="0" anchor="t"/>
          <a:lstStyle/>
          <a:p>
            <a:pPr indent="0" marL="0">
              <a:buNone/>
            </a:pPr>
            <a:r>
              <a:rPr lang="en-US" sz="1500" b="1" dirty="0">
                <a:solidFill>
                  <a:srgbClr val="F3F1EA"/>
                </a:solidFill>
              </a:rPr>
              <a:t>Urgensi nyata</a:t>
            </a:r>
            <a:endParaRPr lang="en-US" sz="1500" dirty="0"/>
          </a:p>
        </p:txBody>
      </p:sp>
      <p:sp>
        <p:nvSpPr>
          <p:cNvPr id="32" name="Text 29"/>
          <p:cNvSpPr txBox="1"/>
          <p:nvPr/>
        </p:nvSpPr>
        <p:spPr>
          <a:xfrm>
            <a:off x="10058400" y="2148840"/>
            <a:ext cx="1645920" cy="868680"/>
          </a:xfrm>
          <a:prstGeom prst="rect">
            <a:avLst/>
          </a:prstGeom>
          <a:noFill/>
          <a:ln/>
        </p:spPr>
        <p:txBody>
          <a:bodyPr wrap="square" lIns="0" tIns="0" rIns="0" bIns="0" rtlCol="0" anchor="t"/>
          <a:lstStyle/>
          <a:p>
            <a:pPr indent="0" marL="0">
              <a:buNone/>
            </a:pPr>
            <a:r>
              <a:rPr lang="en-US" sz="1200" dirty="0">
                <a:solidFill>
                  <a:srgbClr val="B9B6AA"/>
                </a:solidFill>
              </a:rPr>
              <a:t>Tenggat 1 Januari 2027 mendorong klinik memutuskan lebih cepat.</a:t>
            </a:r>
            <a:endParaRPr lang="en-US" sz="1200" dirty="0"/>
          </a:p>
        </p:txBody>
      </p:sp>
      <p:sp>
        <p:nvSpPr>
          <p:cNvPr id="33" name="why icon 2 bg"/>
          <p:cNvSpPr/>
          <p:nvPr/>
        </p:nvSpPr>
        <p:spPr>
          <a:xfrm>
            <a:off x="9418320" y="3044952"/>
            <a:ext cx="502920" cy="502920"/>
          </a:xfrm>
          <a:prstGeom prst="ellipse">
            <a:avLst/>
          </a:prstGeom>
          <a:solidFill>
            <a:srgbClr val="242320"/>
          </a:solidFill>
          <a:ln/>
        </p:spPr>
      </p:sp>
      <p:pic>
        <p:nvPicPr>
          <p:cNvPr id="34" name="why icon 2" descr="Ikon">    </p:cNvPr>
          <p:cNvPicPr>
            <a:picLocks noChangeAspect="1"/>
          </p:cNvPicPr>
          <p:nvPr/>
        </p:nvPicPr>
        <p:blipFill>
          <a:blip r:embed="rId2"/>
          <a:stretch>
            <a:fillRect/>
          </a:stretch>
        </p:blipFill>
        <p:spPr>
          <a:xfrm>
            <a:off x="9544050" y="3170682"/>
            <a:ext cx="251460" cy="251460"/>
          </a:xfrm>
          <a:prstGeom prst="rect">
            <a:avLst/>
          </a:prstGeom>
        </p:spPr>
      </p:pic>
      <p:sp>
        <p:nvSpPr>
          <p:cNvPr id="35" name="Text 31"/>
          <p:cNvSpPr txBox="1"/>
          <p:nvPr/>
        </p:nvSpPr>
        <p:spPr>
          <a:xfrm>
            <a:off x="10058400" y="3044952"/>
            <a:ext cx="1645920" cy="365760"/>
          </a:xfrm>
          <a:prstGeom prst="rect">
            <a:avLst/>
          </a:prstGeom>
          <a:noFill/>
          <a:ln/>
        </p:spPr>
        <p:txBody>
          <a:bodyPr wrap="square" lIns="0" tIns="0" rIns="0" bIns="0" rtlCol="0" anchor="t"/>
          <a:lstStyle/>
          <a:p>
            <a:pPr indent="0" marL="0">
              <a:buNone/>
            </a:pPr>
            <a:r>
              <a:rPr lang="en-US" sz="1500" b="1" dirty="0">
                <a:solidFill>
                  <a:srgbClr val="F3F1EA"/>
                </a:solidFill>
              </a:rPr>
              <a:t>Early adopter</a:t>
            </a:r>
            <a:endParaRPr lang="en-US" sz="1500" dirty="0"/>
          </a:p>
        </p:txBody>
      </p:sp>
      <p:sp>
        <p:nvSpPr>
          <p:cNvPr id="36" name="Text 32"/>
          <p:cNvSpPr txBox="1"/>
          <p:nvPr/>
        </p:nvSpPr>
        <p:spPr>
          <a:xfrm>
            <a:off x="10058400" y="3410712"/>
            <a:ext cx="1645920" cy="868680"/>
          </a:xfrm>
          <a:prstGeom prst="rect">
            <a:avLst/>
          </a:prstGeom>
          <a:noFill/>
          <a:ln/>
        </p:spPr>
        <p:txBody>
          <a:bodyPr wrap="square" lIns="0" tIns="0" rIns="0" bIns="0" rtlCol="0" anchor="t"/>
          <a:lstStyle/>
          <a:p>
            <a:pPr indent="0" marL="0">
              <a:buNone/>
            </a:pPr>
            <a:r>
              <a:rPr lang="en-US" sz="1200" dirty="0">
                <a:solidFill>
                  <a:srgbClr val="B9B6AA"/>
                </a:solidFill>
              </a:rPr>
              <a:t>Klinik pertama jadi studi kasus &amp; sumber referral.</a:t>
            </a:r>
            <a:endParaRPr lang="en-US" sz="1200" dirty="0"/>
          </a:p>
        </p:txBody>
      </p:sp>
      <p:sp>
        <p:nvSpPr>
          <p:cNvPr id="37" name="why icon 3 bg"/>
          <p:cNvSpPr/>
          <p:nvPr/>
        </p:nvSpPr>
        <p:spPr>
          <a:xfrm>
            <a:off x="9418320" y="4306824"/>
            <a:ext cx="502920" cy="502920"/>
          </a:xfrm>
          <a:prstGeom prst="ellipse">
            <a:avLst/>
          </a:prstGeom>
          <a:solidFill>
            <a:srgbClr val="242320"/>
          </a:solidFill>
          <a:ln/>
        </p:spPr>
      </p:sp>
      <p:pic>
        <p:nvPicPr>
          <p:cNvPr id="38" name="why icon 3" descr="Ikon">    </p:cNvPr>
          <p:cNvPicPr>
            <a:picLocks noChangeAspect="1"/>
          </p:cNvPicPr>
          <p:nvPr/>
        </p:nvPicPr>
        <p:blipFill>
          <a:blip r:embed="rId3"/>
          <a:stretch>
            <a:fillRect/>
          </a:stretch>
        </p:blipFill>
        <p:spPr>
          <a:xfrm>
            <a:off x="9544050" y="4432554"/>
            <a:ext cx="251460" cy="251460"/>
          </a:xfrm>
          <a:prstGeom prst="rect">
            <a:avLst/>
          </a:prstGeom>
        </p:spPr>
      </p:pic>
      <p:sp>
        <p:nvSpPr>
          <p:cNvPr id="39" name="Text 34"/>
          <p:cNvSpPr txBox="1"/>
          <p:nvPr/>
        </p:nvSpPr>
        <p:spPr>
          <a:xfrm>
            <a:off x="10058400" y="4306824"/>
            <a:ext cx="1645920" cy="365760"/>
          </a:xfrm>
          <a:prstGeom prst="rect">
            <a:avLst/>
          </a:prstGeom>
          <a:noFill/>
          <a:ln/>
        </p:spPr>
        <p:txBody>
          <a:bodyPr wrap="square" lIns="0" tIns="0" rIns="0" bIns="0" rtlCol="0" anchor="t"/>
          <a:lstStyle/>
          <a:p>
            <a:pPr indent="0" marL="0">
              <a:buNone/>
            </a:pPr>
            <a:r>
              <a:rPr lang="en-US" sz="1500" b="1" dirty="0">
                <a:solidFill>
                  <a:srgbClr val="F3F1EA"/>
                </a:solidFill>
              </a:rPr>
              <a:t>Naik otomatis</a:t>
            </a:r>
            <a:endParaRPr lang="en-US" sz="1500" dirty="0"/>
          </a:p>
        </p:txBody>
      </p:sp>
      <p:sp>
        <p:nvSpPr>
          <p:cNvPr id="40" name="Text 35"/>
          <p:cNvSpPr txBox="1"/>
          <p:nvPr/>
        </p:nvSpPr>
        <p:spPr>
          <a:xfrm>
            <a:off x="10058400" y="4672584"/>
            <a:ext cx="1645920" cy="868680"/>
          </a:xfrm>
          <a:prstGeom prst="rect">
            <a:avLst/>
          </a:prstGeom>
          <a:noFill/>
          <a:ln/>
        </p:spPr>
        <p:txBody>
          <a:bodyPr wrap="square" lIns="0" tIns="0" rIns="0" bIns="0" rtlCol="0" anchor="t"/>
          <a:lstStyle/>
          <a:p>
            <a:pPr indent="0" marL="0">
              <a:buNone/>
            </a:pPr>
            <a:r>
              <a:rPr lang="en-US" sz="1200" dirty="0">
                <a:solidFill>
                  <a:srgbClr val="B9B6AA"/>
                </a:solidFill>
              </a:rPr>
              <a:t>Mulai 2027 ARPU naik ± 2x tanpa mengubah produk.</a:t>
            </a:r>
            <a:endParaRPr lang="en-US" sz="1200" dirty="0"/>
          </a:p>
        </p:txBody>
      </p:sp>
      <p:sp>
        <p:nvSpPr>
          <p:cNvPr id="41" name="Text 36"/>
          <p:cNvSpPr txBox="1"/>
          <p:nvPr/>
        </p:nvSpPr>
        <p:spPr>
          <a:xfrm>
            <a:off x="548640" y="5669280"/>
            <a:ext cx="8595360" cy="365760"/>
          </a:xfrm>
          <a:prstGeom prst="rect">
            <a:avLst/>
          </a:prstGeom>
          <a:noFill/>
          <a:ln/>
        </p:spPr>
        <p:txBody>
          <a:bodyPr wrap="square" lIns="0" tIns="0" rIns="0" bIns="0" rtlCol="0" anchor="t"/>
          <a:lstStyle/>
          <a:p>
            <a:pPr indent="0" marL="0">
              <a:buNone/>
            </a:pPr>
            <a:r>
              <a:rPr lang="en-US" sz="1300" i="1" dirty="0">
                <a:solidFill>
                  <a:srgbClr val="B9B6AA"/>
                </a:solidFill>
              </a:rPr>
              <a:t>Berlaku untuk pendaftaran &amp; perpanjangan hingga 31 Desember 2026. Mulai 1 Januari 2027 berlaku harga baru.</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B6A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LAYANAN TAMBAHAN</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Di luar langganan: website klinik &amp; layanan custom</a:t>
            </a:r>
            <a:endParaRPr lang="en-US" sz="3200" dirty="0"/>
          </a:p>
        </p:txBody>
      </p:sp>
      <p:sp>
        <p:nvSpPr>
          <p:cNvPr id="4" name="website hero"/>
          <p:cNvSpPr/>
          <p:nvPr/>
        </p:nvSpPr>
        <p:spPr>
          <a:xfrm>
            <a:off x="548640" y="1783080"/>
            <a:ext cx="6035040" cy="4206240"/>
          </a:xfrm>
          <a:prstGeom prst="roundRect">
            <a:avLst>
              <a:gd name="adj" fmla="val 3043"/>
            </a:avLst>
          </a:prstGeom>
          <a:solidFill>
            <a:srgbClr val="17160F"/>
          </a:solidFill>
          <a:ln/>
        </p:spPr>
      </p:sp>
      <p:sp>
        <p:nvSpPr>
          <p:cNvPr id="5" name="website icon bg"/>
          <p:cNvSpPr/>
          <p:nvPr/>
        </p:nvSpPr>
        <p:spPr>
          <a:xfrm>
            <a:off x="868680" y="2103120"/>
            <a:ext cx="731520" cy="731520"/>
          </a:xfrm>
          <a:prstGeom prst="ellipse">
            <a:avLst/>
          </a:prstGeom>
          <a:solidFill>
            <a:srgbClr val="7ED957"/>
          </a:solidFill>
          <a:ln/>
        </p:spPr>
      </p:sp>
      <p:pic>
        <p:nvPicPr>
          <p:cNvPr id="6" name="website icon" descr="Ikon">    </p:cNvPr>
          <p:cNvPicPr>
            <a:picLocks noChangeAspect="1"/>
          </p:cNvPicPr>
          <p:nvPr/>
        </p:nvPicPr>
        <p:blipFill>
          <a:blip r:embed="rId1"/>
          <a:stretch>
            <a:fillRect/>
          </a:stretch>
        </p:blipFill>
        <p:spPr>
          <a:xfrm>
            <a:off x="1051560" y="2286000"/>
            <a:ext cx="365760" cy="365760"/>
          </a:xfrm>
          <a:prstGeom prst="rect">
            <a:avLst/>
          </a:prstGeom>
        </p:spPr>
      </p:pic>
      <p:sp>
        <p:nvSpPr>
          <p:cNvPr id="7" name="Text 4"/>
          <p:cNvSpPr txBox="1"/>
          <p:nvPr/>
        </p:nvSpPr>
        <p:spPr>
          <a:xfrm>
            <a:off x="868680" y="3017520"/>
            <a:ext cx="5486400" cy="457200"/>
          </a:xfrm>
          <a:prstGeom prst="rect">
            <a:avLst/>
          </a:prstGeom>
          <a:noFill/>
          <a:ln/>
        </p:spPr>
        <p:txBody>
          <a:bodyPr wrap="square" lIns="0" tIns="0" rIns="0" bIns="0" rtlCol="0" anchor="t"/>
          <a:lstStyle/>
          <a:p>
            <a:pPr indent="0" marL="0">
              <a:buNone/>
            </a:pPr>
            <a:r>
              <a:rPr lang="en-US" sz="2200" b="1" dirty="0">
                <a:solidFill>
                  <a:srgbClr val="F3F1EA"/>
                </a:solidFill>
                <a:latin typeface="Arial" pitchFamily="34" charset="0"/>
                <a:ea typeface="Arial" pitchFamily="34" charset="-122"/>
                <a:cs typeface="Arial" pitchFamily="34" charset="-120"/>
              </a:rPr>
              <a:t>Pembuatan Landing Page Klinik</a:t>
            </a:r>
            <a:endParaRPr lang="en-US" sz="2200" dirty="0"/>
          </a:p>
        </p:txBody>
      </p:sp>
      <p:sp>
        <p:nvSpPr>
          <p:cNvPr id="8" name="Text 5"/>
          <p:cNvSpPr txBox="1"/>
          <p:nvPr/>
        </p:nvSpPr>
        <p:spPr>
          <a:xfrm>
            <a:off x="868680" y="3520440"/>
            <a:ext cx="5486400" cy="777240"/>
          </a:xfrm>
          <a:prstGeom prst="rect">
            <a:avLst/>
          </a:prstGeom>
          <a:noFill/>
          <a:ln/>
        </p:spPr>
        <p:txBody>
          <a:bodyPr wrap="square" lIns="0" tIns="0" rIns="0" bIns="0" rtlCol="0" anchor="t"/>
          <a:lstStyle/>
          <a:p>
            <a:pPr indent="0" marL="0">
              <a:buNone/>
            </a:pPr>
            <a:r>
              <a:rPr lang="en-US" sz="1600" dirty="0">
                <a:solidFill>
                  <a:srgbClr val="B9B6AA"/>
                </a:solidFill>
                <a:latin typeface="Arial" pitchFamily="34" charset="0"/>
                <a:ea typeface="Arial" pitchFamily="34" charset="-122"/>
                <a:cs typeface="Arial" pitchFamily="34" charset="-120"/>
              </a:rPr>
              <a:t>Mulai </a:t>
            </a:r>
            <a:pPr indent="0" marL="0">
              <a:buNone/>
            </a:pPr>
            <a:r>
              <a:rPr lang="en-US" sz="4000" b="1" dirty="0">
                <a:solidFill>
                  <a:srgbClr val="7ED957"/>
                </a:solidFill>
                <a:latin typeface="Arial" pitchFamily="34" charset="0"/>
                <a:ea typeface="Arial" pitchFamily="34" charset="-122"/>
                <a:cs typeface="Arial" pitchFamily="34" charset="-120"/>
              </a:rPr>
              <a:t>Rp1 jt</a:t>
            </a:r>
            <a:pPr indent="0" marL="0">
              <a:buNone/>
            </a:pPr>
            <a:r>
              <a:rPr lang="en-US" sz="1600" dirty="0">
                <a:solidFill>
                  <a:srgbClr val="B9B6AA"/>
                </a:solidFill>
                <a:latin typeface="Arial" pitchFamily="34" charset="0"/>
                <a:ea typeface="Arial" pitchFamily="34" charset="-122"/>
                <a:cs typeface="Arial" pitchFamily="34" charset="-120"/>
              </a:rPr>
              <a:t>  harga custom</a:t>
            </a:r>
            <a:endParaRPr lang="en-US" sz="1600" dirty="0"/>
          </a:p>
        </p:txBody>
      </p:sp>
      <p:sp>
        <p:nvSpPr>
          <p:cNvPr id="9" name="Text 6"/>
          <p:cNvSpPr txBox="1"/>
          <p:nvPr/>
        </p:nvSpPr>
        <p:spPr>
          <a:xfrm>
            <a:off x="868680" y="4389120"/>
            <a:ext cx="54864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3F1EA"/>
                </a:solidFill>
              </a:rPr>
              <a:t>Desain sesuai identitas klinik</a:t>
            </a:r>
            <a:endParaRPr lang="en-US" sz="1400" dirty="0"/>
          </a:p>
          <a:p>
            <a:pPr marL="342900" indent="-342900">
              <a:spcAft>
                <a:spcPts val="400"/>
              </a:spcAft>
              <a:buSzPct val="100000"/>
              <a:buChar char="•"/>
            </a:pPr>
            <a:r>
              <a:rPr lang="en-US" sz="1400" dirty="0">
                <a:solidFill>
                  <a:srgbClr val="F3F1EA"/>
                </a:solidFill>
              </a:rPr>
              <a:t>Jadwal dokter &amp; reservasi online tersinkron lewat API ApexRecord</a:t>
            </a:r>
            <a:endParaRPr lang="en-US" sz="1400" dirty="0"/>
          </a:p>
          <a:p>
            <a:pPr marL="342900" indent="-342900">
              <a:spcAft>
                <a:spcPts val="400"/>
              </a:spcAft>
              <a:buSzPct val="100000"/>
              <a:buChar char="•"/>
            </a:pPr>
            <a:r>
              <a:rPr lang="en-US" sz="1400" dirty="0">
                <a:solidFill>
                  <a:srgbClr val="F3F1EA"/>
                </a:solidFill>
              </a:rPr>
              <a:t>Harga final setelah konsultasi kebutuhan</a:t>
            </a:r>
            <a:endParaRPr lang="en-US" sz="1400" dirty="0"/>
          </a:p>
        </p:txBody>
      </p:sp>
      <p:sp>
        <p:nvSpPr>
          <p:cNvPr id="10" name="wa cta"/>
          <p:cNvSpPr/>
          <p:nvPr/>
        </p:nvSpPr>
        <p:spPr>
          <a:xfrm>
            <a:off x="868680" y="5440680"/>
            <a:ext cx="3291840" cy="411480"/>
          </a:xfrm>
          <a:prstGeom prst="roundRect">
            <a:avLst>
              <a:gd name="adj" fmla="val 31111"/>
            </a:avLst>
          </a:prstGeom>
          <a:solidFill>
            <a:srgbClr val="7ED957"/>
          </a:solidFill>
          <a:ln/>
        </p:spPr>
      </p:sp>
      <p:pic>
        <p:nvPicPr>
          <p:cNvPr id="11" name="wa icon" descr="Ikon">    </p:cNvPr>
          <p:cNvPicPr>
            <a:picLocks noChangeAspect="1"/>
          </p:cNvPicPr>
          <p:nvPr/>
        </p:nvPicPr>
        <p:blipFill>
          <a:blip r:embed="rId2"/>
          <a:stretch>
            <a:fillRect/>
          </a:stretch>
        </p:blipFill>
        <p:spPr>
          <a:xfrm>
            <a:off x="1005840" y="5513832"/>
            <a:ext cx="274320" cy="274320"/>
          </a:xfrm>
          <a:prstGeom prst="rect">
            <a:avLst/>
          </a:prstGeom>
        </p:spPr>
      </p:pic>
      <p:sp>
        <p:nvSpPr>
          <p:cNvPr id="12" name="Text 8"/>
          <p:cNvSpPr txBox="1"/>
          <p:nvPr/>
        </p:nvSpPr>
        <p:spPr>
          <a:xfrm>
            <a:off x="1371600" y="5440680"/>
            <a:ext cx="2743200" cy="411480"/>
          </a:xfrm>
          <a:prstGeom prst="rect">
            <a:avLst/>
          </a:prstGeom>
          <a:noFill/>
          <a:ln/>
        </p:spPr>
        <p:txBody>
          <a:bodyPr wrap="square" lIns="0" tIns="0" rIns="0" bIns="0" rtlCol="0" anchor="ctr"/>
          <a:lstStyle/>
          <a:p>
            <a:pPr indent="0" marL="0">
              <a:buNone/>
            </a:pPr>
            <a:r>
              <a:rPr lang="en-US" sz="1300" b="1" dirty="0">
                <a:solidFill>
                  <a:srgbClr val="17160F"/>
                </a:solidFill>
              </a:rPr>
              <a:t>Chat admin: 0823-8769-6487</a:t>
            </a:r>
            <a:endParaRPr lang="en-US" sz="1300" dirty="0"/>
          </a:p>
        </p:txBody>
      </p:sp>
      <p:sp>
        <p:nvSpPr>
          <p:cNvPr id="13" name="addon card 1"/>
          <p:cNvSpPr/>
          <p:nvPr/>
        </p:nvSpPr>
        <p:spPr>
          <a:xfrm>
            <a:off x="6858000" y="1783080"/>
            <a:ext cx="4754880" cy="2011680"/>
          </a:xfrm>
          <a:prstGeom prst="roundRect">
            <a:avLst>
              <a:gd name="adj" fmla="val 6364"/>
            </a:avLst>
          </a:prstGeom>
          <a:solidFill>
            <a:srgbClr val="FFFFFF"/>
          </a:solidFill>
          <a:ln/>
          <a:effectLst>
            <a:outerShdw sx="100000" sy="100000" kx="0" ky="0" algn="bl" rotWithShape="0" blurRad="127000" dist="38100" dir="5400000">
              <a:srgbClr val="17160F">
                <a:alpha val="10000"/>
              </a:srgbClr>
            </a:outerShdw>
          </a:effectLst>
        </p:spPr>
      </p:sp>
      <p:sp>
        <p:nvSpPr>
          <p:cNvPr id="14" name="addon icon 1 bg"/>
          <p:cNvSpPr/>
          <p:nvPr/>
        </p:nvSpPr>
        <p:spPr>
          <a:xfrm>
            <a:off x="7132320" y="2057400"/>
            <a:ext cx="566928" cy="566928"/>
          </a:xfrm>
          <a:prstGeom prst="ellipse">
            <a:avLst/>
          </a:prstGeom>
          <a:solidFill>
            <a:srgbClr val="E3F3DA"/>
          </a:solidFill>
          <a:ln/>
        </p:spPr>
      </p:sp>
      <p:pic>
        <p:nvPicPr>
          <p:cNvPr id="15" name="addon icon 1" descr="Ikon">    </p:cNvPr>
          <p:cNvPicPr>
            <a:picLocks noChangeAspect="1"/>
          </p:cNvPicPr>
          <p:nvPr/>
        </p:nvPicPr>
        <p:blipFill>
          <a:blip r:embed="rId3"/>
          <a:stretch>
            <a:fillRect/>
          </a:stretch>
        </p:blipFill>
        <p:spPr>
          <a:xfrm>
            <a:off x="7274052" y="2199132"/>
            <a:ext cx="283464" cy="283464"/>
          </a:xfrm>
          <a:prstGeom prst="rect">
            <a:avLst/>
          </a:prstGeom>
        </p:spPr>
      </p:pic>
      <p:sp>
        <p:nvSpPr>
          <p:cNvPr id="16" name="Text 11"/>
          <p:cNvSpPr txBox="1"/>
          <p:nvPr/>
        </p:nvSpPr>
        <p:spPr>
          <a:xfrm>
            <a:off x="7909560" y="2103120"/>
            <a:ext cx="347472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Migrasi data pasien</a:t>
            </a:r>
            <a:endParaRPr lang="en-US" sz="1800" dirty="0"/>
          </a:p>
        </p:txBody>
      </p:sp>
      <p:sp>
        <p:nvSpPr>
          <p:cNvPr id="17" name="Text 12"/>
          <p:cNvSpPr txBox="1"/>
          <p:nvPr/>
        </p:nvSpPr>
        <p:spPr>
          <a:xfrm>
            <a:off x="7909560" y="2560320"/>
            <a:ext cx="3474720" cy="1097280"/>
          </a:xfrm>
          <a:prstGeom prst="rect">
            <a:avLst/>
          </a:prstGeom>
          <a:noFill/>
          <a:ln/>
        </p:spPr>
        <p:txBody>
          <a:bodyPr wrap="square" lIns="0" tIns="0" rIns="0" bIns="0" rtlCol="0" anchor="t"/>
          <a:lstStyle/>
          <a:p>
            <a:pPr indent="0" marL="0">
              <a:buNone/>
            </a:pPr>
            <a:r>
              <a:rPr lang="en-US" sz="1400" dirty="0">
                <a:solidFill>
                  <a:schemeClr val="accent5"/>
                </a:solidFill>
              </a:rPr>
              <a:t>Pindahkan data dari Excel atau sistem lama. Biaya sesuai volume data.</a:t>
            </a:r>
            <a:endParaRPr lang="en-US" sz="1400" dirty="0"/>
          </a:p>
        </p:txBody>
      </p:sp>
      <p:sp>
        <p:nvSpPr>
          <p:cNvPr id="18" name="addon card 2"/>
          <p:cNvSpPr/>
          <p:nvPr/>
        </p:nvSpPr>
        <p:spPr>
          <a:xfrm>
            <a:off x="6858000" y="3977640"/>
            <a:ext cx="4754880" cy="2011680"/>
          </a:xfrm>
          <a:prstGeom prst="roundRect">
            <a:avLst>
              <a:gd name="adj" fmla="val 6364"/>
            </a:avLst>
          </a:prstGeom>
          <a:solidFill>
            <a:srgbClr val="FFFFFF"/>
          </a:solidFill>
          <a:ln/>
          <a:effectLst>
            <a:outerShdw sx="100000" sy="100000" kx="0" ky="0" algn="bl" rotWithShape="0" blurRad="127000" dist="38100" dir="5400000">
              <a:srgbClr val="17160F">
                <a:alpha val="10000"/>
              </a:srgbClr>
            </a:outerShdw>
          </a:effectLst>
        </p:spPr>
      </p:sp>
      <p:sp>
        <p:nvSpPr>
          <p:cNvPr id="19" name="addon icon 2 bg"/>
          <p:cNvSpPr/>
          <p:nvPr/>
        </p:nvSpPr>
        <p:spPr>
          <a:xfrm>
            <a:off x="7132320" y="4251960"/>
            <a:ext cx="566928" cy="566928"/>
          </a:xfrm>
          <a:prstGeom prst="ellipse">
            <a:avLst/>
          </a:prstGeom>
          <a:solidFill>
            <a:srgbClr val="E3F3DA"/>
          </a:solidFill>
          <a:ln/>
        </p:spPr>
      </p:sp>
      <p:pic>
        <p:nvPicPr>
          <p:cNvPr id="20" name="addon icon 2" descr="Ikon">    </p:cNvPr>
          <p:cNvPicPr>
            <a:picLocks noChangeAspect="1"/>
          </p:cNvPicPr>
          <p:nvPr/>
        </p:nvPicPr>
        <p:blipFill>
          <a:blip r:embed="rId4"/>
          <a:stretch>
            <a:fillRect/>
          </a:stretch>
        </p:blipFill>
        <p:spPr>
          <a:xfrm>
            <a:off x="7274052" y="4393692"/>
            <a:ext cx="283464" cy="283464"/>
          </a:xfrm>
          <a:prstGeom prst="rect">
            <a:avLst/>
          </a:prstGeom>
        </p:spPr>
      </p:pic>
      <p:sp>
        <p:nvSpPr>
          <p:cNvPr id="21" name="Text 15"/>
          <p:cNvSpPr txBox="1"/>
          <p:nvPr/>
        </p:nvSpPr>
        <p:spPr>
          <a:xfrm>
            <a:off x="7909560" y="4297680"/>
            <a:ext cx="347472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Fitur custom</a:t>
            </a:r>
            <a:endParaRPr lang="en-US" sz="1800" dirty="0"/>
          </a:p>
        </p:txBody>
      </p:sp>
      <p:sp>
        <p:nvSpPr>
          <p:cNvPr id="22" name="Text 16"/>
          <p:cNvSpPr txBox="1"/>
          <p:nvPr/>
        </p:nvSpPr>
        <p:spPr>
          <a:xfrm>
            <a:off x="7909560" y="4754880"/>
            <a:ext cx="3474720" cy="1097280"/>
          </a:xfrm>
          <a:prstGeom prst="rect">
            <a:avLst/>
          </a:prstGeom>
          <a:noFill/>
          <a:ln/>
        </p:spPr>
        <p:txBody>
          <a:bodyPr wrap="square" lIns="0" tIns="0" rIns="0" bIns="0" rtlCol="0" anchor="t"/>
          <a:lstStyle/>
          <a:p>
            <a:pPr indent="0" marL="0">
              <a:buNone/>
            </a:pPr>
            <a:r>
              <a:rPr lang="en-US" sz="1400" dirty="0">
                <a:solidFill>
                  <a:schemeClr val="accent5"/>
                </a:solidFill>
              </a:rPr>
              <a:t>Fitur khusus sesuai alur klinik. Gratis 1 tahun untuk paket tahunan, selebihnya berbayar.</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STRUKTUR BIAYA</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Biaya operasional ringan: balik modal hanya dari 4 klinik</a:t>
            </a:r>
            <a:endParaRPr lang="en-US" sz="3200" dirty="0"/>
          </a:p>
        </p:txBody>
      </p:sp>
      <p:sp>
        <p:nvSpPr>
          <p:cNvPr id="4" name="cost card"/>
          <p:cNvSpPr/>
          <p:nvPr/>
        </p:nvSpPr>
        <p:spPr>
          <a:xfrm>
            <a:off x="548640" y="1783080"/>
            <a:ext cx="5120640" cy="4206240"/>
          </a:xfrm>
          <a:prstGeom prst="roundRect">
            <a:avLst>
              <a:gd name="adj" fmla="val 3043"/>
            </a:avLst>
          </a:prstGeom>
          <a:solidFill>
            <a:srgbClr val="FFFFFF"/>
          </a:solidFill>
          <a:ln/>
          <a:effectLst>
            <a:outerShdw sx="100000" sy="100000" kx="0" ky="0" algn="bl" rotWithShape="0" blurRad="127000" dist="38100" dir="5400000">
              <a:srgbClr val="17160F">
                <a:alpha val="10000"/>
              </a:srgbClr>
            </a:outerShdw>
          </a:effectLst>
        </p:spPr>
      </p:sp>
      <p:sp>
        <p:nvSpPr>
          <p:cNvPr id="5" name="Text 3"/>
          <p:cNvSpPr txBox="1"/>
          <p:nvPr/>
        </p:nvSpPr>
        <p:spPr>
          <a:xfrm>
            <a:off x="822960" y="2011680"/>
            <a:ext cx="4572000" cy="365760"/>
          </a:xfrm>
          <a:prstGeom prst="rect">
            <a:avLst/>
          </a:prstGeom>
          <a:noFill/>
          <a:ln/>
        </p:spPr>
        <p:txBody>
          <a:bodyPr wrap="square" lIns="0" tIns="0" rIns="0" bIns="0" rtlCol="0" anchor="t"/>
          <a:lstStyle/>
          <a:p>
            <a:pPr indent="0" marL="0">
              <a:buNone/>
            </a:pPr>
            <a:r>
              <a:rPr lang="en-US" sz="1600" b="1" dirty="0">
                <a:solidFill>
                  <a:schemeClr val="accent6"/>
                </a:solidFill>
              </a:rPr>
              <a:t>Biaya bulanan saat ini</a:t>
            </a:r>
            <a:endParaRPr lang="en-US" sz="1600" dirty="0"/>
          </a:p>
        </p:txBody>
      </p:sp>
      <p:sp>
        <p:nvSpPr>
          <p:cNvPr id="6" name="Text 4"/>
          <p:cNvSpPr txBox="1"/>
          <p:nvPr/>
        </p:nvSpPr>
        <p:spPr>
          <a:xfrm>
            <a:off x="822960" y="2514600"/>
            <a:ext cx="3108960" cy="548640"/>
          </a:xfrm>
          <a:prstGeom prst="rect">
            <a:avLst/>
          </a:prstGeom>
          <a:noFill/>
          <a:ln/>
        </p:spPr>
        <p:txBody>
          <a:bodyPr wrap="square" lIns="0" tIns="0" rIns="0" bIns="0" rtlCol="0" anchor="ctr"/>
          <a:lstStyle/>
          <a:p>
            <a:pPr indent="0" marL="0">
              <a:buNone/>
            </a:pPr>
            <a:r>
              <a:rPr lang="en-US" sz="1600" dirty="0">
                <a:solidFill>
                  <a:schemeClr val="tx1"/>
                </a:solidFill>
              </a:rPr>
              <a:t>Server</a:t>
            </a:r>
            <a:endParaRPr lang="en-US" sz="1600" dirty="0"/>
          </a:p>
        </p:txBody>
      </p:sp>
      <p:sp>
        <p:nvSpPr>
          <p:cNvPr id="7" name="Text 5"/>
          <p:cNvSpPr txBox="1"/>
          <p:nvPr/>
        </p:nvSpPr>
        <p:spPr>
          <a:xfrm>
            <a:off x="3657600" y="2514600"/>
            <a:ext cx="1737360" cy="548640"/>
          </a:xfrm>
          <a:prstGeom prst="rect">
            <a:avLst/>
          </a:prstGeom>
          <a:noFill/>
          <a:ln/>
        </p:spPr>
        <p:txBody>
          <a:bodyPr wrap="square" lIns="0" tIns="0" rIns="0" bIns="0" rtlCol="0" anchor="ctr"/>
          <a:lstStyle/>
          <a:p>
            <a:pPr algn="r" indent="0" marL="0">
              <a:buNone/>
            </a:pPr>
            <a:r>
              <a:rPr lang="en-US" sz="1600" b="1" dirty="0">
                <a:solidFill>
                  <a:schemeClr val="tx1"/>
                </a:solidFill>
              </a:rPr>
              <a:t>Rp150.000</a:t>
            </a:r>
            <a:endParaRPr lang="en-US" sz="1600" dirty="0"/>
          </a:p>
        </p:txBody>
      </p:sp>
      <p:sp>
        <p:nvSpPr>
          <p:cNvPr id="8" name="cost rule 0"/>
          <p:cNvSpPr/>
          <p:nvPr/>
        </p:nvSpPr>
        <p:spPr>
          <a:xfrm>
            <a:off x="822960" y="3136392"/>
            <a:ext cx="4572000" cy="0"/>
          </a:xfrm>
          <a:prstGeom prst="line">
            <a:avLst/>
          </a:prstGeom>
          <a:noFill/>
          <a:ln w="12700">
            <a:solidFill>
              <a:srgbClr val="E4E1D8"/>
            </a:solidFill>
            <a:prstDash val="solid"/>
          </a:ln>
        </p:spPr>
      </p:sp>
      <p:sp>
        <p:nvSpPr>
          <p:cNvPr id="9" name="Text 7"/>
          <p:cNvSpPr txBox="1"/>
          <p:nvPr/>
        </p:nvSpPr>
        <p:spPr>
          <a:xfrm>
            <a:off x="822960" y="3200400"/>
            <a:ext cx="3108960" cy="548640"/>
          </a:xfrm>
          <a:prstGeom prst="rect">
            <a:avLst/>
          </a:prstGeom>
          <a:noFill/>
          <a:ln/>
        </p:spPr>
        <p:txBody>
          <a:bodyPr wrap="square" lIns="0" tIns="0" rIns="0" bIns="0" rtlCol="0" anchor="ctr"/>
          <a:lstStyle/>
          <a:p>
            <a:pPr indent="0" marL="0">
              <a:buNone/>
            </a:pPr>
            <a:r>
              <a:rPr lang="en-US" sz="1600" dirty="0">
                <a:solidFill>
                  <a:schemeClr val="tx1"/>
                </a:solidFill>
              </a:rPr>
              <a:t>Domain (Rp100rb / tahun)</a:t>
            </a:r>
            <a:endParaRPr lang="en-US" sz="1600" dirty="0"/>
          </a:p>
        </p:txBody>
      </p:sp>
      <p:sp>
        <p:nvSpPr>
          <p:cNvPr id="10" name="Text 8"/>
          <p:cNvSpPr txBox="1"/>
          <p:nvPr/>
        </p:nvSpPr>
        <p:spPr>
          <a:xfrm>
            <a:off x="3657600" y="3200400"/>
            <a:ext cx="1737360" cy="548640"/>
          </a:xfrm>
          <a:prstGeom prst="rect">
            <a:avLst/>
          </a:prstGeom>
          <a:noFill/>
          <a:ln/>
        </p:spPr>
        <p:txBody>
          <a:bodyPr wrap="square" lIns="0" tIns="0" rIns="0" bIns="0" rtlCol="0" anchor="ctr"/>
          <a:lstStyle/>
          <a:p>
            <a:pPr algn="r" indent="0" marL="0">
              <a:buNone/>
            </a:pPr>
            <a:r>
              <a:rPr lang="en-US" sz="1600" b="1" dirty="0">
                <a:solidFill>
                  <a:schemeClr val="tx1"/>
                </a:solidFill>
              </a:rPr>
              <a:t>Rp8.300</a:t>
            </a:r>
            <a:endParaRPr lang="en-US" sz="1600" dirty="0"/>
          </a:p>
        </p:txBody>
      </p:sp>
      <p:sp>
        <p:nvSpPr>
          <p:cNvPr id="11" name="cost rule 1"/>
          <p:cNvSpPr/>
          <p:nvPr/>
        </p:nvSpPr>
        <p:spPr>
          <a:xfrm>
            <a:off x="822960" y="3822192"/>
            <a:ext cx="4572000" cy="0"/>
          </a:xfrm>
          <a:prstGeom prst="line">
            <a:avLst/>
          </a:prstGeom>
          <a:noFill/>
          <a:ln w="12700">
            <a:solidFill>
              <a:srgbClr val="E4E1D8"/>
            </a:solidFill>
            <a:prstDash val="solid"/>
          </a:ln>
        </p:spPr>
      </p:sp>
      <p:sp>
        <p:nvSpPr>
          <p:cNvPr id="12" name="Text 10"/>
          <p:cNvSpPr txBox="1"/>
          <p:nvPr/>
        </p:nvSpPr>
        <p:spPr>
          <a:xfrm>
            <a:off x="822960" y="3886200"/>
            <a:ext cx="3108960" cy="548640"/>
          </a:xfrm>
          <a:prstGeom prst="rect">
            <a:avLst/>
          </a:prstGeom>
          <a:noFill/>
          <a:ln/>
        </p:spPr>
        <p:txBody>
          <a:bodyPr wrap="square" lIns="0" tIns="0" rIns="0" bIns="0" rtlCol="0" anchor="ctr"/>
          <a:lstStyle/>
          <a:p>
            <a:pPr indent="0" marL="0">
              <a:buNone/>
            </a:pPr>
            <a:r>
              <a:rPr lang="en-US" sz="1600" dirty="0">
                <a:solidFill>
                  <a:schemeClr val="tx1"/>
                </a:solidFill>
              </a:rPr>
              <a:t>Claude — R&amp;D pengembangan</a:t>
            </a:r>
            <a:endParaRPr lang="en-US" sz="1600" dirty="0"/>
          </a:p>
        </p:txBody>
      </p:sp>
      <p:sp>
        <p:nvSpPr>
          <p:cNvPr id="13" name="Text 11"/>
          <p:cNvSpPr txBox="1"/>
          <p:nvPr/>
        </p:nvSpPr>
        <p:spPr>
          <a:xfrm>
            <a:off x="3657600" y="3886200"/>
            <a:ext cx="1737360" cy="548640"/>
          </a:xfrm>
          <a:prstGeom prst="rect">
            <a:avLst/>
          </a:prstGeom>
          <a:noFill/>
          <a:ln/>
        </p:spPr>
        <p:txBody>
          <a:bodyPr wrap="square" lIns="0" tIns="0" rIns="0" bIns="0" rtlCol="0" anchor="ctr"/>
          <a:lstStyle/>
          <a:p>
            <a:pPr algn="r" indent="0" marL="0">
              <a:buNone/>
            </a:pPr>
            <a:r>
              <a:rPr lang="en-US" sz="1600" b="1" dirty="0">
                <a:solidFill>
                  <a:schemeClr val="tx1"/>
                </a:solidFill>
              </a:rPr>
              <a:t>Rp400.000</a:t>
            </a:r>
            <a:endParaRPr lang="en-US" sz="1600" dirty="0"/>
          </a:p>
        </p:txBody>
      </p:sp>
      <p:sp>
        <p:nvSpPr>
          <p:cNvPr id="14" name="cost rule 2"/>
          <p:cNvSpPr/>
          <p:nvPr/>
        </p:nvSpPr>
        <p:spPr>
          <a:xfrm>
            <a:off x="822960" y="4507992"/>
            <a:ext cx="4572000" cy="0"/>
          </a:xfrm>
          <a:prstGeom prst="line">
            <a:avLst/>
          </a:prstGeom>
          <a:noFill/>
          <a:ln w="12700">
            <a:solidFill>
              <a:srgbClr val="E4E1D8"/>
            </a:solidFill>
            <a:prstDash val="solid"/>
          </a:ln>
        </p:spPr>
      </p:sp>
      <p:sp>
        <p:nvSpPr>
          <p:cNvPr id="15" name="Text 13"/>
          <p:cNvSpPr txBox="1"/>
          <p:nvPr/>
        </p:nvSpPr>
        <p:spPr>
          <a:xfrm>
            <a:off x="822960" y="4663440"/>
            <a:ext cx="2743200" cy="640080"/>
          </a:xfrm>
          <a:prstGeom prst="rect">
            <a:avLst/>
          </a:prstGeom>
          <a:noFill/>
          <a:ln/>
        </p:spPr>
        <p:txBody>
          <a:bodyPr wrap="square" lIns="0" tIns="0" rIns="0" bIns="0" rtlCol="0" anchor="ctr"/>
          <a:lstStyle/>
          <a:p>
            <a:pPr indent="0" marL="0">
              <a:buNone/>
            </a:pPr>
            <a:r>
              <a:rPr lang="en-US" sz="1800" b="1" dirty="0">
                <a:solidFill>
                  <a:schemeClr val="tx1"/>
                </a:solidFill>
              </a:rPr>
              <a:t>Total</a:t>
            </a:r>
            <a:endParaRPr lang="en-US" sz="1800" dirty="0"/>
          </a:p>
        </p:txBody>
      </p:sp>
      <p:sp>
        <p:nvSpPr>
          <p:cNvPr id="16" name="Text 14"/>
          <p:cNvSpPr txBox="1"/>
          <p:nvPr/>
        </p:nvSpPr>
        <p:spPr>
          <a:xfrm>
            <a:off x="2926080" y="4663440"/>
            <a:ext cx="2468880" cy="640080"/>
          </a:xfrm>
          <a:prstGeom prst="rect">
            <a:avLst/>
          </a:prstGeom>
          <a:noFill/>
          <a:ln/>
        </p:spPr>
        <p:txBody>
          <a:bodyPr wrap="square" lIns="0" tIns="0" rIns="0" bIns="0" rtlCol="0" anchor="ctr"/>
          <a:lstStyle/>
          <a:p>
            <a:pPr algn="r" indent="0" marL="0">
              <a:buNone/>
            </a:pPr>
            <a:r>
              <a:rPr lang="en-US" sz="3000" b="1" dirty="0">
                <a:solidFill>
                  <a:schemeClr val="accent1"/>
                </a:solidFill>
                <a:latin typeface="Arial" pitchFamily="34" charset="0"/>
                <a:ea typeface="Arial" pitchFamily="34" charset="-122"/>
                <a:cs typeface="Arial" pitchFamily="34" charset="-120"/>
              </a:rPr>
              <a:t>± Rp558rb</a:t>
            </a:r>
            <a:endParaRPr lang="en-US" sz="3000" dirty="0"/>
          </a:p>
        </p:txBody>
      </p:sp>
      <p:sp>
        <p:nvSpPr>
          <p:cNvPr id="17" name="Text 15"/>
          <p:cNvSpPr txBox="1"/>
          <p:nvPr/>
        </p:nvSpPr>
        <p:spPr>
          <a:xfrm>
            <a:off x="822960" y="5349240"/>
            <a:ext cx="4572000" cy="365760"/>
          </a:xfrm>
          <a:prstGeom prst="rect">
            <a:avLst/>
          </a:prstGeom>
          <a:noFill/>
          <a:ln/>
        </p:spPr>
        <p:txBody>
          <a:bodyPr wrap="square" lIns="0" tIns="0" rIns="0" bIns="0" rtlCol="0" anchor="t"/>
          <a:lstStyle/>
          <a:p>
            <a:pPr indent="0" marL="0">
              <a:buNone/>
            </a:pPr>
            <a:r>
              <a:rPr lang="en-US" sz="1200" i="1" dirty="0">
                <a:solidFill>
                  <a:schemeClr val="accent6"/>
                </a:solidFill>
              </a:rPr>
              <a:t>± Rp6,7 jt per tahun · belum termasuk gaji tim</a:t>
            </a:r>
            <a:endParaRPr lang="en-US" sz="1200" dirty="0"/>
          </a:p>
        </p:txBody>
      </p:sp>
      <p:sp>
        <p:nvSpPr>
          <p:cNvPr id="18" name="be card 1"/>
          <p:cNvSpPr/>
          <p:nvPr/>
        </p:nvSpPr>
        <p:spPr>
          <a:xfrm>
            <a:off x="6035040" y="1783080"/>
            <a:ext cx="2697480" cy="1965960"/>
          </a:xfrm>
          <a:prstGeom prst="roundRect">
            <a:avLst>
              <a:gd name="adj" fmla="val 6512"/>
            </a:avLst>
          </a:prstGeom>
          <a:solidFill>
            <a:srgbClr val="EEECE6"/>
          </a:solidFill>
          <a:ln/>
        </p:spPr>
      </p:sp>
      <p:sp>
        <p:nvSpPr>
          <p:cNvPr id="19" name="Text 17"/>
          <p:cNvSpPr txBox="1"/>
          <p:nvPr/>
        </p:nvSpPr>
        <p:spPr>
          <a:xfrm>
            <a:off x="6309360" y="2057400"/>
            <a:ext cx="2194560" cy="640080"/>
          </a:xfrm>
          <a:prstGeom prst="rect">
            <a:avLst/>
          </a:prstGeom>
          <a:noFill/>
          <a:ln/>
        </p:spPr>
        <p:txBody>
          <a:bodyPr wrap="square" lIns="0" tIns="0" rIns="0" bIns="0" rtlCol="0" anchor="t"/>
          <a:lstStyle/>
          <a:p>
            <a:pPr indent="0" marL="0">
              <a:buNone/>
            </a:pPr>
            <a:r>
              <a:rPr lang="en-US" sz="3200" b="1" dirty="0">
                <a:solidFill>
                  <a:schemeClr val="tx1"/>
                </a:solidFill>
                <a:latin typeface="Arial" pitchFamily="34" charset="0"/>
                <a:ea typeface="Arial" pitchFamily="34" charset="-122"/>
                <a:cs typeface="Arial" pitchFamily="34" charset="-120"/>
              </a:rPr>
              <a:t>4 klinik</a:t>
            </a:r>
            <a:endParaRPr lang="en-US" sz="3200" dirty="0"/>
          </a:p>
        </p:txBody>
      </p:sp>
      <p:sp>
        <p:nvSpPr>
          <p:cNvPr id="20" name="Text 18"/>
          <p:cNvSpPr txBox="1"/>
          <p:nvPr/>
        </p:nvSpPr>
        <p:spPr>
          <a:xfrm>
            <a:off x="6309360" y="2743200"/>
            <a:ext cx="2194560" cy="868680"/>
          </a:xfrm>
          <a:prstGeom prst="rect">
            <a:avLst/>
          </a:prstGeom>
          <a:noFill/>
          <a:ln/>
        </p:spPr>
        <p:txBody>
          <a:bodyPr wrap="square" lIns="0" tIns="0" rIns="0" bIns="0" rtlCol="0" anchor="t"/>
          <a:lstStyle/>
          <a:p>
            <a:pPr indent="0" marL="0">
              <a:buNone/>
            </a:pPr>
            <a:r>
              <a:rPr lang="en-US" sz="1400" dirty="0">
                <a:solidFill>
                  <a:schemeClr val="accent5"/>
                </a:solidFill>
              </a:rPr>
              <a:t>Starter (Rp149rb) untuk menutup biaya bulanan</a:t>
            </a:r>
            <a:endParaRPr lang="en-US" sz="1400" dirty="0"/>
          </a:p>
        </p:txBody>
      </p:sp>
      <p:sp>
        <p:nvSpPr>
          <p:cNvPr id="21" name="be card 2"/>
          <p:cNvSpPr/>
          <p:nvPr/>
        </p:nvSpPr>
        <p:spPr>
          <a:xfrm>
            <a:off x="8869680" y="1783080"/>
            <a:ext cx="2697480" cy="1965960"/>
          </a:xfrm>
          <a:prstGeom prst="roundRect">
            <a:avLst>
              <a:gd name="adj" fmla="val 6512"/>
            </a:avLst>
          </a:prstGeom>
          <a:solidFill>
            <a:srgbClr val="EEECE6"/>
          </a:solidFill>
          <a:ln/>
        </p:spPr>
      </p:sp>
      <p:sp>
        <p:nvSpPr>
          <p:cNvPr id="22" name="Text 20"/>
          <p:cNvSpPr txBox="1"/>
          <p:nvPr/>
        </p:nvSpPr>
        <p:spPr>
          <a:xfrm>
            <a:off x="9144000" y="2057400"/>
            <a:ext cx="2194560" cy="640080"/>
          </a:xfrm>
          <a:prstGeom prst="rect">
            <a:avLst/>
          </a:prstGeom>
          <a:noFill/>
          <a:ln/>
        </p:spPr>
        <p:txBody>
          <a:bodyPr wrap="square" lIns="0" tIns="0" rIns="0" bIns="0" rtlCol="0" anchor="t"/>
          <a:lstStyle/>
          <a:p>
            <a:pPr indent="0" marL="0">
              <a:buNone/>
            </a:pPr>
            <a:r>
              <a:rPr lang="en-US" sz="3200" b="1" dirty="0">
                <a:solidFill>
                  <a:schemeClr val="tx1"/>
                </a:solidFill>
                <a:latin typeface="Arial" pitchFamily="34" charset="0"/>
                <a:ea typeface="Arial" pitchFamily="34" charset="-122"/>
                <a:cs typeface="Arial" pitchFamily="34" charset="-120"/>
              </a:rPr>
              <a:t>2 klinik</a:t>
            </a:r>
            <a:endParaRPr lang="en-US" sz="3200" dirty="0"/>
          </a:p>
        </p:txBody>
      </p:sp>
      <p:sp>
        <p:nvSpPr>
          <p:cNvPr id="23" name="Text 21"/>
          <p:cNvSpPr txBox="1"/>
          <p:nvPr/>
        </p:nvSpPr>
        <p:spPr>
          <a:xfrm>
            <a:off x="9144000" y="2743200"/>
            <a:ext cx="2194560" cy="868680"/>
          </a:xfrm>
          <a:prstGeom prst="rect">
            <a:avLst/>
          </a:prstGeom>
          <a:noFill/>
          <a:ln/>
        </p:spPr>
        <p:txBody>
          <a:bodyPr wrap="square" lIns="0" tIns="0" rIns="0" bIns="0" rtlCol="0" anchor="t"/>
          <a:lstStyle/>
          <a:p>
            <a:pPr indent="0" marL="0">
              <a:buNone/>
            </a:pPr>
            <a:r>
              <a:rPr lang="en-US" sz="1400" dirty="0">
                <a:solidFill>
                  <a:schemeClr val="accent5"/>
                </a:solidFill>
              </a:rPr>
              <a:t>Pro (Rp299rb) sudah cukup untuk balik modal</a:t>
            </a:r>
            <a:endParaRPr lang="en-US" sz="1400" dirty="0"/>
          </a:p>
        </p:txBody>
      </p:sp>
      <p:sp>
        <p:nvSpPr>
          <p:cNvPr id="24" name="be card 3"/>
          <p:cNvSpPr/>
          <p:nvPr/>
        </p:nvSpPr>
        <p:spPr>
          <a:xfrm>
            <a:off x="6035040" y="3931920"/>
            <a:ext cx="2697480" cy="1965960"/>
          </a:xfrm>
          <a:prstGeom prst="roundRect">
            <a:avLst>
              <a:gd name="adj" fmla="val 6512"/>
            </a:avLst>
          </a:prstGeom>
          <a:solidFill>
            <a:srgbClr val="EEECE6"/>
          </a:solidFill>
          <a:ln/>
        </p:spPr>
      </p:sp>
      <p:sp>
        <p:nvSpPr>
          <p:cNvPr id="25" name="Text 23"/>
          <p:cNvSpPr txBox="1"/>
          <p:nvPr/>
        </p:nvSpPr>
        <p:spPr>
          <a:xfrm>
            <a:off x="6309360" y="4206240"/>
            <a:ext cx="2194560" cy="640080"/>
          </a:xfrm>
          <a:prstGeom prst="rect">
            <a:avLst/>
          </a:prstGeom>
          <a:noFill/>
          <a:ln/>
        </p:spPr>
        <p:txBody>
          <a:bodyPr wrap="square" lIns="0" tIns="0" rIns="0" bIns="0" rtlCol="0" anchor="t"/>
          <a:lstStyle/>
          <a:p>
            <a:pPr indent="0" marL="0">
              <a:buNone/>
            </a:pPr>
            <a:r>
              <a:rPr lang="en-US" sz="3200" b="1" dirty="0">
                <a:solidFill>
                  <a:schemeClr val="tx1"/>
                </a:solidFill>
                <a:latin typeface="Arial" pitchFamily="34" charset="0"/>
                <a:ea typeface="Arial" pitchFamily="34" charset="-122"/>
                <a:cs typeface="Arial" pitchFamily="34" charset="-120"/>
              </a:rPr>
              <a:t>6 klinik</a:t>
            </a:r>
            <a:endParaRPr lang="en-US" sz="3200" dirty="0"/>
          </a:p>
        </p:txBody>
      </p:sp>
      <p:sp>
        <p:nvSpPr>
          <p:cNvPr id="26" name="Text 24"/>
          <p:cNvSpPr txBox="1"/>
          <p:nvPr/>
        </p:nvSpPr>
        <p:spPr>
          <a:xfrm>
            <a:off x="6309360" y="4892040"/>
            <a:ext cx="2194560" cy="868680"/>
          </a:xfrm>
          <a:prstGeom prst="rect">
            <a:avLst/>
          </a:prstGeom>
          <a:noFill/>
          <a:ln/>
        </p:spPr>
        <p:txBody>
          <a:bodyPr wrap="square" lIns="0" tIns="0" rIns="0" bIns="0" rtlCol="0" anchor="t"/>
          <a:lstStyle/>
          <a:p>
            <a:pPr indent="0" marL="0">
              <a:buNone/>
            </a:pPr>
            <a:r>
              <a:rPr lang="en-US" sz="1400" dirty="0">
                <a:solidFill>
                  <a:schemeClr val="accent5"/>
                </a:solidFill>
              </a:rPr>
              <a:t>selama promo harga lama (Rp99rb) di 2026</a:t>
            </a:r>
            <a:endParaRPr lang="en-US" sz="1400" dirty="0"/>
          </a:p>
        </p:txBody>
      </p:sp>
      <p:sp>
        <p:nvSpPr>
          <p:cNvPr id="27" name="be card 4"/>
          <p:cNvSpPr/>
          <p:nvPr/>
        </p:nvSpPr>
        <p:spPr>
          <a:xfrm>
            <a:off x="8869680" y="3931920"/>
            <a:ext cx="2697480" cy="1965960"/>
          </a:xfrm>
          <a:prstGeom prst="roundRect">
            <a:avLst>
              <a:gd name="adj" fmla="val 6512"/>
            </a:avLst>
          </a:prstGeom>
          <a:solidFill>
            <a:srgbClr val="E3F3DA"/>
          </a:solidFill>
          <a:ln/>
        </p:spPr>
      </p:sp>
      <p:sp>
        <p:nvSpPr>
          <p:cNvPr id="28" name="Text 26"/>
          <p:cNvSpPr txBox="1"/>
          <p:nvPr/>
        </p:nvSpPr>
        <p:spPr>
          <a:xfrm>
            <a:off x="9144000" y="4206240"/>
            <a:ext cx="2194560" cy="640080"/>
          </a:xfrm>
          <a:prstGeom prst="rect">
            <a:avLst/>
          </a:prstGeom>
          <a:noFill/>
          <a:ln/>
        </p:spPr>
        <p:txBody>
          <a:bodyPr wrap="square" lIns="0" tIns="0" rIns="0" bIns="0" rtlCol="0" anchor="t"/>
          <a:lstStyle/>
          <a:p>
            <a:pPr indent="0" marL="0">
              <a:buNone/>
            </a:pPr>
            <a:r>
              <a:rPr lang="en-US" sz="3200" b="1" dirty="0">
                <a:solidFill>
                  <a:schemeClr val="tx2"/>
                </a:solidFill>
                <a:latin typeface="Arial" pitchFamily="34" charset="0"/>
                <a:ea typeface="Arial" pitchFamily="34" charset="-122"/>
                <a:cs typeface="Arial" pitchFamily="34" charset="-120"/>
              </a:rPr>
              <a:t>&gt; 85%</a:t>
            </a:r>
            <a:endParaRPr lang="en-US" sz="3200" dirty="0"/>
          </a:p>
        </p:txBody>
      </p:sp>
      <p:sp>
        <p:nvSpPr>
          <p:cNvPr id="29" name="Text 27"/>
          <p:cNvSpPr txBox="1"/>
          <p:nvPr/>
        </p:nvSpPr>
        <p:spPr>
          <a:xfrm>
            <a:off x="9144000" y="4892040"/>
            <a:ext cx="2194560" cy="868680"/>
          </a:xfrm>
          <a:prstGeom prst="rect">
            <a:avLst/>
          </a:prstGeom>
          <a:noFill/>
          <a:ln/>
        </p:spPr>
        <p:txBody>
          <a:bodyPr wrap="square" lIns="0" tIns="0" rIns="0" bIns="0" rtlCol="0" anchor="t"/>
          <a:lstStyle/>
          <a:p>
            <a:pPr indent="0" marL="0">
              <a:buNone/>
            </a:pPr>
            <a:r>
              <a:rPr lang="en-US" sz="1400" dirty="0">
                <a:solidFill>
                  <a:schemeClr val="accent5"/>
                </a:solidFill>
              </a:rPr>
              <a:t>margin kotor — server bertambah ± tiap 50 klinik (asumsi)</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KOMPETISI</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Lengkap seperti SIMRS, harga seperti aplikasi kasir</a:t>
            </a:r>
            <a:endParaRPr lang="en-US" sz="3200" dirty="0"/>
          </a:p>
        </p:txBody>
      </p:sp>
      <p:sp>
        <p:nvSpPr>
          <p:cNvPr id="4" name="highlight column"/>
          <p:cNvSpPr/>
          <p:nvPr/>
        </p:nvSpPr>
        <p:spPr>
          <a:xfrm>
            <a:off x="3383280" y="1691640"/>
            <a:ext cx="2057400" cy="4663440"/>
          </a:xfrm>
          <a:prstGeom prst="roundRect">
            <a:avLst>
              <a:gd name="adj" fmla="val 6222"/>
            </a:avLst>
          </a:prstGeom>
          <a:solidFill>
            <a:srgbClr val="E3F3DA"/>
          </a:solidFill>
          <a:ln/>
        </p:spPr>
      </p:sp>
      <p:sp>
        <p:nvSpPr>
          <p:cNvPr id="5" name="Text 3"/>
          <p:cNvSpPr txBox="1"/>
          <p:nvPr/>
        </p:nvSpPr>
        <p:spPr>
          <a:xfrm>
            <a:off x="3474720" y="1783080"/>
            <a:ext cx="1874520" cy="640080"/>
          </a:xfrm>
          <a:prstGeom prst="rect">
            <a:avLst/>
          </a:prstGeom>
          <a:noFill/>
          <a:ln/>
        </p:spPr>
        <p:txBody>
          <a:bodyPr wrap="square" lIns="0" tIns="0" rIns="0" bIns="0" rtlCol="0" anchor="ctr"/>
          <a:lstStyle/>
          <a:p>
            <a:pPr algn="ctr" indent="0" marL="0">
              <a:buNone/>
            </a:pPr>
            <a:r>
              <a:rPr lang="en-US" sz="1400" b="1" dirty="0">
                <a:solidFill>
                  <a:schemeClr val="tx2"/>
                </a:solidFill>
              </a:rPr>
              <a:t>ApexRecord</a:t>
            </a:r>
            <a:endParaRPr lang="en-US" sz="1400" dirty="0"/>
          </a:p>
        </p:txBody>
      </p:sp>
      <p:sp>
        <p:nvSpPr>
          <p:cNvPr id="6" name="Text 4"/>
          <p:cNvSpPr txBox="1"/>
          <p:nvPr/>
        </p:nvSpPr>
        <p:spPr>
          <a:xfrm>
            <a:off x="5532120" y="1783080"/>
            <a:ext cx="1874520" cy="640080"/>
          </a:xfrm>
          <a:prstGeom prst="rect">
            <a:avLst/>
          </a:prstGeom>
          <a:noFill/>
          <a:ln/>
        </p:spPr>
        <p:txBody>
          <a:bodyPr wrap="square" lIns="0" tIns="0" rIns="0" bIns="0" rtlCol="0" anchor="ctr"/>
          <a:lstStyle/>
          <a:p>
            <a:pPr algn="ctr" indent="0" marL="0">
              <a:buNone/>
            </a:pPr>
            <a:r>
              <a:rPr lang="en-US" sz="1400" b="1" dirty="0">
                <a:solidFill>
                  <a:schemeClr val="tx1"/>
                </a:solidFill>
              </a:rPr>
              <a:t>SIMRS enterprise</a:t>
            </a:r>
            <a:endParaRPr lang="en-US" sz="1400" dirty="0"/>
          </a:p>
        </p:txBody>
      </p:sp>
      <p:sp>
        <p:nvSpPr>
          <p:cNvPr id="7" name="Text 5"/>
          <p:cNvSpPr txBox="1"/>
          <p:nvPr/>
        </p:nvSpPr>
        <p:spPr>
          <a:xfrm>
            <a:off x="7589520" y="1783080"/>
            <a:ext cx="1874520" cy="640080"/>
          </a:xfrm>
          <a:prstGeom prst="rect">
            <a:avLst/>
          </a:prstGeom>
          <a:noFill/>
          <a:ln/>
        </p:spPr>
        <p:txBody>
          <a:bodyPr wrap="square" lIns="0" tIns="0" rIns="0" bIns="0" rtlCol="0" anchor="ctr"/>
          <a:lstStyle/>
          <a:p>
            <a:pPr algn="ctr" indent="0" marL="0">
              <a:buNone/>
            </a:pPr>
            <a:r>
              <a:rPr lang="en-US" sz="1400" b="1" dirty="0">
                <a:solidFill>
                  <a:schemeClr val="tx1"/>
                </a:solidFill>
              </a:rPr>
              <a:t>Aplikasi kasir / POS klinik</a:t>
            </a:r>
            <a:endParaRPr lang="en-US" sz="1400" dirty="0"/>
          </a:p>
        </p:txBody>
      </p:sp>
      <p:sp>
        <p:nvSpPr>
          <p:cNvPr id="8" name="Text 6"/>
          <p:cNvSpPr txBox="1"/>
          <p:nvPr/>
        </p:nvSpPr>
        <p:spPr>
          <a:xfrm>
            <a:off x="9646920" y="1783080"/>
            <a:ext cx="1874520" cy="640080"/>
          </a:xfrm>
          <a:prstGeom prst="rect">
            <a:avLst/>
          </a:prstGeom>
          <a:noFill/>
          <a:ln/>
        </p:spPr>
        <p:txBody>
          <a:bodyPr wrap="square" lIns="0" tIns="0" rIns="0" bIns="0" rtlCol="0" anchor="ctr"/>
          <a:lstStyle/>
          <a:p>
            <a:pPr algn="ctr" indent="0" marL="0">
              <a:buNone/>
            </a:pPr>
            <a:r>
              <a:rPr lang="en-US" sz="1400" b="1" dirty="0">
                <a:solidFill>
                  <a:schemeClr val="tx1"/>
                </a:solidFill>
              </a:rPr>
              <a:t>Kertas + Excel + WA</a:t>
            </a:r>
            <a:endParaRPr lang="en-US" sz="1400" dirty="0"/>
          </a:p>
        </p:txBody>
      </p:sp>
      <p:sp>
        <p:nvSpPr>
          <p:cNvPr id="9" name="row rule 1"/>
          <p:cNvSpPr/>
          <p:nvPr/>
        </p:nvSpPr>
        <p:spPr>
          <a:xfrm>
            <a:off x="548640" y="2423160"/>
            <a:ext cx="11064240" cy="0"/>
          </a:xfrm>
          <a:prstGeom prst="line">
            <a:avLst/>
          </a:prstGeom>
          <a:noFill/>
          <a:ln w="12700">
            <a:solidFill>
              <a:srgbClr val="E4E1D8"/>
            </a:solidFill>
            <a:prstDash val="solid"/>
          </a:ln>
        </p:spPr>
      </p:sp>
      <p:sp>
        <p:nvSpPr>
          <p:cNvPr id="10" name="Text 8"/>
          <p:cNvSpPr txBox="1"/>
          <p:nvPr/>
        </p:nvSpPr>
        <p:spPr>
          <a:xfrm>
            <a:off x="548640" y="2423160"/>
            <a:ext cx="2834640" cy="640080"/>
          </a:xfrm>
          <a:prstGeom prst="rect">
            <a:avLst/>
          </a:prstGeom>
          <a:noFill/>
          <a:ln/>
        </p:spPr>
        <p:txBody>
          <a:bodyPr wrap="square" lIns="0" tIns="0" rIns="0" bIns="0" rtlCol="0" anchor="ctr"/>
          <a:lstStyle/>
          <a:p>
            <a:pPr indent="0" marL="0">
              <a:buNone/>
            </a:pPr>
            <a:r>
              <a:rPr lang="en-US" sz="1400" b="1" dirty="0">
                <a:solidFill>
                  <a:schemeClr val="tx1"/>
                </a:solidFill>
              </a:rPr>
              <a:t>Harga per bulan</a:t>
            </a:r>
            <a:endParaRPr lang="en-US" sz="1400" dirty="0"/>
          </a:p>
        </p:txBody>
      </p:sp>
      <p:sp>
        <p:nvSpPr>
          <p:cNvPr id="11" name="Text 9"/>
          <p:cNvSpPr txBox="1"/>
          <p:nvPr/>
        </p:nvSpPr>
        <p:spPr>
          <a:xfrm>
            <a:off x="3474720" y="2423160"/>
            <a:ext cx="1874520" cy="640080"/>
          </a:xfrm>
          <a:prstGeom prst="rect">
            <a:avLst/>
          </a:prstGeom>
          <a:noFill/>
          <a:ln/>
        </p:spPr>
        <p:txBody>
          <a:bodyPr wrap="square" lIns="0" tIns="0" rIns="0" bIns="0" rtlCol="0" anchor="ctr"/>
          <a:lstStyle/>
          <a:p>
            <a:pPr algn="ctr" indent="0" marL="0">
              <a:buNone/>
            </a:pPr>
            <a:r>
              <a:rPr lang="en-US" sz="1300" b="1" dirty="0">
                <a:solidFill>
                  <a:schemeClr val="tx2"/>
                </a:solidFill>
              </a:rPr>
              <a:t>Mulai Rp149rb</a:t>
            </a:r>
            <a:endParaRPr lang="en-US" sz="1300" dirty="0"/>
          </a:p>
        </p:txBody>
      </p:sp>
      <p:sp>
        <p:nvSpPr>
          <p:cNvPr id="12" name="Text 10"/>
          <p:cNvSpPr txBox="1"/>
          <p:nvPr/>
        </p:nvSpPr>
        <p:spPr>
          <a:xfrm>
            <a:off x="5532120" y="2423160"/>
            <a:ext cx="1874520" cy="640080"/>
          </a:xfrm>
          <a:prstGeom prst="rect">
            <a:avLst/>
          </a:prstGeom>
          <a:noFill/>
          <a:ln/>
        </p:spPr>
        <p:txBody>
          <a:bodyPr wrap="square" lIns="0" tIns="0" rIns="0" bIns="0" rtlCol="0" anchor="ctr"/>
          <a:lstStyle/>
          <a:p>
            <a:pPr algn="ctr" indent="0" marL="0">
              <a:buNone/>
            </a:pPr>
            <a:r>
              <a:rPr lang="en-US" sz="1300" dirty="0">
                <a:solidFill>
                  <a:schemeClr val="tx1"/>
                </a:solidFill>
              </a:rPr>
              <a:t>Jutaan + implementasi</a:t>
            </a:r>
            <a:endParaRPr lang="en-US" sz="1300" dirty="0"/>
          </a:p>
        </p:txBody>
      </p:sp>
      <p:sp>
        <p:nvSpPr>
          <p:cNvPr id="13" name="Text 11"/>
          <p:cNvSpPr txBox="1"/>
          <p:nvPr/>
        </p:nvSpPr>
        <p:spPr>
          <a:xfrm>
            <a:off x="7589520" y="2423160"/>
            <a:ext cx="1874520" cy="640080"/>
          </a:xfrm>
          <a:prstGeom prst="rect">
            <a:avLst/>
          </a:prstGeom>
          <a:noFill/>
          <a:ln/>
        </p:spPr>
        <p:txBody>
          <a:bodyPr wrap="square" lIns="0" tIns="0" rIns="0" bIns="0" rtlCol="0" anchor="ctr"/>
          <a:lstStyle/>
          <a:p>
            <a:pPr algn="ctr" indent="0" marL="0">
              <a:buNone/>
            </a:pPr>
            <a:r>
              <a:rPr lang="en-US" sz="1300" dirty="0">
                <a:solidFill>
                  <a:schemeClr val="tx1"/>
                </a:solidFill>
              </a:rPr>
              <a:t>Murah</a:t>
            </a:r>
            <a:endParaRPr lang="en-US" sz="1300" dirty="0"/>
          </a:p>
        </p:txBody>
      </p:sp>
      <p:sp>
        <p:nvSpPr>
          <p:cNvPr id="14" name="Text 12"/>
          <p:cNvSpPr txBox="1"/>
          <p:nvPr/>
        </p:nvSpPr>
        <p:spPr>
          <a:xfrm>
            <a:off x="9646920" y="2423160"/>
            <a:ext cx="1874520" cy="640080"/>
          </a:xfrm>
          <a:prstGeom prst="rect">
            <a:avLst/>
          </a:prstGeom>
          <a:noFill/>
          <a:ln/>
        </p:spPr>
        <p:txBody>
          <a:bodyPr wrap="square" lIns="0" tIns="0" rIns="0" bIns="0" rtlCol="0" anchor="ctr"/>
          <a:lstStyle/>
          <a:p>
            <a:pPr algn="ctr" indent="0" marL="0">
              <a:buNone/>
            </a:pPr>
            <a:r>
              <a:rPr lang="en-US" sz="1300" dirty="0">
                <a:solidFill>
                  <a:schemeClr val="tx1"/>
                </a:solidFill>
              </a:rPr>
              <a:t>“Gratis”</a:t>
            </a:r>
            <a:endParaRPr lang="en-US" sz="1300" dirty="0"/>
          </a:p>
        </p:txBody>
      </p:sp>
      <p:sp>
        <p:nvSpPr>
          <p:cNvPr id="15" name="row rule 2"/>
          <p:cNvSpPr/>
          <p:nvPr/>
        </p:nvSpPr>
        <p:spPr>
          <a:xfrm>
            <a:off x="548640" y="3063240"/>
            <a:ext cx="11064240" cy="0"/>
          </a:xfrm>
          <a:prstGeom prst="line">
            <a:avLst/>
          </a:prstGeom>
          <a:noFill/>
          <a:ln w="12700">
            <a:solidFill>
              <a:srgbClr val="E4E1D8"/>
            </a:solidFill>
            <a:prstDash val="solid"/>
          </a:ln>
        </p:spPr>
      </p:sp>
      <p:sp>
        <p:nvSpPr>
          <p:cNvPr id="16" name="Text 14"/>
          <p:cNvSpPr txBox="1"/>
          <p:nvPr/>
        </p:nvSpPr>
        <p:spPr>
          <a:xfrm>
            <a:off x="548640" y="3063240"/>
            <a:ext cx="2834640" cy="640080"/>
          </a:xfrm>
          <a:prstGeom prst="rect">
            <a:avLst/>
          </a:prstGeom>
          <a:noFill/>
          <a:ln/>
        </p:spPr>
        <p:txBody>
          <a:bodyPr wrap="square" lIns="0" tIns="0" rIns="0" bIns="0" rtlCol="0" anchor="ctr"/>
          <a:lstStyle/>
          <a:p>
            <a:pPr indent="0" marL="0">
              <a:buNone/>
            </a:pPr>
            <a:r>
              <a:rPr lang="en-US" sz="1400" b="1" dirty="0">
                <a:solidFill>
                  <a:schemeClr val="tx1"/>
                </a:solidFill>
              </a:rPr>
              <a:t>Setup</a:t>
            </a:r>
            <a:endParaRPr lang="en-US" sz="1400" dirty="0"/>
          </a:p>
        </p:txBody>
      </p:sp>
      <p:sp>
        <p:nvSpPr>
          <p:cNvPr id="17" name="Text 15"/>
          <p:cNvSpPr txBox="1"/>
          <p:nvPr/>
        </p:nvSpPr>
        <p:spPr>
          <a:xfrm>
            <a:off x="3474720" y="3063240"/>
            <a:ext cx="1874520" cy="640080"/>
          </a:xfrm>
          <a:prstGeom prst="rect">
            <a:avLst/>
          </a:prstGeom>
          <a:noFill/>
          <a:ln/>
        </p:spPr>
        <p:txBody>
          <a:bodyPr wrap="square" lIns="0" tIns="0" rIns="0" bIns="0" rtlCol="0" anchor="ctr"/>
          <a:lstStyle/>
          <a:p>
            <a:pPr algn="ctr" indent="0" marL="0">
              <a:buNone/>
            </a:pPr>
            <a:r>
              <a:rPr lang="en-US" sz="1300" b="1" dirty="0">
                <a:solidFill>
                  <a:schemeClr val="tx2"/>
                </a:solidFill>
              </a:rPr>
              <a:t>&lt; 10 menit, self-serve</a:t>
            </a:r>
            <a:endParaRPr lang="en-US" sz="1300" dirty="0"/>
          </a:p>
        </p:txBody>
      </p:sp>
      <p:sp>
        <p:nvSpPr>
          <p:cNvPr id="18" name="Text 16"/>
          <p:cNvSpPr txBox="1"/>
          <p:nvPr/>
        </p:nvSpPr>
        <p:spPr>
          <a:xfrm>
            <a:off x="5532120" y="3063240"/>
            <a:ext cx="1874520" cy="640080"/>
          </a:xfrm>
          <a:prstGeom prst="rect">
            <a:avLst/>
          </a:prstGeom>
          <a:noFill/>
          <a:ln/>
        </p:spPr>
        <p:txBody>
          <a:bodyPr wrap="square" lIns="0" tIns="0" rIns="0" bIns="0" rtlCol="0" anchor="ctr"/>
          <a:lstStyle/>
          <a:p>
            <a:pPr algn="ctr" indent="0" marL="0">
              <a:buNone/>
            </a:pPr>
            <a:r>
              <a:rPr lang="en-US" sz="1300" dirty="0">
                <a:solidFill>
                  <a:schemeClr val="tx1"/>
                </a:solidFill>
              </a:rPr>
              <a:t>Berminggu-minggu</a:t>
            </a:r>
            <a:endParaRPr lang="en-US" sz="1300" dirty="0"/>
          </a:p>
        </p:txBody>
      </p:sp>
      <p:sp>
        <p:nvSpPr>
          <p:cNvPr id="19" name="Text 17"/>
          <p:cNvSpPr txBox="1"/>
          <p:nvPr/>
        </p:nvSpPr>
        <p:spPr>
          <a:xfrm>
            <a:off x="7589520" y="3063240"/>
            <a:ext cx="1874520" cy="640080"/>
          </a:xfrm>
          <a:prstGeom prst="rect">
            <a:avLst/>
          </a:prstGeom>
          <a:noFill/>
          <a:ln/>
        </p:spPr>
        <p:txBody>
          <a:bodyPr wrap="square" lIns="0" tIns="0" rIns="0" bIns="0" rtlCol="0" anchor="ctr"/>
          <a:lstStyle/>
          <a:p>
            <a:pPr algn="ctr" indent="0" marL="0">
              <a:buNone/>
            </a:pPr>
            <a:r>
              <a:rPr lang="en-US" sz="1300" dirty="0">
                <a:solidFill>
                  <a:schemeClr val="tx1"/>
                </a:solidFill>
              </a:rPr>
              <a:t>Cepat</a:t>
            </a:r>
            <a:endParaRPr lang="en-US" sz="1300" dirty="0"/>
          </a:p>
        </p:txBody>
      </p:sp>
      <p:sp>
        <p:nvSpPr>
          <p:cNvPr id="20" name="Text 18"/>
          <p:cNvSpPr txBox="1"/>
          <p:nvPr/>
        </p:nvSpPr>
        <p:spPr>
          <a:xfrm>
            <a:off x="9646920" y="3063240"/>
            <a:ext cx="1874520" cy="640080"/>
          </a:xfrm>
          <a:prstGeom prst="rect">
            <a:avLst/>
          </a:prstGeom>
          <a:noFill/>
          <a:ln/>
        </p:spPr>
        <p:txBody>
          <a:bodyPr wrap="square" lIns="0" tIns="0" rIns="0" bIns="0" rtlCol="0" anchor="ctr"/>
          <a:lstStyle/>
          <a:p>
            <a:pPr algn="ctr" indent="0" marL="0">
              <a:buNone/>
            </a:pPr>
            <a:r>
              <a:rPr lang="en-US" sz="1300" dirty="0">
                <a:solidFill>
                  <a:schemeClr val="tx1"/>
                </a:solidFill>
              </a:rPr>
              <a:t>—</a:t>
            </a:r>
            <a:endParaRPr lang="en-US" sz="1300" dirty="0"/>
          </a:p>
        </p:txBody>
      </p:sp>
      <p:sp>
        <p:nvSpPr>
          <p:cNvPr id="21" name="row rule 3"/>
          <p:cNvSpPr/>
          <p:nvPr/>
        </p:nvSpPr>
        <p:spPr>
          <a:xfrm>
            <a:off x="548640" y="3703320"/>
            <a:ext cx="11064240" cy="0"/>
          </a:xfrm>
          <a:prstGeom prst="line">
            <a:avLst/>
          </a:prstGeom>
          <a:noFill/>
          <a:ln w="12700">
            <a:solidFill>
              <a:srgbClr val="E4E1D8"/>
            </a:solidFill>
            <a:prstDash val="solid"/>
          </a:ln>
        </p:spPr>
      </p:sp>
      <p:sp>
        <p:nvSpPr>
          <p:cNvPr id="22" name="Text 20"/>
          <p:cNvSpPr txBox="1"/>
          <p:nvPr/>
        </p:nvSpPr>
        <p:spPr>
          <a:xfrm>
            <a:off x="548640" y="3703320"/>
            <a:ext cx="2834640" cy="640080"/>
          </a:xfrm>
          <a:prstGeom prst="rect">
            <a:avLst/>
          </a:prstGeom>
          <a:noFill/>
          <a:ln/>
        </p:spPr>
        <p:txBody>
          <a:bodyPr wrap="square" lIns="0" tIns="0" rIns="0" bIns="0" rtlCol="0" anchor="ctr"/>
          <a:lstStyle/>
          <a:p>
            <a:pPr indent="0" marL="0">
              <a:buNone/>
            </a:pPr>
            <a:r>
              <a:rPr lang="en-US" sz="1400" b="1" dirty="0">
                <a:solidFill>
                  <a:schemeClr val="tx1"/>
                </a:solidFill>
              </a:rPr>
              <a:t>Rekam medis + odontogram</a:t>
            </a:r>
            <a:endParaRPr lang="en-US" sz="1400" dirty="0"/>
          </a:p>
        </p:txBody>
      </p:sp>
      <p:pic>
        <p:nvPicPr>
          <p:cNvPr id="23" name="cell 2-1" descr="Ya">    </p:cNvPr>
          <p:cNvPicPr>
            <a:picLocks noChangeAspect="1"/>
          </p:cNvPicPr>
          <p:nvPr/>
        </p:nvPicPr>
        <p:blipFill>
          <a:blip r:embed="rId1"/>
          <a:stretch>
            <a:fillRect/>
          </a:stretch>
        </p:blipFill>
        <p:spPr>
          <a:xfrm>
            <a:off x="4274820" y="3886200"/>
            <a:ext cx="274320" cy="274320"/>
          </a:xfrm>
          <a:prstGeom prst="rect">
            <a:avLst/>
          </a:prstGeom>
        </p:spPr>
      </p:pic>
      <p:pic>
        <p:nvPicPr>
          <p:cNvPr id="24" name="cell 2-2" descr="Ya">    </p:cNvPr>
          <p:cNvPicPr>
            <a:picLocks noChangeAspect="1"/>
          </p:cNvPicPr>
          <p:nvPr/>
        </p:nvPicPr>
        <p:blipFill>
          <a:blip r:embed="rId2"/>
          <a:stretch>
            <a:fillRect/>
          </a:stretch>
        </p:blipFill>
        <p:spPr>
          <a:xfrm>
            <a:off x="6332220" y="3886200"/>
            <a:ext cx="274320" cy="274320"/>
          </a:xfrm>
          <a:prstGeom prst="rect">
            <a:avLst/>
          </a:prstGeom>
        </p:spPr>
      </p:pic>
      <p:pic>
        <p:nvPicPr>
          <p:cNvPr id="25" name="cell 2-3" descr="Tidak">    </p:cNvPr>
          <p:cNvPicPr>
            <a:picLocks noChangeAspect="1"/>
          </p:cNvPicPr>
          <p:nvPr/>
        </p:nvPicPr>
        <p:blipFill>
          <a:blip r:embed="rId3"/>
          <a:stretch>
            <a:fillRect/>
          </a:stretch>
        </p:blipFill>
        <p:spPr>
          <a:xfrm>
            <a:off x="8389620" y="3886200"/>
            <a:ext cx="274320" cy="274320"/>
          </a:xfrm>
          <a:prstGeom prst="rect">
            <a:avLst/>
          </a:prstGeom>
        </p:spPr>
      </p:pic>
      <p:pic>
        <p:nvPicPr>
          <p:cNvPr id="26" name="cell 2-4" descr="Tidak">    </p:cNvPr>
          <p:cNvPicPr>
            <a:picLocks noChangeAspect="1"/>
          </p:cNvPicPr>
          <p:nvPr/>
        </p:nvPicPr>
        <p:blipFill>
          <a:blip r:embed="rId4"/>
          <a:stretch>
            <a:fillRect/>
          </a:stretch>
        </p:blipFill>
        <p:spPr>
          <a:xfrm>
            <a:off x="10447020" y="3886200"/>
            <a:ext cx="274320" cy="274320"/>
          </a:xfrm>
          <a:prstGeom prst="rect">
            <a:avLst/>
          </a:prstGeom>
        </p:spPr>
      </p:pic>
      <p:sp>
        <p:nvSpPr>
          <p:cNvPr id="27" name="row rule 4"/>
          <p:cNvSpPr/>
          <p:nvPr/>
        </p:nvSpPr>
        <p:spPr>
          <a:xfrm>
            <a:off x="548640" y="4343400"/>
            <a:ext cx="11064240" cy="0"/>
          </a:xfrm>
          <a:prstGeom prst="line">
            <a:avLst/>
          </a:prstGeom>
          <a:noFill/>
          <a:ln w="12700">
            <a:solidFill>
              <a:srgbClr val="E4E1D8"/>
            </a:solidFill>
            <a:prstDash val="solid"/>
          </a:ln>
        </p:spPr>
      </p:sp>
      <p:sp>
        <p:nvSpPr>
          <p:cNvPr id="28" name="Text 22"/>
          <p:cNvSpPr txBox="1"/>
          <p:nvPr/>
        </p:nvSpPr>
        <p:spPr>
          <a:xfrm>
            <a:off x="548640" y="4343400"/>
            <a:ext cx="2834640" cy="640080"/>
          </a:xfrm>
          <a:prstGeom prst="rect">
            <a:avLst/>
          </a:prstGeom>
          <a:noFill/>
          <a:ln/>
        </p:spPr>
        <p:txBody>
          <a:bodyPr wrap="square" lIns="0" tIns="0" rIns="0" bIns="0" rtlCol="0" anchor="ctr"/>
          <a:lstStyle/>
          <a:p>
            <a:pPr indent="0" marL="0">
              <a:buNone/>
            </a:pPr>
            <a:r>
              <a:rPr lang="en-US" sz="1400" b="1" dirty="0">
                <a:solidFill>
                  <a:schemeClr val="tx1"/>
                </a:solidFill>
              </a:rPr>
              <a:t>Integrasi SATUSEHAT</a:t>
            </a:r>
            <a:endParaRPr lang="en-US" sz="1400" dirty="0"/>
          </a:p>
        </p:txBody>
      </p:sp>
      <p:pic>
        <p:nvPicPr>
          <p:cNvPr id="29" name="cell 3-1" descr="Ya">    </p:cNvPr>
          <p:cNvPicPr>
            <a:picLocks noChangeAspect="1"/>
          </p:cNvPicPr>
          <p:nvPr/>
        </p:nvPicPr>
        <p:blipFill>
          <a:blip r:embed="rId5"/>
          <a:stretch>
            <a:fillRect/>
          </a:stretch>
        </p:blipFill>
        <p:spPr>
          <a:xfrm>
            <a:off x="4274820" y="4526280"/>
            <a:ext cx="274320" cy="274320"/>
          </a:xfrm>
          <a:prstGeom prst="rect">
            <a:avLst/>
          </a:prstGeom>
        </p:spPr>
      </p:pic>
      <p:pic>
        <p:nvPicPr>
          <p:cNvPr id="30" name="cell 3-2" descr="Ya">    </p:cNvPr>
          <p:cNvPicPr>
            <a:picLocks noChangeAspect="1"/>
          </p:cNvPicPr>
          <p:nvPr/>
        </p:nvPicPr>
        <p:blipFill>
          <a:blip r:embed="rId6"/>
          <a:stretch>
            <a:fillRect/>
          </a:stretch>
        </p:blipFill>
        <p:spPr>
          <a:xfrm>
            <a:off x="6332220" y="4526280"/>
            <a:ext cx="274320" cy="274320"/>
          </a:xfrm>
          <a:prstGeom prst="rect">
            <a:avLst/>
          </a:prstGeom>
        </p:spPr>
      </p:pic>
      <p:pic>
        <p:nvPicPr>
          <p:cNvPr id="31" name="cell 3-3" descr="Tidak">    </p:cNvPr>
          <p:cNvPicPr>
            <a:picLocks noChangeAspect="1"/>
          </p:cNvPicPr>
          <p:nvPr/>
        </p:nvPicPr>
        <p:blipFill>
          <a:blip r:embed="rId7"/>
          <a:stretch>
            <a:fillRect/>
          </a:stretch>
        </p:blipFill>
        <p:spPr>
          <a:xfrm>
            <a:off x="8389620" y="4526280"/>
            <a:ext cx="274320" cy="274320"/>
          </a:xfrm>
          <a:prstGeom prst="rect">
            <a:avLst/>
          </a:prstGeom>
        </p:spPr>
      </p:pic>
      <p:pic>
        <p:nvPicPr>
          <p:cNvPr id="32" name="cell 3-4" descr="Tidak">    </p:cNvPr>
          <p:cNvPicPr>
            <a:picLocks noChangeAspect="1"/>
          </p:cNvPicPr>
          <p:nvPr/>
        </p:nvPicPr>
        <p:blipFill>
          <a:blip r:embed="rId8"/>
          <a:stretch>
            <a:fillRect/>
          </a:stretch>
        </p:blipFill>
        <p:spPr>
          <a:xfrm>
            <a:off x="10447020" y="4526280"/>
            <a:ext cx="274320" cy="274320"/>
          </a:xfrm>
          <a:prstGeom prst="rect">
            <a:avLst/>
          </a:prstGeom>
        </p:spPr>
      </p:pic>
      <p:sp>
        <p:nvSpPr>
          <p:cNvPr id="33" name="row rule 5"/>
          <p:cNvSpPr/>
          <p:nvPr/>
        </p:nvSpPr>
        <p:spPr>
          <a:xfrm>
            <a:off x="548640" y="4983480"/>
            <a:ext cx="11064240" cy="0"/>
          </a:xfrm>
          <a:prstGeom prst="line">
            <a:avLst/>
          </a:prstGeom>
          <a:noFill/>
          <a:ln w="12700">
            <a:solidFill>
              <a:srgbClr val="E4E1D8"/>
            </a:solidFill>
            <a:prstDash val="solid"/>
          </a:ln>
        </p:spPr>
      </p:sp>
      <p:sp>
        <p:nvSpPr>
          <p:cNvPr id="34" name="Text 24"/>
          <p:cNvSpPr txBox="1"/>
          <p:nvPr/>
        </p:nvSpPr>
        <p:spPr>
          <a:xfrm>
            <a:off x="548640" y="4983480"/>
            <a:ext cx="2834640" cy="640080"/>
          </a:xfrm>
          <a:prstGeom prst="rect">
            <a:avLst/>
          </a:prstGeom>
          <a:noFill/>
          <a:ln/>
        </p:spPr>
        <p:txBody>
          <a:bodyPr wrap="square" lIns="0" tIns="0" rIns="0" bIns="0" rtlCol="0" anchor="ctr"/>
          <a:lstStyle/>
          <a:p>
            <a:pPr indent="0" marL="0">
              <a:buNone/>
            </a:pPr>
            <a:r>
              <a:rPr lang="en-US" sz="1400" b="1" dirty="0">
                <a:solidFill>
                  <a:schemeClr val="tx1"/>
                </a:solidFill>
              </a:rPr>
              <a:t>Analitik bisnis (LTV, CAC, heatmap)</a:t>
            </a:r>
            <a:endParaRPr lang="en-US" sz="1400" dirty="0"/>
          </a:p>
        </p:txBody>
      </p:sp>
      <p:pic>
        <p:nvPicPr>
          <p:cNvPr id="35" name="cell 4-1" descr="Ya">    </p:cNvPr>
          <p:cNvPicPr>
            <a:picLocks noChangeAspect="1"/>
          </p:cNvPicPr>
          <p:nvPr/>
        </p:nvPicPr>
        <p:blipFill>
          <a:blip r:embed="rId9"/>
          <a:stretch>
            <a:fillRect/>
          </a:stretch>
        </p:blipFill>
        <p:spPr>
          <a:xfrm>
            <a:off x="4274820" y="5166360"/>
            <a:ext cx="274320" cy="274320"/>
          </a:xfrm>
          <a:prstGeom prst="rect">
            <a:avLst/>
          </a:prstGeom>
        </p:spPr>
      </p:pic>
      <p:sp>
        <p:nvSpPr>
          <p:cNvPr id="36" name="Text 25"/>
          <p:cNvSpPr txBox="1"/>
          <p:nvPr/>
        </p:nvSpPr>
        <p:spPr>
          <a:xfrm>
            <a:off x="5440680" y="4983480"/>
            <a:ext cx="2057400" cy="640080"/>
          </a:xfrm>
          <a:prstGeom prst="rect">
            <a:avLst/>
          </a:prstGeom>
          <a:noFill/>
          <a:ln/>
        </p:spPr>
        <p:txBody>
          <a:bodyPr wrap="square" lIns="0" tIns="0" rIns="0" bIns="0" rtlCol="0" anchor="ctr"/>
          <a:lstStyle/>
          <a:p>
            <a:pPr algn="ctr" indent="0" marL="0">
              <a:buNone/>
            </a:pPr>
            <a:r>
              <a:rPr lang="en-US" sz="1300" i="1" dirty="0">
                <a:solidFill>
                  <a:schemeClr val="accent6"/>
                </a:solidFill>
              </a:rPr>
              <a:t>Sebagian</a:t>
            </a:r>
            <a:endParaRPr lang="en-US" sz="1300" dirty="0"/>
          </a:p>
        </p:txBody>
      </p:sp>
      <p:pic>
        <p:nvPicPr>
          <p:cNvPr id="37" name="cell 4-3" descr="Tidak">    </p:cNvPr>
          <p:cNvPicPr>
            <a:picLocks noChangeAspect="1"/>
          </p:cNvPicPr>
          <p:nvPr/>
        </p:nvPicPr>
        <p:blipFill>
          <a:blip r:embed="rId10"/>
          <a:stretch>
            <a:fillRect/>
          </a:stretch>
        </p:blipFill>
        <p:spPr>
          <a:xfrm>
            <a:off x="8389620" y="5166360"/>
            <a:ext cx="274320" cy="274320"/>
          </a:xfrm>
          <a:prstGeom prst="rect">
            <a:avLst/>
          </a:prstGeom>
        </p:spPr>
      </p:pic>
      <p:pic>
        <p:nvPicPr>
          <p:cNvPr id="38" name="cell 4-4" descr="Tidak">    </p:cNvPr>
          <p:cNvPicPr>
            <a:picLocks noChangeAspect="1"/>
          </p:cNvPicPr>
          <p:nvPr/>
        </p:nvPicPr>
        <p:blipFill>
          <a:blip r:embed="rId11"/>
          <a:stretch>
            <a:fillRect/>
          </a:stretch>
        </p:blipFill>
        <p:spPr>
          <a:xfrm>
            <a:off x="10447020" y="5166360"/>
            <a:ext cx="274320" cy="274320"/>
          </a:xfrm>
          <a:prstGeom prst="rect">
            <a:avLst/>
          </a:prstGeom>
        </p:spPr>
      </p:pic>
      <p:sp>
        <p:nvSpPr>
          <p:cNvPr id="39" name="row rule 6"/>
          <p:cNvSpPr/>
          <p:nvPr/>
        </p:nvSpPr>
        <p:spPr>
          <a:xfrm>
            <a:off x="548640" y="5623560"/>
            <a:ext cx="11064240" cy="0"/>
          </a:xfrm>
          <a:prstGeom prst="line">
            <a:avLst/>
          </a:prstGeom>
          <a:noFill/>
          <a:ln w="12700">
            <a:solidFill>
              <a:srgbClr val="E4E1D8"/>
            </a:solidFill>
            <a:prstDash val="solid"/>
          </a:ln>
        </p:spPr>
      </p:sp>
      <p:sp>
        <p:nvSpPr>
          <p:cNvPr id="40" name="Text 27"/>
          <p:cNvSpPr txBox="1"/>
          <p:nvPr/>
        </p:nvSpPr>
        <p:spPr>
          <a:xfrm>
            <a:off x="548640" y="5623560"/>
            <a:ext cx="2834640" cy="640080"/>
          </a:xfrm>
          <a:prstGeom prst="rect">
            <a:avLst/>
          </a:prstGeom>
          <a:noFill/>
          <a:ln/>
        </p:spPr>
        <p:txBody>
          <a:bodyPr wrap="square" lIns="0" tIns="0" rIns="0" bIns="0" rtlCol="0" anchor="ctr"/>
          <a:lstStyle/>
          <a:p>
            <a:pPr indent="0" marL="0">
              <a:buNone/>
            </a:pPr>
            <a:r>
              <a:rPr lang="en-US" sz="1400" b="1" dirty="0">
                <a:solidFill>
                  <a:schemeClr val="tx1"/>
                </a:solidFill>
              </a:rPr>
              <a:t>API website &amp; reservasi online</a:t>
            </a:r>
            <a:endParaRPr lang="en-US" sz="1400" dirty="0"/>
          </a:p>
        </p:txBody>
      </p:sp>
      <p:pic>
        <p:nvPicPr>
          <p:cNvPr id="41" name="cell 5-1" descr="Ya">    </p:cNvPr>
          <p:cNvPicPr>
            <a:picLocks noChangeAspect="1"/>
          </p:cNvPicPr>
          <p:nvPr/>
        </p:nvPicPr>
        <p:blipFill>
          <a:blip r:embed="rId12"/>
          <a:stretch>
            <a:fillRect/>
          </a:stretch>
        </p:blipFill>
        <p:spPr>
          <a:xfrm>
            <a:off x="4274820" y="5806440"/>
            <a:ext cx="274320" cy="274320"/>
          </a:xfrm>
          <a:prstGeom prst="rect">
            <a:avLst/>
          </a:prstGeom>
        </p:spPr>
      </p:pic>
      <p:sp>
        <p:nvSpPr>
          <p:cNvPr id="42" name="Text 28"/>
          <p:cNvSpPr txBox="1"/>
          <p:nvPr/>
        </p:nvSpPr>
        <p:spPr>
          <a:xfrm>
            <a:off x="5440680" y="5623560"/>
            <a:ext cx="2057400" cy="640080"/>
          </a:xfrm>
          <a:prstGeom prst="rect">
            <a:avLst/>
          </a:prstGeom>
          <a:noFill/>
          <a:ln/>
        </p:spPr>
        <p:txBody>
          <a:bodyPr wrap="square" lIns="0" tIns="0" rIns="0" bIns="0" rtlCol="0" anchor="ctr"/>
          <a:lstStyle/>
          <a:p>
            <a:pPr algn="ctr" indent="0" marL="0">
              <a:buNone/>
            </a:pPr>
            <a:r>
              <a:rPr lang="en-US" sz="1300" i="1" dirty="0">
                <a:solidFill>
                  <a:schemeClr val="accent6"/>
                </a:solidFill>
              </a:rPr>
              <a:t>Sebagian</a:t>
            </a:r>
            <a:endParaRPr lang="en-US" sz="1300" dirty="0"/>
          </a:p>
        </p:txBody>
      </p:sp>
      <p:pic>
        <p:nvPicPr>
          <p:cNvPr id="43" name="cell 5-3" descr="Tidak">    </p:cNvPr>
          <p:cNvPicPr>
            <a:picLocks noChangeAspect="1"/>
          </p:cNvPicPr>
          <p:nvPr/>
        </p:nvPicPr>
        <p:blipFill>
          <a:blip r:embed="rId13"/>
          <a:stretch>
            <a:fillRect/>
          </a:stretch>
        </p:blipFill>
        <p:spPr>
          <a:xfrm>
            <a:off x="8389620" y="5806440"/>
            <a:ext cx="274320" cy="274320"/>
          </a:xfrm>
          <a:prstGeom prst="rect">
            <a:avLst/>
          </a:prstGeom>
        </p:spPr>
      </p:pic>
      <p:pic>
        <p:nvPicPr>
          <p:cNvPr id="44" name="cell 5-4" descr="Tidak">    </p:cNvPr>
          <p:cNvPicPr>
            <a:picLocks noChangeAspect="1"/>
          </p:cNvPicPr>
          <p:nvPr/>
        </p:nvPicPr>
        <p:blipFill>
          <a:blip r:embed="rId14"/>
          <a:stretch>
            <a:fillRect/>
          </a:stretch>
        </p:blipFill>
        <p:spPr>
          <a:xfrm>
            <a:off x="10447020" y="5806440"/>
            <a:ext cx="274320" cy="274320"/>
          </a:xfrm>
          <a:prstGeom prst="rect">
            <a:avLst/>
          </a:prstGeom>
        </p:spPr>
      </p:pic>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2"/>
                </a:solidFill>
              </a:rPr>
              <a:t>TRAKSI</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Sudah dipakai setiap hari di klinik pilot kami</a:t>
            </a:r>
            <a:endParaRPr lang="en-US" sz="3200" dirty="0"/>
          </a:p>
        </p:txBody>
      </p:sp>
      <p:sp>
        <p:nvSpPr>
          <p:cNvPr id="4" name="kpi card 1"/>
          <p:cNvSpPr/>
          <p:nvPr/>
        </p:nvSpPr>
        <p:spPr>
          <a:xfrm>
            <a:off x="548640" y="1828800"/>
            <a:ext cx="2587752" cy="1737360"/>
          </a:xfrm>
          <a:prstGeom prst="roundRect">
            <a:avLst>
              <a:gd name="adj" fmla="val 7368"/>
            </a:avLst>
          </a:prstGeom>
          <a:solidFill>
            <a:srgbClr val="7ED957"/>
          </a:solidFill>
          <a:ln/>
        </p:spPr>
      </p:sp>
      <p:sp>
        <p:nvSpPr>
          <p:cNvPr id="5" name="Text 3"/>
          <p:cNvSpPr txBox="1"/>
          <p:nvPr/>
        </p:nvSpPr>
        <p:spPr>
          <a:xfrm>
            <a:off x="822960" y="2011680"/>
            <a:ext cx="2103120" cy="822960"/>
          </a:xfrm>
          <a:prstGeom prst="rect">
            <a:avLst/>
          </a:prstGeom>
          <a:noFill/>
          <a:ln/>
        </p:spPr>
        <p:txBody>
          <a:bodyPr wrap="square" lIns="0" tIns="0" rIns="0" bIns="0" rtlCol="0" anchor="t"/>
          <a:lstStyle/>
          <a:p>
            <a:pPr indent="0" marL="0">
              <a:buNone/>
            </a:pPr>
            <a:r>
              <a:rPr lang="en-US" sz="4400" b="1" dirty="0">
                <a:solidFill>
                  <a:srgbClr val="17160F"/>
                </a:solidFill>
                <a:latin typeface="Arial" pitchFamily="34" charset="0"/>
                <a:ea typeface="Arial" pitchFamily="34" charset="-122"/>
                <a:cs typeface="Arial" pitchFamily="34" charset="-120"/>
              </a:rPr>
              <a:t>1</a:t>
            </a:r>
            <a:endParaRPr lang="en-US" sz="4400" dirty="0"/>
          </a:p>
        </p:txBody>
      </p:sp>
      <p:sp>
        <p:nvSpPr>
          <p:cNvPr id="6" name="Text 4"/>
          <p:cNvSpPr txBox="1"/>
          <p:nvPr/>
        </p:nvSpPr>
        <p:spPr>
          <a:xfrm>
            <a:off x="822960" y="2834640"/>
            <a:ext cx="2103120" cy="594360"/>
          </a:xfrm>
          <a:prstGeom prst="rect">
            <a:avLst/>
          </a:prstGeom>
          <a:noFill/>
          <a:ln/>
        </p:spPr>
        <p:txBody>
          <a:bodyPr wrap="square" lIns="0" tIns="0" rIns="0" bIns="0" rtlCol="0" anchor="t"/>
          <a:lstStyle/>
          <a:p>
            <a:pPr indent="0" marL="0">
              <a:buNone/>
            </a:pPr>
            <a:r>
              <a:rPr lang="en-US" sz="1400" dirty="0">
                <a:solidFill>
                  <a:srgbClr val="2B6B22"/>
                </a:solidFill>
              </a:rPr>
              <a:t>klinik pilot — Zanak Dental Care</a:t>
            </a:r>
            <a:endParaRPr lang="en-US" sz="1400" dirty="0"/>
          </a:p>
        </p:txBody>
      </p:sp>
      <p:sp>
        <p:nvSpPr>
          <p:cNvPr id="7" name="kpi card 2"/>
          <p:cNvSpPr/>
          <p:nvPr/>
        </p:nvSpPr>
        <p:spPr>
          <a:xfrm>
            <a:off x="3364992" y="1828800"/>
            <a:ext cx="2587752" cy="1737360"/>
          </a:xfrm>
          <a:prstGeom prst="roundRect">
            <a:avLst>
              <a:gd name="adj" fmla="val 7368"/>
            </a:avLst>
          </a:prstGeom>
          <a:solidFill>
            <a:srgbClr val="7ED957"/>
          </a:solidFill>
          <a:ln/>
        </p:spPr>
      </p:sp>
      <p:sp>
        <p:nvSpPr>
          <p:cNvPr id="8" name="Text 6"/>
          <p:cNvSpPr txBox="1"/>
          <p:nvPr/>
        </p:nvSpPr>
        <p:spPr>
          <a:xfrm>
            <a:off x="3639312" y="2011680"/>
            <a:ext cx="2103120" cy="822960"/>
          </a:xfrm>
          <a:prstGeom prst="rect">
            <a:avLst/>
          </a:prstGeom>
          <a:noFill/>
          <a:ln/>
        </p:spPr>
        <p:txBody>
          <a:bodyPr wrap="square" lIns="0" tIns="0" rIns="0" bIns="0" rtlCol="0" anchor="t"/>
          <a:lstStyle/>
          <a:p>
            <a:pPr indent="0" marL="0">
              <a:buNone/>
            </a:pPr>
            <a:r>
              <a:rPr lang="en-US" sz="4400" b="1" dirty="0">
                <a:solidFill>
                  <a:srgbClr val="17160F"/>
                </a:solidFill>
                <a:latin typeface="Arial" pitchFamily="34" charset="0"/>
                <a:ea typeface="Arial" pitchFamily="34" charset="-122"/>
                <a:cs typeface="Arial" pitchFamily="34" charset="-120"/>
              </a:rPr>
              <a:t>110</a:t>
            </a:r>
            <a:endParaRPr lang="en-US" sz="4400" dirty="0"/>
          </a:p>
        </p:txBody>
      </p:sp>
      <p:sp>
        <p:nvSpPr>
          <p:cNvPr id="9" name="Text 7"/>
          <p:cNvSpPr txBox="1"/>
          <p:nvPr/>
        </p:nvSpPr>
        <p:spPr>
          <a:xfrm>
            <a:off x="3639312" y="2834640"/>
            <a:ext cx="2103120" cy="594360"/>
          </a:xfrm>
          <a:prstGeom prst="rect">
            <a:avLst/>
          </a:prstGeom>
          <a:noFill/>
          <a:ln/>
        </p:spPr>
        <p:txBody>
          <a:bodyPr wrap="square" lIns="0" tIns="0" rIns="0" bIns="0" rtlCol="0" anchor="t"/>
          <a:lstStyle/>
          <a:p>
            <a:pPr indent="0" marL="0">
              <a:buNone/>
            </a:pPr>
            <a:r>
              <a:rPr lang="en-US" sz="1400" dirty="0">
                <a:solidFill>
                  <a:srgbClr val="2B6B22"/>
                </a:solidFill>
              </a:rPr>
              <a:t>pasien tercatat dalam 2 bulan</a:t>
            </a:r>
            <a:endParaRPr lang="en-US" sz="1400" dirty="0"/>
          </a:p>
        </p:txBody>
      </p:sp>
      <p:sp>
        <p:nvSpPr>
          <p:cNvPr id="10" name="kpi card 3"/>
          <p:cNvSpPr/>
          <p:nvPr/>
        </p:nvSpPr>
        <p:spPr>
          <a:xfrm>
            <a:off x="6181344" y="1828800"/>
            <a:ext cx="2587752" cy="1737360"/>
          </a:xfrm>
          <a:prstGeom prst="roundRect">
            <a:avLst>
              <a:gd name="adj" fmla="val 7368"/>
            </a:avLst>
          </a:prstGeom>
          <a:solidFill>
            <a:srgbClr val="242320"/>
          </a:solidFill>
          <a:ln/>
        </p:spPr>
      </p:sp>
      <p:sp>
        <p:nvSpPr>
          <p:cNvPr id="11" name="Text 9"/>
          <p:cNvSpPr txBox="1"/>
          <p:nvPr/>
        </p:nvSpPr>
        <p:spPr>
          <a:xfrm>
            <a:off x="6455664" y="2011680"/>
            <a:ext cx="2103120" cy="822960"/>
          </a:xfrm>
          <a:prstGeom prst="rect">
            <a:avLst/>
          </a:prstGeom>
          <a:noFill/>
          <a:ln/>
        </p:spPr>
        <p:txBody>
          <a:bodyPr wrap="square" lIns="0" tIns="0" rIns="0" bIns="0" rtlCol="0" anchor="t"/>
          <a:lstStyle/>
          <a:p>
            <a:pPr indent="0" marL="0">
              <a:buNone/>
            </a:pPr>
            <a:r>
              <a:rPr lang="en-US" sz="4400" b="1" dirty="0">
                <a:solidFill>
                  <a:srgbClr val="7ED957"/>
                </a:solidFill>
                <a:latin typeface="Arial" pitchFamily="34" charset="0"/>
                <a:ea typeface="Arial" pitchFamily="34" charset="-122"/>
                <a:cs typeface="Arial" pitchFamily="34" charset="-120"/>
              </a:rPr>
              <a:t>47</a:t>
            </a:r>
            <a:endParaRPr lang="en-US" sz="4400" dirty="0"/>
          </a:p>
        </p:txBody>
      </p:sp>
      <p:sp>
        <p:nvSpPr>
          <p:cNvPr id="12" name="Text 10"/>
          <p:cNvSpPr txBox="1"/>
          <p:nvPr/>
        </p:nvSpPr>
        <p:spPr>
          <a:xfrm>
            <a:off x="6455664" y="2834640"/>
            <a:ext cx="2103120" cy="594360"/>
          </a:xfrm>
          <a:prstGeom prst="rect">
            <a:avLst/>
          </a:prstGeom>
          <a:noFill/>
          <a:ln/>
        </p:spPr>
        <p:txBody>
          <a:bodyPr wrap="square" lIns="0" tIns="0" rIns="0" bIns="0" rtlCol="0" anchor="t"/>
          <a:lstStyle/>
          <a:p>
            <a:pPr indent="0" marL="0">
              <a:buNone/>
            </a:pPr>
            <a:r>
              <a:rPr lang="en-US" sz="1400" dirty="0">
                <a:solidFill>
                  <a:srgbClr val="B9B6AA"/>
                </a:solidFill>
              </a:rPr>
              <a:t>modul backend live (NestJS + MySQL)</a:t>
            </a:r>
            <a:endParaRPr lang="en-US" sz="1400" dirty="0"/>
          </a:p>
        </p:txBody>
      </p:sp>
      <p:sp>
        <p:nvSpPr>
          <p:cNvPr id="13" name="kpi card 4"/>
          <p:cNvSpPr/>
          <p:nvPr/>
        </p:nvSpPr>
        <p:spPr>
          <a:xfrm>
            <a:off x="8997696" y="1828800"/>
            <a:ext cx="2587752" cy="1737360"/>
          </a:xfrm>
          <a:prstGeom prst="roundRect">
            <a:avLst>
              <a:gd name="adj" fmla="val 7368"/>
            </a:avLst>
          </a:prstGeom>
          <a:solidFill>
            <a:srgbClr val="242320"/>
          </a:solidFill>
          <a:ln/>
        </p:spPr>
      </p:sp>
      <p:sp>
        <p:nvSpPr>
          <p:cNvPr id="14" name="Text 12"/>
          <p:cNvSpPr txBox="1"/>
          <p:nvPr/>
        </p:nvSpPr>
        <p:spPr>
          <a:xfrm>
            <a:off x="9272016" y="2011680"/>
            <a:ext cx="2103120" cy="822960"/>
          </a:xfrm>
          <a:prstGeom prst="rect">
            <a:avLst/>
          </a:prstGeom>
          <a:noFill/>
          <a:ln/>
        </p:spPr>
        <p:txBody>
          <a:bodyPr wrap="square" lIns="0" tIns="0" rIns="0" bIns="0" rtlCol="0" anchor="t"/>
          <a:lstStyle/>
          <a:p>
            <a:pPr indent="0" marL="0">
              <a:buNone/>
            </a:pPr>
            <a:r>
              <a:rPr lang="en-US" sz="4400" b="1" dirty="0">
                <a:solidFill>
                  <a:srgbClr val="7ED957"/>
                </a:solidFill>
                <a:latin typeface="Arial" pitchFamily="34" charset="0"/>
                <a:ea typeface="Arial" pitchFamily="34" charset="-122"/>
                <a:cs typeface="Arial" pitchFamily="34" charset="-120"/>
              </a:rPr>
              <a:t>60+</a:t>
            </a:r>
            <a:endParaRPr lang="en-US" sz="4400" dirty="0"/>
          </a:p>
        </p:txBody>
      </p:sp>
      <p:sp>
        <p:nvSpPr>
          <p:cNvPr id="15" name="Text 13"/>
          <p:cNvSpPr txBox="1"/>
          <p:nvPr/>
        </p:nvSpPr>
        <p:spPr>
          <a:xfrm>
            <a:off x="9272016" y="2834640"/>
            <a:ext cx="2103120" cy="594360"/>
          </a:xfrm>
          <a:prstGeom prst="rect">
            <a:avLst/>
          </a:prstGeom>
          <a:noFill/>
          <a:ln/>
        </p:spPr>
        <p:txBody>
          <a:bodyPr wrap="square" lIns="0" tIns="0" rIns="0" bIns="0" rtlCol="0" anchor="t"/>
          <a:lstStyle/>
          <a:p>
            <a:pPr indent="0" marL="0">
              <a:buNone/>
            </a:pPr>
            <a:r>
              <a:rPr lang="en-US" sz="1400" dirty="0">
                <a:solidFill>
                  <a:srgbClr val="B9B6AA"/>
                </a:solidFill>
              </a:rPr>
              <a:t>halaman aplikasi web (Next.js)</a:t>
            </a:r>
            <a:endParaRPr lang="en-US" sz="1400" dirty="0"/>
          </a:p>
        </p:txBody>
      </p:sp>
      <p:pic>
        <p:nvPicPr>
          <p:cNvPr id="16" name="done check 1" descr="Ikon">    </p:cNvPr>
          <p:cNvPicPr>
            <a:picLocks noChangeAspect="1"/>
          </p:cNvPicPr>
          <p:nvPr/>
        </p:nvPicPr>
        <p:blipFill>
          <a:blip r:embed="rId1"/>
          <a:stretch>
            <a:fillRect/>
          </a:stretch>
        </p:blipFill>
        <p:spPr>
          <a:xfrm>
            <a:off x="548640" y="4023360"/>
            <a:ext cx="274320" cy="274320"/>
          </a:xfrm>
          <a:prstGeom prst="rect">
            <a:avLst/>
          </a:prstGeom>
        </p:spPr>
      </p:pic>
      <p:sp>
        <p:nvSpPr>
          <p:cNvPr id="17" name="Text 14"/>
          <p:cNvSpPr txBox="1"/>
          <p:nvPr/>
        </p:nvSpPr>
        <p:spPr>
          <a:xfrm>
            <a:off x="1005840" y="3977640"/>
            <a:ext cx="5029200" cy="548640"/>
          </a:xfrm>
          <a:prstGeom prst="rect">
            <a:avLst/>
          </a:prstGeom>
          <a:noFill/>
          <a:ln/>
        </p:spPr>
        <p:txBody>
          <a:bodyPr wrap="square" lIns="0" tIns="0" rIns="0" bIns="0" rtlCol="0" anchor="t"/>
          <a:lstStyle/>
          <a:p>
            <a:pPr indent="0" marL="0">
              <a:buNone/>
            </a:pPr>
            <a:r>
              <a:rPr lang="en-US" sz="1500" dirty="0">
                <a:solidFill>
                  <a:srgbClr val="F3F1EA"/>
                </a:solidFill>
              </a:rPr>
              <a:t>Rekam medis, odontogram, billing, farmasi, gudang — live</a:t>
            </a:r>
            <a:endParaRPr lang="en-US" sz="1500" dirty="0"/>
          </a:p>
        </p:txBody>
      </p:sp>
      <p:pic>
        <p:nvPicPr>
          <p:cNvPr id="18" name="done check 2" descr="Ikon">    </p:cNvPr>
          <p:cNvPicPr>
            <a:picLocks noChangeAspect="1"/>
          </p:cNvPicPr>
          <p:nvPr/>
        </p:nvPicPr>
        <p:blipFill>
          <a:blip r:embed="rId2"/>
          <a:stretch>
            <a:fillRect/>
          </a:stretch>
        </p:blipFill>
        <p:spPr>
          <a:xfrm>
            <a:off x="6172200" y="4023360"/>
            <a:ext cx="274320" cy="274320"/>
          </a:xfrm>
          <a:prstGeom prst="rect">
            <a:avLst/>
          </a:prstGeom>
        </p:spPr>
      </p:pic>
      <p:sp>
        <p:nvSpPr>
          <p:cNvPr id="19" name="Text 15"/>
          <p:cNvSpPr txBox="1"/>
          <p:nvPr/>
        </p:nvSpPr>
        <p:spPr>
          <a:xfrm>
            <a:off x="6629400" y="3977640"/>
            <a:ext cx="5029200" cy="548640"/>
          </a:xfrm>
          <a:prstGeom prst="rect">
            <a:avLst/>
          </a:prstGeom>
          <a:noFill/>
          <a:ln/>
        </p:spPr>
        <p:txBody>
          <a:bodyPr wrap="square" lIns="0" tIns="0" rIns="0" bIns="0" rtlCol="0" anchor="t"/>
          <a:lstStyle/>
          <a:p>
            <a:pPr indent="0" marL="0">
              <a:buNone/>
            </a:pPr>
            <a:r>
              <a:rPr lang="en-US" sz="1500" dirty="0">
                <a:solidFill>
                  <a:srgbClr val="F3F1EA"/>
                </a:solidFill>
              </a:rPr>
              <a:t>Integrasi SATUSEHAT: onboarding, KYC, sinkronisasi FHIR</a:t>
            </a:r>
            <a:endParaRPr lang="en-US" sz="1500" dirty="0"/>
          </a:p>
        </p:txBody>
      </p:sp>
      <p:pic>
        <p:nvPicPr>
          <p:cNvPr id="20" name="done check 3" descr="Ikon">    </p:cNvPr>
          <p:cNvPicPr>
            <a:picLocks noChangeAspect="1"/>
          </p:cNvPicPr>
          <p:nvPr/>
        </p:nvPicPr>
        <p:blipFill>
          <a:blip r:embed="rId3"/>
          <a:stretch>
            <a:fillRect/>
          </a:stretch>
        </p:blipFill>
        <p:spPr>
          <a:xfrm>
            <a:off x="548640" y="4709160"/>
            <a:ext cx="274320" cy="274320"/>
          </a:xfrm>
          <a:prstGeom prst="rect">
            <a:avLst/>
          </a:prstGeom>
        </p:spPr>
      </p:pic>
      <p:sp>
        <p:nvSpPr>
          <p:cNvPr id="21" name="Text 16"/>
          <p:cNvSpPr txBox="1"/>
          <p:nvPr/>
        </p:nvSpPr>
        <p:spPr>
          <a:xfrm>
            <a:off x="1005840" y="4663440"/>
            <a:ext cx="5029200" cy="548640"/>
          </a:xfrm>
          <a:prstGeom prst="rect">
            <a:avLst/>
          </a:prstGeom>
          <a:noFill/>
          <a:ln/>
        </p:spPr>
        <p:txBody>
          <a:bodyPr wrap="square" lIns="0" tIns="0" rIns="0" bIns="0" rtlCol="0" anchor="t"/>
          <a:lstStyle/>
          <a:p>
            <a:pPr indent="0" marL="0">
              <a:buNone/>
            </a:pPr>
            <a:r>
              <a:rPr lang="en-US" sz="1500" dirty="0">
                <a:solidFill>
                  <a:srgbClr val="F3F1EA"/>
                </a:solidFill>
              </a:rPr>
              <a:t>Langganan &amp; pembayaran otomatis, multi-klinik, super-admin</a:t>
            </a:r>
            <a:endParaRPr lang="en-US" sz="1500" dirty="0"/>
          </a:p>
        </p:txBody>
      </p:sp>
      <p:pic>
        <p:nvPicPr>
          <p:cNvPr id="22" name="done check 4" descr="Ikon">    </p:cNvPr>
          <p:cNvPicPr>
            <a:picLocks noChangeAspect="1"/>
          </p:cNvPicPr>
          <p:nvPr/>
        </p:nvPicPr>
        <p:blipFill>
          <a:blip r:embed="rId4"/>
          <a:stretch>
            <a:fillRect/>
          </a:stretch>
        </p:blipFill>
        <p:spPr>
          <a:xfrm>
            <a:off x="6172200" y="4709160"/>
            <a:ext cx="274320" cy="274320"/>
          </a:xfrm>
          <a:prstGeom prst="rect">
            <a:avLst/>
          </a:prstGeom>
        </p:spPr>
      </p:pic>
      <p:sp>
        <p:nvSpPr>
          <p:cNvPr id="23" name="Text 17"/>
          <p:cNvSpPr txBox="1"/>
          <p:nvPr/>
        </p:nvSpPr>
        <p:spPr>
          <a:xfrm>
            <a:off x="6629400" y="4663440"/>
            <a:ext cx="5029200" cy="548640"/>
          </a:xfrm>
          <a:prstGeom prst="rect">
            <a:avLst/>
          </a:prstGeom>
          <a:noFill/>
          <a:ln/>
        </p:spPr>
        <p:txBody>
          <a:bodyPr wrap="square" lIns="0" tIns="0" rIns="0" bIns="0" rtlCol="0" anchor="t"/>
          <a:lstStyle/>
          <a:p>
            <a:pPr indent="0" marL="0">
              <a:buNone/>
            </a:pPr>
            <a:r>
              <a:rPr lang="en-US" sz="1500" dirty="0">
                <a:solidFill>
                  <a:srgbClr val="F3F1EA"/>
                </a:solidFill>
              </a:rPr>
              <a:t>Keamanan: enkripsi NIK, audit log, RBAC, kunci login</a:t>
            </a:r>
            <a:endParaRPr lang="en-US" sz="1500" dirty="0"/>
          </a:p>
        </p:txBody>
      </p:sp>
      <p:sp>
        <p:nvSpPr>
          <p:cNvPr id="24" name="Text 18"/>
          <p:cNvSpPr txBox="1"/>
          <p:nvPr/>
        </p:nvSpPr>
        <p:spPr>
          <a:xfrm>
            <a:off x="548640" y="5486400"/>
            <a:ext cx="10972800" cy="365760"/>
          </a:xfrm>
          <a:prstGeom prst="rect">
            <a:avLst/>
          </a:prstGeom>
          <a:noFill/>
          <a:ln/>
        </p:spPr>
        <p:txBody>
          <a:bodyPr wrap="square" lIns="0" tIns="0" rIns="0" bIns="0" rtlCol="0" anchor="t"/>
          <a:lstStyle/>
          <a:p>
            <a:pPr indent="0" marL="0">
              <a:buNone/>
            </a:pPr>
            <a:r>
              <a:rPr lang="en-US" sz="1500" b="1" dirty="0">
                <a:solidFill>
                  <a:srgbClr val="7ED957"/>
                </a:solidFill>
              </a:rPr>
              <a:t>Langkah berikut: 3–5 klinik eksternal ikut uji coba sebelum akhir 2026.</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B6A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GO-TO-MARKET</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Mulai dari klinik gigi, tumbuh lewat komunitas</a:t>
            </a:r>
            <a:endParaRPr lang="en-US" sz="3200" dirty="0"/>
          </a:p>
        </p:txBody>
      </p:sp>
      <p:sp>
        <p:nvSpPr>
          <p:cNvPr id="4" name="gtm card 1"/>
          <p:cNvSpPr/>
          <p:nvPr/>
        </p:nvSpPr>
        <p:spPr>
          <a:xfrm>
            <a:off x="548640" y="1828800"/>
            <a:ext cx="5440680"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5" name="gtm icon 1 bg"/>
          <p:cNvSpPr/>
          <p:nvPr/>
        </p:nvSpPr>
        <p:spPr>
          <a:xfrm>
            <a:off x="822960" y="2103120"/>
            <a:ext cx="566928" cy="566928"/>
          </a:xfrm>
          <a:prstGeom prst="ellipse">
            <a:avLst/>
          </a:prstGeom>
          <a:solidFill>
            <a:srgbClr val="17160F"/>
          </a:solidFill>
          <a:ln/>
        </p:spPr>
      </p:sp>
      <p:pic>
        <p:nvPicPr>
          <p:cNvPr id="6" name="gtm icon 1" descr="Ikon">    </p:cNvPr>
          <p:cNvPicPr>
            <a:picLocks noChangeAspect="1"/>
          </p:cNvPicPr>
          <p:nvPr/>
        </p:nvPicPr>
        <p:blipFill>
          <a:blip r:embed="rId1"/>
          <a:stretch>
            <a:fillRect/>
          </a:stretch>
        </p:blipFill>
        <p:spPr>
          <a:xfrm>
            <a:off x="964692" y="2244852"/>
            <a:ext cx="283464" cy="283464"/>
          </a:xfrm>
          <a:prstGeom prst="rect">
            <a:avLst/>
          </a:prstGeom>
        </p:spPr>
      </p:pic>
      <p:sp>
        <p:nvSpPr>
          <p:cNvPr id="7" name="Text 4"/>
          <p:cNvSpPr txBox="1"/>
          <p:nvPr/>
        </p:nvSpPr>
        <p:spPr>
          <a:xfrm>
            <a:off x="1645920" y="2103120"/>
            <a:ext cx="411480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1. Beachhead: klinik gigi</a:t>
            </a:r>
            <a:endParaRPr lang="en-US" sz="1800" dirty="0"/>
          </a:p>
        </p:txBody>
      </p:sp>
      <p:sp>
        <p:nvSpPr>
          <p:cNvPr id="8" name="Text 5"/>
          <p:cNvSpPr txBox="1"/>
          <p:nvPr/>
        </p:nvSpPr>
        <p:spPr>
          <a:xfrm>
            <a:off x="1645920" y="2560320"/>
            <a:ext cx="4114800" cy="960120"/>
          </a:xfrm>
          <a:prstGeom prst="rect">
            <a:avLst/>
          </a:prstGeom>
          <a:noFill/>
          <a:ln/>
        </p:spPr>
        <p:txBody>
          <a:bodyPr wrap="square" lIns="0" tIns="0" rIns="0" bIns="0" rtlCol="0" anchor="t"/>
          <a:lstStyle/>
          <a:p>
            <a:pPr indent="0" marL="0">
              <a:buNone/>
            </a:pPr>
            <a:r>
              <a:rPr lang="en-US" sz="1400" dirty="0">
                <a:solidFill>
                  <a:schemeClr val="accent5"/>
                </a:solidFill>
              </a:rPr>
              <a:t>Odontogram &amp; fee share dokter jadi pembeda tajam. Mulai di Sumatera Barat lalu Sumatera.</a:t>
            </a:r>
            <a:endParaRPr lang="en-US" sz="1400" dirty="0"/>
          </a:p>
        </p:txBody>
      </p:sp>
      <p:sp>
        <p:nvSpPr>
          <p:cNvPr id="9" name="gtm card 2"/>
          <p:cNvSpPr/>
          <p:nvPr/>
        </p:nvSpPr>
        <p:spPr>
          <a:xfrm>
            <a:off x="6172200" y="1828800"/>
            <a:ext cx="5440680"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10" name="gtm icon 2 bg"/>
          <p:cNvSpPr/>
          <p:nvPr/>
        </p:nvSpPr>
        <p:spPr>
          <a:xfrm>
            <a:off x="6446520" y="2103120"/>
            <a:ext cx="566928" cy="566928"/>
          </a:xfrm>
          <a:prstGeom prst="ellipse">
            <a:avLst/>
          </a:prstGeom>
          <a:solidFill>
            <a:srgbClr val="17160F"/>
          </a:solidFill>
          <a:ln/>
        </p:spPr>
      </p:sp>
      <p:pic>
        <p:nvPicPr>
          <p:cNvPr id="11" name="gtm icon 2" descr="Ikon">    </p:cNvPr>
          <p:cNvPicPr>
            <a:picLocks noChangeAspect="1"/>
          </p:cNvPicPr>
          <p:nvPr/>
        </p:nvPicPr>
        <p:blipFill>
          <a:blip r:embed="rId2"/>
          <a:stretch>
            <a:fillRect/>
          </a:stretch>
        </p:blipFill>
        <p:spPr>
          <a:xfrm>
            <a:off x="6588252" y="2244852"/>
            <a:ext cx="283464" cy="283464"/>
          </a:xfrm>
          <a:prstGeom prst="rect">
            <a:avLst/>
          </a:prstGeom>
        </p:spPr>
      </p:pic>
      <p:sp>
        <p:nvSpPr>
          <p:cNvPr id="12" name="Text 8"/>
          <p:cNvSpPr txBox="1"/>
          <p:nvPr/>
        </p:nvSpPr>
        <p:spPr>
          <a:xfrm>
            <a:off x="7269480" y="2103120"/>
            <a:ext cx="411480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2. Komunitas profesi</a:t>
            </a:r>
            <a:endParaRPr lang="en-US" sz="1800" dirty="0"/>
          </a:p>
        </p:txBody>
      </p:sp>
      <p:sp>
        <p:nvSpPr>
          <p:cNvPr id="13" name="Text 9"/>
          <p:cNvSpPr txBox="1"/>
          <p:nvPr/>
        </p:nvSpPr>
        <p:spPr>
          <a:xfrm>
            <a:off x="7269480" y="2560320"/>
            <a:ext cx="4114800" cy="960120"/>
          </a:xfrm>
          <a:prstGeom prst="rect">
            <a:avLst/>
          </a:prstGeom>
          <a:noFill/>
          <a:ln/>
        </p:spPr>
        <p:txBody>
          <a:bodyPr wrap="square" lIns="0" tIns="0" rIns="0" bIns="0" rtlCol="0" anchor="t"/>
          <a:lstStyle/>
          <a:p>
            <a:pPr indent="0" marL="0">
              <a:buNone/>
            </a:pPr>
            <a:r>
              <a:rPr lang="en-US" sz="1400" dirty="0">
                <a:solidFill>
                  <a:schemeClr val="accent5"/>
                </a:solidFill>
              </a:rPr>
              <a:t>Kemitraan dengan PDGI/IDI cabang, seminar SATUSEHAT &amp; RME, webinar akreditasi.</a:t>
            </a:r>
            <a:endParaRPr lang="en-US" sz="1400" dirty="0"/>
          </a:p>
        </p:txBody>
      </p:sp>
      <p:sp>
        <p:nvSpPr>
          <p:cNvPr id="14" name="gtm card 3"/>
          <p:cNvSpPr/>
          <p:nvPr/>
        </p:nvSpPr>
        <p:spPr>
          <a:xfrm>
            <a:off x="548640" y="3931920"/>
            <a:ext cx="5440680"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15" name="gtm icon 3 bg"/>
          <p:cNvSpPr/>
          <p:nvPr/>
        </p:nvSpPr>
        <p:spPr>
          <a:xfrm>
            <a:off x="822960" y="4206240"/>
            <a:ext cx="566928" cy="566928"/>
          </a:xfrm>
          <a:prstGeom prst="ellipse">
            <a:avLst/>
          </a:prstGeom>
          <a:solidFill>
            <a:srgbClr val="17160F"/>
          </a:solidFill>
          <a:ln/>
        </p:spPr>
      </p:sp>
      <p:pic>
        <p:nvPicPr>
          <p:cNvPr id="16" name="gtm icon 3" descr="Ikon">    </p:cNvPr>
          <p:cNvPicPr>
            <a:picLocks noChangeAspect="1"/>
          </p:cNvPicPr>
          <p:nvPr/>
        </p:nvPicPr>
        <p:blipFill>
          <a:blip r:embed="rId3"/>
          <a:stretch>
            <a:fillRect/>
          </a:stretch>
        </p:blipFill>
        <p:spPr>
          <a:xfrm>
            <a:off x="964692" y="4347972"/>
            <a:ext cx="283464" cy="283464"/>
          </a:xfrm>
          <a:prstGeom prst="rect">
            <a:avLst/>
          </a:prstGeom>
        </p:spPr>
      </p:pic>
      <p:sp>
        <p:nvSpPr>
          <p:cNvPr id="17" name="Text 12"/>
          <p:cNvSpPr txBox="1"/>
          <p:nvPr/>
        </p:nvSpPr>
        <p:spPr>
          <a:xfrm>
            <a:off x="1645920" y="4206240"/>
            <a:ext cx="411480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3. Referral &amp; reseller</a:t>
            </a:r>
            <a:endParaRPr lang="en-US" sz="1800" dirty="0"/>
          </a:p>
        </p:txBody>
      </p:sp>
      <p:sp>
        <p:nvSpPr>
          <p:cNvPr id="18" name="Text 13"/>
          <p:cNvSpPr txBox="1"/>
          <p:nvPr/>
        </p:nvSpPr>
        <p:spPr>
          <a:xfrm>
            <a:off x="1645920" y="4663440"/>
            <a:ext cx="4114800" cy="960120"/>
          </a:xfrm>
          <a:prstGeom prst="rect">
            <a:avLst/>
          </a:prstGeom>
          <a:noFill/>
          <a:ln/>
        </p:spPr>
        <p:txBody>
          <a:bodyPr wrap="square" lIns="0" tIns="0" rIns="0" bIns="0" rtlCol="0" anchor="t"/>
          <a:lstStyle/>
          <a:p>
            <a:pPr indent="0" marL="0">
              <a:buNone/>
            </a:pPr>
            <a:r>
              <a:rPr lang="en-US" sz="1400" dirty="0">
                <a:solidFill>
                  <a:schemeClr val="accent5"/>
                </a:solidFill>
              </a:rPr>
              <a:t>Program referral antar-klinik (sudah ada modul referral) dan reseller lokal per kota.</a:t>
            </a:r>
            <a:endParaRPr lang="en-US" sz="1400" dirty="0"/>
          </a:p>
        </p:txBody>
      </p:sp>
      <p:sp>
        <p:nvSpPr>
          <p:cNvPr id="19" name="gtm card 4"/>
          <p:cNvSpPr/>
          <p:nvPr/>
        </p:nvSpPr>
        <p:spPr>
          <a:xfrm>
            <a:off x="6172200" y="3931920"/>
            <a:ext cx="5440680" cy="1874520"/>
          </a:xfrm>
          <a:prstGeom prst="roundRect">
            <a:avLst>
              <a:gd name="adj" fmla="val 6829"/>
            </a:avLst>
          </a:prstGeom>
          <a:solidFill>
            <a:srgbClr val="FFFFFF"/>
          </a:solidFill>
          <a:ln/>
          <a:effectLst>
            <a:outerShdw sx="100000" sy="100000" kx="0" ky="0" algn="bl" rotWithShape="0" blurRad="127000" dist="38100" dir="5400000">
              <a:srgbClr val="17160F">
                <a:alpha val="10000"/>
              </a:srgbClr>
            </a:outerShdw>
          </a:effectLst>
        </p:spPr>
      </p:sp>
      <p:sp>
        <p:nvSpPr>
          <p:cNvPr id="20" name="gtm icon 4 bg"/>
          <p:cNvSpPr/>
          <p:nvPr/>
        </p:nvSpPr>
        <p:spPr>
          <a:xfrm>
            <a:off x="6446520" y="4206240"/>
            <a:ext cx="566928" cy="566928"/>
          </a:xfrm>
          <a:prstGeom prst="ellipse">
            <a:avLst/>
          </a:prstGeom>
          <a:solidFill>
            <a:srgbClr val="17160F"/>
          </a:solidFill>
          <a:ln/>
        </p:spPr>
      </p:sp>
      <p:pic>
        <p:nvPicPr>
          <p:cNvPr id="21" name="gtm icon 4" descr="Ikon">    </p:cNvPr>
          <p:cNvPicPr>
            <a:picLocks noChangeAspect="1"/>
          </p:cNvPicPr>
          <p:nvPr/>
        </p:nvPicPr>
        <p:blipFill>
          <a:blip r:embed="rId4"/>
          <a:stretch>
            <a:fillRect/>
          </a:stretch>
        </p:blipFill>
        <p:spPr>
          <a:xfrm>
            <a:off x="6588252" y="4347972"/>
            <a:ext cx="283464" cy="283464"/>
          </a:xfrm>
          <a:prstGeom prst="rect">
            <a:avLst/>
          </a:prstGeom>
        </p:spPr>
      </p:pic>
      <p:sp>
        <p:nvSpPr>
          <p:cNvPr id="22" name="Text 16"/>
          <p:cNvSpPr txBox="1"/>
          <p:nvPr/>
        </p:nvSpPr>
        <p:spPr>
          <a:xfrm>
            <a:off x="7269480" y="4206240"/>
            <a:ext cx="411480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4. Promo &amp; konten</a:t>
            </a:r>
            <a:endParaRPr lang="en-US" sz="1800" dirty="0"/>
          </a:p>
        </p:txBody>
      </p:sp>
      <p:sp>
        <p:nvSpPr>
          <p:cNvPr id="23" name="Text 17"/>
          <p:cNvSpPr txBox="1"/>
          <p:nvPr/>
        </p:nvSpPr>
        <p:spPr>
          <a:xfrm>
            <a:off x="7269480" y="4663440"/>
            <a:ext cx="4114800" cy="960120"/>
          </a:xfrm>
          <a:prstGeom prst="rect">
            <a:avLst/>
          </a:prstGeom>
          <a:noFill/>
          <a:ln/>
        </p:spPr>
        <p:txBody>
          <a:bodyPr wrap="square" lIns="0" tIns="0" rIns="0" bIns="0" rtlCol="0" anchor="t"/>
          <a:lstStyle/>
          <a:p>
            <a:pPr indent="0" marL="0">
              <a:buNone/>
            </a:pPr>
            <a:r>
              <a:rPr lang="en-US" sz="1400" dirty="0">
                <a:solidFill>
                  <a:schemeClr val="accent5"/>
                </a:solidFill>
              </a:rPr>
              <a:t>Promo harga lama s.d. 31 Des 2026, demo gratis, uji coba 15 hari, konten edukasi owner klinik.</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PROYEKSI</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Target tahun ke-3: 1.000 fasyankes, Rp2,2 M ARR</a:t>
            </a:r>
            <a:endParaRPr lang="en-US" sz="3200" dirty="0"/>
          </a:p>
        </p:txBody>
      </p:sp>
      <p:graphicFrame>
        <p:nvGraphicFramePr>
          <p:cNvPr id="4" name="projection chart" descr=""/>
          <p:cNvGraphicFramePr/>
          <p:nvPr/>
        </p:nvGraphicFramePr>
        <p:xfrm>
          <a:off x="548640" y="173736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783080"/>
            <a:ext cx="3749040" cy="594360"/>
          </a:xfrm>
          <a:prstGeom prst="rect">
            <a:avLst/>
          </a:prstGeom>
          <a:noFill/>
          <a:ln/>
        </p:spPr>
        <p:txBody>
          <a:bodyPr wrap="square" lIns="0" tIns="0" rIns="0" bIns="0" rtlCol="0" anchor="t"/>
          <a:lstStyle/>
          <a:p>
            <a:pPr indent="0" marL="0">
              <a:buNone/>
            </a:pPr>
            <a:r>
              <a:rPr lang="en-US" sz="3200" b="1" dirty="0">
                <a:solidFill>
                  <a:schemeClr val="tx1"/>
                </a:solidFill>
                <a:latin typeface="Arial" pitchFamily="34" charset="0"/>
                <a:ea typeface="Arial" pitchFamily="34" charset="-122"/>
                <a:cs typeface="Arial" pitchFamily="34" charset="-120"/>
              </a:rPr>
              <a:t>Rp0,22 M</a:t>
            </a:r>
            <a:endParaRPr lang="en-US" sz="3200" dirty="0"/>
          </a:p>
        </p:txBody>
      </p:sp>
      <p:sp>
        <p:nvSpPr>
          <p:cNvPr id="6" name="Text 3"/>
          <p:cNvSpPr txBox="1"/>
          <p:nvPr/>
        </p:nvSpPr>
        <p:spPr>
          <a:xfrm>
            <a:off x="7863840" y="2377440"/>
            <a:ext cx="3749040" cy="365760"/>
          </a:xfrm>
          <a:prstGeom prst="rect">
            <a:avLst/>
          </a:prstGeom>
          <a:noFill/>
          <a:ln/>
        </p:spPr>
        <p:txBody>
          <a:bodyPr wrap="square" lIns="0" tIns="0" rIns="0" bIns="0" rtlCol="0" anchor="t"/>
          <a:lstStyle/>
          <a:p>
            <a:pPr indent="0" marL="0">
              <a:buNone/>
            </a:pPr>
            <a:r>
              <a:rPr lang="en-US" sz="1400" dirty="0">
                <a:solidFill>
                  <a:schemeClr val="accent5"/>
                </a:solidFill>
              </a:rPr>
              <a:t>ARR tahun 1</a:t>
            </a:r>
            <a:endParaRPr lang="en-US" sz="1400" dirty="0"/>
          </a:p>
        </p:txBody>
      </p:sp>
      <p:sp>
        <p:nvSpPr>
          <p:cNvPr id="7" name="Text 4"/>
          <p:cNvSpPr txBox="1"/>
          <p:nvPr/>
        </p:nvSpPr>
        <p:spPr>
          <a:xfrm>
            <a:off x="7863840" y="2926080"/>
            <a:ext cx="3749040" cy="594360"/>
          </a:xfrm>
          <a:prstGeom prst="rect">
            <a:avLst/>
          </a:prstGeom>
          <a:noFill/>
          <a:ln/>
        </p:spPr>
        <p:txBody>
          <a:bodyPr wrap="square" lIns="0" tIns="0" rIns="0" bIns="0" rtlCol="0" anchor="t"/>
          <a:lstStyle/>
          <a:p>
            <a:pPr indent="0" marL="0">
              <a:buNone/>
            </a:pPr>
            <a:r>
              <a:rPr lang="en-US" sz="3200" b="1" dirty="0">
                <a:solidFill>
                  <a:schemeClr val="tx1"/>
                </a:solidFill>
                <a:latin typeface="Arial" pitchFamily="34" charset="0"/>
                <a:ea typeface="Arial" pitchFamily="34" charset="-122"/>
                <a:cs typeface="Arial" pitchFamily="34" charset="-120"/>
              </a:rPr>
              <a:t>Rp0,88 M</a:t>
            </a:r>
            <a:endParaRPr lang="en-US" sz="3200" dirty="0"/>
          </a:p>
        </p:txBody>
      </p:sp>
      <p:sp>
        <p:nvSpPr>
          <p:cNvPr id="8" name="Text 5"/>
          <p:cNvSpPr txBox="1"/>
          <p:nvPr/>
        </p:nvSpPr>
        <p:spPr>
          <a:xfrm>
            <a:off x="7863840" y="3520440"/>
            <a:ext cx="3749040" cy="365760"/>
          </a:xfrm>
          <a:prstGeom prst="rect">
            <a:avLst/>
          </a:prstGeom>
          <a:noFill/>
          <a:ln/>
        </p:spPr>
        <p:txBody>
          <a:bodyPr wrap="square" lIns="0" tIns="0" rIns="0" bIns="0" rtlCol="0" anchor="t"/>
          <a:lstStyle/>
          <a:p>
            <a:pPr indent="0" marL="0">
              <a:buNone/>
            </a:pPr>
            <a:r>
              <a:rPr lang="en-US" sz="1400" dirty="0">
                <a:solidFill>
                  <a:schemeClr val="accent5"/>
                </a:solidFill>
              </a:rPr>
              <a:t>ARR tahun 2</a:t>
            </a:r>
            <a:endParaRPr lang="en-US" sz="1400" dirty="0"/>
          </a:p>
        </p:txBody>
      </p:sp>
      <p:sp>
        <p:nvSpPr>
          <p:cNvPr id="9" name="Text 6"/>
          <p:cNvSpPr txBox="1"/>
          <p:nvPr/>
        </p:nvSpPr>
        <p:spPr>
          <a:xfrm>
            <a:off x="7863840" y="4069080"/>
            <a:ext cx="3749040" cy="594360"/>
          </a:xfrm>
          <a:prstGeom prst="rect">
            <a:avLst/>
          </a:prstGeom>
          <a:noFill/>
          <a:ln/>
        </p:spPr>
        <p:txBody>
          <a:bodyPr wrap="square" lIns="0" tIns="0" rIns="0" bIns="0" rtlCol="0" anchor="t"/>
          <a:lstStyle/>
          <a:p>
            <a:pPr indent="0" marL="0">
              <a:buNone/>
            </a:pPr>
            <a:r>
              <a:rPr lang="en-US" sz="3200" b="1" dirty="0">
                <a:solidFill>
                  <a:schemeClr val="accent1"/>
                </a:solidFill>
                <a:latin typeface="Arial" pitchFamily="34" charset="0"/>
                <a:ea typeface="Arial" pitchFamily="34" charset="-122"/>
                <a:cs typeface="Arial" pitchFamily="34" charset="-120"/>
              </a:rPr>
              <a:t>Rp2,2 M</a:t>
            </a:r>
            <a:endParaRPr lang="en-US" sz="3200" dirty="0"/>
          </a:p>
        </p:txBody>
      </p:sp>
      <p:sp>
        <p:nvSpPr>
          <p:cNvPr id="10" name="Text 7"/>
          <p:cNvSpPr txBox="1"/>
          <p:nvPr/>
        </p:nvSpPr>
        <p:spPr>
          <a:xfrm>
            <a:off x="7863840" y="4663440"/>
            <a:ext cx="3749040" cy="365760"/>
          </a:xfrm>
          <a:prstGeom prst="rect">
            <a:avLst/>
          </a:prstGeom>
          <a:noFill/>
          <a:ln/>
        </p:spPr>
        <p:txBody>
          <a:bodyPr wrap="square" lIns="0" tIns="0" rIns="0" bIns="0" rtlCol="0" anchor="t"/>
          <a:lstStyle/>
          <a:p>
            <a:pPr indent="0" marL="0">
              <a:buNone/>
            </a:pPr>
            <a:r>
              <a:rPr lang="en-US" sz="1400" dirty="0">
                <a:solidFill>
                  <a:schemeClr val="accent5"/>
                </a:solidFill>
              </a:rPr>
              <a:t>ARR tahun 3</a:t>
            </a:r>
            <a:endParaRPr lang="en-US" sz="1400" dirty="0"/>
          </a:p>
        </p:txBody>
      </p:sp>
      <p:sp>
        <p:nvSpPr>
          <p:cNvPr id="11" name="Text 8"/>
          <p:cNvSpPr txBox="1"/>
          <p:nvPr/>
        </p:nvSpPr>
        <p:spPr>
          <a:xfrm>
            <a:off x="7863840" y="5120640"/>
            <a:ext cx="3749040" cy="822960"/>
          </a:xfrm>
          <a:prstGeom prst="rect">
            <a:avLst/>
          </a:prstGeom>
          <a:noFill/>
          <a:ln/>
        </p:spPr>
        <p:txBody>
          <a:bodyPr wrap="square" lIns="0" tIns="0" rIns="0" bIns="0" rtlCol="0" anchor="t"/>
          <a:lstStyle/>
          <a:p>
            <a:pPr indent="0" marL="0">
              <a:buNone/>
            </a:pPr>
            <a:r>
              <a:rPr lang="en-US" sz="1100" i="1" dirty="0">
                <a:solidFill>
                  <a:schemeClr val="accent6"/>
                </a:solidFill>
              </a:rPr>
              <a:t>Asumsi ilustratif: ARPU blended ± Rp2,2 jt/tahun (harga baru), churn tahunan &lt; 15%. Belum termasuk pendapatan website klinik &amp; layanan custom.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ROADMAP</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Dari sistem klinik menjadi ekosistem layanan primer</a:t>
            </a:r>
            <a:endParaRPr lang="en-US" sz="3200" dirty="0"/>
          </a:p>
        </p:txBody>
      </p:sp>
      <p:sp>
        <p:nvSpPr>
          <p:cNvPr id="4" name="roadmap card 1"/>
          <p:cNvSpPr/>
          <p:nvPr/>
        </p:nvSpPr>
        <p:spPr>
          <a:xfrm>
            <a:off x="548640" y="1783080"/>
            <a:ext cx="3520440" cy="3657600"/>
          </a:xfrm>
          <a:prstGeom prst="roundRect">
            <a:avLst>
              <a:gd name="adj" fmla="val 3636"/>
            </a:avLst>
          </a:prstGeom>
          <a:solidFill>
            <a:srgbClr val="17160F"/>
          </a:solidFill>
          <a:ln/>
        </p:spPr>
      </p:sp>
      <p:sp>
        <p:nvSpPr>
          <p:cNvPr id="5" name="Text 3"/>
          <p:cNvSpPr txBox="1"/>
          <p:nvPr/>
        </p:nvSpPr>
        <p:spPr>
          <a:xfrm>
            <a:off x="868680" y="2057400"/>
            <a:ext cx="2880360" cy="320040"/>
          </a:xfrm>
          <a:prstGeom prst="rect">
            <a:avLst/>
          </a:prstGeom>
          <a:noFill/>
          <a:ln/>
        </p:spPr>
        <p:txBody>
          <a:bodyPr wrap="square" lIns="0" tIns="0" rIns="0" bIns="0" rtlCol="0" anchor="t"/>
          <a:lstStyle/>
          <a:p>
            <a:pPr indent="0" marL="0">
              <a:buNone/>
            </a:pPr>
            <a:r>
              <a:rPr lang="en-US" sz="1300" b="1" dirty="0">
                <a:solidFill>
                  <a:srgbClr val="7ED957"/>
                </a:solidFill>
              </a:rPr>
              <a:t>Q4 2026 – Q1 2027</a:t>
            </a:r>
            <a:endParaRPr lang="en-US" sz="1300" dirty="0"/>
          </a:p>
        </p:txBody>
      </p:sp>
      <p:sp>
        <p:nvSpPr>
          <p:cNvPr id="6" name="Text 4"/>
          <p:cNvSpPr txBox="1"/>
          <p:nvPr/>
        </p:nvSpPr>
        <p:spPr>
          <a:xfrm>
            <a:off x="868680" y="2423160"/>
            <a:ext cx="2880360" cy="548640"/>
          </a:xfrm>
          <a:prstGeom prst="rect">
            <a:avLst/>
          </a:prstGeom>
          <a:noFill/>
          <a:ln/>
        </p:spPr>
        <p:txBody>
          <a:bodyPr wrap="square" lIns="0" tIns="0" rIns="0" bIns="0" rtlCol="0" anchor="t"/>
          <a:lstStyle/>
          <a:p>
            <a:pPr indent="0" marL="0">
              <a:buNone/>
            </a:pPr>
            <a:r>
              <a:rPr lang="en-US" sz="2600" b="1" dirty="0">
                <a:solidFill>
                  <a:srgbClr val="F3F1EA"/>
                </a:solidFill>
                <a:latin typeface="Arial" pitchFamily="34" charset="0"/>
                <a:ea typeface="Arial" pitchFamily="34" charset="-122"/>
                <a:cs typeface="Arial" pitchFamily="34" charset="-120"/>
              </a:rPr>
              <a:t>Perkuat inti</a:t>
            </a:r>
            <a:endParaRPr lang="en-US" sz="2600" dirty="0"/>
          </a:p>
        </p:txBody>
      </p:sp>
      <p:sp>
        <p:nvSpPr>
          <p:cNvPr id="7" name="Text 5"/>
          <p:cNvSpPr txBox="1"/>
          <p:nvPr/>
        </p:nvSpPr>
        <p:spPr>
          <a:xfrm>
            <a:off x="868680" y="3200400"/>
            <a:ext cx="288036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F3F1EA"/>
                </a:solidFill>
              </a:rPr>
              <a:t>3–5 klinik pilot eksternal</a:t>
            </a:r>
            <a:endParaRPr lang="en-US" sz="1600" dirty="0"/>
          </a:p>
          <a:p>
            <a:pPr marL="342900" indent="-342900">
              <a:spcAft>
                <a:spcPts val="1000"/>
              </a:spcAft>
              <a:buSzPct val="100000"/>
              <a:buChar char="•"/>
            </a:pPr>
            <a:r>
              <a:rPr lang="en-US" sz="1600" dirty="0">
                <a:solidFill>
                  <a:srgbClr val="F3F1EA"/>
                </a:solidFill>
              </a:rPr>
              <a:t>Peralihan ke harga baru</a:t>
            </a:r>
            <a:endParaRPr lang="en-US" sz="1600" dirty="0"/>
          </a:p>
          <a:p>
            <a:pPr marL="342900" indent="-342900">
              <a:spcAft>
                <a:spcPts val="1000"/>
              </a:spcAft>
              <a:buSzPct val="100000"/>
              <a:buChar char="•"/>
            </a:pPr>
            <a:r>
              <a:rPr lang="en-US" sz="1600" dirty="0">
                <a:solidFill>
                  <a:srgbClr val="F3F1EA"/>
                </a:solidFill>
              </a:rPr>
              <a:t>Audit keamanan &amp; migrasi data</a:t>
            </a:r>
            <a:endParaRPr lang="en-US" sz="1600" dirty="0"/>
          </a:p>
        </p:txBody>
      </p:sp>
      <p:sp>
        <p:nvSpPr>
          <p:cNvPr id="8" name="roadmap card 2"/>
          <p:cNvSpPr/>
          <p:nvPr/>
        </p:nvSpPr>
        <p:spPr>
          <a:xfrm>
            <a:off x="4297680" y="1783080"/>
            <a:ext cx="3520440" cy="3657600"/>
          </a:xfrm>
          <a:prstGeom prst="roundRect">
            <a:avLst>
              <a:gd name="adj" fmla="val 3636"/>
            </a:avLst>
          </a:prstGeom>
          <a:solidFill>
            <a:srgbClr val="FFFFFF"/>
          </a:solidFill>
          <a:ln/>
          <a:effectLst>
            <a:outerShdw sx="100000" sy="100000" kx="0" ky="0" algn="bl" rotWithShape="0" blurRad="127000" dist="38100" dir="5400000">
              <a:srgbClr val="17160F">
                <a:alpha val="10000"/>
              </a:srgbClr>
            </a:outerShdw>
          </a:effectLst>
        </p:spPr>
      </p:sp>
      <p:sp>
        <p:nvSpPr>
          <p:cNvPr id="9" name="Text 7"/>
          <p:cNvSpPr txBox="1"/>
          <p:nvPr/>
        </p:nvSpPr>
        <p:spPr>
          <a:xfrm>
            <a:off x="4617720" y="2057400"/>
            <a:ext cx="2880360" cy="320040"/>
          </a:xfrm>
          <a:prstGeom prst="rect">
            <a:avLst/>
          </a:prstGeom>
          <a:noFill/>
          <a:ln/>
        </p:spPr>
        <p:txBody>
          <a:bodyPr wrap="square" lIns="0" tIns="0" rIns="0" bIns="0" rtlCol="0" anchor="t"/>
          <a:lstStyle/>
          <a:p>
            <a:pPr indent="0" marL="0">
              <a:buNone/>
            </a:pPr>
            <a:r>
              <a:rPr lang="en-US" sz="1300" b="1" dirty="0">
                <a:solidFill>
                  <a:srgbClr val="367D2F"/>
                </a:solidFill>
              </a:rPr>
              <a:t>Q2 – Q3 2027</a:t>
            </a:r>
            <a:endParaRPr lang="en-US" sz="1300" dirty="0"/>
          </a:p>
        </p:txBody>
      </p:sp>
      <p:sp>
        <p:nvSpPr>
          <p:cNvPr id="10" name="Text 8"/>
          <p:cNvSpPr txBox="1"/>
          <p:nvPr/>
        </p:nvSpPr>
        <p:spPr>
          <a:xfrm>
            <a:off x="4617720" y="2423160"/>
            <a:ext cx="2880360" cy="548640"/>
          </a:xfrm>
          <a:prstGeom prst="rect">
            <a:avLst/>
          </a:prstGeom>
          <a:noFill/>
          <a:ln/>
        </p:spPr>
        <p:txBody>
          <a:bodyPr wrap="square" lIns="0" tIns="0" rIns="0" bIns="0" rtlCol="0" anchor="t"/>
          <a:lstStyle/>
          <a:p>
            <a:pPr indent="0" marL="0">
              <a:buNone/>
            </a:pPr>
            <a:r>
              <a:rPr lang="en-US" sz="2600" b="1" dirty="0">
                <a:solidFill>
                  <a:srgbClr val="17160F"/>
                </a:solidFill>
                <a:latin typeface="Arial" pitchFamily="34" charset="0"/>
                <a:ea typeface="Arial" pitchFamily="34" charset="-122"/>
                <a:cs typeface="Arial" pitchFamily="34" charset="-120"/>
              </a:rPr>
              <a:t>Tumbuh</a:t>
            </a:r>
            <a:endParaRPr lang="en-US" sz="2600" dirty="0"/>
          </a:p>
        </p:txBody>
      </p:sp>
      <p:sp>
        <p:nvSpPr>
          <p:cNvPr id="11" name="Text 9"/>
          <p:cNvSpPr txBox="1"/>
          <p:nvPr/>
        </p:nvSpPr>
        <p:spPr>
          <a:xfrm>
            <a:off x="4617720" y="3200400"/>
            <a:ext cx="288036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7160F"/>
                </a:solidFill>
              </a:rPr>
              <a:t>Integrasi BPJS (P-Care)</a:t>
            </a:r>
            <a:endParaRPr lang="en-US" sz="1600" dirty="0"/>
          </a:p>
          <a:p>
            <a:pPr marL="342900" indent="-342900">
              <a:spcAft>
                <a:spcPts val="1000"/>
              </a:spcAft>
              <a:buSzPct val="100000"/>
              <a:buChar char="•"/>
            </a:pPr>
            <a:r>
              <a:rPr lang="en-US" sz="1600" dirty="0">
                <a:solidFill>
                  <a:srgbClr val="17160F"/>
                </a:solidFill>
              </a:rPr>
              <a:t>Aplikasi mobile dokter</a:t>
            </a:r>
            <a:endParaRPr lang="en-US" sz="1600" dirty="0"/>
          </a:p>
          <a:p>
            <a:pPr marL="342900" indent="-342900">
              <a:spcAft>
                <a:spcPts val="1000"/>
              </a:spcAft>
              <a:buSzPct val="100000"/>
              <a:buChar char="•"/>
            </a:pPr>
            <a:r>
              <a:rPr lang="en-US" sz="1600" dirty="0">
                <a:solidFill>
                  <a:srgbClr val="17160F"/>
                </a:solidFill>
              </a:rPr>
              <a:t>Ekspansi ke seluruh Sumatera</a:t>
            </a:r>
            <a:endParaRPr lang="en-US" sz="1600" dirty="0"/>
          </a:p>
        </p:txBody>
      </p:sp>
      <p:sp>
        <p:nvSpPr>
          <p:cNvPr id="12" name="roadmap card 3"/>
          <p:cNvSpPr/>
          <p:nvPr/>
        </p:nvSpPr>
        <p:spPr>
          <a:xfrm>
            <a:off x="8046720" y="1783080"/>
            <a:ext cx="3520440" cy="3657600"/>
          </a:xfrm>
          <a:prstGeom prst="roundRect">
            <a:avLst>
              <a:gd name="adj" fmla="val 3636"/>
            </a:avLst>
          </a:prstGeom>
          <a:solidFill>
            <a:srgbClr val="FFFFFF"/>
          </a:solidFill>
          <a:ln/>
          <a:effectLst>
            <a:outerShdw sx="100000" sy="100000" kx="0" ky="0" algn="bl" rotWithShape="0" blurRad="127000" dist="38100" dir="5400000">
              <a:srgbClr val="17160F">
                <a:alpha val="10000"/>
              </a:srgbClr>
            </a:outerShdw>
          </a:effectLst>
        </p:spPr>
      </p:sp>
      <p:sp>
        <p:nvSpPr>
          <p:cNvPr id="13" name="Text 11"/>
          <p:cNvSpPr txBox="1"/>
          <p:nvPr/>
        </p:nvSpPr>
        <p:spPr>
          <a:xfrm>
            <a:off x="8366760" y="2057400"/>
            <a:ext cx="2880360" cy="320040"/>
          </a:xfrm>
          <a:prstGeom prst="rect">
            <a:avLst/>
          </a:prstGeom>
          <a:noFill/>
          <a:ln/>
        </p:spPr>
        <p:txBody>
          <a:bodyPr wrap="square" lIns="0" tIns="0" rIns="0" bIns="0" rtlCol="0" anchor="t"/>
          <a:lstStyle/>
          <a:p>
            <a:pPr indent="0" marL="0">
              <a:buNone/>
            </a:pPr>
            <a:r>
              <a:rPr lang="en-US" sz="1300" b="1" dirty="0">
                <a:solidFill>
                  <a:srgbClr val="367D2F"/>
                </a:solidFill>
              </a:rPr>
              <a:t>Q4 2027 – 2028</a:t>
            </a:r>
            <a:endParaRPr lang="en-US" sz="1300" dirty="0"/>
          </a:p>
        </p:txBody>
      </p:sp>
      <p:sp>
        <p:nvSpPr>
          <p:cNvPr id="14" name="Text 12"/>
          <p:cNvSpPr txBox="1"/>
          <p:nvPr/>
        </p:nvSpPr>
        <p:spPr>
          <a:xfrm>
            <a:off x="8366760" y="2423160"/>
            <a:ext cx="2880360" cy="548640"/>
          </a:xfrm>
          <a:prstGeom prst="rect">
            <a:avLst/>
          </a:prstGeom>
          <a:noFill/>
          <a:ln/>
        </p:spPr>
        <p:txBody>
          <a:bodyPr wrap="square" lIns="0" tIns="0" rIns="0" bIns="0" rtlCol="0" anchor="t"/>
          <a:lstStyle/>
          <a:p>
            <a:pPr indent="0" marL="0">
              <a:buNone/>
            </a:pPr>
            <a:r>
              <a:rPr lang="en-US" sz="2600" b="1" dirty="0">
                <a:solidFill>
                  <a:srgbClr val="17160F"/>
                </a:solidFill>
                <a:latin typeface="Arial" pitchFamily="34" charset="0"/>
                <a:ea typeface="Arial" pitchFamily="34" charset="-122"/>
                <a:cs typeface="Arial" pitchFamily="34" charset="-120"/>
              </a:rPr>
              <a:t>Ekosistem</a:t>
            </a:r>
            <a:endParaRPr lang="en-US" sz="2600" dirty="0"/>
          </a:p>
        </p:txBody>
      </p:sp>
      <p:sp>
        <p:nvSpPr>
          <p:cNvPr id="15" name="Text 13"/>
          <p:cNvSpPr txBox="1"/>
          <p:nvPr/>
        </p:nvSpPr>
        <p:spPr>
          <a:xfrm>
            <a:off x="8366760" y="3200400"/>
            <a:ext cx="288036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7160F"/>
                </a:solidFill>
              </a:rPr>
              <a:t>Portal &amp; aplikasi pasien</a:t>
            </a:r>
            <a:endParaRPr lang="en-US" sz="1600" dirty="0"/>
          </a:p>
          <a:p>
            <a:pPr marL="342900" indent="-342900">
              <a:spcAft>
                <a:spcPts val="1000"/>
              </a:spcAft>
              <a:buSzPct val="100000"/>
              <a:buChar char="•"/>
            </a:pPr>
            <a:r>
              <a:rPr lang="en-US" sz="1600" dirty="0">
                <a:solidFill>
                  <a:srgbClr val="17160F"/>
                </a:solidFill>
              </a:rPr>
              <a:t>Asisten AI untuk SOAP &amp; coding</a:t>
            </a:r>
            <a:endParaRPr lang="en-US" sz="1600" dirty="0"/>
          </a:p>
          <a:p>
            <a:pPr marL="342900" indent="-342900">
              <a:spcAft>
                <a:spcPts val="1000"/>
              </a:spcAft>
              <a:buSzPct val="100000"/>
              <a:buChar char="•"/>
            </a:pPr>
            <a:r>
              <a:rPr lang="en-US" sz="1600" dirty="0">
                <a:solidFill>
                  <a:srgbClr val="17160F"/>
                </a:solidFill>
              </a:rPr>
              <a:t>Marketplace bahan medis</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TIM</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Dokter gigi dan engineer — klinik dan teknologi</a:t>
            </a:r>
            <a:endParaRPr lang="en-US" sz="3200" dirty="0"/>
          </a:p>
        </p:txBody>
      </p:sp>
      <p:sp>
        <p:nvSpPr>
          <p:cNvPr id="4" name="team card 1"/>
          <p:cNvSpPr/>
          <p:nvPr/>
        </p:nvSpPr>
        <p:spPr>
          <a:xfrm>
            <a:off x="548640" y="1783080"/>
            <a:ext cx="5440680" cy="2743200"/>
          </a:xfrm>
          <a:prstGeom prst="roundRect">
            <a:avLst>
              <a:gd name="adj" fmla="val 4667"/>
            </a:avLst>
          </a:prstGeom>
          <a:solidFill>
            <a:srgbClr val="FFFFFF"/>
          </a:solidFill>
          <a:ln/>
          <a:effectLst>
            <a:outerShdw sx="100000" sy="100000" kx="0" ky="0" algn="bl" rotWithShape="0" blurRad="127000" dist="38100" dir="5400000">
              <a:srgbClr val="17160F">
                <a:alpha val="10000"/>
              </a:srgbClr>
            </a:outerShdw>
          </a:effectLst>
        </p:spPr>
      </p:sp>
      <p:sp>
        <p:nvSpPr>
          <p:cNvPr id="5" name="team avatar 1 bg"/>
          <p:cNvSpPr/>
          <p:nvPr/>
        </p:nvSpPr>
        <p:spPr>
          <a:xfrm>
            <a:off x="914400" y="2148840"/>
            <a:ext cx="1188720" cy="1188720"/>
          </a:xfrm>
          <a:prstGeom prst="ellipse">
            <a:avLst/>
          </a:prstGeom>
          <a:solidFill>
            <a:srgbClr val="17160F"/>
          </a:solidFill>
          <a:ln/>
        </p:spPr>
      </p:sp>
      <p:pic>
        <p:nvPicPr>
          <p:cNvPr id="6" name="team avatar 1" descr="Ikon">    </p:cNvPr>
          <p:cNvPicPr>
            <a:picLocks noChangeAspect="1"/>
          </p:cNvPicPr>
          <p:nvPr/>
        </p:nvPicPr>
        <p:blipFill>
          <a:blip r:embed="rId1"/>
          <a:stretch>
            <a:fillRect/>
          </a:stretch>
        </p:blipFill>
        <p:spPr>
          <a:xfrm>
            <a:off x="1211580" y="2446020"/>
            <a:ext cx="594360" cy="594360"/>
          </a:xfrm>
          <a:prstGeom prst="rect">
            <a:avLst/>
          </a:prstGeom>
        </p:spPr>
      </p:pic>
      <p:sp>
        <p:nvSpPr>
          <p:cNvPr id="7" name="Text 4"/>
          <p:cNvSpPr txBox="1"/>
          <p:nvPr/>
        </p:nvSpPr>
        <p:spPr>
          <a:xfrm>
            <a:off x="2377440" y="2194560"/>
            <a:ext cx="3383280" cy="73152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drg. Muhammad Daffa Safra</a:t>
            </a:r>
            <a:endParaRPr lang="en-US" sz="2000" dirty="0"/>
          </a:p>
        </p:txBody>
      </p:sp>
      <p:sp>
        <p:nvSpPr>
          <p:cNvPr id="8" name="Text 5"/>
          <p:cNvSpPr txBox="1"/>
          <p:nvPr/>
        </p:nvSpPr>
        <p:spPr>
          <a:xfrm>
            <a:off x="2377440" y="2926080"/>
            <a:ext cx="3383280" cy="365760"/>
          </a:xfrm>
          <a:prstGeom prst="rect">
            <a:avLst/>
          </a:prstGeom>
          <a:noFill/>
          <a:ln/>
        </p:spPr>
        <p:txBody>
          <a:bodyPr wrap="square" lIns="0" tIns="0" rIns="0" bIns="0" rtlCol="0" anchor="t"/>
          <a:lstStyle/>
          <a:p>
            <a:pPr indent="0" marL="0">
              <a:buNone/>
            </a:pPr>
            <a:r>
              <a:rPr lang="en-US" sz="1500" b="1" dirty="0">
                <a:solidFill>
                  <a:schemeClr val="accent1"/>
                </a:solidFill>
              </a:rPr>
              <a:t>Founder &amp; CEO</a:t>
            </a:r>
            <a:endParaRPr lang="en-US" sz="1500" dirty="0"/>
          </a:p>
        </p:txBody>
      </p:sp>
      <p:sp>
        <p:nvSpPr>
          <p:cNvPr id="9" name="Text 6"/>
          <p:cNvSpPr txBox="1"/>
          <p:nvPr/>
        </p:nvSpPr>
        <p:spPr>
          <a:xfrm>
            <a:off x="914400" y="3611880"/>
            <a:ext cx="4709160" cy="1051560"/>
          </a:xfrm>
          <a:prstGeom prst="rect">
            <a:avLst/>
          </a:prstGeom>
          <a:noFill/>
          <a:ln/>
        </p:spPr>
        <p:txBody>
          <a:bodyPr wrap="square" lIns="0" tIns="0" rIns="0" bIns="0" rtlCol="0" anchor="t"/>
          <a:lstStyle/>
          <a:p>
            <a:pPr indent="0" marL="0">
              <a:buNone/>
            </a:pPr>
            <a:r>
              <a:rPr lang="en-US" sz="1400" dirty="0">
                <a:solidFill>
                  <a:schemeClr val="accent5"/>
                </a:solidFill>
              </a:rPr>
              <a:t>Dokter gigi praktisi. Memimpin arah produk, kemitraan komunitas profesi, dan penjualan ke klinik.</a:t>
            </a:r>
            <a:endParaRPr lang="en-US" sz="1400" dirty="0"/>
          </a:p>
        </p:txBody>
      </p:sp>
      <p:sp>
        <p:nvSpPr>
          <p:cNvPr id="10" name="team card 2"/>
          <p:cNvSpPr/>
          <p:nvPr/>
        </p:nvSpPr>
        <p:spPr>
          <a:xfrm>
            <a:off x="6172200" y="1783080"/>
            <a:ext cx="5440680" cy="2743200"/>
          </a:xfrm>
          <a:prstGeom prst="roundRect">
            <a:avLst>
              <a:gd name="adj" fmla="val 4667"/>
            </a:avLst>
          </a:prstGeom>
          <a:solidFill>
            <a:srgbClr val="FFFFFF"/>
          </a:solidFill>
          <a:ln/>
          <a:effectLst>
            <a:outerShdw sx="100000" sy="100000" kx="0" ky="0" algn="bl" rotWithShape="0" blurRad="127000" dist="38100" dir="5400000">
              <a:srgbClr val="17160F">
                <a:alpha val="10000"/>
              </a:srgbClr>
            </a:outerShdw>
          </a:effectLst>
        </p:spPr>
      </p:sp>
      <p:sp>
        <p:nvSpPr>
          <p:cNvPr id="11" name="team avatar 2 bg"/>
          <p:cNvSpPr/>
          <p:nvPr/>
        </p:nvSpPr>
        <p:spPr>
          <a:xfrm>
            <a:off x="6537960" y="2148840"/>
            <a:ext cx="1188720" cy="1188720"/>
          </a:xfrm>
          <a:prstGeom prst="ellipse">
            <a:avLst/>
          </a:prstGeom>
          <a:solidFill>
            <a:srgbClr val="17160F"/>
          </a:solidFill>
          <a:ln/>
        </p:spPr>
      </p:sp>
      <p:pic>
        <p:nvPicPr>
          <p:cNvPr id="12" name="team avatar 2" descr="Ikon">    </p:cNvPr>
          <p:cNvPicPr>
            <a:picLocks noChangeAspect="1"/>
          </p:cNvPicPr>
          <p:nvPr/>
        </p:nvPicPr>
        <p:blipFill>
          <a:blip r:embed="rId2"/>
          <a:stretch>
            <a:fillRect/>
          </a:stretch>
        </p:blipFill>
        <p:spPr>
          <a:xfrm>
            <a:off x="6835140" y="2446020"/>
            <a:ext cx="594360" cy="594360"/>
          </a:xfrm>
          <a:prstGeom prst="rect">
            <a:avLst/>
          </a:prstGeom>
        </p:spPr>
      </p:pic>
      <p:sp>
        <p:nvSpPr>
          <p:cNvPr id="13" name="Text 9"/>
          <p:cNvSpPr txBox="1"/>
          <p:nvPr/>
        </p:nvSpPr>
        <p:spPr>
          <a:xfrm>
            <a:off x="8001000" y="2194560"/>
            <a:ext cx="3383280" cy="73152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Fajrul Ichsan Kamil</a:t>
            </a:r>
            <a:endParaRPr lang="en-US" sz="2000" dirty="0"/>
          </a:p>
        </p:txBody>
      </p:sp>
      <p:sp>
        <p:nvSpPr>
          <p:cNvPr id="14" name="Text 10"/>
          <p:cNvSpPr txBox="1"/>
          <p:nvPr/>
        </p:nvSpPr>
        <p:spPr>
          <a:xfrm>
            <a:off x="8001000" y="2926080"/>
            <a:ext cx="3383280" cy="365760"/>
          </a:xfrm>
          <a:prstGeom prst="rect">
            <a:avLst/>
          </a:prstGeom>
          <a:noFill/>
          <a:ln/>
        </p:spPr>
        <p:txBody>
          <a:bodyPr wrap="square" lIns="0" tIns="0" rIns="0" bIns="0" rtlCol="0" anchor="t"/>
          <a:lstStyle/>
          <a:p>
            <a:pPr indent="0" marL="0">
              <a:buNone/>
            </a:pPr>
            <a:r>
              <a:rPr lang="en-US" sz="1500" b="1" dirty="0">
                <a:solidFill>
                  <a:schemeClr val="accent1"/>
                </a:solidFill>
              </a:rPr>
              <a:t>CTO</a:t>
            </a:r>
            <a:endParaRPr lang="en-US" sz="1500" dirty="0"/>
          </a:p>
        </p:txBody>
      </p:sp>
      <p:sp>
        <p:nvSpPr>
          <p:cNvPr id="15" name="Text 11"/>
          <p:cNvSpPr txBox="1"/>
          <p:nvPr/>
        </p:nvSpPr>
        <p:spPr>
          <a:xfrm>
            <a:off x="6537960" y="3611880"/>
            <a:ext cx="4709160" cy="1051560"/>
          </a:xfrm>
          <a:prstGeom prst="rect">
            <a:avLst/>
          </a:prstGeom>
          <a:noFill/>
          <a:ln/>
        </p:spPr>
        <p:txBody>
          <a:bodyPr wrap="square" lIns="0" tIns="0" rIns="0" bIns="0" rtlCol="0" anchor="t"/>
          <a:lstStyle/>
          <a:p>
            <a:pPr indent="0" marL="0">
              <a:buNone/>
            </a:pPr>
            <a:r>
              <a:rPr lang="en-US" sz="1400" dirty="0">
                <a:solidFill>
                  <a:schemeClr val="accent5"/>
                </a:solidFill>
              </a:rPr>
              <a:t>Membangun seluruh platform ApexRecord: Next.js, NestJS, MySQL, dan integrasi SATUSEHAT (FHIR).</a:t>
            </a:r>
            <a:endParaRPr lang="en-US" sz="1400" dirty="0"/>
          </a:p>
        </p:txBody>
      </p:sp>
      <p:sp>
        <p:nvSpPr>
          <p:cNvPr id="16" name="advantage box"/>
          <p:cNvSpPr/>
          <p:nvPr/>
        </p:nvSpPr>
        <p:spPr>
          <a:xfrm>
            <a:off x="548640" y="4846320"/>
            <a:ext cx="11064240" cy="822960"/>
          </a:xfrm>
          <a:prstGeom prst="roundRect">
            <a:avLst>
              <a:gd name="adj" fmla="val 15556"/>
            </a:avLst>
          </a:prstGeom>
          <a:solidFill>
            <a:srgbClr val="E3F3DA"/>
          </a:solidFill>
          <a:ln/>
        </p:spPr>
      </p:sp>
      <p:pic>
        <p:nvPicPr>
          <p:cNvPr id="17" name="advantage icon" descr="Ikon">    </p:cNvPr>
          <p:cNvPicPr>
            <a:picLocks noChangeAspect="1"/>
          </p:cNvPicPr>
          <p:nvPr/>
        </p:nvPicPr>
        <p:blipFill>
          <a:blip r:embed="rId3"/>
          <a:stretch>
            <a:fillRect/>
          </a:stretch>
        </p:blipFill>
        <p:spPr>
          <a:xfrm>
            <a:off x="822960" y="5074920"/>
            <a:ext cx="365760" cy="365760"/>
          </a:xfrm>
          <a:prstGeom prst="rect">
            <a:avLst/>
          </a:prstGeom>
        </p:spPr>
      </p:pic>
      <p:sp>
        <p:nvSpPr>
          <p:cNvPr id="18" name="Text 13"/>
          <p:cNvSpPr txBox="1"/>
          <p:nvPr/>
        </p:nvSpPr>
        <p:spPr>
          <a:xfrm>
            <a:off x="1371600" y="4846320"/>
            <a:ext cx="10058400" cy="822960"/>
          </a:xfrm>
          <a:prstGeom prst="rect">
            <a:avLst/>
          </a:prstGeom>
          <a:noFill/>
          <a:ln/>
        </p:spPr>
        <p:txBody>
          <a:bodyPr wrap="square" lIns="0" tIns="0" rIns="0" bIns="0" rtlCol="0" anchor="ctr"/>
          <a:lstStyle/>
          <a:p>
            <a:pPr indent="0" marL="0">
              <a:buNone/>
            </a:pPr>
            <a:r>
              <a:rPr lang="en-US" sz="1500" b="1" dirty="0">
                <a:solidFill>
                  <a:schemeClr val="tx2"/>
                </a:solidFill>
              </a:rPr>
              <a:t>Founder-market fit: produk diuji setiap hari di klinik pilot Zanak Dental Care — setiap fitur lahir dari kebutuhan nyata.</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2"/>
                </a:solidFill>
              </a:rPr>
              <a:t>PENDANAAN</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Minimal Rp1 M untuk 18 bulan, cair dalam 2 tahap</a:t>
            </a:r>
            <a:endParaRPr lang="en-US" sz="3200" dirty="0"/>
          </a:p>
        </p:txBody>
      </p:sp>
      <p:sp>
        <p:nvSpPr>
          <p:cNvPr id="4" name="tranche 1"/>
          <p:cNvSpPr/>
          <p:nvPr/>
        </p:nvSpPr>
        <p:spPr>
          <a:xfrm>
            <a:off x="548640" y="1783080"/>
            <a:ext cx="4937760" cy="1691640"/>
          </a:xfrm>
          <a:prstGeom prst="roundRect">
            <a:avLst>
              <a:gd name="adj" fmla="val 7568"/>
            </a:avLst>
          </a:prstGeom>
          <a:solidFill>
            <a:srgbClr val="7ED957"/>
          </a:solidFill>
          <a:ln/>
        </p:spPr>
      </p:sp>
      <p:sp>
        <p:nvSpPr>
          <p:cNvPr id="5" name="tranche icon 1 bg"/>
          <p:cNvSpPr/>
          <p:nvPr/>
        </p:nvSpPr>
        <p:spPr>
          <a:xfrm>
            <a:off x="822960" y="2057400"/>
            <a:ext cx="548640" cy="548640"/>
          </a:xfrm>
          <a:prstGeom prst="ellipse">
            <a:avLst/>
          </a:prstGeom>
          <a:solidFill>
            <a:srgbClr val="17160F"/>
          </a:solidFill>
          <a:ln/>
        </p:spPr>
      </p:sp>
      <p:pic>
        <p:nvPicPr>
          <p:cNvPr id="6" name="tranche icon 1" descr="Ikon">    </p:cNvPr>
          <p:cNvPicPr>
            <a:picLocks noChangeAspect="1"/>
          </p:cNvPicPr>
          <p:nvPr/>
        </p:nvPicPr>
        <p:blipFill>
          <a:blip r:embed="rId1"/>
          <a:stretch>
            <a:fillRect/>
          </a:stretch>
        </p:blipFill>
        <p:spPr>
          <a:xfrm>
            <a:off x="960120" y="2194560"/>
            <a:ext cx="274320" cy="274320"/>
          </a:xfrm>
          <a:prstGeom prst="rect">
            <a:avLst/>
          </a:prstGeom>
        </p:spPr>
      </p:pic>
      <p:sp>
        <p:nvSpPr>
          <p:cNvPr id="7" name="Text 4"/>
          <p:cNvSpPr txBox="1"/>
          <p:nvPr/>
        </p:nvSpPr>
        <p:spPr>
          <a:xfrm>
            <a:off x="1554480" y="2057400"/>
            <a:ext cx="1828800" cy="365760"/>
          </a:xfrm>
          <a:prstGeom prst="rect">
            <a:avLst/>
          </a:prstGeom>
          <a:noFill/>
          <a:ln/>
        </p:spPr>
        <p:txBody>
          <a:bodyPr wrap="square" lIns="0" tIns="0" rIns="0" bIns="0" rtlCol="0" anchor="t"/>
          <a:lstStyle/>
          <a:p>
            <a:pPr indent="0" marL="0">
              <a:buNone/>
            </a:pPr>
            <a:r>
              <a:rPr lang="en-US" sz="1600" b="1" dirty="0">
                <a:solidFill>
                  <a:srgbClr val="2B6B22"/>
                </a:solidFill>
              </a:rPr>
              <a:t>Tahap 1</a:t>
            </a:r>
            <a:endParaRPr lang="en-US" sz="1600" dirty="0"/>
          </a:p>
        </p:txBody>
      </p:sp>
      <p:sp>
        <p:nvSpPr>
          <p:cNvPr id="8" name="Text 5"/>
          <p:cNvSpPr txBox="1"/>
          <p:nvPr/>
        </p:nvSpPr>
        <p:spPr>
          <a:xfrm>
            <a:off x="1554480" y="2377440"/>
            <a:ext cx="3657600" cy="594360"/>
          </a:xfrm>
          <a:prstGeom prst="rect">
            <a:avLst/>
          </a:prstGeom>
          <a:noFill/>
          <a:ln/>
        </p:spPr>
        <p:txBody>
          <a:bodyPr wrap="square" lIns="0" tIns="0" rIns="0" bIns="0" rtlCol="0" anchor="t"/>
          <a:lstStyle/>
          <a:p>
            <a:pPr indent="0" marL="0">
              <a:buNone/>
            </a:pPr>
            <a:r>
              <a:rPr lang="en-US" sz="3200" b="1" dirty="0">
                <a:solidFill>
                  <a:srgbClr val="17160F"/>
                </a:solidFill>
                <a:latin typeface="Arial" pitchFamily="34" charset="0"/>
                <a:ea typeface="Arial" pitchFamily="34" charset="-122"/>
                <a:cs typeface="Arial" pitchFamily="34" charset="-120"/>
              </a:rPr>
              <a:t>Rp500 jt</a:t>
            </a:r>
            <a:endParaRPr lang="en-US" sz="3200" dirty="0"/>
          </a:p>
        </p:txBody>
      </p:sp>
      <p:sp>
        <p:nvSpPr>
          <p:cNvPr id="9" name="Text 6"/>
          <p:cNvSpPr txBox="1"/>
          <p:nvPr/>
        </p:nvSpPr>
        <p:spPr>
          <a:xfrm>
            <a:off x="1554480" y="2971800"/>
            <a:ext cx="3749040" cy="365760"/>
          </a:xfrm>
          <a:prstGeom prst="rect">
            <a:avLst/>
          </a:prstGeom>
          <a:noFill/>
          <a:ln/>
        </p:spPr>
        <p:txBody>
          <a:bodyPr wrap="square" lIns="0" tIns="0" rIns="0" bIns="0" rtlCol="0" anchor="t"/>
          <a:lstStyle/>
          <a:p>
            <a:pPr indent="0" marL="0">
              <a:buNone/>
            </a:pPr>
            <a:r>
              <a:rPr lang="en-US" sz="1400" dirty="0">
                <a:solidFill>
                  <a:srgbClr val="2B6B22"/>
                </a:solidFill>
              </a:rPr>
              <a:t>Saat penandatanganan perjanjian</a:t>
            </a:r>
            <a:endParaRPr lang="en-US" sz="1400" dirty="0"/>
          </a:p>
        </p:txBody>
      </p:sp>
      <p:sp>
        <p:nvSpPr>
          <p:cNvPr id="10" name="tranche 2"/>
          <p:cNvSpPr/>
          <p:nvPr/>
        </p:nvSpPr>
        <p:spPr>
          <a:xfrm>
            <a:off x="548640" y="3657600"/>
            <a:ext cx="4937760" cy="1691640"/>
          </a:xfrm>
          <a:prstGeom prst="roundRect">
            <a:avLst>
              <a:gd name="adj" fmla="val 7568"/>
            </a:avLst>
          </a:prstGeom>
          <a:solidFill>
            <a:srgbClr val="242320"/>
          </a:solidFill>
          <a:ln/>
        </p:spPr>
      </p:sp>
      <p:sp>
        <p:nvSpPr>
          <p:cNvPr id="11" name="tranche icon 2 bg"/>
          <p:cNvSpPr/>
          <p:nvPr/>
        </p:nvSpPr>
        <p:spPr>
          <a:xfrm>
            <a:off x="822960" y="3931920"/>
            <a:ext cx="548640" cy="548640"/>
          </a:xfrm>
          <a:prstGeom prst="ellipse">
            <a:avLst/>
          </a:prstGeom>
          <a:solidFill>
            <a:srgbClr val="7ED957"/>
          </a:solidFill>
          <a:ln/>
        </p:spPr>
      </p:sp>
      <p:pic>
        <p:nvPicPr>
          <p:cNvPr id="12" name="tranche icon 2" descr="Ikon">    </p:cNvPr>
          <p:cNvPicPr>
            <a:picLocks noChangeAspect="1"/>
          </p:cNvPicPr>
          <p:nvPr/>
        </p:nvPicPr>
        <p:blipFill>
          <a:blip r:embed="rId2"/>
          <a:stretch>
            <a:fillRect/>
          </a:stretch>
        </p:blipFill>
        <p:spPr>
          <a:xfrm>
            <a:off x="960120" y="4069080"/>
            <a:ext cx="274320" cy="274320"/>
          </a:xfrm>
          <a:prstGeom prst="rect">
            <a:avLst/>
          </a:prstGeom>
        </p:spPr>
      </p:pic>
      <p:sp>
        <p:nvSpPr>
          <p:cNvPr id="13" name="Text 9"/>
          <p:cNvSpPr txBox="1"/>
          <p:nvPr/>
        </p:nvSpPr>
        <p:spPr>
          <a:xfrm>
            <a:off x="1554480" y="3931920"/>
            <a:ext cx="1828800" cy="365760"/>
          </a:xfrm>
          <a:prstGeom prst="rect">
            <a:avLst/>
          </a:prstGeom>
          <a:noFill/>
          <a:ln/>
        </p:spPr>
        <p:txBody>
          <a:bodyPr wrap="square" lIns="0" tIns="0" rIns="0" bIns="0" rtlCol="0" anchor="t"/>
          <a:lstStyle/>
          <a:p>
            <a:pPr indent="0" marL="0">
              <a:buNone/>
            </a:pPr>
            <a:r>
              <a:rPr lang="en-US" sz="1600" b="1" dirty="0">
                <a:solidFill>
                  <a:srgbClr val="B9B6AA"/>
                </a:solidFill>
              </a:rPr>
              <a:t>Tahap 2</a:t>
            </a:r>
            <a:endParaRPr lang="en-US" sz="1600" dirty="0"/>
          </a:p>
        </p:txBody>
      </p:sp>
      <p:sp>
        <p:nvSpPr>
          <p:cNvPr id="14" name="Text 10"/>
          <p:cNvSpPr txBox="1"/>
          <p:nvPr/>
        </p:nvSpPr>
        <p:spPr>
          <a:xfrm>
            <a:off x="1554480" y="4251960"/>
            <a:ext cx="3657600" cy="594360"/>
          </a:xfrm>
          <a:prstGeom prst="rect">
            <a:avLst/>
          </a:prstGeom>
          <a:noFill/>
          <a:ln/>
        </p:spPr>
        <p:txBody>
          <a:bodyPr wrap="square" lIns="0" tIns="0" rIns="0" bIns="0" rtlCol="0" anchor="t"/>
          <a:lstStyle/>
          <a:p>
            <a:pPr indent="0" marL="0">
              <a:buNone/>
            </a:pPr>
            <a:r>
              <a:rPr lang="en-US" sz="3200" b="1" dirty="0">
                <a:solidFill>
                  <a:srgbClr val="F3F1EA"/>
                </a:solidFill>
                <a:latin typeface="Arial" pitchFamily="34" charset="0"/>
                <a:ea typeface="Arial" pitchFamily="34" charset="-122"/>
                <a:cs typeface="Arial" pitchFamily="34" charset="-120"/>
              </a:rPr>
              <a:t>Rp500 jt</a:t>
            </a:r>
            <a:endParaRPr lang="en-US" sz="3200" dirty="0"/>
          </a:p>
        </p:txBody>
      </p:sp>
      <p:sp>
        <p:nvSpPr>
          <p:cNvPr id="15" name="Text 11"/>
          <p:cNvSpPr txBox="1"/>
          <p:nvPr/>
        </p:nvSpPr>
        <p:spPr>
          <a:xfrm>
            <a:off x="1554480" y="4846320"/>
            <a:ext cx="3749040" cy="365760"/>
          </a:xfrm>
          <a:prstGeom prst="rect">
            <a:avLst/>
          </a:prstGeom>
          <a:noFill/>
          <a:ln/>
        </p:spPr>
        <p:txBody>
          <a:bodyPr wrap="square" lIns="0" tIns="0" rIns="0" bIns="0" rtlCol="0" anchor="t"/>
          <a:lstStyle/>
          <a:p>
            <a:pPr indent="0" marL="0">
              <a:buNone/>
            </a:pPr>
            <a:r>
              <a:rPr lang="en-US" sz="1400" dirty="0">
                <a:solidFill>
                  <a:srgbClr val="B9B6AA"/>
                </a:solidFill>
              </a:rPr>
              <a:t>Saat target tercapai: 30 klinik berbayar</a:t>
            </a:r>
            <a:endParaRPr lang="en-US" sz="1400" dirty="0"/>
          </a:p>
        </p:txBody>
      </p:sp>
      <p:sp>
        <p:nvSpPr>
          <p:cNvPr id="16" name="Text 12"/>
          <p:cNvSpPr txBox="1"/>
          <p:nvPr/>
        </p:nvSpPr>
        <p:spPr>
          <a:xfrm>
            <a:off x="548640" y="5623560"/>
            <a:ext cx="4937760" cy="365760"/>
          </a:xfrm>
          <a:prstGeom prst="rect">
            <a:avLst/>
          </a:prstGeom>
          <a:noFill/>
          <a:ln/>
        </p:spPr>
        <p:txBody>
          <a:bodyPr wrap="square" lIns="0" tIns="0" rIns="0" bIns="0" rtlCol="0" anchor="t"/>
          <a:lstStyle/>
          <a:p>
            <a:pPr indent="0" marL="0">
              <a:buNone/>
            </a:pPr>
            <a:r>
              <a:rPr lang="en-US" sz="1400" i="1" dirty="0">
                <a:solidFill>
                  <a:srgbClr val="B9B6AA"/>
                </a:solidFill>
              </a:rPr>
              <a:t>Runway ± Rp55 jt per bulan</a:t>
            </a:r>
            <a:endParaRPr lang="en-US" sz="1400" dirty="0"/>
          </a:p>
        </p:txBody>
      </p:sp>
      <p:sp>
        <p:nvSpPr>
          <p:cNvPr id="17" name="Text 13"/>
          <p:cNvSpPr txBox="1"/>
          <p:nvPr/>
        </p:nvSpPr>
        <p:spPr>
          <a:xfrm>
            <a:off x="6035040" y="1783080"/>
            <a:ext cx="5486400" cy="365760"/>
          </a:xfrm>
          <a:prstGeom prst="rect">
            <a:avLst/>
          </a:prstGeom>
          <a:noFill/>
          <a:ln/>
        </p:spPr>
        <p:txBody>
          <a:bodyPr wrap="square" lIns="0" tIns="0" rIns="0" bIns="0" rtlCol="0" anchor="t"/>
          <a:lstStyle/>
          <a:p>
            <a:pPr indent="0" marL="0">
              <a:buNone/>
            </a:pPr>
            <a:r>
              <a:rPr lang="en-US" sz="1600" b="1" dirty="0">
                <a:solidFill>
                  <a:srgbClr val="F3F1EA"/>
                </a:solidFill>
              </a:rPr>
              <a:t>Alokasi dana</a:t>
            </a:r>
            <a:endParaRPr lang="en-US" sz="1600" dirty="0"/>
          </a:p>
        </p:txBody>
      </p:sp>
      <p:sp>
        <p:nvSpPr>
          <p:cNvPr id="18" name="Text 14"/>
          <p:cNvSpPr txBox="1"/>
          <p:nvPr/>
        </p:nvSpPr>
        <p:spPr>
          <a:xfrm>
            <a:off x="6035040" y="2286000"/>
            <a:ext cx="4206240" cy="320040"/>
          </a:xfrm>
          <a:prstGeom prst="rect">
            <a:avLst/>
          </a:prstGeom>
          <a:noFill/>
          <a:ln/>
        </p:spPr>
        <p:txBody>
          <a:bodyPr wrap="square" lIns="0" tIns="0" rIns="0" bIns="0" rtlCol="0" anchor="t"/>
          <a:lstStyle/>
          <a:p>
            <a:pPr indent="0" marL="0">
              <a:buNone/>
            </a:pPr>
            <a:r>
              <a:rPr lang="en-US" sz="1400" dirty="0">
                <a:solidFill>
                  <a:srgbClr val="F3F1EA"/>
                </a:solidFill>
              </a:rPr>
              <a:t>Tim (gaji founder + 1 sales + 1 CS)</a:t>
            </a:r>
            <a:endParaRPr lang="en-US" sz="1400" dirty="0"/>
          </a:p>
        </p:txBody>
      </p:sp>
      <p:sp>
        <p:nvSpPr>
          <p:cNvPr id="19" name="Text 15"/>
          <p:cNvSpPr txBox="1"/>
          <p:nvPr/>
        </p:nvSpPr>
        <p:spPr>
          <a:xfrm>
            <a:off x="10241280" y="2286000"/>
            <a:ext cx="1371600" cy="320040"/>
          </a:xfrm>
          <a:prstGeom prst="rect">
            <a:avLst/>
          </a:prstGeom>
          <a:noFill/>
          <a:ln/>
        </p:spPr>
        <p:txBody>
          <a:bodyPr wrap="square" lIns="0" tIns="0" rIns="0" bIns="0" rtlCol="0" anchor="t"/>
          <a:lstStyle/>
          <a:p>
            <a:pPr algn="r" indent="0" marL="0">
              <a:buNone/>
            </a:pPr>
            <a:r>
              <a:rPr lang="en-US" sz="1400" b="1" dirty="0">
                <a:solidFill>
                  <a:srgbClr val="F3F1EA"/>
                </a:solidFill>
              </a:rPr>
              <a:t>Rp500 jt</a:t>
            </a:r>
            <a:endParaRPr lang="en-US" sz="1400" dirty="0"/>
          </a:p>
        </p:txBody>
      </p:sp>
      <p:sp>
        <p:nvSpPr>
          <p:cNvPr id="20" name="bar track 0"/>
          <p:cNvSpPr/>
          <p:nvPr/>
        </p:nvSpPr>
        <p:spPr>
          <a:xfrm>
            <a:off x="6035040" y="2651760"/>
            <a:ext cx="5577840" cy="164592"/>
          </a:xfrm>
          <a:prstGeom prst="roundRect">
            <a:avLst>
              <a:gd name="adj" fmla="val 50000"/>
            </a:avLst>
          </a:prstGeom>
          <a:solidFill>
            <a:srgbClr val="242320"/>
          </a:solidFill>
          <a:ln/>
        </p:spPr>
      </p:sp>
      <p:sp>
        <p:nvSpPr>
          <p:cNvPr id="21" name="bar 0"/>
          <p:cNvSpPr/>
          <p:nvPr/>
        </p:nvSpPr>
        <p:spPr>
          <a:xfrm>
            <a:off x="6035040" y="2651760"/>
            <a:ext cx="5577840" cy="164592"/>
          </a:xfrm>
          <a:prstGeom prst="roundRect">
            <a:avLst>
              <a:gd name="adj" fmla="val 50000"/>
            </a:avLst>
          </a:prstGeom>
          <a:solidFill>
            <a:srgbClr val="7ED957"/>
          </a:solidFill>
          <a:ln/>
        </p:spPr>
      </p:sp>
      <p:sp>
        <p:nvSpPr>
          <p:cNvPr id="22" name="Text 18"/>
          <p:cNvSpPr txBox="1"/>
          <p:nvPr/>
        </p:nvSpPr>
        <p:spPr>
          <a:xfrm>
            <a:off x="6035040" y="3017520"/>
            <a:ext cx="4206240" cy="320040"/>
          </a:xfrm>
          <a:prstGeom prst="rect">
            <a:avLst/>
          </a:prstGeom>
          <a:noFill/>
          <a:ln/>
        </p:spPr>
        <p:txBody>
          <a:bodyPr wrap="square" lIns="0" tIns="0" rIns="0" bIns="0" rtlCol="0" anchor="t"/>
          <a:lstStyle/>
          <a:p>
            <a:pPr indent="0" marL="0">
              <a:buNone/>
            </a:pPr>
            <a:r>
              <a:rPr lang="en-US" sz="1400" dirty="0">
                <a:solidFill>
                  <a:srgbClr val="F3F1EA"/>
                </a:solidFill>
              </a:rPr>
              <a:t>Sales &amp; marketing</a:t>
            </a:r>
            <a:endParaRPr lang="en-US" sz="1400" dirty="0"/>
          </a:p>
        </p:txBody>
      </p:sp>
      <p:sp>
        <p:nvSpPr>
          <p:cNvPr id="23" name="Text 19"/>
          <p:cNvSpPr txBox="1"/>
          <p:nvPr/>
        </p:nvSpPr>
        <p:spPr>
          <a:xfrm>
            <a:off x="10241280" y="3017520"/>
            <a:ext cx="1371600" cy="320040"/>
          </a:xfrm>
          <a:prstGeom prst="rect">
            <a:avLst/>
          </a:prstGeom>
          <a:noFill/>
          <a:ln/>
        </p:spPr>
        <p:txBody>
          <a:bodyPr wrap="square" lIns="0" tIns="0" rIns="0" bIns="0" rtlCol="0" anchor="t"/>
          <a:lstStyle/>
          <a:p>
            <a:pPr algn="r" indent="0" marL="0">
              <a:buNone/>
            </a:pPr>
            <a:r>
              <a:rPr lang="en-US" sz="1400" b="1" dirty="0">
                <a:solidFill>
                  <a:srgbClr val="F3F1EA"/>
                </a:solidFill>
              </a:rPr>
              <a:t>Rp250 jt</a:t>
            </a:r>
            <a:endParaRPr lang="en-US" sz="1400" dirty="0"/>
          </a:p>
        </p:txBody>
      </p:sp>
      <p:sp>
        <p:nvSpPr>
          <p:cNvPr id="24" name="bar track 1"/>
          <p:cNvSpPr/>
          <p:nvPr/>
        </p:nvSpPr>
        <p:spPr>
          <a:xfrm>
            <a:off x="6035040" y="3383280"/>
            <a:ext cx="5577840" cy="164592"/>
          </a:xfrm>
          <a:prstGeom prst="roundRect">
            <a:avLst>
              <a:gd name="adj" fmla="val 50000"/>
            </a:avLst>
          </a:prstGeom>
          <a:solidFill>
            <a:srgbClr val="242320"/>
          </a:solidFill>
          <a:ln/>
        </p:spPr>
      </p:sp>
      <p:sp>
        <p:nvSpPr>
          <p:cNvPr id="25" name="bar 1"/>
          <p:cNvSpPr/>
          <p:nvPr/>
        </p:nvSpPr>
        <p:spPr>
          <a:xfrm>
            <a:off x="6035040" y="3383280"/>
            <a:ext cx="2788920" cy="164592"/>
          </a:xfrm>
          <a:prstGeom prst="roundRect">
            <a:avLst>
              <a:gd name="adj" fmla="val 50000"/>
            </a:avLst>
          </a:prstGeom>
          <a:solidFill>
            <a:srgbClr val="7ED957"/>
          </a:solidFill>
          <a:ln/>
        </p:spPr>
      </p:sp>
      <p:sp>
        <p:nvSpPr>
          <p:cNvPr id="26" name="Text 22"/>
          <p:cNvSpPr txBox="1"/>
          <p:nvPr/>
        </p:nvSpPr>
        <p:spPr>
          <a:xfrm>
            <a:off x="6035040" y="3749040"/>
            <a:ext cx="4206240" cy="320040"/>
          </a:xfrm>
          <a:prstGeom prst="rect">
            <a:avLst/>
          </a:prstGeom>
          <a:noFill/>
          <a:ln/>
        </p:spPr>
        <p:txBody>
          <a:bodyPr wrap="square" lIns="0" tIns="0" rIns="0" bIns="0" rtlCol="0" anchor="t"/>
          <a:lstStyle/>
          <a:p>
            <a:pPr indent="0" marL="0">
              <a:buNone/>
            </a:pPr>
            <a:r>
              <a:rPr lang="en-US" sz="1400" dirty="0">
                <a:solidFill>
                  <a:srgbClr val="F3F1EA"/>
                </a:solidFill>
              </a:rPr>
              <a:t>Produk &amp; infrastruktur</a:t>
            </a:r>
            <a:endParaRPr lang="en-US" sz="1400" dirty="0"/>
          </a:p>
        </p:txBody>
      </p:sp>
      <p:sp>
        <p:nvSpPr>
          <p:cNvPr id="27" name="Text 23"/>
          <p:cNvSpPr txBox="1"/>
          <p:nvPr/>
        </p:nvSpPr>
        <p:spPr>
          <a:xfrm>
            <a:off x="10241280" y="3749040"/>
            <a:ext cx="1371600" cy="320040"/>
          </a:xfrm>
          <a:prstGeom prst="rect">
            <a:avLst/>
          </a:prstGeom>
          <a:noFill/>
          <a:ln/>
        </p:spPr>
        <p:txBody>
          <a:bodyPr wrap="square" lIns="0" tIns="0" rIns="0" bIns="0" rtlCol="0" anchor="t"/>
          <a:lstStyle/>
          <a:p>
            <a:pPr algn="r" indent="0" marL="0">
              <a:buNone/>
            </a:pPr>
            <a:r>
              <a:rPr lang="en-US" sz="1400" b="1" dirty="0">
                <a:solidFill>
                  <a:srgbClr val="F3F1EA"/>
                </a:solidFill>
              </a:rPr>
              <a:t>Rp100 jt</a:t>
            </a:r>
            <a:endParaRPr lang="en-US" sz="1400" dirty="0"/>
          </a:p>
        </p:txBody>
      </p:sp>
      <p:sp>
        <p:nvSpPr>
          <p:cNvPr id="28" name="bar track 2"/>
          <p:cNvSpPr/>
          <p:nvPr/>
        </p:nvSpPr>
        <p:spPr>
          <a:xfrm>
            <a:off x="6035040" y="4114800"/>
            <a:ext cx="5577840" cy="164592"/>
          </a:xfrm>
          <a:prstGeom prst="roundRect">
            <a:avLst>
              <a:gd name="adj" fmla="val 50000"/>
            </a:avLst>
          </a:prstGeom>
          <a:solidFill>
            <a:srgbClr val="242320"/>
          </a:solidFill>
          <a:ln/>
        </p:spPr>
      </p:sp>
      <p:sp>
        <p:nvSpPr>
          <p:cNvPr id="29" name="bar 2"/>
          <p:cNvSpPr/>
          <p:nvPr/>
        </p:nvSpPr>
        <p:spPr>
          <a:xfrm>
            <a:off x="6035040" y="4114800"/>
            <a:ext cx="1115568" cy="164592"/>
          </a:xfrm>
          <a:prstGeom prst="roundRect">
            <a:avLst>
              <a:gd name="adj" fmla="val 50000"/>
            </a:avLst>
          </a:prstGeom>
          <a:solidFill>
            <a:srgbClr val="B9B6AA"/>
          </a:solidFill>
          <a:ln/>
        </p:spPr>
      </p:sp>
      <p:sp>
        <p:nvSpPr>
          <p:cNvPr id="30" name="Text 26"/>
          <p:cNvSpPr txBox="1"/>
          <p:nvPr/>
        </p:nvSpPr>
        <p:spPr>
          <a:xfrm>
            <a:off x="6035040" y="4480560"/>
            <a:ext cx="4206240" cy="320040"/>
          </a:xfrm>
          <a:prstGeom prst="rect">
            <a:avLst/>
          </a:prstGeom>
          <a:noFill/>
          <a:ln/>
        </p:spPr>
        <p:txBody>
          <a:bodyPr wrap="square" lIns="0" tIns="0" rIns="0" bIns="0" rtlCol="0" anchor="t"/>
          <a:lstStyle/>
          <a:p>
            <a:pPr indent="0" marL="0">
              <a:buNone/>
            </a:pPr>
            <a:r>
              <a:rPr lang="en-US" sz="1400" dirty="0">
                <a:solidFill>
                  <a:srgbClr val="F3F1EA"/>
                </a:solidFill>
              </a:rPr>
              <a:t>Cadangan</a:t>
            </a:r>
            <a:endParaRPr lang="en-US" sz="1400" dirty="0"/>
          </a:p>
        </p:txBody>
      </p:sp>
      <p:sp>
        <p:nvSpPr>
          <p:cNvPr id="31" name="Text 27"/>
          <p:cNvSpPr txBox="1"/>
          <p:nvPr/>
        </p:nvSpPr>
        <p:spPr>
          <a:xfrm>
            <a:off x="10241280" y="4480560"/>
            <a:ext cx="1371600" cy="320040"/>
          </a:xfrm>
          <a:prstGeom prst="rect">
            <a:avLst/>
          </a:prstGeom>
          <a:noFill/>
          <a:ln/>
        </p:spPr>
        <p:txBody>
          <a:bodyPr wrap="square" lIns="0" tIns="0" rIns="0" bIns="0" rtlCol="0" anchor="t"/>
          <a:lstStyle/>
          <a:p>
            <a:pPr algn="r" indent="0" marL="0">
              <a:buNone/>
            </a:pPr>
            <a:r>
              <a:rPr lang="en-US" sz="1400" b="1" dirty="0">
                <a:solidFill>
                  <a:srgbClr val="F3F1EA"/>
                </a:solidFill>
              </a:rPr>
              <a:t>Rp100 jt</a:t>
            </a:r>
            <a:endParaRPr lang="en-US" sz="1400" dirty="0"/>
          </a:p>
        </p:txBody>
      </p:sp>
      <p:sp>
        <p:nvSpPr>
          <p:cNvPr id="32" name="bar track 3"/>
          <p:cNvSpPr/>
          <p:nvPr/>
        </p:nvSpPr>
        <p:spPr>
          <a:xfrm>
            <a:off x="6035040" y="4846320"/>
            <a:ext cx="5577840" cy="164592"/>
          </a:xfrm>
          <a:prstGeom prst="roundRect">
            <a:avLst>
              <a:gd name="adj" fmla="val 50000"/>
            </a:avLst>
          </a:prstGeom>
          <a:solidFill>
            <a:srgbClr val="242320"/>
          </a:solidFill>
          <a:ln/>
        </p:spPr>
      </p:sp>
      <p:sp>
        <p:nvSpPr>
          <p:cNvPr id="33" name="bar 3"/>
          <p:cNvSpPr/>
          <p:nvPr/>
        </p:nvSpPr>
        <p:spPr>
          <a:xfrm>
            <a:off x="6035040" y="4846320"/>
            <a:ext cx="1115568" cy="164592"/>
          </a:xfrm>
          <a:prstGeom prst="roundRect">
            <a:avLst>
              <a:gd name="adj" fmla="val 50000"/>
            </a:avLst>
          </a:prstGeom>
          <a:solidFill>
            <a:srgbClr val="B9B6AA"/>
          </a:solidFill>
          <a:ln/>
        </p:spPr>
      </p:sp>
      <p:sp>
        <p:nvSpPr>
          <p:cNvPr id="34" name="Text 30"/>
          <p:cNvSpPr txBox="1"/>
          <p:nvPr/>
        </p:nvSpPr>
        <p:spPr>
          <a:xfrm>
            <a:off x="6035040" y="5212080"/>
            <a:ext cx="4206240" cy="320040"/>
          </a:xfrm>
          <a:prstGeom prst="rect">
            <a:avLst/>
          </a:prstGeom>
          <a:noFill/>
          <a:ln/>
        </p:spPr>
        <p:txBody>
          <a:bodyPr wrap="square" lIns="0" tIns="0" rIns="0" bIns="0" rtlCol="0" anchor="t"/>
          <a:lstStyle/>
          <a:p>
            <a:pPr indent="0" marL="0">
              <a:buNone/>
            </a:pPr>
            <a:r>
              <a:rPr lang="en-US" sz="1400" dirty="0">
                <a:solidFill>
                  <a:srgbClr val="F3F1EA"/>
                </a:solidFill>
              </a:rPr>
              <a:t>Legal &amp; kepatuhan (PSE, merek, UU PDP)</a:t>
            </a:r>
            <a:endParaRPr lang="en-US" sz="1400" dirty="0"/>
          </a:p>
        </p:txBody>
      </p:sp>
      <p:sp>
        <p:nvSpPr>
          <p:cNvPr id="35" name="Text 31"/>
          <p:cNvSpPr txBox="1"/>
          <p:nvPr/>
        </p:nvSpPr>
        <p:spPr>
          <a:xfrm>
            <a:off x="10241280" y="5212080"/>
            <a:ext cx="1371600" cy="320040"/>
          </a:xfrm>
          <a:prstGeom prst="rect">
            <a:avLst/>
          </a:prstGeom>
          <a:noFill/>
          <a:ln/>
        </p:spPr>
        <p:txBody>
          <a:bodyPr wrap="square" lIns="0" tIns="0" rIns="0" bIns="0" rtlCol="0" anchor="t"/>
          <a:lstStyle/>
          <a:p>
            <a:pPr algn="r" indent="0" marL="0">
              <a:buNone/>
            </a:pPr>
            <a:r>
              <a:rPr lang="en-US" sz="1400" b="1" dirty="0">
                <a:solidFill>
                  <a:srgbClr val="F3F1EA"/>
                </a:solidFill>
              </a:rPr>
              <a:t>Rp50 jt</a:t>
            </a:r>
            <a:endParaRPr lang="en-US" sz="1400" dirty="0"/>
          </a:p>
        </p:txBody>
      </p:sp>
      <p:sp>
        <p:nvSpPr>
          <p:cNvPr id="36" name="bar track 4"/>
          <p:cNvSpPr/>
          <p:nvPr/>
        </p:nvSpPr>
        <p:spPr>
          <a:xfrm>
            <a:off x="6035040" y="5577840"/>
            <a:ext cx="5577840" cy="164592"/>
          </a:xfrm>
          <a:prstGeom prst="roundRect">
            <a:avLst>
              <a:gd name="adj" fmla="val 50000"/>
            </a:avLst>
          </a:prstGeom>
          <a:solidFill>
            <a:srgbClr val="242320"/>
          </a:solidFill>
          <a:ln/>
        </p:spPr>
      </p:sp>
      <p:sp>
        <p:nvSpPr>
          <p:cNvPr id="37" name="bar 4"/>
          <p:cNvSpPr/>
          <p:nvPr/>
        </p:nvSpPr>
        <p:spPr>
          <a:xfrm>
            <a:off x="6035040" y="5577840"/>
            <a:ext cx="557784" cy="164592"/>
          </a:xfrm>
          <a:prstGeom prst="roundRect">
            <a:avLst>
              <a:gd name="adj" fmla="val 50000"/>
            </a:avLst>
          </a:prstGeom>
          <a:solidFill>
            <a:srgbClr val="B9B6AA"/>
          </a:solidFill>
          <a:ln/>
        </p:spPr>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B6A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320040"/>
          </a:xfrm>
          <a:prstGeom prst="rect">
            <a:avLst/>
          </a:prstGeom>
          <a:noFill/>
          <a:ln/>
        </p:spPr>
        <p:txBody>
          <a:bodyPr wrap="square" lIns="0" tIns="0" rIns="0" bIns="0" rtlCol="0"/>
          <a:lstStyle/>
          <a:p>
            <a:pPr indent="0" marL="0">
              <a:buNone/>
            </a:pPr>
            <a:r>
              <a:rPr lang="en-US" sz="1300" b="1" spc="200" kern="0" dirty="0">
                <a:solidFill>
                  <a:schemeClr val="accent1"/>
                </a:solidFill>
              </a:rPr>
              <a:t>STRUKTUR INVESTASI</a:t>
            </a:r>
            <a:endParaRPr lang="en-US" sz="13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10% saham founder untuk Rp1 M — valuasi Rp10 M</a:t>
            </a:r>
            <a:endParaRPr lang="en-US" sz="3200" dirty="0"/>
          </a:p>
        </p:txBody>
      </p:sp>
      <p:sp>
        <p:nvSpPr>
          <p:cNvPr id="4" name="terms card 1"/>
          <p:cNvSpPr/>
          <p:nvPr/>
        </p:nvSpPr>
        <p:spPr>
          <a:xfrm>
            <a:off x="548640" y="1783080"/>
            <a:ext cx="3520440" cy="4069080"/>
          </a:xfrm>
          <a:prstGeom prst="roundRect">
            <a:avLst>
              <a:gd name="adj" fmla="val 3636"/>
            </a:avLst>
          </a:prstGeom>
          <a:solidFill>
            <a:srgbClr val="FFFFFF"/>
          </a:solidFill>
          <a:ln/>
          <a:effectLst>
            <a:outerShdw sx="100000" sy="100000" kx="0" ky="0" algn="bl" rotWithShape="0" blurRad="127000" dist="38100" dir="5400000">
              <a:srgbClr val="17160F">
                <a:alpha val="10000"/>
              </a:srgbClr>
            </a:outerShdw>
          </a:effectLst>
        </p:spPr>
      </p:sp>
      <p:sp>
        <p:nvSpPr>
          <p:cNvPr id="5" name="terms icon 1 bg"/>
          <p:cNvSpPr/>
          <p:nvPr/>
        </p:nvSpPr>
        <p:spPr>
          <a:xfrm>
            <a:off x="822960" y="2057400"/>
            <a:ext cx="548640" cy="548640"/>
          </a:xfrm>
          <a:prstGeom prst="ellipse">
            <a:avLst/>
          </a:prstGeom>
          <a:solidFill>
            <a:srgbClr val="E3F3DA"/>
          </a:solidFill>
          <a:ln/>
        </p:spPr>
      </p:sp>
      <p:pic>
        <p:nvPicPr>
          <p:cNvPr id="6" name="terms icon 1" descr="Ikon">    </p:cNvPr>
          <p:cNvPicPr>
            <a:picLocks noChangeAspect="1"/>
          </p:cNvPicPr>
          <p:nvPr/>
        </p:nvPicPr>
        <p:blipFill>
          <a:blip r:embed="rId1"/>
          <a:stretch>
            <a:fillRect/>
          </a:stretch>
        </p:blipFill>
        <p:spPr>
          <a:xfrm>
            <a:off x="960120" y="2194560"/>
            <a:ext cx="274320" cy="274320"/>
          </a:xfrm>
          <a:prstGeom prst="rect">
            <a:avLst/>
          </a:prstGeom>
        </p:spPr>
      </p:pic>
      <p:sp>
        <p:nvSpPr>
          <p:cNvPr id="7" name="Text 4"/>
          <p:cNvSpPr txBox="1"/>
          <p:nvPr/>
        </p:nvSpPr>
        <p:spPr>
          <a:xfrm>
            <a:off x="1508760" y="2057400"/>
            <a:ext cx="2331720" cy="548640"/>
          </a:xfrm>
          <a:prstGeom prst="rect">
            <a:avLst/>
          </a:prstGeom>
          <a:noFill/>
          <a:ln/>
        </p:spPr>
        <p:txBody>
          <a:bodyPr wrap="square" lIns="0" tIns="0" rIns="0" bIns="0" rtlCol="0" anchor="ctr"/>
          <a:lstStyle/>
          <a:p>
            <a:pPr indent="0" marL="0">
              <a:buNone/>
            </a:pPr>
            <a:r>
              <a:rPr lang="en-US" sz="1800" b="1" dirty="0">
                <a:solidFill>
                  <a:srgbClr val="17160F"/>
                </a:solidFill>
                <a:latin typeface="Arial" pitchFamily="34" charset="0"/>
                <a:ea typeface="Arial" pitchFamily="34" charset="-122"/>
                <a:cs typeface="Arial" pitchFamily="34" charset="-120"/>
              </a:rPr>
              <a:t>Hak investor</a:t>
            </a:r>
            <a:endParaRPr lang="en-US" sz="1800" dirty="0"/>
          </a:p>
        </p:txBody>
      </p:sp>
      <p:sp>
        <p:nvSpPr>
          <p:cNvPr id="8" name="Text 5"/>
          <p:cNvSpPr txBox="1"/>
          <p:nvPr/>
        </p:nvSpPr>
        <p:spPr>
          <a:xfrm>
            <a:off x="822960" y="2834640"/>
            <a:ext cx="3017520" cy="28803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7160F"/>
                </a:solidFill>
              </a:rPr>
              <a:t>Saham biasa 10% &amp; dividen proporsional</a:t>
            </a:r>
            <a:endParaRPr lang="en-US" sz="1400" dirty="0"/>
          </a:p>
          <a:p>
            <a:pPr marL="342900" indent="-342900">
              <a:spcAft>
                <a:spcPts val="700"/>
              </a:spcAft>
              <a:buSzPct val="100000"/>
              <a:buChar char="•"/>
            </a:pPr>
            <a:r>
              <a:rPr lang="en-US" sz="1400" dirty="0">
                <a:solidFill>
                  <a:srgbClr val="17160F"/>
                </a:solidFill>
              </a:rPr>
              <a:t>Laporan bulanan (klinik, MRR, dana) &amp; keuangan kuartalan</a:t>
            </a:r>
            <a:endParaRPr lang="en-US" sz="1400" dirty="0"/>
          </a:p>
          <a:p>
            <a:pPr marL="342900" indent="-342900">
              <a:spcAft>
                <a:spcPts val="700"/>
              </a:spcAft>
              <a:buSzPct val="100000"/>
              <a:buChar char="•"/>
            </a:pPr>
            <a:r>
              <a:rPr lang="en-US" sz="1400" dirty="0">
                <a:solidFill>
                  <a:srgbClr val="17160F"/>
                </a:solidFill>
              </a:rPr>
              <a:t>1 kursi komisaris atau pengamat</a:t>
            </a:r>
            <a:endParaRPr lang="en-US" sz="1400" dirty="0"/>
          </a:p>
          <a:p>
            <a:pPr marL="342900" indent="-342900">
              <a:spcAft>
                <a:spcPts val="700"/>
              </a:spcAft>
              <a:buSzPct val="100000"/>
              <a:buChar char="•"/>
            </a:pPr>
            <a:r>
              <a:rPr lang="en-US" sz="1400" dirty="0">
                <a:solidFill>
                  <a:srgbClr val="17160F"/>
                </a:solidFill>
              </a:rPr>
              <a:t>Hak didahulukan saat ada penerbitan saham baru</a:t>
            </a:r>
            <a:endParaRPr lang="en-US" sz="1400" dirty="0"/>
          </a:p>
          <a:p>
            <a:pPr marL="342900" indent="-342900">
              <a:spcAft>
                <a:spcPts val="700"/>
              </a:spcAft>
              <a:buSzPct val="100000"/>
              <a:buChar char="•"/>
            </a:pPr>
            <a:r>
              <a:rPr lang="en-US" sz="1400" dirty="0">
                <a:solidFill>
                  <a:srgbClr val="17160F"/>
                </a:solidFill>
              </a:rPr>
              <a:t>Hak veto keputusan besar &amp; tag-along</a:t>
            </a:r>
            <a:endParaRPr lang="en-US" sz="1400" dirty="0"/>
          </a:p>
        </p:txBody>
      </p:sp>
      <p:sp>
        <p:nvSpPr>
          <p:cNvPr id="9" name="terms card 2"/>
          <p:cNvSpPr/>
          <p:nvPr/>
        </p:nvSpPr>
        <p:spPr>
          <a:xfrm>
            <a:off x="4297680" y="1783080"/>
            <a:ext cx="3520440" cy="4069080"/>
          </a:xfrm>
          <a:prstGeom prst="roundRect">
            <a:avLst>
              <a:gd name="adj" fmla="val 3636"/>
            </a:avLst>
          </a:prstGeom>
          <a:solidFill>
            <a:srgbClr val="FFFFFF"/>
          </a:solidFill>
          <a:ln/>
          <a:effectLst>
            <a:outerShdw sx="100000" sy="100000" kx="0" ky="0" algn="bl" rotWithShape="0" blurRad="127000" dist="38100" dir="5400000">
              <a:srgbClr val="17160F">
                <a:alpha val="10000"/>
              </a:srgbClr>
            </a:outerShdw>
          </a:effectLst>
        </p:spPr>
      </p:sp>
      <p:sp>
        <p:nvSpPr>
          <p:cNvPr id="10" name="terms icon 2 bg"/>
          <p:cNvSpPr/>
          <p:nvPr/>
        </p:nvSpPr>
        <p:spPr>
          <a:xfrm>
            <a:off x="4572000" y="2057400"/>
            <a:ext cx="548640" cy="548640"/>
          </a:xfrm>
          <a:prstGeom prst="ellipse">
            <a:avLst/>
          </a:prstGeom>
          <a:solidFill>
            <a:srgbClr val="EEECE6"/>
          </a:solidFill>
          <a:ln/>
        </p:spPr>
      </p:sp>
      <p:pic>
        <p:nvPicPr>
          <p:cNvPr id="11" name="terms icon 2" descr="Ikon">    </p:cNvPr>
          <p:cNvPicPr>
            <a:picLocks noChangeAspect="1"/>
          </p:cNvPicPr>
          <p:nvPr/>
        </p:nvPicPr>
        <p:blipFill>
          <a:blip r:embed="rId2"/>
          <a:stretch>
            <a:fillRect/>
          </a:stretch>
        </p:blipFill>
        <p:spPr>
          <a:xfrm>
            <a:off x="4709160" y="2194560"/>
            <a:ext cx="274320" cy="274320"/>
          </a:xfrm>
          <a:prstGeom prst="rect">
            <a:avLst/>
          </a:prstGeom>
        </p:spPr>
      </p:pic>
      <p:sp>
        <p:nvSpPr>
          <p:cNvPr id="12" name="Text 8"/>
          <p:cNvSpPr txBox="1"/>
          <p:nvPr/>
        </p:nvSpPr>
        <p:spPr>
          <a:xfrm>
            <a:off x="5257800" y="2057400"/>
            <a:ext cx="2331720" cy="548640"/>
          </a:xfrm>
          <a:prstGeom prst="rect">
            <a:avLst/>
          </a:prstGeom>
          <a:noFill/>
          <a:ln/>
        </p:spPr>
        <p:txBody>
          <a:bodyPr wrap="square" lIns="0" tIns="0" rIns="0" bIns="0" rtlCol="0" anchor="ctr"/>
          <a:lstStyle/>
          <a:p>
            <a:pPr indent="0" marL="0">
              <a:buNone/>
            </a:pPr>
            <a:r>
              <a:rPr lang="en-US" sz="1800" b="1" dirty="0">
                <a:solidFill>
                  <a:srgbClr val="17160F"/>
                </a:solidFill>
                <a:latin typeface="Arial" pitchFamily="34" charset="0"/>
                <a:ea typeface="Arial" pitchFamily="34" charset="-122"/>
                <a:cs typeface="Arial" pitchFamily="34" charset="-120"/>
              </a:rPr>
              <a:t>Kewajiban investor</a:t>
            </a:r>
            <a:endParaRPr lang="en-US" sz="1800" dirty="0"/>
          </a:p>
        </p:txBody>
      </p:sp>
      <p:sp>
        <p:nvSpPr>
          <p:cNvPr id="13" name="Text 9"/>
          <p:cNvSpPr txBox="1"/>
          <p:nvPr/>
        </p:nvSpPr>
        <p:spPr>
          <a:xfrm>
            <a:off x="4572000" y="2834640"/>
            <a:ext cx="3017520" cy="28803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7160F"/>
                </a:solidFill>
              </a:rPr>
              <a:t>Menyetor dana 2 tahap sesuai jadwal</a:t>
            </a:r>
            <a:endParaRPr lang="en-US" sz="1400" dirty="0"/>
          </a:p>
          <a:p>
            <a:pPr marL="342900" indent="-342900">
              <a:spcAft>
                <a:spcPts val="700"/>
              </a:spcAft>
              <a:buSzPct val="100000"/>
              <a:buChar char="•"/>
            </a:pPr>
            <a:r>
              <a:rPr lang="en-US" sz="1400" dirty="0">
                <a:solidFill>
                  <a:srgbClr val="17160F"/>
                </a:solidFill>
              </a:rPr>
              <a:t>Menjaga kerahasiaan (NDA)</a:t>
            </a:r>
            <a:endParaRPr lang="en-US" sz="1400" dirty="0"/>
          </a:p>
          <a:p>
            <a:pPr marL="342900" indent="-342900">
              <a:spcAft>
                <a:spcPts val="700"/>
              </a:spcAft>
              <a:buSzPct val="100000"/>
              <a:buChar char="•"/>
            </a:pPr>
            <a:r>
              <a:rPr lang="en-US" sz="1400" dirty="0">
                <a:solidFill>
                  <a:srgbClr val="17160F"/>
                </a:solidFill>
              </a:rPr>
              <a:t>Tanpa akses data rekam medis pasien (UU PDP)</a:t>
            </a:r>
            <a:endParaRPr lang="en-US" sz="1400" dirty="0"/>
          </a:p>
          <a:p>
            <a:pPr marL="342900" indent="-342900">
              <a:spcAft>
                <a:spcPts val="700"/>
              </a:spcAft>
              <a:buSzPct val="100000"/>
              <a:buChar char="•"/>
            </a:pPr>
            <a:r>
              <a:rPr lang="en-US" sz="1400" dirty="0">
                <a:solidFill>
                  <a:srgbClr val="17160F"/>
                </a:solidFill>
              </a:rPr>
              <a:t>Tidak ikut campur operasional harian</a:t>
            </a:r>
            <a:endParaRPr lang="en-US" sz="1400" dirty="0"/>
          </a:p>
          <a:p>
            <a:pPr marL="342900" indent="-342900">
              <a:spcAft>
                <a:spcPts val="700"/>
              </a:spcAft>
              <a:buSzPct val="100000"/>
              <a:buChar char="•"/>
            </a:pPr>
            <a:r>
              <a:rPr lang="en-US" sz="1400" dirty="0">
                <a:solidFill>
                  <a:srgbClr val="17160F"/>
                </a:solidFill>
              </a:rPr>
              <a:t>Lock-up 24 bulan; tidak menjual ke pesaing</a:t>
            </a:r>
            <a:endParaRPr lang="en-US" sz="1400" dirty="0"/>
          </a:p>
        </p:txBody>
      </p:sp>
      <p:sp>
        <p:nvSpPr>
          <p:cNvPr id="14" name="terms card 3"/>
          <p:cNvSpPr/>
          <p:nvPr/>
        </p:nvSpPr>
        <p:spPr>
          <a:xfrm>
            <a:off x="8046720" y="1783080"/>
            <a:ext cx="3520440" cy="4069080"/>
          </a:xfrm>
          <a:prstGeom prst="roundRect">
            <a:avLst>
              <a:gd name="adj" fmla="val 3636"/>
            </a:avLst>
          </a:prstGeom>
          <a:solidFill>
            <a:srgbClr val="17160F"/>
          </a:solidFill>
          <a:ln/>
        </p:spPr>
      </p:sp>
      <p:sp>
        <p:nvSpPr>
          <p:cNvPr id="15" name="terms icon 3 bg"/>
          <p:cNvSpPr/>
          <p:nvPr/>
        </p:nvSpPr>
        <p:spPr>
          <a:xfrm>
            <a:off x="8321040" y="2057400"/>
            <a:ext cx="548640" cy="548640"/>
          </a:xfrm>
          <a:prstGeom prst="ellipse">
            <a:avLst/>
          </a:prstGeom>
          <a:solidFill>
            <a:srgbClr val="17160F"/>
          </a:solidFill>
          <a:ln/>
        </p:spPr>
      </p:sp>
      <p:pic>
        <p:nvPicPr>
          <p:cNvPr id="16" name="terms icon 3" descr="Ikon">    </p:cNvPr>
          <p:cNvPicPr>
            <a:picLocks noChangeAspect="1"/>
          </p:cNvPicPr>
          <p:nvPr/>
        </p:nvPicPr>
        <p:blipFill>
          <a:blip r:embed="rId3"/>
          <a:stretch>
            <a:fillRect/>
          </a:stretch>
        </p:blipFill>
        <p:spPr>
          <a:xfrm>
            <a:off x="8458200" y="2194560"/>
            <a:ext cx="274320" cy="274320"/>
          </a:xfrm>
          <a:prstGeom prst="rect">
            <a:avLst/>
          </a:prstGeom>
        </p:spPr>
      </p:pic>
      <p:sp>
        <p:nvSpPr>
          <p:cNvPr id="17" name="Text 12"/>
          <p:cNvSpPr txBox="1"/>
          <p:nvPr/>
        </p:nvSpPr>
        <p:spPr>
          <a:xfrm>
            <a:off x="9006840" y="2057400"/>
            <a:ext cx="2331720" cy="548640"/>
          </a:xfrm>
          <a:prstGeom prst="rect">
            <a:avLst/>
          </a:prstGeom>
          <a:noFill/>
          <a:ln/>
        </p:spPr>
        <p:txBody>
          <a:bodyPr wrap="square" lIns="0" tIns="0" rIns="0" bIns="0" rtlCol="0" anchor="ctr"/>
          <a:lstStyle/>
          <a:p>
            <a:pPr indent="0" marL="0">
              <a:buNone/>
            </a:pPr>
            <a:r>
              <a:rPr lang="en-US" sz="1800" b="1" dirty="0">
                <a:solidFill>
                  <a:srgbClr val="F3F1EA"/>
                </a:solidFill>
                <a:latin typeface="Arial" pitchFamily="34" charset="0"/>
                <a:ea typeface="Arial" pitchFamily="34" charset="-122"/>
                <a:cs typeface="Arial" pitchFamily="34" charset="-120"/>
              </a:rPr>
              <a:t>Komitmen founder</a:t>
            </a:r>
            <a:endParaRPr lang="en-US" sz="1800" dirty="0"/>
          </a:p>
        </p:txBody>
      </p:sp>
      <p:sp>
        <p:nvSpPr>
          <p:cNvPr id="18" name="Text 13"/>
          <p:cNvSpPr txBox="1"/>
          <p:nvPr/>
        </p:nvSpPr>
        <p:spPr>
          <a:xfrm>
            <a:off x="8321040" y="2834640"/>
            <a:ext cx="3017520" cy="28803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F3F1EA"/>
                </a:solidFill>
              </a:rPr>
              <a:t>Seluruh dana disalurkan ke kas PT untuk operasional</a:t>
            </a:r>
            <a:endParaRPr lang="en-US" sz="1400" dirty="0"/>
          </a:p>
          <a:p>
            <a:pPr marL="342900" indent="-342900">
              <a:spcAft>
                <a:spcPts val="700"/>
              </a:spcAft>
              <a:buSzPct val="100000"/>
              <a:buChar char="•"/>
            </a:pPr>
            <a:r>
              <a:rPr lang="en-US" sz="1400" dirty="0">
                <a:solidFill>
                  <a:srgbClr val="F3F1EA"/>
                </a:solidFill>
              </a:rPr>
              <a:t>Penggunaan dana sesuai rencana alokasi</a:t>
            </a:r>
            <a:endParaRPr lang="en-US" sz="1400" dirty="0"/>
          </a:p>
          <a:p>
            <a:pPr marL="342900" indent="-342900">
              <a:spcAft>
                <a:spcPts val="700"/>
              </a:spcAft>
              <a:buSzPct val="100000"/>
              <a:buChar char="•"/>
            </a:pPr>
            <a:r>
              <a:rPr lang="en-US" sz="1400" dirty="0">
                <a:solidFill>
                  <a:srgbClr val="F3F1EA"/>
                </a:solidFill>
              </a:rPr>
              <a:t>Kode program &amp; merek ApexRecord milik PT</a:t>
            </a:r>
            <a:endParaRPr lang="en-US" sz="1400" dirty="0"/>
          </a:p>
          <a:p>
            <a:pPr marL="342900" indent="-342900">
              <a:spcAft>
                <a:spcPts val="700"/>
              </a:spcAft>
              <a:buSzPct val="100000"/>
              <a:buChar char="•"/>
            </a:pPr>
            <a:r>
              <a:rPr lang="en-US" sz="1400" dirty="0">
                <a:solidFill>
                  <a:srgbClr val="F3F1EA"/>
                </a:solidFill>
              </a:rPr>
              <a:t>Founder bekerja penuh waktu, non-compete</a:t>
            </a:r>
            <a:endParaRPr lang="en-US" sz="1400" dirty="0"/>
          </a:p>
          <a:p>
            <a:pPr marL="342900" indent="-342900">
              <a:spcAft>
                <a:spcPts val="700"/>
              </a:spcAft>
              <a:buSzPct val="100000"/>
              <a:buChar char="•"/>
            </a:pPr>
            <a:r>
              <a:rPr lang="en-US" sz="1400" dirty="0">
                <a:solidFill>
                  <a:srgbClr val="F3F1EA"/>
                </a:solidFill>
              </a:rPr>
              <a:t>Laporan transparan &amp; akses audit</a:t>
            </a:r>
            <a:endParaRPr lang="en-US" sz="1400" dirty="0"/>
          </a:p>
        </p:txBody>
      </p:sp>
      <p:sp>
        <p:nvSpPr>
          <p:cNvPr id="19" name="Text 1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100" i="1" dirty="0">
                <a:solidFill>
                  <a:schemeClr val="accent6"/>
                </a:solidFill>
              </a:rPr>
              <a:t>Draf term sheet untuk diskusi. Pengalihan saham mengikuti akta notaris, persetujuan RUPS, dan pengesahan Kemenkumham.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logo disc"/>
          <p:cNvSpPr/>
          <p:nvPr/>
        </p:nvSpPr>
        <p:spPr>
          <a:xfrm>
            <a:off x="5184648" y="731520"/>
            <a:ext cx="1828800" cy="1828800"/>
          </a:xfrm>
          <a:prstGeom prst="ellipse">
            <a:avLst/>
          </a:prstGeom>
          <a:solidFill>
            <a:srgbClr val="FFFFFF"/>
          </a:solidFill>
          <a:ln/>
        </p:spPr>
      </p:sp>
      <p:pic>
        <p:nvPicPr>
          <p:cNvPr id="3" name="logo" descr="Logo ApexRecord">    </p:cNvPr>
          <p:cNvPicPr>
            <a:picLocks noChangeAspect="1"/>
          </p:cNvPicPr>
          <p:nvPr/>
        </p:nvPicPr>
        <p:blipFill>
          <a:blip r:embed="rId1"/>
          <a:stretch>
            <a:fillRect/>
          </a:stretch>
        </p:blipFill>
        <p:spPr>
          <a:xfrm>
            <a:off x="5367528" y="914400"/>
            <a:ext cx="1463040" cy="1463040"/>
          </a:xfrm>
          <a:prstGeom prst="rect">
            <a:avLst/>
          </a:prstGeom>
        </p:spPr>
      </p:pic>
      <p:sp>
        <p:nvSpPr>
          <p:cNvPr id="4" name="Text 1"/>
          <p:cNvSpPr txBox="1"/>
          <p:nvPr/>
        </p:nvSpPr>
        <p:spPr>
          <a:xfrm>
            <a:off x="914400" y="2834640"/>
            <a:ext cx="10360152" cy="914400"/>
          </a:xfrm>
          <a:prstGeom prst="rect">
            <a:avLst/>
          </a:prstGeom>
          <a:noFill/>
          <a:ln/>
        </p:spPr>
        <p:txBody>
          <a:bodyPr wrap="square" lIns="0" tIns="0" rIns="0" bIns="0" rtlCol="0" anchor="t"/>
          <a:lstStyle/>
          <a:p>
            <a:pPr algn="ctr" indent="0" marL="0">
              <a:buNone/>
            </a:pPr>
            <a:r>
              <a:rPr lang="en-US" sz="3800" b="1" dirty="0">
                <a:solidFill>
                  <a:srgbClr val="FFFFFF"/>
                </a:solidFill>
                <a:latin typeface="Arial" pitchFamily="34" charset="0"/>
                <a:ea typeface="Arial" pitchFamily="34" charset="-122"/>
                <a:cs typeface="Arial" pitchFamily="34" charset="-120"/>
              </a:rPr>
              <a:t>Klinik Indonesia layak dikelola </a:t>
            </a:r>
            <a:pPr algn="ctr" indent="0" marL="0">
              <a:buNone/>
            </a:pPr>
            <a:r>
              <a:rPr lang="en-US" sz="3800" b="1" i="1" dirty="0">
                <a:solidFill>
                  <a:srgbClr val="7ED957"/>
                </a:solidFill>
                <a:latin typeface="Arial" pitchFamily="34" charset="0"/>
                <a:ea typeface="Arial" pitchFamily="34" charset="-122"/>
                <a:cs typeface="Arial" pitchFamily="34" charset="-120"/>
              </a:rPr>
              <a:t>lebih rapi.</a:t>
            </a:r>
            <a:endParaRPr lang="en-US" sz="3800" dirty="0"/>
          </a:p>
        </p:txBody>
      </p:sp>
      <p:sp>
        <p:nvSpPr>
          <p:cNvPr id="5" name="Text 2"/>
          <p:cNvSpPr txBox="1"/>
          <p:nvPr/>
        </p:nvSpPr>
        <p:spPr>
          <a:xfrm>
            <a:off x="914400" y="3840480"/>
            <a:ext cx="10360152" cy="457200"/>
          </a:xfrm>
          <a:prstGeom prst="rect">
            <a:avLst/>
          </a:prstGeom>
          <a:noFill/>
          <a:ln/>
        </p:spPr>
        <p:txBody>
          <a:bodyPr wrap="square" lIns="0" tIns="0" rIns="0" bIns="0" rtlCol="0" anchor="t"/>
          <a:lstStyle/>
          <a:p>
            <a:pPr algn="ctr" indent="0" marL="0">
              <a:buNone/>
            </a:pPr>
            <a:r>
              <a:rPr lang="en-US" sz="2000" dirty="0">
                <a:solidFill>
                  <a:srgbClr val="F3F1EA"/>
                </a:solidFill>
              </a:rPr>
              <a:t>Demo langsung: app.apexrecord.my.id</a:t>
            </a:r>
            <a:endParaRPr lang="en-US" sz="2000" dirty="0"/>
          </a:p>
        </p:txBody>
      </p:sp>
      <p:pic>
        <p:nvPicPr>
          <p:cNvPr id="6" name="contact icon 1" descr="Ikon">    </p:cNvPr>
          <p:cNvPicPr>
            <a:picLocks noChangeAspect="1"/>
          </p:cNvPicPr>
          <p:nvPr/>
        </p:nvPicPr>
        <p:blipFill>
          <a:blip r:embed="rId2"/>
          <a:stretch>
            <a:fillRect/>
          </a:stretch>
        </p:blipFill>
        <p:spPr>
          <a:xfrm>
            <a:off x="1463040" y="4983480"/>
            <a:ext cx="365760" cy="365760"/>
          </a:xfrm>
          <a:prstGeom prst="rect">
            <a:avLst/>
          </a:prstGeom>
        </p:spPr>
      </p:pic>
      <p:sp>
        <p:nvSpPr>
          <p:cNvPr id="7" name="Text 3"/>
          <p:cNvSpPr txBox="1"/>
          <p:nvPr/>
        </p:nvSpPr>
        <p:spPr>
          <a:xfrm>
            <a:off x="1965960" y="4937760"/>
            <a:ext cx="2743200" cy="457200"/>
          </a:xfrm>
          <a:prstGeom prst="rect">
            <a:avLst/>
          </a:prstGeom>
          <a:noFill/>
          <a:ln/>
        </p:spPr>
        <p:txBody>
          <a:bodyPr wrap="square" lIns="0" tIns="0" rIns="0" bIns="0" rtlCol="0" anchor="ctr"/>
          <a:lstStyle/>
          <a:p>
            <a:pPr indent="0" marL="0">
              <a:buNone/>
            </a:pPr>
            <a:r>
              <a:rPr lang="en-US" sz="1500" dirty="0">
                <a:solidFill>
                  <a:srgbClr val="B9B6AA"/>
                </a:solidFill>
              </a:rPr>
              <a:t>0823-8769-6487</a:t>
            </a:r>
            <a:endParaRPr lang="en-US" sz="1500" dirty="0"/>
          </a:p>
        </p:txBody>
      </p:sp>
      <p:pic>
        <p:nvPicPr>
          <p:cNvPr id="8" name="contact icon 2" descr="Ikon">    </p:cNvPr>
          <p:cNvPicPr>
            <a:picLocks noChangeAspect="1"/>
          </p:cNvPicPr>
          <p:nvPr/>
        </p:nvPicPr>
        <p:blipFill>
          <a:blip r:embed="rId3"/>
          <a:stretch>
            <a:fillRect/>
          </a:stretch>
        </p:blipFill>
        <p:spPr>
          <a:xfrm>
            <a:off x="4754880" y="4983480"/>
            <a:ext cx="365760" cy="365760"/>
          </a:xfrm>
          <a:prstGeom prst="rect">
            <a:avLst/>
          </a:prstGeom>
        </p:spPr>
      </p:pic>
      <p:sp>
        <p:nvSpPr>
          <p:cNvPr id="9" name="Text 4"/>
          <p:cNvSpPr txBox="1"/>
          <p:nvPr/>
        </p:nvSpPr>
        <p:spPr>
          <a:xfrm>
            <a:off x="5257800" y="4937760"/>
            <a:ext cx="2743200" cy="457200"/>
          </a:xfrm>
          <a:prstGeom prst="rect">
            <a:avLst/>
          </a:prstGeom>
          <a:noFill/>
          <a:ln/>
        </p:spPr>
        <p:txBody>
          <a:bodyPr wrap="square" lIns="0" tIns="0" rIns="0" bIns="0" rtlCol="0" anchor="ctr"/>
          <a:lstStyle/>
          <a:p>
            <a:pPr indent="0" marL="0">
              <a:buNone/>
            </a:pPr>
            <a:r>
              <a:rPr lang="en-US" sz="1500" dirty="0">
                <a:solidFill>
                  <a:srgbClr val="B9B6AA"/>
                </a:solidFill>
              </a:rPr>
              <a:t>zanakdeveloper@gmail.com</a:t>
            </a:r>
            <a:endParaRPr lang="en-US" sz="1500" dirty="0"/>
          </a:p>
        </p:txBody>
      </p:sp>
      <p:pic>
        <p:nvPicPr>
          <p:cNvPr id="10" name="contact icon 3" descr="Ikon">    </p:cNvPr>
          <p:cNvPicPr>
            <a:picLocks noChangeAspect="1"/>
          </p:cNvPicPr>
          <p:nvPr/>
        </p:nvPicPr>
        <p:blipFill>
          <a:blip r:embed="rId4"/>
          <a:stretch>
            <a:fillRect/>
          </a:stretch>
        </p:blipFill>
        <p:spPr>
          <a:xfrm>
            <a:off x="8046720" y="4983480"/>
            <a:ext cx="365760" cy="365760"/>
          </a:xfrm>
          <a:prstGeom prst="rect">
            <a:avLst/>
          </a:prstGeom>
        </p:spPr>
      </p:pic>
      <p:sp>
        <p:nvSpPr>
          <p:cNvPr id="11" name="Text 5"/>
          <p:cNvSpPr txBox="1"/>
          <p:nvPr/>
        </p:nvSpPr>
        <p:spPr>
          <a:xfrm>
            <a:off x="8549640" y="4937760"/>
            <a:ext cx="2743200" cy="457200"/>
          </a:xfrm>
          <a:prstGeom prst="rect">
            <a:avLst/>
          </a:prstGeom>
          <a:noFill/>
          <a:ln/>
        </p:spPr>
        <p:txBody>
          <a:bodyPr wrap="square" lIns="0" tIns="0" rIns="0" bIns="0" rtlCol="0" anchor="ctr"/>
          <a:lstStyle/>
          <a:p>
            <a:pPr indent="0" marL="0">
              <a:buNone/>
            </a:pPr>
            <a:r>
              <a:rPr lang="en-US" sz="1500" dirty="0">
                <a:solidFill>
                  <a:srgbClr val="B9B6AA"/>
                </a:solidFill>
              </a:rPr>
              <a:t>PT Zanak Developer Abadi</a:t>
            </a:r>
            <a:endParaRPr lang="en-US" sz="1500" dirty="0"/>
          </a:p>
        </p:txBody>
      </p:sp>
    </p:spTree>
  </p:cSld>
  <p:clrMapOvr>
    <a:masterClrMapping/>
  </p:clrMapOvr>
</p:sld>
</file>

<file path=ppt/theme/theme1.xml><?xml version="1.0" encoding="utf-8"?>
<a:theme xmlns:a="http://schemas.openxmlformats.org/drawingml/2006/main" name="ApexRecord Landing">
  <a:themeElements>
    <a:clrScheme name="ApexRecord Landing">
      <a:dk1>
        <a:srgbClr val="17160F"/>
      </a:dk1>
      <a:lt1>
        <a:srgbClr val="FFFFFF"/>
      </a:lt1>
      <a:dk2>
        <a:srgbClr val="2B6B22"/>
      </a:dk2>
      <a:lt2>
        <a:srgbClr val="EEECE6"/>
      </a:lt2>
      <a:accent1>
        <a:srgbClr val="367D2F"/>
      </a:accent1>
      <a:accent2>
        <a:srgbClr val="7ED957"/>
      </a:accent2>
      <a:accent3>
        <a:srgbClr val="C1381F"/>
      </a:accent3>
      <a:accent4>
        <a:srgbClr val="8A5A00"/>
      </a:accent4>
      <a:accent5>
        <a:srgbClr val="55534A"/>
      </a:accent5>
      <a:accent6>
        <a:srgbClr val="6B695D"/>
      </a:accent6>
      <a:hlink>
        <a:srgbClr val="367D2F"/>
      </a:hlink>
      <a:folHlink>
        <a:srgbClr val="2B6B22"/>
      </a:folHlink>
    </a:clrScheme>
    <a:fontScheme name="ApexRecord Landin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PT Zanak Developer Abadi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ApexRecord — Pitch Deck</dc:title>
  <dc:subject>PptxGenJS Presentation</dc:subject>
  <dc:creator>PT Zanak Developer Abadi</dc:creator>
  <cp:lastModifiedBy>PT Zanak Developer Abadi</cp:lastModifiedBy>
  <cp:revision>1</cp:revision>
  <dcterms:created xsi:type="dcterms:W3CDTF">2026-10-13T01:55:54Z</dcterms:created>
  <dcterms:modified xsi:type="dcterms:W3CDTF">2026-10-13T01:55:54Z</dcterms:modified>
</cp:coreProperties>
</file>