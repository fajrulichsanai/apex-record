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baf96f63-cd3c-3746-f0f9-13175aec649a}">
          <p14:sldIdLst>
            <p14:sldId id="256"/>
          </p14:sldIdLst>
        </p14:section>
        <p14:section name="Masalah &amp; Solusi" id="{dafe0361-ce15-cc4e-e4a2-26bd1fbd4d01}">
          <p14:sldIdLst>
            <p14:sldId id="257"/>
            <p14:sldId id="258"/>
          </p14:sldIdLst>
        </p14:section>
        <p14:section name="Produk" id="{32926b7e-0274-5f58-a0b4-e09041f2e925}">
          <p14:sldIdLst>
            <p14:sldId id="259"/>
            <p14:sldId id="260"/>
          </p14:sldIdLst>
        </p14:section>
        <p14:section name="Pasar" id="{6aae923a-7a8b-7163-e7b8-a821cc08d696}">
          <p14:sldIdLst>
            <p14:sldId id="261"/>
            <p14:sldId id="262"/>
          </p14:sldIdLst>
        </p14:section>
        <p14:section name="Bisnis" id="{4bfd5a8c-9607-46b6-c436-884a1249993b}">
          <p14:sldIdLst>
            <p14:sldId id="263"/>
            <p14:sldId id="264"/>
          </p14:sldIdLst>
        </p14:section>
        <p14:section name="Traksi &amp; Strategi" id="{6e723b2d-5319-ac0f-d62d-397ac956f310}">
          <p14:sldIdLst>
            <p14:sldId id="265"/>
            <p14:sldId id="266"/>
            <p14:sldId id="267"/>
            <p14:sldId id="268"/>
          </p14:sldIdLst>
        </p14:section>
        <p14:section name="Tim &amp; Pendanaan" id="{e023c0b6-f866-7ce2-9ea4-0944fa37a67b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3D"/>
                </a:solidFill>
                <a:latin typeface="+mn-lt"/>
              </a:rPr>
              <a:t>Fasyankes berbayar (akhir tahun)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Fasyankes berbayar</c:v>
                </c:pt>
              </c:strCache>
            </c:strRef>
          </c:tx>
          <c:spPr>
            <a:solidFill>
              <a:srgbClr val="1E5B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F1B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Tahun 1</c:v>
                  </c:pt>
                  <c:pt idx="1">
                    <c:v>Tahun 2</c:v>
                  </c:pt>
                  <c:pt idx="2">
                    <c:v>Tahun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</c:v>
                </c:pt>
                <c:pt idx="1">
                  <c:v>500</c:v>
                </c:pt>
                <c:pt idx="2">
                  <c:v>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F1B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4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Alokasi dana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ED957"/>
              </a:solidFill>
              <a:ln w="25400" cap="flat">
                <a:solidFill>
                  <a:srgbClr val="0B1F4B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E5BD8"/>
              </a:solidFill>
              <a:ln w="25400" cap="flat">
                <a:solidFill>
                  <a:srgbClr val="0B1F4B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2A541"/>
              </a:solidFill>
              <a:ln w="25400" cap="flat">
                <a:solidFill>
                  <a:srgbClr val="0B1F4B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FC0E8"/>
              </a:solidFill>
              <a:ln w="25400" cap="flat">
                <a:solidFill>
                  <a:srgbClr val="0B1F4B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B1F4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B1F4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B1F4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B1F4B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Sales &amp; marketing</c:v>
                </c:pt>
                <c:pt idx="1">
                  <c:v>Produk &amp; engineering</c:v>
                </c:pt>
                <c:pt idx="2">
                  <c:v>Onboarding &amp; customer success</c:v>
                </c:pt>
                <c:pt idx="3">
                  <c:v>Operasional, legal &amp; keamanan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satu kalimat: ApexRecord adalah sistem operasi untuk klinik pratama, klinik utama, dan praktik mandiri dokter/dokter gigi di Indonesia.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Masalahnya bukan sekadar kerapian: data berserakan membuat klinik rugi waktu dan uang, dan kini juga berisiko tidak patuh regulasi.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Klaim '10-50x lebih murah' adalah perbandingan kasar terhadap SIMRS enterprise — sesuaikan dengan data pembanding yang Anda miliki.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demo langsung: app.apexrecord.my.id (mode demo). Semua modul ini sudah live — backend NestJS dengan 47 modul, frontend Next.js.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Upside di luar langganan: biaya migrasi data, fitur custom, paket multi-klinik, serta pembayaran/add-on — belum dihitung di angka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Perbandingan per kategori, bukan merek. Jika investor menanyakan nama pesaing spesifik, siapkan riset harga terbaru mereka.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Kotak [isi] berwarna oranye: ganti dengan angka nyata (klinik aktif, pengguna, kunjungan, MRR). Traksi nyata adalah slide terpenting bagi investor.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ini usulan — sesuaikan dengan rencana Anda sebelum presentasi.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nominal Rp[X] M sesuai kebutuhan. Patokan kasar: total biaya operasional 18 bulan + buffer 20%. Alokasi persentase ini usulan.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 Tera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ApexRecord  ·  Pitch Deck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 Gelap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0E8"/>
                </a:solidFill>
              </a:rPr>
              <a:t>ApexRecord  ·  Pitch Deck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C0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pul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circle"/>
          <p:cNvSpPr/>
          <p:nvPr/>
        </p:nvSpPr>
        <p:spPr>
          <a:xfrm>
            <a:off x="7589520" y="822960"/>
            <a:ext cx="5120640" cy="5120640"/>
          </a:xfrm>
          <a:prstGeom prst="ellipse">
            <a:avLst/>
          </a:prstGeom>
          <a:solidFill>
            <a:srgbClr val="1E5BD8">
              <a:alpha val="30000"/>
            </a:srgbClr>
          </a:solidFill>
          <a:ln/>
        </p:spPr>
      </p:sp>
      <p:sp>
        <p:nvSpPr>
          <p:cNvPr id="3" name="logo disc"/>
          <p:cNvSpPr/>
          <p:nvPr/>
        </p:nvSpPr>
        <p:spPr>
          <a:xfrm>
            <a:off x="8366760" y="1600200"/>
            <a:ext cx="3566160" cy="35661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logo" descr="Logo Apex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01168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PITCH DECK  ·  2026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6002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</a:t>
            </a:r>
            <a:pPr indent="0" marL="0">
              <a:buNone/>
            </a:pPr>
            <a:r>
              <a:rPr lang="en-US" sz="660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260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E0F5"/>
                </a:solidFill>
              </a:rPr>
              <a:t>Sistem operasi klinik &amp; praktik mandiri Indonesia — rekam medis, keuangan, dan integrasi SATUSEHAT dalam satu platform.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120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0E8"/>
                </a:solidFill>
              </a:rPr>
              <a:t>PT Zanak Developer Abadi  ·  Payakumbuh, Sumatera Barat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FC0E8"/>
                </a:solidFill>
              </a:rPr>
              <a:t>app.apexrecord.my.id  ·  zanakdeveloper@gmail.com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MASALAH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masih jalan dengan kertas, Excel, dan WhatsApp</a:t>
            </a:r>
            <a:endParaRPr lang="en-US" sz="3200" dirty="0"/>
          </a:p>
        </p:txBody>
      </p:sp>
      <p:sp>
        <p:nvSpPr>
          <p:cNvPr id="4" name="problem 1 card"/>
          <p:cNvSpPr/>
          <p:nvPr/>
        </p:nvSpPr>
        <p:spPr>
          <a:xfrm>
            <a:off x="548640" y="1828800"/>
            <a:ext cx="2587752" cy="3657600"/>
          </a:xfrm>
          <a:prstGeom prst="roundRect">
            <a:avLst>
              <a:gd name="adj" fmla="val 4240"/>
            </a:avLst>
          </a:prstGeom>
          <a:solidFill>
            <a:schemeClr val="bg2"/>
          </a:solidFill>
          <a:ln/>
        </p:spPr>
      </p:sp>
      <p:sp>
        <p:nvSpPr>
          <p:cNvPr id="5" name="problem 1 icon bg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problem 1 icon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07208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Rekam medis tercecer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2039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Riwayat tindakan, odontogram, dan resep tersebar di kertas &amp; chat — sulit dicari saat pasien kembali.</a:t>
            </a:r>
            <a:endParaRPr lang="en-US" sz="1400" dirty="0"/>
          </a:p>
        </p:txBody>
      </p:sp>
      <p:sp>
        <p:nvSpPr>
          <p:cNvPr id="9" name="problem 2 card"/>
          <p:cNvSpPr/>
          <p:nvPr/>
        </p:nvSpPr>
        <p:spPr>
          <a:xfrm>
            <a:off x="3364992" y="1828800"/>
            <a:ext cx="2587752" cy="3657600"/>
          </a:xfrm>
          <a:prstGeom prst="roundRect">
            <a:avLst>
              <a:gd name="adj" fmla="val 4240"/>
            </a:avLst>
          </a:prstGeom>
          <a:solidFill>
            <a:schemeClr val="bg2"/>
          </a:solidFill>
          <a:ln/>
        </p:spPr>
      </p:sp>
      <p:sp>
        <p:nvSpPr>
          <p:cNvPr id="10" name="problem 2 icon bg"/>
          <p:cNvSpPr/>
          <p:nvPr/>
        </p:nvSpPr>
        <p:spPr>
          <a:xfrm>
            <a:off x="3639312" y="210312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problem 2 icon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2402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9312" y="2807208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Jadwal &amp; antrian manual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39312" y="3566160"/>
            <a:ext cx="2039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Booking via telepon dan buku sering bentrok, tidak terlacak, pasien menunggu lama.</a:t>
            </a:r>
            <a:endParaRPr lang="en-US" sz="1400" dirty="0"/>
          </a:p>
        </p:txBody>
      </p:sp>
      <p:sp>
        <p:nvSpPr>
          <p:cNvPr id="14" name="problem 3 card"/>
          <p:cNvSpPr/>
          <p:nvPr/>
        </p:nvSpPr>
        <p:spPr>
          <a:xfrm>
            <a:off x="6181344" y="1828800"/>
            <a:ext cx="2587752" cy="3657600"/>
          </a:xfrm>
          <a:prstGeom prst="roundRect">
            <a:avLst>
              <a:gd name="adj" fmla="val 4240"/>
            </a:avLst>
          </a:prstGeom>
          <a:solidFill>
            <a:schemeClr val="bg2"/>
          </a:solidFill>
          <a:ln/>
        </p:spPr>
      </p:sp>
      <p:sp>
        <p:nvSpPr>
          <p:cNvPr id="15" name="problem 3 icon bg"/>
          <p:cNvSpPr/>
          <p:nvPr/>
        </p:nvSpPr>
        <p:spPr>
          <a:xfrm>
            <a:off x="6455664" y="210312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problem 3 icon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24028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55664" y="2807208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Buta angka bisnis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55664" y="3566160"/>
            <a:ext cx="2039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Uang masuk tercatat, tapi margin per tindakan, fee dokter, dan piutang tidak pernah dihitung.</a:t>
            </a:r>
            <a:endParaRPr lang="en-US" sz="1400" dirty="0"/>
          </a:p>
        </p:txBody>
      </p:sp>
      <p:sp>
        <p:nvSpPr>
          <p:cNvPr id="19" name="problem 4 card"/>
          <p:cNvSpPr/>
          <p:nvPr/>
        </p:nvSpPr>
        <p:spPr>
          <a:xfrm>
            <a:off x="8997696" y="1828800"/>
            <a:ext cx="2587752" cy="3657600"/>
          </a:xfrm>
          <a:prstGeom prst="roundRect">
            <a:avLst>
              <a:gd name="adj" fmla="val 4240"/>
            </a:avLst>
          </a:prstGeom>
          <a:solidFill>
            <a:schemeClr val="bg2"/>
          </a:solidFill>
          <a:ln/>
        </p:spPr>
      </p:sp>
      <p:sp>
        <p:nvSpPr>
          <p:cNvPr id="20" name="problem 4 icon bg"/>
          <p:cNvSpPr/>
          <p:nvPr/>
        </p:nvSpPr>
        <p:spPr>
          <a:xfrm>
            <a:off x="9272016" y="210312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problem 4 icon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24028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72016" y="2807208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Tekanan regulasi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272016" y="3566160"/>
            <a:ext cx="2039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RME dan pelaporan ke SATUSEHAT kini wajib — sistem lama tidak siap, SIMRS enterprise terlalu mahal.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SOLUSI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platform, dari pasien datang sampai laporan</a:t>
            </a:r>
            <a:endParaRPr lang="en-US" sz="3200" dirty="0"/>
          </a:p>
        </p:txBody>
      </p:sp>
      <p:sp>
        <p:nvSpPr>
          <p:cNvPr id="4" name="flow circle 1"/>
          <p:cNvSpPr/>
          <p:nvPr/>
        </p:nvSpPr>
        <p:spPr>
          <a:xfrm>
            <a:off x="1051560" y="19659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low icon 1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240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Booking online &amp; antrian</a:t>
            </a:r>
            <a:endParaRPr lang="en-US" sz="1400" dirty="0"/>
          </a:p>
        </p:txBody>
      </p:sp>
      <p:sp>
        <p:nvSpPr>
          <p:cNvPr id="8" name="flow arrow 1"/>
          <p:cNvSpPr/>
          <p:nvPr/>
        </p:nvSpPr>
        <p:spPr>
          <a:xfrm>
            <a:off x="2286000" y="2331720"/>
            <a:ext cx="411480" cy="274320"/>
          </a:xfrm>
          <a:prstGeom prst="rightArrow">
            <a:avLst/>
          </a:prstGeom>
          <a:solidFill>
            <a:srgbClr val="D9DEE8"/>
          </a:solidFill>
          <a:ln/>
        </p:spPr>
      </p:sp>
      <p:sp>
        <p:nvSpPr>
          <p:cNvPr id="9" name="flow circle 2"/>
          <p:cNvSpPr/>
          <p:nvPr/>
        </p:nvSpPr>
        <p:spPr>
          <a:xfrm>
            <a:off x="3319272" y="19659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low icon 2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240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16352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Pemeriksaan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816352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SOAP, ICD-10, odontogram</a:t>
            </a:r>
            <a:endParaRPr lang="en-US" sz="1400" dirty="0"/>
          </a:p>
        </p:txBody>
      </p:sp>
      <p:sp>
        <p:nvSpPr>
          <p:cNvPr id="13" name="flow arrow 2"/>
          <p:cNvSpPr/>
          <p:nvPr/>
        </p:nvSpPr>
        <p:spPr>
          <a:xfrm>
            <a:off x="4553712" y="2331720"/>
            <a:ext cx="411480" cy="274320"/>
          </a:xfrm>
          <a:prstGeom prst="rightArrow">
            <a:avLst/>
          </a:prstGeom>
          <a:solidFill>
            <a:srgbClr val="D9DEE8"/>
          </a:solidFill>
          <a:ln/>
        </p:spPr>
      </p:sp>
      <p:sp>
        <p:nvSpPr>
          <p:cNvPr id="14" name="flow circle 3"/>
          <p:cNvSpPr/>
          <p:nvPr/>
        </p:nvSpPr>
        <p:spPr>
          <a:xfrm>
            <a:off x="5586984" y="19659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low icon 3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2402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84064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084064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Cash, QRIS, BPJS, DP</a:t>
            </a:r>
            <a:endParaRPr lang="en-US" sz="1400" dirty="0"/>
          </a:p>
        </p:txBody>
      </p:sp>
      <p:sp>
        <p:nvSpPr>
          <p:cNvPr id="18" name="flow arrow 3"/>
          <p:cNvSpPr/>
          <p:nvPr/>
        </p:nvSpPr>
        <p:spPr>
          <a:xfrm>
            <a:off x="6821424" y="2331720"/>
            <a:ext cx="411480" cy="274320"/>
          </a:xfrm>
          <a:prstGeom prst="rightArrow">
            <a:avLst/>
          </a:prstGeom>
          <a:solidFill>
            <a:srgbClr val="D9DEE8"/>
          </a:solidFill>
          <a:ln/>
        </p:spPr>
      </p:sp>
      <p:sp>
        <p:nvSpPr>
          <p:cNvPr id="19" name="flow circle 4"/>
          <p:cNvSpPr/>
          <p:nvPr/>
        </p:nvSpPr>
        <p:spPr>
          <a:xfrm>
            <a:off x="7854696" y="19659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low icon 4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2402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51776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351776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Keuangan &amp; BI klinik</a:t>
            </a:r>
            <a:endParaRPr lang="en-US" sz="1400" dirty="0"/>
          </a:p>
        </p:txBody>
      </p:sp>
      <p:sp>
        <p:nvSpPr>
          <p:cNvPr id="23" name="flow arrow 4"/>
          <p:cNvSpPr/>
          <p:nvPr/>
        </p:nvSpPr>
        <p:spPr>
          <a:xfrm>
            <a:off x="9089136" y="2331720"/>
            <a:ext cx="411480" cy="274320"/>
          </a:xfrm>
          <a:prstGeom prst="rightArrow">
            <a:avLst/>
          </a:prstGeom>
          <a:solidFill>
            <a:srgbClr val="D9DEE8"/>
          </a:solidFill>
          <a:ln/>
        </p:spPr>
      </p:sp>
      <p:sp>
        <p:nvSpPr>
          <p:cNvPr id="24" name="flow circle 5"/>
          <p:cNvSpPr/>
          <p:nvPr/>
        </p:nvSpPr>
        <p:spPr>
          <a:xfrm>
            <a:off x="10122408" y="19659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low icon 5" descr="Ik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22402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19488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SATUSEHAT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619488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Sinkron FHIR otomatis</a:t>
            </a:r>
            <a:endParaRPr lang="en-US" sz="1400" dirty="0"/>
          </a:p>
        </p:txBody>
      </p:sp>
      <p:sp>
        <p:nvSpPr>
          <p:cNvPr id="28" name="value box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868680" y="4526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 menit</a:t>
            </a:r>
            <a:endParaRPr lang="en-US" sz="3000" dirty="0"/>
          </a:p>
        </p:txBody>
      </p:sp>
      <p:sp>
        <p:nvSpPr>
          <p:cNvPr id="30" name="Text 23"/>
          <p:cNvSpPr txBox="1"/>
          <p:nvPr/>
        </p:nvSpPr>
        <p:spPr>
          <a:xfrm>
            <a:off x="868680" y="5120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setup klinik dengan wizard onboarding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4526280" y="4526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Rp99rb</a:t>
            </a:r>
            <a:endParaRPr lang="en-US" sz="3000" dirty="0"/>
          </a:p>
        </p:txBody>
      </p:sp>
      <p:sp>
        <p:nvSpPr>
          <p:cNvPr id="32" name="Text 25"/>
          <p:cNvSpPr txBox="1"/>
          <p:nvPr/>
        </p:nvSpPr>
        <p:spPr>
          <a:xfrm>
            <a:off x="4526280" y="5120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mulai per bulan — 10–50x lebih murah dari SIMRS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8183880" y="4526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hari</a:t>
            </a:r>
            <a:endParaRPr lang="en-US" sz="3000" dirty="0"/>
          </a:p>
        </p:txBody>
      </p:sp>
      <p:sp>
        <p:nvSpPr>
          <p:cNvPr id="34" name="Text 27"/>
          <p:cNvSpPr txBox="1"/>
          <p:nvPr/>
        </p:nvSpPr>
        <p:spPr>
          <a:xfrm>
            <a:off x="8183880" y="5120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uji coba gratis, tanpa tagih otomatis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PRODUK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operasional klinik, sudah tersedia hari ini</a:t>
            </a:r>
            <a:endParaRPr lang="en-US" sz="3200" dirty="0"/>
          </a:p>
        </p:txBody>
      </p:sp>
      <p:sp>
        <p:nvSpPr>
          <p:cNvPr id="4" name="module card 1"/>
          <p:cNvSpPr/>
          <p:nvPr/>
        </p:nvSpPr>
        <p:spPr>
          <a:xfrm>
            <a:off x="548640" y="1828800"/>
            <a:ext cx="2587752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4B">
                <a:alpha val="12000"/>
              </a:srgbClr>
            </a:outerShdw>
          </a:effectLst>
        </p:spPr>
      </p:sp>
      <p:sp>
        <p:nvSpPr>
          <p:cNvPr id="5" name="module icon bg 1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odule icon 1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Rekam Medis &amp; SOAP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ICD-10 &amp; SNOMED CT, rencana perawatan</a:t>
            </a:r>
            <a:endParaRPr lang="en-US" sz="1300" dirty="0"/>
          </a:p>
        </p:txBody>
      </p:sp>
      <p:sp>
        <p:nvSpPr>
          <p:cNvPr id="9" name="module card 2"/>
          <p:cNvSpPr/>
          <p:nvPr/>
        </p:nvSpPr>
        <p:spPr>
          <a:xfrm>
            <a:off x="3364992" y="1828800"/>
            <a:ext cx="2587752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4B">
                <a:alpha val="12000"/>
              </a:srgbClr>
            </a:outerShdw>
          </a:effectLst>
        </p:spPr>
      </p:sp>
      <p:sp>
        <p:nvSpPr>
          <p:cNvPr id="10" name="module icon bg 2"/>
          <p:cNvSpPr/>
          <p:nvPr/>
        </p:nvSpPr>
        <p:spPr>
          <a:xfrm>
            <a:off x="3593592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odule icon 2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Odontogram Digital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Interaktif, per gigi, untuk dokter gigi</a:t>
            </a:r>
            <a:endParaRPr lang="en-US" sz="1300" dirty="0"/>
          </a:p>
        </p:txBody>
      </p:sp>
      <p:sp>
        <p:nvSpPr>
          <p:cNvPr id="14" name="module card 3"/>
          <p:cNvSpPr/>
          <p:nvPr/>
        </p:nvSpPr>
        <p:spPr>
          <a:xfrm>
            <a:off x="6181344" y="1828800"/>
            <a:ext cx="2587752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4B">
                <a:alpha val="12000"/>
              </a:srgbClr>
            </a:outerShdw>
          </a:effectLst>
        </p:spPr>
      </p:sp>
      <p:sp>
        <p:nvSpPr>
          <p:cNvPr id="15" name="module icon bg 3"/>
          <p:cNvSpPr/>
          <p:nvPr/>
        </p:nvSpPr>
        <p:spPr>
          <a:xfrm>
            <a:off x="6409944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module icon 3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944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Tarif, Billing, Invoice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QRIS, asuransi, BPJS, DP &amp; pelunasan</a:t>
            </a:r>
            <a:endParaRPr lang="en-US" sz="1300" dirty="0"/>
          </a:p>
        </p:txBody>
      </p:sp>
      <p:sp>
        <p:nvSpPr>
          <p:cNvPr id="19" name="module card 4"/>
          <p:cNvSpPr/>
          <p:nvPr/>
        </p:nvSpPr>
        <p:spPr>
          <a:xfrm>
            <a:off x="8997696" y="1828800"/>
            <a:ext cx="2587752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4B">
                <a:alpha val="12000"/>
              </a:srgbClr>
            </a:outerShdw>
          </a:effectLst>
        </p:spPr>
      </p:sp>
      <p:sp>
        <p:nvSpPr>
          <p:cNvPr id="20" name="module icon bg 4"/>
          <p:cNvSpPr/>
          <p:nvPr/>
        </p:nvSpPr>
        <p:spPr>
          <a:xfrm>
            <a:off x="9226296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module icon 4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740" y="21808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Reservasi &amp; Recall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Booking online, cek status via WhatsApp</a:t>
            </a:r>
            <a:endParaRPr lang="en-US" sz="1300" dirty="0"/>
          </a:p>
        </p:txBody>
      </p:sp>
      <p:sp>
        <p:nvSpPr>
          <p:cNvPr id="24" name="module card 5"/>
          <p:cNvSpPr/>
          <p:nvPr/>
        </p:nvSpPr>
        <p:spPr>
          <a:xfrm>
            <a:off x="548640" y="3931920"/>
            <a:ext cx="2587752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4B">
                <a:alpha val="12000"/>
              </a:srgbClr>
            </a:outerShdw>
          </a:effectLst>
        </p:spPr>
      </p:sp>
      <p:sp>
        <p:nvSpPr>
          <p:cNvPr id="25" name="module icon bg 5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module icon 5" descr="Ik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" y="428396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77240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Gudang &amp; Farmasi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166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Stok bahan, resep, nilai inventory</a:t>
            </a:r>
            <a:endParaRPr lang="en-US" sz="1300" dirty="0"/>
          </a:p>
        </p:txBody>
      </p:sp>
      <p:sp>
        <p:nvSpPr>
          <p:cNvPr id="29" name="module card 6"/>
          <p:cNvSpPr/>
          <p:nvPr/>
        </p:nvSpPr>
        <p:spPr>
          <a:xfrm>
            <a:off x="3364992" y="3931920"/>
            <a:ext cx="2587752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4B">
                <a:alpha val="12000"/>
              </a:srgbClr>
            </a:outerShdw>
          </a:effectLst>
        </p:spPr>
      </p:sp>
      <p:sp>
        <p:nvSpPr>
          <p:cNvPr id="30" name="module icon bg 6"/>
          <p:cNvSpPr/>
          <p:nvPr/>
        </p:nvSpPr>
        <p:spPr>
          <a:xfrm>
            <a:off x="3593592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module icon 6" descr="Ik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28396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93592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Share Dokter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3593592" y="5166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Bagi hasil otomatis per tindakan</a:t>
            </a:r>
            <a:endParaRPr lang="en-US" sz="1300" dirty="0"/>
          </a:p>
        </p:txBody>
      </p:sp>
      <p:sp>
        <p:nvSpPr>
          <p:cNvPr id="34" name="module card 7"/>
          <p:cNvSpPr/>
          <p:nvPr/>
        </p:nvSpPr>
        <p:spPr>
          <a:xfrm>
            <a:off x="6181344" y="3931920"/>
            <a:ext cx="2587752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4B">
                <a:alpha val="12000"/>
              </a:srgbClr>
            </a:outerShdw>
          </a:effectLst>
        </p:spPr>
      </p:sp>
      <p:sp>
        <p:nvSpPr>
          <p:cNvPr id="35" name="module icon bg 7"/>
          <p:cNvSpPr/>
          <p:nvPr/>
        </p:nvSpPr>
        <p:spPr>
          <a:xfrm>
            <a:off x="6409944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module icon 7" descr="Ik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388" y="4283964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09944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Consent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6409944" y="5166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Tanda tangan digital pasien &amp; dokter</a:t>
            </a:r>
            <a:endParaRPr lang="en-US" sz="1300" dirty="0"/>
          </a:p>
        </p:txBody>
      </p:sp>
      <p:sp>
        <p:nvSpPr>
          <p:cNvPr id="39" name="module card 8"/>
          <p:cNvSpPr/>
          <p:nvPr/>
        </p:nvSpPr>
        <p:spPr>
          <a:xfrm>
            <a:off x="8997696" y="3931920"/>
            <a:ext cx="2587752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4B">
                <a:alpha val="12000"/>
              </a:srgbClr>
            </a:outerShdw>
          </a:effectLst>
        </p:spPr>
      </p:sp>
      <p:sp>
        <p:nvSpPr>
          <p:cNvPr id="40" name="module icon bg 8"/>
          <p:cNvSpPr/>
          <p:nvPr/>
        </p:nvSpPr>
        <p:spPr>
          <a:xfrm>
            <a:off x="9226296" y="4160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module icon 8" descr="Ik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9740" y="4283964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26296" y="4800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Multi-Cabang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9226296" y="5166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Satu dashboard untuk semua klinik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KEUNGGULAN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hal yang tidak dimiliki aplikasi kasir biasa</a:t>
            </a:r>
            <a:endParaRPr lang="en-US" sz="3200" dirty="0"/>
          </a:p>
        </p:txBody>
      </p:sp>
      <p:sp>
        <p:nvSpPr>
          <p:cNvPr id="4" name="diff card 1"/>
          <p:cNvSpPr/>
          <p:nvPr/>
        </p:nvSpPr>
        <p:spPr>
          <a:xfrm>
            <a:off x="548640" y="18288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6306B"/>
          </a:solidFill>
          <a:ln/>
        </p:spPr>
      </p:sp>
      <p:sp>
        <p:nvSpPr>
          <p:cNvPr id="5" name="diff icon bg 1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diff icon 1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03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Terintegrasi SATUSEHAT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5603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0F5"/>
                </a:solidFill>
              </a:rPr>
              <a:t>Onboarding, KYC, dan sinkronisasi data FHIR ke Kemenkes langsung dari aplikasi — klinik patuh regulasi tanpa tim IT.</a:t>
            </a:r>
            <a:endParaRPr lang="en-US" sz="1400" dirty="0"/>
          </a:p>
        </p:txBody>
      </p:sp>
      <p:sp>
        <p:nvSpPr>
          <p:cNvPr id="9" name="diff card 2"/>
          <p:cNvSpPr/>
          <p:nvPr/>
        </p:nvSpPr>
        <p:spPr>
          <a:xfrm>
            <a:off x="6172200" y="18288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6306B"/>
          </a:solidFill>
          <a:ln/>
        </p:spPr>
      </p:sp>
      <p:sp>
        <p:nvSpPr>
          <p:cNvPr id="10" name="diff icon bg 2"/>
          <p:cNvSpPr/>
          <p:nvPr/>
        </p:nvSpPr>
        <p:spPr>
          <a:xfrm>
            <a:off x="6446520" y="2103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diff icon 2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258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103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Keuangan Pro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5603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0F5"/>
                </a:solidFill>
              </a:rPr>
              <a:t>LTV, CAC, retensi pasien, heatmap jam ramai, peta asal pasien per kecamatan — intelijen bisnis, bukan sekadar kasir.</a:t>
            </a:r>
            <a:endParaRPr lang="en-US" sz="1400" dirty="0"/>
          </a:p>
        </p:txBody>
      </p:sp>
      <p:sp>
        <p:nvSpPr>
          <p:cNvPr id="14" name="diff card 3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6306B"/>
          </a:solidFill>
          <a:ln/>
        </p:spPr>
      </p:sp>
      <p:sp>
        <p:nvSpPr>
          <p:cNvPr id="15" name="diff icon bg 3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diff icon 3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3616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206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seperti bicara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46634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0F5"/>
                </a:solidFill>
              </a:rPr>
              <a:t>Cari 18.500+ kode ICD-10 &amp; 499.000+ konsep SNOMED CT pakai bahasa sehari-hari: “gigi berlubang”, “radang gusi”.</a:t>
            </a:r>
            <a:endParaRPr lang="en-US" sz="1400" dirty="0"/>
          </a:p>
        </p:txBody>
      </p:sp>
      <p:sp>
        <p:nvSpPr>
          <p:cNvPr id="19" name="diff card 4"/>
          <p:cNvSpPr/>
          <p:nvPr/>
        </p:nvSpPr>
        <p:spPr>
          <a:xfrm>
            <a:off x="6172200" y="39319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6306B"/>
          </a:solidFill>
          <a:ln/>
        </p:spPr>
      </p:sp>
      <p:sp>
        <p:nvSpPr>
          <p:cNvPr id="20" name="diff icon bg 4"/>
          <p:cNvSpPr/>
          <p:nvPr/>
        </p:nvSpPr>
        <p:spPr>
          <a:xfrm>
            <a:off x="6446520" y="42062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diff icon 4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3616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206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Website Klinik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46634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0F5"/>
                </a:solidFill>
              </a:rPr>
              <a:t>Jadwal dokter, layanan, slot kosong, dan reservasi tampil otomatis di website klinik — API key terkunci per domain.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C0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KENAPA SEKARANG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Regulasi kini mewajibkan klinik go digital</a:t>
            </a:r>
            <a:endParaRPr lang="en-US" sz="3200" dirty="0"/>
          </a:p>
        </p:txBody>
      </p:sp>
      <p:sp>
        <p:nvSpPr>
          <p:cNvPr id="4" name="timeline axis"/>
          <p:cNvSpPr/>
          <p:nvPr/>
        </p:nvSpPr>
        <p:spPr>
          <a:xfrm>
            <a:off x="914400" y="2423160"/>
            <a:ext cx="10332720" cy="0"/>
          </a:xfrm>
          <a:prstGeom prst="line">
            <a:avLst/>
          </a:prstGeom>
          <a:noFill/>
          <a:ln w="25400">
            <a:solidFill>
              <a:srgbClr val="D9DEE8"/>
            </a:solidFill>
            <a:prstDash val="solid"/>
          </a:ln>
        </p:spPr>
      </p:sp>
      <p:sp>
        <p:nvSpPr>
          <p:cNvPr id="5" name="timeline dot 1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880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Permenkes 24/2022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Setiap fasyankes wajib menyelenggarakan Rekam Medis Elektronik (RME).</a:t>
            </a:r>
            <a:endParaRPr lang="en-US" sz="1400" dirty="0"/>
          </a:p>
        </p:txBody>
      </p:sp>
      <p:sp>
        <p:nvSpPr>
          <p:cNvPr id="9" name="timeline dot 2"/>
          <p:cNvSpPr/>
          <p:nvPr/>
        </p:nvSpPr>
        <p:spPr>
          <a:xfrm>
            <a:off x="3547872" y="219456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4992" y="2880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Batas transisi RME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39319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Batas akhir transisi ke RME; fasyankes diarahkan terhubung ke SATUSEHAT.</a:t>
            </a:r>
            <a:endParaRPr lang="en-US" sz="1400" dirty="0"/>
          </a:p>
        </p:txBody>
      </p:sp>
      <p:sp>
        <p:nvSpPr>
          <p:cNvPr id="13" name="timeline dot 3"/>
          <p:cNvSpPr/>
          <p:nvPr/>
        </p:nvSpPr>
        <p:spPr>
          <a:xfrm>
            <a:off x="6364224" y="2194560"/>
            <a:ext cx="457200" cy="4572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81344" y="2880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2024–26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181344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Integrasi SATUSEHAT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181344" y="39319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Kemenkes memonitor keterhubungan fasyankes — klinik kecil butuh solusi terjangkau.</a:t>
            </a:r>
            <a:endParaRPr lang="en-US" sz="1400" dirty="0"/>
          </a:p>
        </p:txBody>
      </p:sp>
      <p:sp>
        <p:nvSpPr>
          <p:cNvPr id="17" name="timeline dot 4"/>
          <p:cNvSpPr/>
          <p:nvPr/>
        </p:nvSpPr>
        <p:spPr>
          <a:xfrm>
            <a:off x="9180576" y="2194560"/>
            <a:ext cx="457200" cy="45720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97696" y="2880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Sekarang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997696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Peluang ApexRecord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997696" y="39319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Klinik &amp; praktik mandiri mencari sistem murah, cepat, dan sudah patuh.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Sumber: Permenkes No. 24 Tahun 2022 tentang Rekam Medis; keslan.kemkes.go.id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UKURAN PASAR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Ribuan fasyankes swasta butuh sistem yang terjangkau</a:t>
            </a:r>
            <a:endParaRPr lang="en-US" sz="3200" dirty="0"/>
          </a:p>
        </p:txBody>
      </p:sp>
      <p:sp>
        <p:nvSpPr>
          <p:cNvPr id="4" name="market ring 1"/>
          <p:cNvSpPr/>
          <p:nvPr/>
        </p:nvSpPr>
        <p:spPr>
          <a:xfrm>
            <a:off x="914400" y="1874520"/>
            <a:ext cx="3840480" cy="3840480"/>
          </a:xfrm>
          <a:prstGeom prst="ellipse">
            <a:avLst/>
          </a:prstGeom>
          <a:solidFill>
            <a:srgbClr val="EAF1FD"/>
          </a:solidFill>
          <a:ln/>
        </p:spPr>
      </p:sp>
      <p:sp>
        <p:nvSpPr>
          <p:cNvPr id="5" name="market ring 2"/>
          <p:cNvSpPr/>
          <p:nvPr/>
        </p:nvSpPr>
        <p:spPr>
          <a:xfrm>
            <a:off x="1508760" y="3063240"/>
            <a:ext cx="2651760" cy="2651760"/>
          </a:xfrm>
          <a:prstGeom prst="ellipse">
            <a:avLst/>
          </a:prstGeom>
          <a:solidFill>
            <a:srgbClr val="BCD2F7"/>
          </a:solidFill>
          <a:ln/>
        </p:spPr>
      </p:sp>
      <p:sp>
        <p:nvSpPr>
          <p:cNvPr id="6" name="market ring 3"/>
          <p:cNvSpPr/>
          <p:nvPr/>
        </p:nvSpPr>
        <p:spPr>
          <a:xfrm>
            <a:off x="2103120" y="4251960"/>
            <a:ext cx="1463040" cy="1463040"/>
          </a:xfrm>
          <a:prstGeom prst="ellipse">
            <a:avLst/>
          </a:prstGeom>
          <a:solidFill>
            <a:srgbClr val="1E5B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202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9202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·  ± Rp284 M / tahun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35915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287 ribu dokter terdaftar KKI (Okt 2024), termasuk 46 ribu dokter gigi, × paket Starter tahunan Rp990rb.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3246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·  ± Rp27 M / tahun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368503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± 18 ribu fasyankes target: 7.022 klinik pratama &amp; utama terakreditasi + ± 11 ribu praktik mandiri dokter &amp; dokter gigi, × paket Pro Rp1,49 jt/tahun.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45720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3 tahun  ·  ± Rp1,5 M ARR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501091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1.000 fasyankes berbayar (± 5,5% SAM), mulai dari klinik gigi &amp; Sumatera, lalu ekspansi nasional.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Estimasi bottom-up, perlu validasi. Sumber: KKI via GoodStats (2024); Kemenkes, klinik terakreditasi per Feb 2024; Kemenkes, data praktik mandiri 2018.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MODEL BISNIS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berlangganan, harga masuk akal untuk klinik kecil</a:t>
            </a:r>
            <a:endParaRPr lang="en-US" sz="3200" dirty="0"/>
          </a:p>
        </p:txBody>
      </p:sp>
      <p:sp>
        <p:nvSpPr>
          <p:cNvPr id="4" name="plan card Starter"/>
          <p:cNvSpPr/>
          <p:nvPr/>
        </p:nvSpPr>
        <p:spPr>
          <a:xfrm>
            <a:off x="548640" y="1783080"/>
            <a:ext cx="2743200" cy="420624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BD8"/>
                </a:solidFill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Rp99rb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bulan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81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</a:rPr>
              <a:t>Praktik solo &amp; klinik baru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</a:rPr>
              <a:t>Pasien, kunjungan, rekam medis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</a:rPr>
              <a:t>Billing &amp; laporan keuangan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</a:rPr>
              <a:t>ICD-10 &amp; SNOMED 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</a:rPr>
              <a:t>API website 1.000 req/hari</a:t>
            </a:r>
            <a:endParaRPr lang="en-US" sz="1400" dirty="0"/>
          </a:p>
        </p:txBody>
      </p:sp>
      <p:sp>
        <p:nvSpPr>
          <p:cNvPr id="9" name="plan card Pro"/>
          <p:cNvSpPr/>
          <p:nvPr/>
        </p:nvSpPr>
        <p:spPr>
          <a:xfrm>
            <a:off x="3474720" y="1783080"/>
            <a:ext cx="2743200" cy="4206240"/>
          </a:xfrm>
          <a:prstGeom prst="roundRect">
            <a:avLst>
              <a:gd name="adj" fmla="val 4000"/>
            </a:avLst>
          </a:prstGeom>
          <a:solidFill>
            <a:srgbClr val="0B1F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490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D957"/>
                </a:solidFill>
              </a:rPr>
              <a:t>Pro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468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Rp149rb</a:t>
            </a:r>
            <a:pPr indent="0" marL="0">
              <a:buNone/>
            </a:pPr>
            <a:r>
              <a:rPr lang="en-US" sz="1300" dirty="0">
                <a:solidFill>
                  <a:srgbClr val="D6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bulan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081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0F5"/>
                </a:solidFill>
              </a:rPr>
              <a:t>Klinik yang terus berkembang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56616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Semua fitur Starter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User management multi-role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Dukungan prioritas &amp; backup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API website 10.000 req/hari</a:t>
            </a:r>
            <a:endParaRPr lang="en-US" sz="1400" dirty="0"/>
          </a:p>
        </p:txBody>
      </p:sp>
      <p:sp>
        <p:nvSpPr>
          <p:cNvPr id="14" name="plan card Multi Klinik"/>
          <p:cNvSpPr/>
          <p:nvPr/>
        </p:nvSpPr>
        <p:spPr>
          <a:xfrm>
            <a:off x="6400800" y="1783080"/>
            <a:ext cx="2743200" cy="420624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BD8"/>
                </a:solidFill>
              </a:rPr>
              <a:t>Multi Klinik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468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Rp149rb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klinik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081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</a:rPr>
              <a:t>Per bulan · jaringan &amp; grup klinik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56616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</a:rPr>
              <a:t>Semua fitur Pro tiap cabang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</a:rPr>
              <a:t>Dashboard owner terpusat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</a:rPr>
              <a:t>+ Rp99rb admin owner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D"/>
                </a:solidFill>
              </a:rPr>
              <a:t>Aktivasi dibantu tim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640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harga bulanan untuk paket tahunan — hemat 2 bulan, kas di muka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 Rp1,5 jt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ARPU blended per fasyankes per tahun (asumsi)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4617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sumber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5166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pendapatan: langganan, migrasi data, fitur custom, multi-klinik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KOMPETISI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Lengkap seperti SIMRS, harga seperti aplikasi kasir</a:t>
            </a:r>
            <a:endParaRPr lang="en-US" sz="3200" dirty="0"/>
          </a:p>
        </p:txBody>
      </p:sp>
      <p:sp>
        <p:nvSpPr>
          <p:cNvPr id="4" name="highlight column"/>
          <p:cNvSpPr/>
          <p:nvPr/>
        </p:nvSpPr>
        <p:spPr>
          <a:xfrm>
            <a:off x="3383280" y="1691640"/>
            <a:ext cx="2057400" cy="4663440"/>
          </a:xfrm>
          <a:prstGeom prst="roundRect">
            <a:avLst>
              <a:gd name="adj" fmla="val 5333"/>
            </a:avLst>
          </a:prstGeom>
          <a:solidFill>
            <a:srgbClr val="EAF1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47472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ApexRecord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SIMRS enterprise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Aplikasi kasir / POS klinik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46920" y="17830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Kertas + Excel + WA</a:t>
            </a:r>
            <a:endParaRPr lang="en-US" sz="1400" dirty="0"/>
          </a:p>
        </p:txBody>
      </p:sp>
      <p:sp>
        <p:nvSpPr>
          <p:cNvPr id="9" name="row rule 1"/>
          <p:cNvSpPr/>
          <p:nvPr/>
        </p:nvSpPr>
        <p:spPr>
          <a:xfrm>
            <a:off x="548640" y="2423160"/>
            <a:ext cx="110642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23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Harga per bulan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423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Mulai Rp99rb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423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Jutaan + implementasi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2423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Murah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46920" y="2423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“Gratis”</a:t>
            </a:r>
            <a:endParaRPr lang="en-US" sz="1300" dirty="0"/>
          </a:p>
        </p:txBody>
      </p:sp>
      <p:sp>
        <p:nvSpPr>
          <p:cNvPr id="15" name="row rule 2"/>
          <p:cNvSpPr/>
          <p:nvPr/>
        </p:nvSpPr>
        <p:spPr>
          <a:xfrm>
            <a:off x="548640" y="3063240"/>
            <a:ext cx="110642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063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Setup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&lt; 10 menit, self-serve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Berminggu-minggu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Cepat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—</a:t>
            </a:r>
            <a:endParaRPr lang="en-US" sz="1300" dirty="0"/>
          </a:p>
        </p:txBody>
      </p:sp>
      <p:sp>
        <p:nvSpPr>
          <p:cNvPr id="21" name="row rule 3"/>
          <p:cNvSpPr/>
          <p:nvPr/>
        </p:nvSpPr>
        <p:spPr>
          <a:xfrm>
            <a:off x="548640" y="3703320"/>
            <a:ext cx="110642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Rekam medis + odontogram</a:t>
            </a:r>
            <a:endParaRPr lang="en-US" sz="1400" dirty="0"/>
          </a:p>
        </p:txBody>
      </p:sp>
      <p:pic>
        <p:nvPicPr>
          <p:cNvPr id="23" name="cell 2-1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3886200"/>
            <a:ext cx="274320" cy="274320"/>
          </a:xfrm>
          <a:prstGeom prst="rect">
            <a:avLst/>
          </a:prstGeom>
        </p:spPr>
      </p:pic>
      <p:pic>
        <p:nvPicPr>
          <p:cNvPr id="24" name="cell 2-2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3886200"/>
            <a:ext cx="274320" cy="274320"/>
          </a:xfrm>
          <a:prstGeom prst="rect">
            <a:avLst/>
          </a:prstGeom>
        </p:spPr>
      </p:pic>
      <p:pic>
        <p:nvPicPr>
          <p:cNvPr id="25" name="cell 2-3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3886200"/>
            <a:ext cx="274320" cy="274320"/>
          </a:xfrm>
          <a:prstGeom prst="rect">
            <a:avLst/>
          </a:prstGeom>
        </p:spPr>
      </p:pic>
      <p:pic>
        <p:nvPicPr>
          <p:cNvPr id="26" name="cell 2-4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7020" y="3886200"/>
            <a:ext cx="274320" cy="274320"/>
          </a:xfrm>
          <a:prstGeom prst="rect">
            <a:avLst/>
          </a:prstGeom>
        </p:spPr>
      </p:pic>
      <p:sp>
        <p:nvSpPr>
          <p:cNvPr id="27" name="row rule 4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48640" y="4343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Integrasi SATUSEHAT</a:t>
            </a:r>
            <a:endParaRPr lang="en-US" sz="1400" dirty="0"/>
          </a:p>
        </p:txBody>
      </p:sp>
      <p:pic>
        <p:nvPicPr>
          <p:cNvPr id="29" name="cell 3-1" descr="Ik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4820" y="4526280"/>
            <a:ext cx="274320" cy="274320"/>
          </a:xfrm>
          <a:prstGeom prst="rect">
            <a:avLst/>
          </a:prstGeom>
        </p:spPr>
      </p:pic>
      <p:pic>
        <p:nvPicPr>
          <p:cNvPr id="30" name="cell 3-2" descr="Ik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4526280"/>
            <a:ext cx="274320" cy="274320"/>
          </a:xfrm>
          <a:prstGeom prst="rect">
            <a:avLst/>
          </a:prstGeom>
        </p:spPr>
      </p:pic>
      <p:pic>
        <p:nvPicPr>
          <p:cNvPr id="31" name="cell 3-3" descr="Ik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620" y="4526280"/>
            <a:ext cx="274320" cy="274320"/>
          </a:xfrm>
          <a:prstGeom prst="rect">
            <a:avLst/>
          </a:prstGeom>
        </p:spPr>
      </p:pic>
      <p:pic>
        <p:nvPicPr>
          <p:cNvPr id="32" name="cell 3-4" descr="Ik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7020" y="4526280"/>
            <a:ext cx="274320" cy="274320"/>
          </a:xfrm>
          <a:prstGeom prst="rect">
            <a:avLst/>
          </a:prstGeom>
        </p:spPr>
      </p:pic>
      <p:sp>
        <p:nvSpPr>
          <p:cNvPr id="33" name="row rule 5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548640" y="4983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Analitik bisnis (LTV, CAC, heatmap)</a:t>
            </a:r>
            <a:endParaRPr lang="en-US" sz="1400" dirty="0"/>
          </a:p>
        </p:txBody>
      </p:sp>
      <p:pic>
        <p:nvPicPr>
          <p:cNvPr id="35" name="cell 4-1" descr="Ik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4820" y="5166360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5440680" y="49834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Sebagian</a:t>
            </a:r>
            <a:endParaRPr lang="en-US" sz="1300" dirty="0"/>
          </a:p>
        </p:txBody>
      </p:sp>
      <p:pic>
        <p:nvPicPr>
          <p:cNvPr id="37" name="cell 4-3" descr="Ik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9620" y="5166360"/>
            <a:ext cx="274320" cy="274320"/>
          </a:xfrm>
          <a:prstGeom prst="rect">
            <a:avLst/>
          </a:prstGeom>
        </p:spPr>
      </p:pic>
      <p:pic>
        <p:nvPicPr>
          <p:cNvPr id="38" name="cell 4-4" descr="Ik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47020" y="5166360"/>
            <a:ext cx="274320" cy="274320"/>
          </a:xfrm>
          <a:prstGeom prst="rect">
            <a:avLst/>
          </a:prstGeom>
        </p:spPr>
      </p:pic>
      <p:sp>
        <p:nvSpPr>
          <p:cNvPr id="39" name="row rule 6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548640" y="5623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API website &amp; reservasi online</a:t>
            </a:r>
            <a:endParaRPr lang="en-US" sz="1400" dirty="0"/>
          </a:p>
        </p:txBody>
      </p:sp>
      <p:pic>
        <p:nvPicPr>
          <p:cNvPr id="41" name="cell 5-1" descr="Ik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4820" y="5806440"/>
            <a:ext cx="274320" cy="27432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5440680" y="5623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Sebagian</a:t>
            </a:r>
            <a:endParaRPr lang="en-US" sz="1300" dirty="0"/>
          </a:p>
        </p:txBody>
      </p:sp>
      <p:pic>
        <p:nvPicPr>
          <p:cNvPr id="43" name="cell 5-3" descr="Ik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9620" y="5806440"/>
            <a:ext cx="274320" cy="274320"/>
          </a:xfrm>
          <a:prstGeom prst="rect">
            <a:avLst/>
          </a:prstGeom>
        </p:spPr>
      </p:pic>
      <p:pic>
        <p:nvPicPr>
          <p:cNvPr id="44" name="cell 5-4" descr="Ik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47020" y="580644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TRAKSI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 sudah live dan siap dijual — bukan sekadar ide</a:t>
            </a:r>
            <a:endParaRPr lang="en-US" sz="3200" dirty="0"/>
          </a:p>
        </p:txBody>
      </p:sp>
      <p:sp>
        <p:nvSpPr>
          <p:cNvPr id="4" name="kpi card 1"/>
          <p:cNvSpPr/>
          <p:nvPr/>
        </p:nvSpPr>
        <p:spPr>
          <a:xfrm>
            <a:off x="548640" y="1828800"/>
            <a:ext cx="2587752" cy="1737360"/>
          </a:xfrm>
          <a:prstGeom prst="roundRect">
            <a:avLst>
              <a:gd name="adj" fmla="val 6316"/>
            </a:avLst>
          </a:prstGeom>
          <a:solidFill>
            <a:srgbClr val="1630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0F5"/>
                </a:solidFill>
              </a:rPr>
              <a:t>modul backend live (NestJS + MySQL)</a:t>
            </a:r>
            <a:endParaRPr lang="en-US" sz="1400" dirty="0"/>
          </a:p>
        </p:txBody>
      </p:sp>
      <p:sp>
        <p:nvSpPr>
          <p:cNvPr id="7" name="kpi card 2"/>
          <p:cNvSpPr/>
          <p:nvPr/>
        </p:nvSpPr>
        <p:spPr>
          <a:xfrm>
            <a:off x="3364992" y="1828800"/>
            <a:ext cx="2587752" cy="1737360"/>
          </a:xfrm>
          <a:prstGeom prst="roundRect">
            <a:avLst>
              <a:gd name="adj" fmla="val 6316"/>
            </a:avLst>
          </a:prstGeom>
          <a:solidFill>
            <a:srgbClr val="1630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9312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0F5"/>
                </a:solidFill>
              </a:rPr>
              <a:t>halaman aplikasi web (Next.js)</a:t>
            </a:r>
            <a:endParaRPr lang="en-US" sz="1400" dirty="0"/>
          </a:p>
        </p:txBody>
      </p:sp>
      <p:sp>
        <p:nvSpPr>
          <p:cNvPr id="10" name="kpi card 3"/>
          <p:cNvSpPr/>
          <p:nvPr/>
        </p:nvSpPr>
        <p:spPr>
          <a:xfrm>
            <a:off x="6181344" y="1828800"/>
            <a:ext cx="2587752" cy="1737360"/>
          </a:xfrm>
          <a:prstGeom prst="roundRect">
            <a:avLst>
              <a:gd name="adj" fmla="val 6316"/>
            </a:avLst>
          </a:prstGeom>
          <a:solidFill>
            <a:srgbClr val="1630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55664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[isi]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0F5"/>
                </a:solidFill>
              </a:rPr>
              <a:t>klinik aktif / uji coba</a:t>
            </a:r>
            <a:endParaRPr lang="en-US" sz="1400" dirty="0"/>
          </a:p>
        </p:txBody>
      </p:sp>
      <p:sp>
        <p:nvSpPr>
          <p:cNvPr id="13" name="kpi card 4"/>
          <p:cNvSpPr/>
          <p:nvPr/>
        </p:nvSpPr>
        <p:spPr>
          <a:xfrm>
            <a:off x="8997696" y="1828800"/>
            <a:ext cx="2587752" cy="1737360"/>
          </a:xfrm>
          <a:prstGeom prst="roundRect">
            <a:avLst>
              <a:gd name="adj" fmla="val 6316"/>
            </a:avLst>
          </a:prstGeom>
          <a:solidFill>
            <a:srgbClr val="1630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72016" y="2011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[isi]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28346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0F5"/>
                </a:solidFill>
              </a:rPr>
              <a:t>kunjungan pasien tercatat</a:t>
            </a:r>
            <a:endParaRPr lang="en-US" sz="1400" dirty="0"/>
          </a:p>
        </p:txBody>
      </p:sp>
      <p:pic>
        <p:nvPicPr>
          <p:cNvPr id="16" name="done check 1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908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05840" y="4023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Rekam medis, odontogram, billing, farmasi, gudang — live</a:t>
            </a:r>
            <a:endParaRPr lang="en-US" sz="1500" dirty="0"/>
          </a:p>
        </p:txBody>
      </p:sp>
      <p:pic>
        <p:nvPicPr>
          <p:cNvPr id="18" name="done check 2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06908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629400" y="4023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Integrasi SATUSEHAT: onboarding, KYC, sinkronisasi FHIR</a:t>
            </a:r>
            <a:endParaRPr lang="en-US" sz="1500" dirty="0"/>
          </a:p>
        </p:txBody>
      </p:sp>
      <p:pic>
        <p:nvPicPr>
          <p:cNvPr id="20" name="done check 3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377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05840" y="4892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Langganan &amp; pembayaran otomatis, multi-klinik, super-admin</a:t>
            </a:r>
            <a:endParaRPr lang="en-US" sz="1500" dirty="0"/>
          </a:p>
        </p:txBody>
      </p:sp>
      <p:pic>
        <p:nvPicPr>
          <p:cNvPr id="22" name="done check 4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9377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629400" y="4892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Keamanan: enkripsi NIK, audit log, RBAC, kunci login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C0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GO-TO-MARKET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Mulai dari klinik gigi, tumbuh lewat komunitas</a:t>
            </a:r>
            <a:endParaRPr lang="en-US" sz="3200" dirty="0"/>
          </a:p>
        </p:txBody>
      </p:sp>
      <p:sp>
        <p:nvSpPr>
          <p:cNvPr id="4" name="gtm 1 card"/>
          <p:cNvSpPr/>
          <p:nvPr/>
        </p:nvSpPr>
        <p:spPr>
          <a:xfrm>
            <a:off x="548640" y="182880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5" name="gtm 1 icon bg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gtm 1 icon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0720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489204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Beachhead: klinik gigi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5603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Odontogram &amp; fee share dokter jadi pembeda tajam. Mulai di Sumatera Barat lalu Sumatera.</a:t>
            </a:r>
            <a:endParaRPr lang="en-US" sz="1400" dirty="0"/>
          </a:p>
        </p:txBody>
      </p:sp>
      <p:sp>
        <p:nvSpPr>
          <p:cNvPr id="11" name="gtm 2 card"/>
          <p:cNvSpPr/>
          <p:nvPr/>
        </p:nvSpPr>
        <p:spPr>
          <a:xfrm>
            <a:off x="6172200" y="182880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2" name="gtm 2 icon bg"/>
          <p:cNvSpPr/>
          <p:nvPr/>
        </p:nvSpPr>
        <p:spPr>
          <a:xfrm>
            <a:off x="6446520" y="2103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gtm 2 icon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4028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46520" y="280720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3566160"/>
            <a:ext cx="489204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26948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Komunitas profesi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269480" y="25603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Kemitraan dengan PDGI/IDI cabang, seminar SATUSEHAT &amp; RME, webinar akreditasi.</a:t>
            </a:r>
            <a:endParaRPr lang="en-US" sz="1400" dirty="0"/>
          </a:p>
        </p:txBody>
      </p:sp>
      <p:sp>
        <p:nvSpPr>
          <p:cNvPr id="18" name="gtm 3 card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9" name="gtm 3 icon bg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gtm 3 icon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4340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2960" y="491032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5669280"/>
            <a:ext cx="489204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1645920" y="4206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Referral &amp; reseller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645920" y="46634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Program referral antar-klinik (sudah ada modul referral) dan reseller lokal per kota.</a:t>
            </a:r>
            <a:endParaRPr lang="en-US" sz="1400" dirty="0"/>
          </a:p>
        </p:txBody>
      </p:sp>
      <p:sp>
        <p:nvSpPr>
          <p:cNvPr id="25" name="gtm 4 card"/>
          <p:cNvSpPr/>
          <p:nvPr/>
        </p:nvSpPr>
        <p:spPr>
          <a:xfrm>
            <a:off x="6172200" y="393192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6" name="gtm 4 icon bg"/>
          <p:cNvSpPr/>
          <p:nvPr/>
        </p:nvSpPr>
        <p:spPr>
          <a:xfrm>
            <a:off x="6446520" y="4206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gtm 4 icon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43400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446520" y="491032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6446520" y="5669280"/>
            <a:ext cx="489204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269480" y="4206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Digital &amp; konten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7269480" y="46634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SEO, demo gratis, uji coba 15 hari, konten edukasi untuk owner klinik.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PROYEKSI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tahun ke-3: 1.200 fasyankes, Rp1,8 M ARR</a:t>
            </a:r>
            <a:endParaRPr lang="en-US" sz="3200" dirty="0"/>
          </a:p>
        </p:txBody>
      </p:sp>
      <p:graphicFrame>
        <p:nvGraphicFramePr>
          <p:cNvPr id="4" name="projection chart" descr=""/>
          <p:cNvGraphicFramePr/>
          <p:nvPr/>
        </p:nvGraphicFramePr>
        <p:xfrm>
          <a:off x="548640" y="173736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783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Rp0,2 M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 tahun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926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Rp0,75 M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 tahun 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4069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Rp1,8 M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663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 tahun 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5257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Asumsi ilustratif: ARPU blended Rp1,5 jt/tahun, churn tahunan &lt; 15%. Sesuaikan dengan data aktual.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ROADMAP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sistem klinik menjadi ekosistem layanan primer</a:t>
            </a:r>
            <a:endParaRPr lang="en-US" sz="3200" dirty="0"/>
          </a:p>
        </p:txBody>
      </p:sp>
      <p:sp>
        <p:nvSpPr>
          <p:cNvPr id="4" name="roadmap card 1"/>
          <p:cNvSpPr/>
          <p:nvPr/>
        </p:nvSpPr>
        <p:spPr>
          <a:xfrm>
            <a:off x="548640" y="178308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0B1F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D957"/>
                </a:solidFill>
              </a:rPr>
              <a:t>Q4 2026 – Q1 2027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Perkuat inti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Sertifikasi &amp; audit keamanan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Aplikasi mobile dokter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Migrasi data otomatis</a:t>
            </a:r>
            <a:endParaRPr lang="en-US" sz="1600" dirty="0"/>
          </a:p>
        </p:txBody>
      </p:sp>
      <p:sp>
        <p:nvSpPr>
          <p:cNvPr id="8" name="roadmap card 2"/>
          <p:cNvSpPr/>
          <p:nvPr/>
        </p:nvSpPr>
        <p:spPr>
          <a:xfrm>
            <a:off x="4297680" y="178308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057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D8"/>
                </a:solidFill>
              </a:rPr>
              <a:t>Q2 – Q3 2027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Tumbuh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20040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B3D"/>
                </a:solidFill>
              </a:rPr>
              <a:t>Integrasi BPJS (P-Care)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B3D"/>
                </a:solidFill>
              </a:rPr>
              <a:t>Pembayaran online terintegrasi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B3D"/>
                </a:solidFill>
              </a:rPr>
              <a:t>Ekspansi ke seluruh Sumatera</a:t>
            </a:r>
            <a:endParaRPr lang="en-US" sz="1600" dirty="0"/>
          </a:p>
        </p:txBody>
      </p:sp>
      <p:sp>
        <p:nvSpPr>
          <p:cNvPr id="12" name="roadmap card 3"/>
          <p:cNvSpPr/>
          <p:nvPr/>
        </p:nvSpPr>
        <p:spPr>
          <a:xfrm>
            <a:off x="8046720" y="178308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4F6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2057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BD8"/>
                </a:solidFill>
              </a:rPr>
              <a:t>Q4 2027 – 2028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Ekosistem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20040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B3D"/>
                </a:solidFill>
              </a:rPr>
              <a:t>Portal &amp; aplikasi pasien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B3D"/>
                </a:solidFill>
              </a:rPr>
              <a:t>Asisten AI untuk SOAP &amp; coding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B3D"/>
                </a:solidFill>
              </a:rPr>
              <a:t>Marketplace bahan medis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TIM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Dibangun oleh tim yang memahami klinik dari dalam</a:t>
            </a:r>
            <a:endParaRPr lang="en-US" sz="3200" dirty="0"/>
          </a:p>
        </p:txBody>
      </p:sp>
      <p:sp>
        <p:nvSpPr>
          <p:cNvPr id="4" name="team card 1"/>
          <p:cNvSpPr/>
          <p:nvPr/>
        </p:nvSpPr>
        <p:spPr>
          <a:xfrm>
            <a:off x="548640" y="178308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5" name="team avatar 1"/>
          <p:cNvSpPr/>
          <p:nvPr/>
        </p:nvSpPr>
        <p:spPr>
          <a:xfrm>
            <a:off x="1737360" y="2011680"/>
            <a:ext cx="1143000" cy="1143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eam avatar icon 1" descr="Ik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2860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91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[Nama Founder]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03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CEO / Founder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[Latar belakang: mis. dokter gigi, pemilik klinik]</a:t>
            </a:r>
            <a:endParaRPr lang="en-US" sz="1300" dirty="0"/>
          </a:p>
        </p:txBody>
      </p:sp>
      <p:sp>
        <p:nvSpPr>
          <p:cNvPr id="10" name="team card 2"/>
          <p:cNvSpPr/>
          <p:nvPr/>
        </p:nvSpPr>
        <p:spPr>
          <a:xfrm>
            <a:off x="4297680" y="178308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1" name="team avatar 2"/>
          <p:cNvSpPr/>
          <p:nvPr/>
        </p:nvSpPr>
        <p:spPr>
          <a:xfrm>
            <a:off x="5486400" y="2011680"/>
            <a:ext cx="1143000" cy="1143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team avatar icon 2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8600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291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[Nama]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703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CTO / Engineering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[Latar belakang: mis. full-stack, integrasi FHIR]</a:t>
            </a:r>
            <a:endParaRPr lang="en-US" sz="1300" dirty="0"/>
          </a:p>
        </p:txBody>
      </p:sp>
      <p:sp>
        <p:nvSpPr>
          <p:cNvPr id="16" name="team card 3"/>
          <p:cNvSpPr/>
          <p:nvPr/>
        </p:nvSpPr>
        <p:spPr>
          <a:xfrm>
            <a:off x="8046720" y="178308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7" name="team avatar 3"/>
          <p:cNvSpPr/>
          <p:nvPr/>
        </p:nvSpPr>
        <p:spPr>
          <a:xfrm>
            <a:off x="9235440" y="2011680"/>
            <a:ext cx="1143000" cy="1143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team avatar icon 3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28600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3291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[Nama]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3703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Growth &amp; Sales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40690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[Latar belakang: mis. penjualan B2B kesehatan]</a:t>
            </a:r>
            <a:endParaRPr lang="en-US" sz="1300" dirty="0"/>
          </a:p>
        </p:txBody>
      </p:sp>
      <p:sp>
        <p:nvSpPr>
          <p:cNvPr id="22" name="advantage box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EAF1FD"/>
          </a:solidFill>
          <a:ln/>
        </p:spPr>
      </p:sp>
      <p:pic>
        <p:nvPicPr>
          <p:cNvPr id="23" name="advantage icon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492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5120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Founder-market fit: produk lahir dari operasional klinik gigi nyata — setiap fitur dipakai dan diuji di lapangan.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PENDANAAN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Mencari Rp[X] M pendanaan pre-seed untuk 18 bulan</a:t>
            </a:r>
            <a:endParaRPr lang="en-US" sz="3200" dirty="0"/>
          </a:p>
        </p:txBody>
      </p:sp>
      <p:graphicFrame>
        <p:nvGraphicFramePr>
          <p:cNvPr id="4" name="use of funds chart" descr=""/>
          <p:cNvGraphicFramePr/>
          <p:nvPr/>
        </p:nvGraphicFramePr>
        <p:xfrm>
          <a:off x="457200" y="1691640"/>
          <a:ext cx="49377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legend dot 1"/>
          <p:cNvSpPr/>
          <p:nvPr/>
        </p:nvSpPr>
        <p:spPr>
          <a:xfrm>
            <a:off x="5760720" y="1856232"/>
            <a:ext cx="256032" cy="256032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0" y="1783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40%  Sales &amp; marketing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21671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0F5"/>
                </a:solidFill>
              </a:rPr>
              <a:t>Tim sales lapangan, komunitas profesi, kampanye digital</a:t>
            </a:r>
            <a:endParaRPr lang="en-US" sz="1400" dirty="0"/>
          </a:p>
        </p:txBody>
      </p:sp>
      <p:sp>
        <p:nvSpPr>
          <p:cNvPr id="8" name="legend dot 2"/>
          <p:cNvSpPr/>
          <p:nvPr/>
        </p:nvSpPr>
        <p:spPr>
          <a:xfrm>
            <a:off x="5760720" y="2770632"/>
            <a:ext cx="256032" cy="256032"/>
          </a:xfrm>
          <a:prstGeom prst="ellipse">
            <a:avLst/>
          </a:prstGeom>
          <a:solidFill>
            <a:srgbClr val="1E5B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17920" y="26974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30%  Produk &amp; engineering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30815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0F5"/>
                </a:solidFill>
              </a:rPr>
              <a:t>Aplikasi mobile, integrasi BPJS, fitur AI</a:t>
            </a:r>
            <a:endParaRPr lang="en-US" sz="1400" dirty="0"/>
          </a:p>
        </p:txBody>
      </p:sp>
      <p:sp>
        <p:nvSpPr>
          <p:cNvPr id="11" name="legend dot 3"/>
          <p:cNvSpPr/>
          <p:nvPr/>
        </p:nvSpPr>
        <p:spPr>
          <a:xfrm>
            <a:off x="5760720" y="3685032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3611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15%  Onboarding &amp; CS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9959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0F5"/>
                </a:solidFill>
              </a:rPr>
              <a:t>Migrasi data dan pendampingan klinik baru</a:t>
            </a:r>
            <a:endParaRPr lang="en-US" sz="1400" dirty="0"/>
          </a:p>
        </p:txBody>
      </p:sp>
      <p:sp>
        <p:nvSpPr>
          <p:cNvPr id="14" name="legend dot 4"/>
          <p:cNvSpPr/>
          <p:nvPr/>
        </p:nvSpPr>
        <p:spPr>
          <a:xfrm>
            <a:off x="5760720" y="4599432"/>
            <a:ext cx="256032" cy="256032"/>
          </a:xfrm>
          <a:prstGeom prst="ellipse">
            <a:avLst/>
          </a:prstGeom>
          <a:solidFill>
            <a:srgbClr val="AFC0E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17920" y="45262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15%  Ops, legal &amp; keamanan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49103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0F5"/>
                </a:solidFill>
              </a:rPr>
              <a:t>Audit keamanan, sertifikasi, infrastruktur</a:t>
            </a:r>
            <a:endParaRPr lang="en-US" sz="1400" dirty="0"/>
          </a:p>
        </p:txBody>
      </p:sp>
      <p:sp>
        <p:nvSpPr>
          <p:cNvPr id="17" name="milestone box"/>
          <p:cNvSpPr/>
          <p:nvPr/>
        </p:nvSpPr>
        <p:spPr>
          <a:xfrm>
            <a:off x="5760720" y="5440680"/>
            <a:ext cx="5852160" cy="640080"/>
          </a:xfrm>
          <a:prstGeom prst="roundRect">
            <a:avLst>
              <a:gd name="adj" fmla="val 17143"/>
            </a:avLst>
          </a:prstGeom>
          <a:solidFill>
            <a:srgbClr val="1630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0" y="54406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D957"/>
                </a:solidFill>
              </a:rPr>
              <a:t>Milestone: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1.200 fasyankes berbayar · Rp1,8 M ARR · siap Seed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C0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disc"/>
          <p:cNvSpPr/>
          <p:nvPr/>
        </p:nvSpPr>
        <p:spPr>
          <a:xfrm>
            <a:off x="5184648" y="731520"/>
            <a:ext cx="1828800" cy="1828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logo" descr="Logo Apex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9144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346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 bangun masa depan klinik Indonesia bersama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94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ED957"/>
                </a:solidFill>
              </a:rPr>
              <a:t>Demo langsung: app.apexrecord.my.id</a:t>
            </a:r>
            <a:endParaRPr lang="en-US" sz="2000" dirty="0"/>
          </a:p>
        </p:txBody>
      </p:sp>
      <p:pic>
        <p:nvPicPr>
          <p:cNvPr id="6" name="contact icon 1" descr="Ik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49834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240280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0F5"/>
                </a:solidFill>
              </a:rPr>
              <a:t>0823-8769-6487</a:t>
            </a:r>
            <a:endParaRPr lang="en-US" sz="1500" dirty="0"/>
          </a:p>
        </p:txBody>
      </p:sp>
      <p:pic>
        <p:nvPicPr>
          <p:cNvPr id="8" name="contact icon 2" descr="Ik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983480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349240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0F5"/>
                </a:solidFill>
              </a:rPr>
              <a:t>app.apexrecord.my.id</a:t>
            </a:r>
            <a:endParaRPr lang="en-US" sz="1500" dirty="0"/>
          </a:p>
        </p:txBody>
      </p:sp>
      <p:pic>
        <p:nvPicPr>
          <p:cNvPr id="10" name="contact icon 3" descr="Ik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98348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458200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0F5"/>
                </a:solidFill>
              </a:rPr>
              <a:t>PT Zanak Developer Abadi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exRecord">
  <a:themeElements>
    <a:clrScheme name="ApexRecord">
      <a:dk1>
        <a:srgbClr val="0F1B3D"/>
      </a:dk1>
      <a:lt1>
        <a:srgbClr val="FFFFFF"/>
      </a:lt1>
      <a:dk2>
        <a:srgbClr val="0B1F4B"/>
      </a:dk2>
      <a:lt2>
        <a:srgbClr val="F4F6FA"/>
      </a:lt2>
      <a:accent1>
        <a:srgbClr val="1E5BD8"/>
      </a:accent1>
      <a:accent2>
        <a:srgbClr val="3E9B3A"/>
      </a:accent2>
      <a:accent3>
        <a:srgbClr val="7ED957"/>
      </a:accent3>
      <a:accent4>
        <a:srgbClr val="F2A541"/>
      </a:accent4>
      <a:accent5>
        <a:srgbClr val="C1381F"/>
      </a:accent5>
      <a:accent6>
        <a:srgbClr val="5B6478"/>
      </a:accent6>
      <a:hlink>
        <a:srgbClr val="1E5BD8"/>
      </a:hlink>
      <a:folHlink>
        <a:srgbClr val="0B1F4B"/>
      </a:folHlink>
    </a:clrScheme>
    <a:fontScheme name="ApexRecor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PT Zanak Developer Abadi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ApexRecord — Pitch Deck</dc:title>
  <dc:subject>PptxGenJS Presentation</dc:subject>
  <dc:creator>PT Zanak Developer Abadi</dc:creator>
  <cp:lastModifiedBy>PT Zanak Developer Abadi</cp:lastModifiedBy>
  <cp:revision>1</cp:revision>
  <dcterms:created xsi:type="dcterms:W3CDTF">2026-10-13T01:27:28Z</dcterms:created>
  <dcterms:modified xsi:type="dcterms:W3CDTF">2026-10-13T01:27:28Z</dcterms:modified>
</cp:coreProperties>
</file>